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82" r:id="rId22"/>
    <p:sldId id="283" r:id="rId23"/>
    <p:sldId id="284" r:id="rId2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4" d="100"/>
          <a:sy n="84"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927405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slide. Introduce yourself and the scope: from AI basics to full Agentic AI systems, covering tools used in industry today. Mention this is interview-focused and practical.</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insight: Each era builds on the previous. Traditional AI was rigid. ML learned from data. GenAI created content. Agentic AI acts autonomously to complete goals.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GenAI takes input and generates output. LLMs predict the next token. The key limitation is they are stateless and passive — this is what Agentic AI solves.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Agentic AI is the next step beyond GenAI. An agent doesn't just respond — it acts. It plans, picks tools, executes steps, observes results, and adjusts its approach.</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comparison is very frequently asked in interviews. The key distinction: GenAI responds passively to prompts; Agentic AI proactively plans and executes tasks.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agent loop is: Plan → Act → Observe → Re-plan. This iterative loop is what makes agents powerful. They don't give up if first attempt fails — they adapt.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ReAct (Reasoning + Acting) was introduced in a 2022 paper. It's the most common agent pattern. The agent alternates between reasoning (thinking) and acting (calling tools), then observes results.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Tool calling is the superpower of agents. The LLM sees tool definitions (name, description, parameters) and decides which to call. This is how agents interact with APIs, databases, email, code execution, etc.</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MCP (by Anthropic, 2024) is like USB-C for AI. Instead of each agent needing custom code to connect to every tool, MCP provides a universal protocol. This makes agents pluggable and composable.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RAG is essential for enterprise AI. Instead of relying on model's training data, RAG fetches relevant docs at query time and includes them as context. This is the foundation of most enterprise agents.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Embeddings are the backbone of RAG and semantic search. FAISS is great for quick prototypes; ChromaDB is better for production. Both convert text to vectors and find similar ones by cosine distance.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Rule of thumb: chunk_size=1000, overlap=200 is a good starting point. Overlap prevents losing context at chunk boundaries. The right chunk size depends on your document type and model context window.</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LangChain is the most widely used AI framework. Its modular design lets you mix and match components. The LCEL (LangChain Expression Language) syntax uses | pipe operators to chain components.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LangGraph is the go-to for complex agent workflows. Unlike LangChain which is linear, LangGraph supports cycles (retry loops), conditional branching, and multiple agents coordinating. Built on top of LangChain.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Memory is what makes agents contextually aware. Short-term (in-context) is fast but limited. Long-term (DB-backed) persists across sessions. Vector memory retrieves relevant past context by semantic similarity.</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Multi-agent systems parallelize work. Each agent is specialized. The Coordinator delegates tasks, collects results, and synthesizes the final output. This mirrors how human teams work.</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architecture shows how all components connect. The user talks to the agent, which uses the planner, calls tools, consults memory and RAG, and sends it all to the LLM for final reasoning and response.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Amazon Bedrock is the leading cloud platform for enterprise agentic AI. Bedrock Agents provides built-in ReAct agent capabilities with managed memory, knowledge bases (RAG), and tool calling via Lambda functions.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complete real-world example you can describe in interviews. Show how multiple specialized agents collaborate, each with its own tools (Maps API, DB, notification service), coordinated by a master agent.</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use case maps to a specific architecture. Common elements: RAG for knowledge, CRM/ERP tools for data, memory for context persistence, escalation logic, and compliance guardrails.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this vision. Agentic AI is the biggest shift in software since cloud computing. The skills learned here — RAG, agents, LangGraph, MCP — are the foundation of the next decade of AI engineering.</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6B6D4"/>
          </a:solidFill>
          <a:ln w="12700">
            <a:solidFill>
              <a:srgbClr val="06B6D4"/>
            </a:solidFill>
            <a:prstDash val="solid"/>
          </a:ln>
        </p:spPr>
        <p:txBody>
          <a:bodyPr/>
          <a:lstStyle/>
          <a:p>
            <a:endParaRPr lang="en-IN"/>
          </a:p>
        </p:txBody>
      </p:sp>
      <p:sp>
        <p:nvSpPr>
          <p:cNvPr id="3" name="Shape 1"/>
          <p:cNvSpPr/>
          <p:nvPr/>
        </p:nvSpPr>
        <p:spPr>
          <a:xfrm>
            <a:off x="3200400" y="457200"/>
            <a:ext cx="2743200" cy="2743200"/>
          </a:xfrm>
          <a:prstGeom prst="ellipse">
            <a:avLst/>
          </a:prstGeom>
          <a:solidFill>
            <a:srgbClr val="06B6D4">
              <a:alpha val="10000"/>
            </a:srgbClr>
          </a:solidFill>
          <a:ln w="12700">
            <a:solidFill>
              <a:srgbClr val="06B6D4">
                <a:alpha val="20000"/>
              </a:srgbClr>
            </a:solidFill>
            <a:prstDash val="solid"/>
          </a:ln>
        </p:spPr>
        <p:txBody>
          <a:bodyPr/>
          <a:lstStyle/>
          <a:p>
            <a:endParaRPr lang="en-IN"/>
          </a:p>
        </p:txBody>
      </p:sp>
      <p:sp>
        <p:nvSpPr>
          <p:cNvPr id="4" name="Shape 2"/>
          <p:cNvSpPr/>
          <p:nvPr/>
        </p:nvSpPr>
        <p:spPr>
          <a:xfrm>
            <a:off x="3657600" y="731520"/>
            <a:ext cx="1828800" cy="1828800"/>
          </a:xfrm>
          <a:prstGeom prst="ellipse">
            <a:avLst/>
          </a:prstGeom>
          <a:solidFill>
            <a:srgbClr val="8B5CF6">
              <a:alpha val="12000"/>
            </a:srgbClr>
          </a:solidFill>
          <a:ln w="12700">
            <a:solidFill>
              <a:srgbClr val="8B5CF6">
                <a:alpha val="20000"/>
              </a:srgbClr>
            </a:solidFill>
            <a:prstDash val="solid"/>
          </a:ln>
        </p:spPr>
        <p:txBody>
          <a:bodyPr/>
          <a:lstStyle/>
          <a:p>
            <a:endParaRPr lang="en-IN"/>
          </a:p>
        </p:txBody>
      </p:sp>
      <p:pic>
        <p:nvPicPr>
          <p:cNvPr id="5" name="Image 0" descr="preencoded.png"/>
          <p:cNvPicPr>
            <a:picLocks noChangeAspect="1"/>
          </p:cNvPicPr>
          <p:nvPr/>
        </p:nvPicPr>
        <p:blipFill>
          <a:blip r:embed="rId3"/>
          <a:stretch>
            <a:fillRect/>
          </a:stretch>
        </p:blipFill>
        <p:spPr>
          <a:xfrm>
            <a:off x="4160520" y="1005840"/>
            <a:ext cx="822960" cy="822960"/>
          </a:xfrm>
          <a:prstGeom prst="rect">
            <a:avLst/>
          </a:prstGeom>
        </p:spPr>
      </p:pic>
      <p:sp>
        <p:nvSpPr>
          <p:cNvPr id="6" name="Text 3"/>
          <p:cNvSpPr/>
          <p:nvPr/>
        </p:nvSpPr>
        <p:spPr>
          <a:xfrm>
            <a:off x="457200" y="1737360"/>
            <a:ext cx="8229600" cy="822960"/>
          </a:xfrm>
          <a:prstGeom prst="rect">
            <a:avLst/>
          </a:prstGeom>
          <a:noFill/>
          <a:ln/>
        </p:spPr>
        <p:txBody>
          <a:bodyPr wrap="square" rtlCol="0" anchor="ctr"/>
          <a:lstStyle/>
          <a:p>
            <a:pPr marL="0" indent="0" algn="ctr">
              <a:buNone/>
            </a:pPr>
            <a:r>
              <a:rPr lang="en-US" sz="5400" b="1" kern="0" spc="800" dirty="0">
                <a:solidFill>
                  <a:srgbClr val="FFFFFF"/>
                </a:solidFill>
                <a:latin typeface="Calibri" pitchFamily="34" charset="0"/>
                <a:ea typeface="Calibri" pitchFamily="34" charset="-122"/>
                <a:cs typeface="Calibri" pitchFamily="34" charset="-120"/>
              </a:rPr>
              <a:t>AGENTIC AI</a:t>
            </a:r>
            <a:endParaRPr lang="en-US" sz="5400" dirty="0"/>
          </a:p>
        </p:txBody>
      </p:sp>
      <p:sp>
        <p:nvSpPr>
          <p:cNvPr id="7" name="Text 4"/>
          <p:cNvSpPr/>
          <p:nvPr/>
        </p:nvSpPr>
        <p:spPr>
          <a:xfrm>
            <a:off x="457200" y="2606040"/>
            <a:ext cx="8229600" cy="457200"/>
          </a:xfrm>
          <a:prstGeom prst="rect">
            <a:avLst/>
          </a:prstGeom>
          <a:noFill/>
          <a:ln/>
        </p:spPr>
        <p:txBody>
          <a:bodyPr wrap="square" rtlCol="0" anchor="ctr"/>
          <a:lstStyle/>
          <a:p>
            <a:pPr marL="0" indent="0" algn="ctr">
              <a:buNone/>
            </a:pPr>
            <a:endParaRPr lang="en-US" sz="2200" dirty="0"/>
          </a:p>
        </p:txBody>
      </p:sp>
      <p:sp>
        <p:nvSpPr>
          <p:cNvPr id="8" name="Text 5"/>
          <p:cNvSpPr/>
          <p:nvPr/>
        </p:nvSpPr>
        <p:spPr>
          <a:xfrm>
            <a:off x="457200" y="3154680"/>
            <a:ext cx="8229600" cy="320040"/>
          </a:xfrm>
          <a:prstGeom prst="rect">
            <a:avLst/>
          </a:prstGeom>
          <a:noFill/>
          <a:ln/>
        </p:spPr>
        <p:txBody>
          <a:bodyPr wrap="square" rtlCol="0" anchor="ctr"/>
          <a:lstStyle/>
          <a:p>
            <a:pPr marL="0" indent="0" algn="ctr">
              <a:buNone/>
            </a:pPr>
            <a:endParaRPr lang="en-US" sz="1300" dirty="0"/>
          </a:p>
        </p:txBody>
      </p:sp>
      <p:sp>
        <p:nvSpPr>
          <p:cNvPr id="9" name="Shape 6"/>
          <p:cNvSpPr/>
          <p:nvPr/>
        </p:nvSpPr>
        <p:spPr>
          <a:xfrm>
            <a:off x="548640" y="3977640"/>
            <a:ext cx="1737360" cy="274320"/>
          </a:xfrm>
          <a:prstGeom prst="roundRect">
            <a:avLst>
              <a:gd name="adj" fmla="val 26667"/>
            </a:avLst>
          </a:prstGeom>
          <a:solidFill>
            <a:srgbClr val="1E3A5F"/>
          </a:solidFill>
          <a:ln w="12700">
            <a:solidFill>
              <a:srgbClr val="06B6D4"/>
            </a:solidFill>
            <a:prstDash val="solid"/>
          </a:ln>
        </p:spPr>
        <p:txBody>
          <a:bodyPr/>
          <a:lstStyle/>
          <a:p>
            <a:endParaRPr lang="en-IN"/>
          </a:p>
        </p:txBody>
      </p:sp>
      <p:sp>
        <p:nvSpPr>
          <p:cNvPr id="10" name="Text 7"/>
          <p:cNvSpPr/>
          <p:nvPr/>
        </p:nvSpPr>
        <p:spPr>
          <a:xfrm>
            <a:off x="548640" y="4005072"/>
            <a:ext cx="1737360" cy="219456"/>
          </a:xfrm>
          <a:prstGeom prst="rect">
            <a:avLst/>
          </a:prstGeom>
          <a:noFill/>
          <a:ln/>
        </p:spPr>
        <p:txBody>
          <a:bodyPr wrap="square" rtlCol="0" anchor="ctr"/>
          <a:lstStyle/>
          <a:p>
            <a:pPr marL="0" indent="0" algn="ctr">
              <a:buNone/>
            </a:pPr>
            <a:r>
              <a:rPr lang="en-US" sz="950" b="1" dirty="0">
                <a:solidFill>
                  <a:srgbClr val="06B6D4"/>
                </a:solidFill>
                <a:latin typeface="Calibri" pitchFamily="34" charset="0"/>
                <a:ea typeface="Calibri" pitchFamily="34" charset="-122"/>
                <a:cs typeface="Calibri" pitchFamily="34" charset="-120"/>
              </a:rPr>
              <a:t>LLMs</a:t>
            </a:r>
            <a:endParaRPr lang="en-US" sz="950" dirty="0"/>
          </a:p>
        </p:txBody>
      </p:sp>
      <p:sp>
        <p:nvSpPr>
          <p:cNvPr id="11" name="Shape 8"/>
          <p:cNvSpPr/>
          <p:nvPr/>
        </p:nvSpPr>
        <p:spPr>
          <a:xfrm>
            <a:off x="2560320" y="3977640"/>
            <a:ext cx="1737360" cy="274320"/>
          </a:xfrm>
          <a:prstGeom prst="roundRect">
            <a:avLst>
              <a:gd name="adj" fmla="val 26667"/>
            </a:avLst>
          </a:prstGeom>
          <a:solidFill>
            <a:srgbClr val="1E3A5F"/>
          </a:solidFill>
          <a:ln w="12700">
            <a:solidFill>
              <a:srgbClr val="06B6D4"/>
            </a:solidFill>
            <a:prstDash val="solid"/>
          </a:ln>
        </p:spPr>
        <p:txBody>
          <a:bodyPr/>
          <a:lstStyle/>
          <a:p>
            <a:endParaRPr lang="en-IN"/>
          </a:p>
        </p:txBody>
      </p:sp>
      <p:sp>
        <p:nvSpPr>
          <p:cNvPr id="12" name="Text 9"/>
          <p:cNvSpPr/>
          <p:nvPr/>
        </p:nvSpPr>
        <p:spPr>
          <a:xfrm>
            <a:off x="2560320" y="4005072"/>
            <a:ext cx="1737360" cy="219456"/>
          </a:xfrm>
          <a:prstGeom prst="rect">
            <a:avLst/>
          </a:prstGeom>
          <a:noFill/>
          <a:ln/>
        </p:spPr>
        <p:txBody>
          <a:bodyPr wrap="square" rtlCol="0" anchor="ctr"/>
          <a:lstStyle/>
          <a:p>
            <a:pPr marL="0" indent="0" algn="ctr">
              <a:buNone/>
            </a:pPr>
            <a:r>
              <a:rPr lang="en-US" sz="950" b="1" dirty="0">
                <a:solidFill>
                  <a:srgbClr val="06B6D4"/>
                </a:solidFill>
                <a:latin typeface="Calibri" pitchFamily="34" charset="0"/>
                <a:ea typeface="Calibri" pitchFamily="34" charset="-122"/>
                <a:cs typeface="Calibri" pitchFamily="34" charset="-120"/>
              </a:rPr>
              <a:t>RAG</a:t>
            </a:r>
            <a:endParaRPr lang="en-US" sz="950" dirty="0"/>
          </a:p>
        </p:txBody>
      </p:sp>
      <p:sp>
        <p:nvSpPr>
          <p:cNvPr id="13" name="Shape 10"/>
          <p:cNvSpPr/>
          <p:nvPr/>
        </p:nvSpPr>
        <p:spPr>
          <a:xfrm>
            <a:off x="4572000" y="3977640"/>
            <a:ext cx="1737360" cy="274320"/>
          </a:xfrm>
          <a:prstGeom prst="roundRect">
            <a:avLst>
              <a:gd name="adj" fmla="val 26667"/>
            </a:avLst>
          </a:prstGeom>
          <a:solidFill>
            <a:srgbClr val="1E3A5F"/>
          </a:solidFill>
          <a:ln w="12700">
            <a:solidFill>
              <a:srgbClr val="06B6D4"/>
            </a:solidFill>
            <a:prstDash val="solid"/>
          </a:ln>
        </p:spPr>
        <p:txBody>
          <a:bodyPr/>
          <a:lstStyle/>
          <a:p>
            <a:endParaRPr lang="en-IN"/>
          </a:p>
        </p:txBody>
      </p:sp>
      <p:sp>
        <p:nvSpPr>
          <p:cNvPr id="14" name="Text 11"/>
          <p:cNvSpPr/>
          <p:nvPr/>
        </p:nvSpPr>
        <p:spPr>
          <a:xfrm>
            <a:off x="4572000" y="4005072"/>
            <a:ext cx="1737360" cy="219456"/>
          </a:xfrm>
          <a:prstGeom prst="rect">
            <a:avLst/>
          </a:prstGeom>
          <a:noFill/>
          <a:ln/>
        </p:spPr>
        <p:txBody>
          <a:bodyPr wrap="square" rtlCol="0" anchor="ctr"/>
          <a:lstStyle/>
          <a:p>
            <a:pPr marL="0" indent="0" algn="ctr">
              <a:buNone/>
            </a:pPr>
            <a:r>
              <a:rPr lang="en-US" sz="950" b="1" dirty="0">
                <a:solidFill>
                  <a:srgbClr val="06B6D4"/>
                </a:solidFill>
                <a:latin typeface="Calibri" pitchFamily="34" charset="0"/>
                <a:ea typeface="Calibri" pitchFamily="34" charset="-122"/>
                <a:cs typeface="Calibri" pitchFamily="34" charset="-120"/>
              </a:rPr>
              <a:t>LangChain</a:t>
            </a:r>
            <a:endParaRPr lang="en-US" sz="950" dirty="0"/>
          </a:p>
        </p:txBody>
      </p:sp>
      <p:sp>
        <p:nvSpPr>
          <p:cNvPr id="15" name="Shape 12"/>
          <p:cNvSpPr/>
          <p:nvPr/>
        </p:nvSpPr>
        <p:spPr>
          <a:xfrm>
            <a:off x="6583680" y="3977640"/>
            <a:ext cx="1737360" cy="274320"/>
          </a:xfrm>
          <a:prstGeom prst="roundRect">
            <a:avLst>
              <a:gd name="adj" fmla="val 26667"/>
            </a:avLst>
          </a:prstGeom>
          <a:solidFill>
            <a:srgbClr val="1E3A5F"/>
          </a:solidFill>
          <a:ln w="12700">
            <a:solidFill>
              <a:srgbClr val="06B6D4"/>
            </a:solidFill>
            <a:prstDash val="solid"/>
          </a:ln>
        </p:spPr>
        <p:txBody>
          <a:bodyPr/>
          <a:lstStyle/>
          <a:p>
            <a:endParaRPr lang="en-IN"/>
          </a:p>
        </p:txBody>
      </p:sp>
      <p:sp>
        <p:nvSpPr>
          <p:cNvPr id="16" name="Text 13"/>
          <p:cNvSpPr/>
          <p:nvPr/>
        </p:nvSpPr>
        <p:spPr>
          <a:xfrm>
            <a:off x="6583680" y="4005072"/>
            <a:ext cx="1737360" cy="219456"/>
          </a:xfrm>
          <a:prstGeom prst="rect">
            <a:avLst/>
          </a:prstGeom>
          <a:noFill/>
          <a:ln/>
        </p:spPr>
        <p:txBody>
          <a:bodyPr wrap="square" rtlCol="0" anchor="ctr"/>
          <a:lstStyle/>
          <a:p>
            <a:pPr marL="0" indent="0" algn="ctr">
              <a:buNone/>
            </a:pPr>
            <a:r>
              <a:rPr lang="en-US" sz="950" b="1" dirty="0">
                <a:solidFill>
                  <a:srgbClr val="06B6D4"/>
                </a:solidFill>
                <a:latin typeface="Calibri" pitchFamily="34" charset="0"/>
                <a:ea typeface="Calibri" pitchFamily="34" charset="-122"/>
                <a:cs typeface="Calibri" pitchFamily="34" charset="-120"/>
              </a:rPr>
              <a:t>LangGraph</a:t>
            </a:r>
            <a:endParaRPr lang="en-US" sz="950" dirty="0"/>
          </a:p>
        </p:txBody>
      </p:sp>
      <p:sp>
        <p:nvSpPr>
          <p:cNvPr id="17" name="Shape 14"/>
          <p:cNvSpPr/>
          <p:nvPr/>
        </p:nvSpPr>
        <p:spPr>
          <a:xfrm>
            <a:off x="548640" y="4361688"/>
            <a:ext cx="1737360" cy="274320"/>
          </a:xfrm>
          <a:prstGeom prst="roundRect">
            <a:avLst>
              <a:gd name="adj" fmla="val 26667"/>
            </a:avLst>
          </a:prstGeom>
          <a:solidFill>
            <a:srgbClr val="1E3A5F"/>
          </a:solidFill>
          <a:ln w="12700">
            <a:solidFill>
              <a:srgbClr val="06B6D4"/>
            </a:solidFill>
            <a:prstDash val="solid"/>
          </a:ln>
        </p:spPr>
        <p:txBody>
          <a:bodyPr/>
          <a:lstStyle/>
          <a:p>
            <a:endParaRPr lang="en-IN"/>
          </a:p>
        </p:txBody>
      </p:sp>
      <p:sp>
        <p:nvSpPr>
          <p:cNvPr id="18" name="Text 15"/>
          <p:cNvSpPr/>
          <p:nvPr/>
        </p:nvSpPr>
        <p:spPr>
          <a:xfrm>
            <a:off x="548640" y="4389120"/>
            <a:ext cx="1737360" cy="219456"/>
          </a:xfrm>
          <a:prstGeom prst="rect">
            <a:avLst/>
          </a:prstGeom>
          <a:noFill/>
          <a:ln/>
        </p:spPr>
        <p:txBody>
          <a:bodyPr wrap="square" rtlCol="0" anchor="ctr"/>
          <a:lstStyle/>
          <a:p>
            <a:pPr marL="0" indent="0" algn="ctr">
              <a:buNone/>
            </a:pPr>
            <a:r>
              <a:rPr lang="en-US" sz="950" b="1" dirty="0">
                <a:solidFill>
                  <a:srgbClr val="06B6D4"/>
                </a:solidFill>
                <a:latin typeface="Calibri" pitchFamily="34" charset="0"/>
                <a:ea typeface="Calibri" pitchFamily="34" charset="-122"/>
                <a:cs typeface="Calibri" pitchFamily="34" charset="-120"/>
              </a:rPr>
              <a:t>MCP</a:t>
            </a:r>
            <a:endParaRPr lang="en-US" sz="950" dirty="0"/>
          </a:p>
        </p:txBody>
      </p:sp>
      <p:sp>
        <p:nvSpPr>
          <p:cNvPr id="19" name="Shape 16"/>
          <p:cNvSpPr/>
          <p:nvPr/>
        </p:nvSpPr>
        <p:spPr>
          <a:xfrm>
            <a:off x="2560320" y="4361688"/>
            <a:ext cx="1737360" cy="274320"/>
          </a:xfrm>
          <a:prstGeom prst="roundRect">
            <a:avLst>
              <a:gd name="adj" fmla="val 26667"/>
            </a:avLst>
          </a:prstGeom>
          <a:solidFill>
            <a:srgbClr val="1E3A5F"/>
          </a:solidFill>
          <a:ln w="12700">
            <a:solidFill>
              <a:srgbClr val="06B6D4"/>
            </a:solidFill>
            <a:prstDash val="solid"/>
          </a:ln>
        </p:spPr>
        <p:txBody>
          <a:bodyPr/>
          <a:lstStyle/>
          <a:p>
            <a:endParaRPr lang="en-IN"/>
          </a:p>
        </p:txBody>
      </p:sp>
      <p:sp>
        <p:nvSpPr>
          <p:cNvPr id="20" name="Text 17"/>
          <p:cNvSpPr/>
          <p:nvPr/>
        </p:nvSpPr>
        <p:spPr>
          <a:xfrm>
            <a:off x="2560320" y="4389120"/>
            <a:ext cx="1737360" cy="219456"/>
          </a:xfrm>
          <a:prstGeom prst="rect">
            <a:avLst/>
          </a:prstGeom>
          <a:noFill/>
          <a:ln/>
        </p:spPr>
        <p:txBody>
          <a:bodyPr wrap="square" rtlCol="0" anchor="ctr"/>
          <a:lstStyle/>
          <a:p>
            <a:pPr marL="0" indent="0" algn="ctr">
              <a:buNone/>
            </a:pPr>
            <a:r>
              <a:rPr lang="en-US" sz="950" b="1" dirty="0">
                <a:solidFill>
                  <a:srgbClr val="06B6D4"/>
                </a:solidFill>
                <a:latin typeface="Calibri" pitchFamily="34" charset="0"/>
                <a:ea typeface="Calibri" pitchFamily="34" charset="-122"/>
                <a:cs typeface="Calibri" pitchFamily="34" charset="-120"/>
              </a:rPr>
              <a:t>Vector DBs</a:t>
            </a:r>
            <a:endParaRPr lang="en-US" sz="950" dirty="0"/>
          </a:p>
        </p:txBody>
      </p:sp>
      <p:sp>
        <p:nvSpPr>
          <p:cNvPr id="21" name="Shape 18"/>
          <p:cNvSpPr/>
          <p:nvPr/>
        </p:nvSpPr>
        <p:spPr>
          <a:xfrm>
            <a:off x="4572000" y="4361688"/>
            <a:ext cx="1737360" cy="274320"/>
          </a:xfrm>
          <a:prstGeom prst="roundRect">
            <a:avLst>
              <a:gd name="adj" fmla="val 26667"/>
            </a:avLst>
          </a:prstGeom>
          <a:solidFill>
            <a:srgbClr val="1E3A5F"/>
          </a:solidFill>
          <a:ln w="12700">
            <a:solidFill>
              <a:srgbClr val="06B6D4"/>
            </a:solidFill>
            <a:prstDash val="solid"/>
          </a:ln>
        </p:spPr>
        <p:txBody>
          <a:bodyPr/>
          <a:lstStyle/>
          <a:p>
            <a:endParaRPr lang="en-IN"/>
          </a:p>
        </p:txBody>
      </p:sp>
      <p:sp>
        <p:nvSpPr>
          <p:cNvPr id="22" name="Text 19"/>
          <p:cNvSpPr/>
          <p:nvPr/>
        </p:nvSpPr>
        <p:spPr>
          <a:xfrm>
            <a:off x="4572000" y="4389120"/>
            <a:ext cx="1737360" cy="219456"/>
          </a:xfrm>
          <a:prstGeom prst="rect">
            <a:avLst/>
          </a:prstGeom>
          <a:noFill/>
          <a:ln/>
        </p:spPr>
        <p:txBody>
          <a:bodyPr wrap="square" rtlCol="0" anchor="ctr"/>
          <a:lstStyle/>
          <a:p>
            <a:pPr marL="0" indent="0" algn="ctr">
              <a:buNone/>
            </a:pPr>
            <a:r>
              <a:rPr lang="en-US" sz="950" b="1" dirty="0">
                <a:solidFill>
                  <a:srgbClr val="06B6D4"/>
                </a:solidFill>
                <a:latin typeface="Calibri" pitchFamily="34" charset="0"/>
                <a:ea typeface="Calibri" pitchFamily="34" charset="-122"/>
                <a:cs typeface="Calibri" pitchFamily="34" charset="-120"/>
              </a:rPr>
              <a:t>Multi-Agent</a:t>
            </a:r>
            <a:endParaRPr lang="en-US" sz="950" dirty="0"/>
          </a:p>
        </p:txBody>
      </p:sp>
      <p:sp>
        <p:nvSpPr>
          <p:cNvPr id="23" name="Shape 20"/>
          <p:cNvSpPr/>
          <p:nvPr/>
        </p:nvSpPr>
        <p:spPr>
          <a:xfrm>
            <a:off x="6583680" y="4361688"/>
            <a:ext cx="1737360" cy="274320"/>
          </a:xfrm>
          <a:prstGeom prst="roundRect">
            <a:avLst>
              <a:gd name="adj" fmla="val 26667"/>
            </a:avLst>
          </a:prstGeom>
          <a:solidFill>
            <a:srgbClr val="1E3A5F"/>
          </a:solidFill>
          <a:ln w="12700">
            <a:solidFill>
              <a:srgbClr val="06B6D4"/>
            </a:solidFill>
            <a:prstDash val="solid"/>
          </a:ln>
        </p:spPr>
        <p:txBody>
          <a:bodyPr/>
          <a:lstStyle/>
          <a:p>
            <a:endParaRPr lang="en-IN"/>
          </a:p>
        </p:txBody>
      </p:sp>
      <p:sp>
        <p:nvSpPr>
          <p:cNvPr id="24" name="Text 21"/>
          <p:cNvSpPr/>
          <p:nvPr/>
        </p:nvSpPr>
        <p:spPr>
          <a:xfrm>
            <a:off x="6583680" y="4389120"/>
            <a:ext cx="1737360" cy="219456"/>
          </a:xfrm>
          <a:prstGeom prst="rect">
            <a:avLst/>
          </a:prstGeom>
          <a:noFill/>
          <a:ln/>
        </p:spPr>
        <p:txBody>
          <a:bodyPr wrap="square" rtlCol="0" anchor="ctr"/>
          <a:lstStyle/>
          <a:p>
            <a:pPr marL="0" indent="0" algn="ctr">
              <a:buNone/>
            </a:pPr>
            <a:r>
              <a:rPr lang="en-US" sz="950" b="1" dirty="0">
                <a:solidFill>
                  <a:srgbClr val="06B6D4"/>
                </a:solidFill>
                <a:latin typeface="Calibri" pitchFamily="34" charset="0"/>
                <a:ea typeface="Calibri" pitchFamily="34" charset="-122"/>
                <a:cs typeface="Calibri" pitchFamily="34" charset="-120"/>
              </a:rPr>
              <a:t>AWS Bedrock</a:t>
            </a:r>
            <a:endParaRPr lang="en-US" sz="950" dirty="0"/>
          </a:p>
        </p:txBody>
      </p:sp>
      <p:sp>
        <p:nvSpPr>
          <p:cNvPr id="25" name="Text 22"/>
          <p:cNvSpPr/>
          <p:nvPr/>
        </p:nvSpPr>
        <p:spPr>
          <a:xfrm>
            <a:off x="457200" y="4892040"/>
            <a:ext cx="8229600" cy="182880"/>
          </a:xfrm>
          <a:prstGeom prst="rect">
            <a:avLst/>
          </a:prstGeom>
          <a:noFill/>
          <a:ln/>
        </p:spPr>
        <p:txBody>
          <a:bodyPr wrap="square" rtlCol="0" anchor="ctr"/>
          <a:lstStyle/>
          <a:p>
            <a:pPr marL="0" indent="0" algn="ctr">
              <a:buNone/>
            </a:pPr>
            <a:r>
              <a:rPr lang="en-US" sz="900" dirty="0">
                <a:solidFill>
                  <a:srgbClr val="94A3B8"/>
                </a:solidFill>
                <a:latin typeface="Calibri" pitchFamily="34" charset="0"/>
                <a:ea typeface="Calibri" pitchFamily="34" charset="-122"/>
                <a:cs typeface="Calibri" pitchFamily="34" charset="-120"/>
              </a:rPr>
              <a:t>© 2025 Agentic AI Guide</a:t>
            </a:r>
            <a:endParaRPr lang="en-US" sz="900" dirty="0"/>
          </a:p>
        </p:txBody>
      </p:sp>
      <p:sp>
        <p:nvSpPr>
          <p:cNvPr id="26" name="Shape 23"/>
          <p:cNvSpPr/>
          <p:nvPr/>
        </p:nvSpPr>
        <p:spPr>
          <a:xfrm>
            <a:off x="0" y="5093208"/>
            <a:ext cx="9144000" cy="45720"/>
          </a:xfrm>
          <a:prstGeom prst="rect">
            <a:avLst/>
          </a:prstGeom>
          <a:solidFill>
            <a:srgbClr val="8B5CF6"/>
          </a:solidFill>
          <a:ln w="12700">
            <a:solidFill>
              <a:srgbClr val="8B5CF6"/>
            </a:solidFill>
            <a:prstDash val="solid"/>
          </a:ln>
        </p:spPr>
        <p:txBody>
          <a:bodyPr/>
          <a:lstStyle/>
          <a:p>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6B6D4"/>
          </a:solidFill>
          <a:ln w="12700">
            <a:solidFill>
              <a:srgbClr val="06B6D4"/>
            </a:solidFill>
            <a:prstDash val="solid"/>
          </a:ln>
        </p:spPr>
        <p:txBody>
          <a:bodyPr/>
          <a:lstStyle/>
          <a:p>
            <a:endParaRPr lang="en-IN"/>
          </a:p>
        </p:txBody>
      </p:sp>
      <p:sp>
        <p:nvSpPr>
          <p:cNvPr id="3" name="Text 1"/>
          <p:cNvSpPr/>
          <p:nvPr/>
        </p:nvSpPr>
        <p:spPr>
          <a:xfrm>
            <a:off x="365760" y="137160"/>
            <a:ext cx="8229600" cy="502920"/>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Agenda</a:t>
            </a:r>
            <a:endParaRPr lang="en-US" sz="3000" dirty="0"/>
          </a:p>
        </p:txBody>
      </p:sp>
      <p:sp>
        <p:nvSpPr>
          <p:cNvPr id="4" name="Text 2"/>
          <p:cNvSpPr/>
          <p:nvPr/>
        </p:nvSpPr>
        <p:spPr>
          <a:xfrm>
            <a:off x="365760" y="621792"/>
            <a:ext cx="8229600" cy="274320"/>
          </a:xfrm>
          <a:prstGeom prst="rect">
            <a:avLst/>
          </a:prstGeom>
          <a:noFill/>
          <a:ln/>
        </p:spPr>
        <p:txBody>
          <a:bodyPr wrap="square" rtlCol="0" anchor="ctr"/>
          <a:lstStyle/>
          <a:p>
            <a:pPr marL="0" indent="0">
              <a:buNone/>
            </a:pPr>
            <a:r>
              <a:rPr lang="en-US" sz="1400" dirty="0">
                <a:solidFill>
                  <a:srgbClr val="06B6D4"/>
                </a:solidFill>
                <a:latin typeface="Calibri" pitchFamily="34" charset="0"/>
                <a:ea typeface="Calibri" pitchFamily="34" charset="-122"/>
                <a:cs typeface="Calibri" pitchFamily="34" charset="-120"/>
              </a:rPr>
              <a:t>What We'll Cover Today</a:t>
            </a:r>
            <a:endParaRPr lang="en-US" sz="1400" dirty="0"/>
          </a:p>
        </p:txBody>
      </p:sp>
      <p:sp>
        <p:nvSpPr>
          <p:cNvPr id="5" name="Shape 3"/>
          <p:cNvSpPr/>
          <p:nvPr/>
        </p:nvSpPr>
        <p:spPr>
          <a:xfrm>
            <a:off x="320040" y="1005840"/>
            <a:ext cx="4160520" cy="658368"/>
          </a:xfrm>
          <a:prstGeom prst="roundRect">
            <a:avLst>
              <a:gd name="adj" fmla="val 13889"/>
            </a:avLst>
          </a:prstGeom>
          <a:solidFill>
            <a:srgbClr val="1E293B"/>
          </a:solidFill>
          <a:ln w="12700">
            <a:solidFill>
              <a:srgbClr val="06B6D4"/>
            </a:solidFill>
            <a:prstDash val="solid"/>
          </a:ln>
        </p:spPr>
        <p:txBody>
          <a:bodyPr/>
          <a:lstStyle/>
          <a:p>
            <a:endParaRPr lang="en-IN"/>
          </a:p>
        </p:txBody>
      </p:sp>
      <p:sp>
        <p:nvSpPr>
          <p:cNvPr id="6" name="Shape 4"/>
          <p:cNvSpPr/>
          <p:nvPr/>
        </p:nvSpPr>
        <p:spPr>
          <a:xfrm>
            <a:off x="429768" y="1124712"/>
            <a:ext cx="402336" cy="402336"/>
          </a:xfrm>
          <a:prstGeom prst="ellipse">
            <a:avLst/>
          </a:prstGeom>
          <a:solidFill>
            <a:srgbClr val="06B6D4"/>
          </a:solidFill>
          <a:ln w="12700">
            <a:solidFill>
              <a:srgbClr val="06B6D4"/>
            </a:solidFill>
            <a:prstDash val="solid"/>
          </a:ln>
        </p:spPr>
        <p:txBody>
          <a:bodyPr/>
          <a:lstStyle/>
          <a:p>
            <a:endParaRPr lang="en-IN"/>
          </a:p>
        </p:txBody>
      </p:sp>
      <p:sp>
        <p:nvSpPr>
          <p:cNvPr id="7" name="Text 5"/>
          <p:cNvSpPr/>
          <p:nvPr/>
        </p:nvSpPr>
        <p:spPr>
          <a:xfrm>
            <a:off x="429768" y="1124712"/>
            <a:ext cx="402336" cy="402336"/>
          </a:xfrm>
          <a:prstGeom prst="rect">
            <a:avLst/>
          </a:prstGeom>
          <a:noFill/>
          <a:ln/>
        </p:spPr>
        <p:txBody>
          <a:bodyPr wrap="square" lIns="0" tIns="0" rIns="0" bIns="0" rtlCol="0" anchor="ctr"/>
          <a:lstStyle/>
          <a:p>
            <a:pPr marL="0" indent="0" algn="ctr">
              <a:buNone/>
            </a:pPr>
            <a:r>
              <a:rPr lang="en-US" sz="1100" b="1" dirty="0">
                <a:solidFill>
                  <a:srgbClr val="0F172A"/>
                </a:solidFill>
                <a:latin typeface="Calibri" pitchFamily="34" charset="0"/>
                <a:ea typeface="Calibri" pitchFamily="34" charset="-122"/>
                <a:cs typeface="Calibri" pitchFamily="34" charset="-120"/>
              </a:rPr>
              <a:t>01</a:t>
            </a:r>
            <a:endParaRPr lang="en-US" sz="1100" dirty="0"/>
          </a:p>
        </p:txBody>
      </p:sp>
      <p:sp>
        <p:nvSpPr>
          <p:cNvPr id="8" name="Text 6"/>
          <p:cNvSpPr/>
          <p:nvPr/>
        </p:nvSpPr>
        <p:spPr>
          <a:xfrm>
            <a:off x="914400" y="1170432"/>
            <a:ext cx="3474720" cy="32004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AI Evolution &amp; Generative AI</a:t>
            </a:r>
            <a:endParaRPr lang="en-US" sz="1200" dirty="0"/>
          </a:p>
        </p:txBody>
      </p:sp>
      <p:sp>
        <p:nvSpPr>
          <p:cNvPr id="9" name="Shape 7"/>
          <p:cNvSpPr/>
          <p:nvPr/>
        </p:nvSpPr>
        <p:spPr>
          <a:xfrm>
            <a:off x="320040" y="1773936"/>
            <a:ext cx="4160520" cy="658368"/>
          </a:xfrm>
          <a:prstGeom prst="roundRect">
            <a:avLst>
              <a:gd name="adj" fmla="val 13889"/>
            </a:avLst>
          </a:prstGeom>
          <a:solidFill>
            <a:srgbClr val="1E293B"/>
          </a:solidFill>
          <a:ln w="12700">
            <a:solidFill>
              <a:srgbClr val="8B5CF6"/>
            </a:solidFill>
            <a:prstDash val="solid"/>
          </a:ln>
        </p:spPr>
        <p:txBody>
          <a:bodyPr/>
          <a:lstStyle/>
          <a:p>
            <a:endParaRPr lang="en-IN"/>
          </a:p>
        </p:txBody>
      </p:sp>
      <p:sp>
        <p:nvSpPr>
          <p:cNvPr id="10" name="Shape 8"/>
          <p:cNvSpPr/>
          <p:nvPr/>
        </p:nvSpPr>
        <p:spPr>
          <a:xfrm>
            <a:off x="429768" y="1892808"/>
            <a:ext cx="402336" cy="402336"/>
          </a:xfrm>
          <a:prstGeom prst="ellipse">
            <a:avLst/>
          </a:prstGeom>
          <a:solidFill>
            <a:srgbClr val="8B5CF6"/>
          </a:solidFill>
          <a:ln w="12700">
            <a:solidFill>
              <a:srgbClr val="8B5CF6"/>
            </a:solidFill>
            <a:prstDash val="solid"/>
          </a:ln>
        </p:spPr>
        <p:txBody>
          <a:bodyPr/>
          <a:lstStyle/>
          <a:p>
            <a:endParaRPr lang="en-IN"/>
          </a:p>
        </p:txBody>
      </p:sp>
      <p:sp>
        <p:nvSpPr>
          <p:cNvPr id="11" name="Text 9"/>
          <p:cNvSpPr/>
          <p:nvPr/>
        </p:nvSpPr>
        <p:spPr>
          <a:xfrm>
            <a:off x="429768" y="1892808"/>
            <a:ext cx="402336" cy="402336"/>
          </a:xfrm>
          <a:prstGeom prst="rect">
            <a:avLst/>
          </a:prstGeom>
          <a:noFill/>
          <a:ln/>
        </p:spPr>
        <p:txBody>
          <a:bodyPr wrap="square" lIns="0" tIns="0" rIns="0" bIns="0" rtlCol="0" anchor="ctr"/>
          <a:lstStyle/>
          <a:p>
            <a:pPr marL="0" indent="0" algn="ctr">
              <a:buNone/>
            </a:pPr>
            <a:r>
              <a:rPr lang="en-US" sz="1100" b="1" dirty="0">
                <a:solidFill>
                  <a:srgbClr val="0F172A"/>
                </a:solidFill>
                <a:latin typeface="Calibri" pitchFamily="34" charset="0"/>
                <a:ea typeface="Calibri" pitchFamily="34" charset="-122"/>
                <a:cs typeface="Calibri" pitchFamily="34" charset="-120"/>
              </a:rPr>
              <a:t>02</a:t>
            </a:r>
            <a:endParaRPr lang="en-US" sz="1100" dirty="0"/>
          </a:p>
        </p:txBody>
      </p:sp>
      <p:sp>
        <p:nvSpPr>
          <p:cNvPr id="12" name="Text 10"/>
          <p:cNvSpPr/>
          <p:nvPr/>
        </p:nvSpPr>
        <p:spPr>
          <a:xfrm>
            <a:off x="914400" y="1938528"/>
            <a:ext cx="3474720" cy="32004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Agentic AI – Concepts &amp; Architecture</a:t>
            </a:r>
            <a:endParaRPr lang="en-US" sz="1200" dirty="0"/>
          </a:p>
        </p:txBody>
      </p:sp>
      <p:sp>
        <p:nvSpPr>
          <p:cNvPr id="13" name="Shape 11"/>
          <p:cNvSpPr/>
          <p:nvPr/>
        </p:nvSpPr>
        <p:spPr>
          <a:xfrm>
            <a:off x="320040" y="2542032"/>
            <a:ext cx="4160520" cy="658368"/>
          </a:xfrm>
          <a:prstGeom prst="roundRect">
            <a:avLst>
              <a:gd name="adj" fmla="val 13889"/>
            </a:avLst>
          </a:prstGeom>
          <a:solidFill>
            <a:srgbClr val="1E293B"/>
          </a:solidFill>
          <a:ln w="12700">
            <a:solidFill>
              <a:srgbClr val="10B981"/>
            </a:solidFill>
            <a:prstDash val="solid"/>
          </a:ln>
        </p:spPr>
        <p:txBody>
          <a:bodyPr/>
          <a:lstStyle/>
          <a:p>
            <a:endParaRPr lang="en-IN"/>
          </a:p>
        </p:txBody>
      </p:sp>
      <p:sp>
        <p:nvSpPr>
          <p:cNvPr id="14" name="Shape 12"/>
          <p:cNvSpPr/>
          <p:nvPr/>
        </p:nvSpPr>
        <p:spPr>
          <a:xfrm>
            <a:off x="429768" y="2660904"/>
            <a:ext cx="402336" cy="402336"/>
          </a:xfrm>
          <a:prstGeom prst="ellipse">
            <a:avLst/>
          </a:prstGeom>
          <a:solidFill>
            <a:srgbClr val="10B981"/>
          </a:solidFill>
          <a:ln w="12700">
            <a:solidFill>
              <a:srgbClr val="10B981"/>
            </a:solidFill>
            <a:prstDash val="solid"/>
          </a:ln>
        </p:spPr>
        <p:txBody>
          <a:bodyPr/>
          <a:lstStyle/>
          <a:p>
            <a:endParaRPr lang="en-IN"/>
          </a:p>
        </p:txBody>
      </p:sp>
      <p:sp>
        <p:nvSpPr>
          <p:cNvPr id="15" name="Text 13"/>
          <p:cNvSpPr/>
          <p:nvPr/>
        </p:nvSpPr>
        <p:spPr>
          <a:xfrm>
            <a:off x="429768" y="2660904"/>
            <a:ext cx="402336" cy="402336"/>
          </a:xfrm>
          <a:prstGeom prst="rect">
            <a:avLst/>
          </a:prstGeom>
          <a:noFill/>
          <a:ln/>
        </p:spPr>
        <p:txBody>
          <a:bodyPr wrap="square" lIns="0" tIns="0" rIns="0" bIns="0" rtlCol="0" anchor="ctr"/>
          <a:lstStyle/>
          <a:p>
            <a:pPr marL="0" indent="0" algn="ctr">
              <a:buNone/>
            </a:pPr>
            <a:r>
              <a:rPr lang="en-US" sz="1100" b="1" dirty="0">
                <a:solidFill>
                  <a:srgbClr val="0F172A"/>
                </a:solidFill>
                <a:latin typeface="Calibri" pitchFamily="34" charset="0"/>
                <a:ea typeface="Calibri" pitchFamily="34" charset="-122"/>
                <a:cs typeface="Calibri" pitchFamily="34" charset="-120"/>
              </a:rPr>
              <a:t>03</a:t>
            </a:r>
            <a:endParaRPr lang="en-US" sz="1100" dirty="0"/>
          </a:p>
        </p:txBody>
      </p:sp>
      <p:sp>
        <p:nvSpPr>
          <p:cNvPr id="16" name="Text 14"/>
          <p:cNvSpPr/>
          <p:nvPr/>
        </p:nvSpPr>
        <p:spPr>
          <a:xfrm>
            <a:off x="914400" y="2706624"/>
            <a:ext cx="3474720" cy="32004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ReAct Agents • Tool Calling • MCP</a:t>
            </a:r>
            <a:endParaRPr lang="en-US" sz="1200" dirty="0"/>
          </a:p>
        </p:txBody>
      </p:sp>
      <p:sp>
        <p:nvSpPr>
          <p:cNvPr id="17" name="Shape 15"/>
          <p:cNvSpPr/>
          <p:nvPr/>
        </p:nvSpPr>
        <p:spPr>
          <a:xfrm>
            <a:off x="320040" y="3310128"/>
            <a:ext cx="4160520" cy="658368"/>
          </a:xfrm>
          <a:prstGeom prst="roundRect">
            <a:avLst>
              <a:gd name="adj" fmla="val 13889"/>
            </a:avLst>
          </a:prstGeom>
          <a:solidFill>
            <a:srgbClr val="1E293B"/>
          </a:solidFill>
          <a:ln w="12700">
            <a:solidFill>
              <a:srgbClr val="F59E0B"/>
            </a:solidFill>
            <a:prstDash val="solid"/>
          </a:ln>
        </p:spPr>
        <p:txBody>
          <a:bodyPr/>
          <a:lstStyle/>
          <a:p>
            <a:endParaRPr lang="en-IN"/>
          </a:p>
        </p:txBody>
      </p:sp>
      <p:sp>
        <p:nvSpPr>
          <p:cNvPr id="18" name="Shape 16"/>
          <p:cNvSpPr/>
          <p:nvPr/>
        </p:nvSpPr>
        <p:spPr>
          <a:xfrm>
            <a:off x="429768" y="3429000"/>
            <a:ext cx="402336" cy="402336"/>
          </a:xfrm>
          <a:prstGeom prst="ellipse">
            <a:avLst/>
          </a:prstGeom>
          <a:solidFill>
            <a:srgbClr val="F59E0B"/>
          </a:solidFill>
          <a:ln w="12700">
            <a:solidFill>
              <a:srgbClr val="F59E0B"/>
            </a:solidFill>
            <a:prstDash val="solid"/>
          </a:ln>
        </p:spPr>
        <p:txBody>
          <a:bodyPr/>
          <a:lstStyle/>
          <a:p>
            <a:endParaRPr lang="en-IN"/>
          </a:p>
        </p:txBody>
      </p:sp>
      <p:sp>
        <p:nvSpPr>
          <p:cNvPr id="19" name="Text 17"/>
          <p:cNvSpPr/>
          <p:nvPr/>
        </p:nvSpPr>
        <p:spPr>
          <a:xfrm>
            <a:off x="429768" y="3429000"/>
            <a:ext cx="402336" cy="402336"/>
          </a:xfrm>
          <a:prstGeom prst="rect">
            <a:avLst/>
          </a:prstGeom>
          <a:noFill/>
          <a:ln/>
        </p:spPr>
        <p:txBody>
          <a:bodyPr wrap="square" lIns="0" tIns="0" rIns="0" bIns="0" rtlCol="0" anchor="ctr"/>
          <a:lstStyle/>
          <a:p>
            <a:pPr marL="0" indent="0" algn="ctr">
              <a:buNone/>
            </a:pPr>
            <a:r>
              <a:rPr lang="en-US" sz="1100" b="1" dirty="0">
                <a:solidFill>
                  <a:srgbClr val="0F172A"/>
                </a:solidFill>
                <a:latin typeface="Calibri" pitchFamily="34" charset="0"/>
                <a:ea typeface="Calibri" pitchFamily="34" charset="-122"/>
                <a:cs typeface="Calibri" pitchFamily="34" charset="-120"/>
              </a:rPr>
              <a:t>04</a:t>
            </a:r>
            <a:endParaRPr lang="en-US" sz="1100" dirty="0"/>
          </a:p>
        </p:txBody>
      </p:sp>
      <p:sp>
        <p:nvSpPr>
          <p:cNvPr id="20" name="Text 18"/>
          <p:cNvSpPr/>
          <p:nvPr/>
        </p:nvSpPr>
        <p:spPr>
          <a:xfrm>
            <a:off x="914400" y="3474720"/>
            <a:ext cx="3474720" cy="32004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RAG Pipeline – Loaders, Chunks, Embeddings</a:t>
            </a:r>
            <a:endParaRPr lang="en-US" sz="1200" dirty="0"/>
          </a:p>
        </p:txBody>
      </p:sp>
      <p:sp>
        <p:nvSpPr>
          <p:cNvPr id="21" name="Shape 19"/>
          <p:cNvSpPr/>
          <p:nvPr/>
        </p:nvSpPr>
        <p:spPr>
          <a:xfrm>
            <a:off x="320040" y="4078224"/>
            <a:ext cx="4160520" cy="658368"/>
          </a:xfrm>
          <a:prstGeom prst="roundRect">
            <a:avLst>
              <a:gd name="adj" fmla="val 13889"/>
            </a:avLst>
          </a:prstGeom>
          <a:solidFill>
            <a:srgbClr val="1E293B"/>
          </a:solidFill>
          <a:ln w="12700">
            <a:solidFill>
              <a:srgbClr val="06B6D4"/>
            </a:solidFill>
            <a:prstDash val="solid"/>
          </a:ln>
        </p:spPr>
        <p:txBody>
          <a:bodyPr/>
          <a:lstStyle/>
          <a:p>
            <a:endParaRPr lang="en-IN"/>
          </a:p>
        </p:txBody>
      </p:sp>
      <p:sp>
        <p:nvSpPr>
          <p:cNvPr id="22" name="Shape 20"/>
          <p:cNvSpPr/>
          <p:nvPr/>
        </p:nvSpPr>
        <p:spPr>
          <a:xfrm>
            <a:off x="429768" y="4197096"/>
            <a:ext cx="402336" cy="402336"/>
          </a:xfrm>
          <a:prstGeom prst="ellipse">
            <a:avLst/>
          </a:prstGeom>
          <a:solidFill>
            <a:srgbClr val="06B6D4"/>
          </a:solidFill>
          <a:ln w="12700">
            <a:solidFill>
              <a:srgbClr val="06B6D4"/>
            </a:solidFill>
            <a:prstDash val="solid"/>
          </a:ln>
        </p:spPr>
        <p:txBody>
          <a:bodyPr/>
          <a:lstStyle/>
          <a:p>
            <a:endParaRPr lang="en-IN"/>
          </a:p>
        </p:txBody>
      </p:sp>
      <p:sp>
        <p:nvSpPr>
          <p:cNvPr id="23" name="Text 21"/>
          <p:cNvSpPr/>
          <p:nvPr/>
        </p:nvSpPr>
        <p:spPr>
          <a:xfrm>
            <a:off x="429768" y="4197096"/>
            <a:ext cx="402336" cy="402336"/>
          </a:xfrm>
          <a:prstGeom prst="rect">
            <a:avLst/>
          </a:prstGeom>
          <a:noFill/>
          <a:ln/>
        </p:spPr>
        <p:txBody>
          <a:bodyPr wrap="square" lIns="0" tIns="0" rIns="0" bIns="0" rtlCol="0" anchor="ctr"/>
          <a:lstStyle/>
          <a:p>
            <a:pPr marL="0" indent="0" algn="ctr">
              <a:buNone/>
            </a:pPr>
            <a:r>
              <a:rPr lang="en-US" sz="1100" b="1" dirty="0">
                <a:solidFill>
                  <a:srgbClr val="0F172A"/>
                </a:solidFill>
                <a:latin typeface="Calibri" pitchFamily="34" charset="0"/>
                <a:ea typeface="Calibri" pitchFamily="34" charset="-122"/>
                <a:cs typeface="Calibri" pitchFamily="34" charset="-120"/>
              </a:rPr>
              <a:t>05</a:t>
            </a:r>
            <a:endParaRPr lang="en-US" sz="1100" dirty="0"/>
          </a:p>
        </p:txBody>
      </p:sp>
      <p:sp>
        <p:nvSpPr>
          <p:cNvPr id="24" name="Text 22"/>
          <p:cNvSpPr/>
          <p:nvPr/>
        </p:nvSpPr>
        <p:spPr>
          <a:xfrm>
            <a:off x="914400" y="4242816"/>
            <a:ext cx="3474720" cy="32004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Vector Stores – FAISS &amp; ChromaDB</a:t>
            </a:r>
            <a:endParaRPr lang="en-US" sz="1200" dirty="0"/>
          </a:p>
        </p:txBody>
      </p:sp>
      <p:sp>
        <p:nvSpPr>
          <p:cNvPr id="25" name="Shape 23"/>
          <p:cNvSpPr/>
          <p:nvPr/>
        </p:nvSpPr>
        <p:spPr>
          <a:xfrm>
            <a:off x="4709160" y="1005840"/>
            <a:ext cx="4160520" cy="658368"/>
          </a:xfrm>
          <a:prstGeom prst="roundRect">
            <a:avLst>
              <a:gd name="adj" fmla="val 13889"/>
            </a:avLst>
          </a:prstGeom>
          <a:solidFill>
            <a:srgbClr val="1E293B"/>
          </a:solidFill>
          <a:ln w="12700">
            <a:solidFill>
              <a:srgbClr val="8B5CF6"/>
            </a:solidFill>
            <a:prstDash val="solid"/>
          </a:ln>
        </p:spPr>
        <p:txBody>
          <a:bodyPr/>
          <a:lstStyle/>
          <a:p>
            <a:endParaRPr lang="en-IN"/>
          </a:p>
        </p:txBody>
      </p:sp>
      <p:sp>
        <p:nvSpPr>
          <p:cNvPr id="26" name="Shape 24"/>
          <p:cNvSpPr/>
          <p:nvPr/>
        </p:nvSpPr>
        <p:spPr>
          <a:xfrm>
            <a:off x="4818888" y="1124712"/>
            <a:ext cx="402336" cy="402336"/>
          </a:xfrm>
          <a:prstGeom prst="ellipse">
            <a:avLst/>
          </a:prstGeom>
          <a:solidFill>
            <a:srgbClr val="8B5CF6"/>
          </a:solidFill>
          <a:ln w="12700">
            <a:solidFill>
              <a:srgbClr val="8B5CF6"/>
            </a:solidFill>
            <a:prstDash val="solid"/>
          </a:ln>
        </p:spPr>
        <p:txBody>
          <a:bodyPr/>
          <a:lstStyle/>
          <a:p>
            <a:endParaRPr lang="en-IN"/>
          </a:p>
        </p:txBody>
      </p:sp>
      <p:sp>
        <p:nvSpPr>
          <p:cNvPr id="27" name="Text 25"/>
          <p:cNvSpPr/>
          <p:nvPr/>
        </p:nvSpPr>
        <p:spPr>
          <a:xfrm>
            <a:off x="4818888" y="1124712"/>
            <a:ext cx="402336" cy="402336"/>
          </a:xfrm>
          <a:prstGeom prst="rect">
            <a:avLst/>
          </a:prstGeom>
          <a:noFill/>
          <a:ln/>
        </p:spPr>
        <p:txBody>
          <a:bodyPr wrap="square" lIns="0" tIns="0" rIns="0" bIns="0" rtlCol="0" anchor="ctr"/>
          <a:lstStyle/>
          <a:p>
            <a:pPr marL="0" indent="0" algn="ctr">
              <a:buNone/>
            </a:pPr>
            <a:r>
              <a:rPr lang="en-US" sz="1100" b="1" dirty="0">
                <a:solidFill>
                  <a:srgbClr val="0F172A"/>
                </a:solidFill>
                <a:latin typeface="Calibri" pitchFamily="34" charset="0"/>
                <a:ea typeface="Calibri" pitchFamily="34" charset="-122"/>
                <a:cs typeface="Calibri" pitchFamily="34" charset="-120"/>
              </a:rPr>
              <a:t>06</a:t>
            </a:r>
            <a:endParaRPr lang="en-US" sz="1100" dirty="0"/>
          </a:p>
        </p:txBody>
      </p:sp>
      <p:sp>
        <p:nvSpPr>
          <p:cNvPr id="28" name="Text 26"/>
          <p:cNvSpPr/>
          <p:nvPr/>
        </p:nvSpPr>
        <p:spPr>
          <a:xfrm>
            <a:off x="5303520" y="1170432"/>
            <a:ext cx="3474720" cy="32004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LangChain &amp; LangGraph Frameworks</a:t>
            </a:r>
            <a:endParaRPr lang="en-US" sz="1200" dirty="0"/>
          </a:p>
        </p:txBody>
      </p:sp>
      <p:sp>
        <p:nvSpPr>
          <p:cNvPr id="29" name="Shape 27"/>
          <p:cNvSpPr/>
          <p:nvPr/>
        </p:nvSpPr>
        <p:spPr>
          <a:xfrm>
            <a:off x="4709160" y="1773936"/>
            <a:ext cx="4160520" cy="658368"/>
          </a:xfrm>
          <a:prstGeom prst="roundRect">
            <a:avLst>
              <a:gd name="adj" fmla="val 13889"/>
            </a:avLst>
          </a:prstGeom>
          <a:solidFill>
            <a:srgbClr val="1E293B"/>
          </a:solidFill>
          <a:ln w="12700">
            <a:solidFill>
              <a:srgbClr val="10B981"/>
            </a:solidFill>
            <a:prstDash val="solid"/>
          </a:ln>
        </p:spPr>
        <p:txBody>
          <a:bodyPr/>
          <a:lstStyle/>
          <a:p>
            <a:endParaRPr lang="en-IN"/>
          </a:p>
        </p:txBody>
      </p:sp>
      <p:sp>
        <p:nvSpPr>
          <p:cNvPr id="30" name="Shape 28"/>
          <p:cNvSpPr/>
          <p:nvPr/>
        </p:nvSpPr>
        <p:spPr>
          <a:xfrm>
            <a:off x="4818888" y="1892808"/>
            <a:ext cx="402336" cy="402336"/>
          </a:xfrm>
          <a:prstGeom prst="ellipse">
            <a:avLst/>
          </a:prstGeom>
          <a:solidFill>
            <a:srgbClr val="10B981"/>
          </a:solidFill>
          <a:ln w="12700">
            <a:solidFill>
              <a:srgbClr val="10B981"/>
            </a:solidFill>
            <a:prstDash val="solid"/>
          </a:ln>
        </p:spPr>
        <p:txBody>
          <a:bodyPr/>
          <a:lstStyle/>
          <a:p>
            <a:endParaRPr lang="en-IN"/>
          </a:p>
        </p:txBody>
      </p:sp>
      <p:sp>
        <p:nvSpPr>
          <p:cNvPr id="31" name="Text 29"/>
          <p:cNvSpPr/>
          <p:nvPr/>
        </p:nvSpPr>
        <p:spPr>
          <a:xfrm>
            <a:off x="4818888" y="1892808"/>
            <a:ext cx="402336" cy="402336"/>
          </a:xfrm>
          <a:prstGeom prst="rect">
            <a:avLst/>
          </a:prstGeom>
          <a:noFill/>
          <a:ln/>
        </p:spPr>
        <p:txBody>
          <a:bodyPr wrap="square" lIns="0" tIns="0" rIns="0" bIns="0" rtlCol="0" anchor="ctr"/>
          <a:lstStyle/>
          <a:p>
            <a:pPr marL="0" indent="0" algn="ctr">
              <a:buNone/>
            </a:pPr>
            <a:r>
              <a:rPr lang="en-US" sz="1100" b="1" dirty="0">
                <a:solidFill>
                  <a:srgbClr val="0F172A"/>
                </a:solidFill>
                <a:latin typeface="Calibri" pitchFamily="34" charset="0"/>
                <a:ea typeface="Calibri" pitchFamily="34" charset="-122"/>
                <a:cs typeface="Calibri" pitchFamily="34" charset="-120"/>
              </a:rPr>
              <a:t>07</a:t>
            </a:r>
            <a:endParaRPr lang="en-US" sz="1100" dirty="0"/>
          </a:p>
        </p:txBody>
      </p:sp>
      <p:sp>
        <p:nvSpPr>
          <p:cNvPr id="32" name="Text 30"/>
          <p:cNvSpPr/>
          <p:nvPr/>
        </p:nvSpPr>
        <p:spPr>
          <a:xfrm>
            <a:off x="5303520" y="1938528"/>
            <a:ext cx="3474720" cy="32004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Agent Memory &amp; Multi-Agent Systems</a:t>
            </a:r>
            <a:endParaRPr lang="en-US" sz="1200" dirty="0"/>
          </a:p>
        </p:txBody>
      </p:sp>
      <p:sp>
        <p:nvSpPr>
          <p:cNvPr id="33" name="Shape 31"/>
          <p:cNvSpPr/>
          <p:nvPr/>
        </p:nvSpPr>
        <p:spPr>
          <a:xfrm>
            <a:off x="4709160" y="2542032"/>
            <a:ext cx="4160520" cy="658368"/>
          </a:xfrm>
          <a:prstGeom prst="roundRect">
            <a:avLst>
              <a:gd name="adj" fmla="val 13889"/>
            </a:avLst>
          </a:prstGeom>
          <a:solidFill>
            <a:srgbClr val="1E293B"/>
          </a:solidFill>
          <a:ln w="12700">
            <a:solidFill>
              <a:srgbClr val="F59E0B"/>
            </a:solidFill>
            <a:prstDash val="solid"/>
          </a:ln>
        </p:spPr>
        <p:txBody>
          <a:bodyPr/>
          <a:lstStyle/>
          <a:p>
            <a:endParaRPr lang="en-IN"/>
          </a:p>
        </p:txBody>
      </p:sp>
      <p:sp>
        <p:nvSpPr>
          <p:cNvPr id="34" name="Shape 32"/>
          <p:cNvSpPr/>
          <p:nvPr/>
        </p:nvSpPr>
        <p:spPr>
          <a:xfrm>
            <a:off x="4818888" y="2660904"/>
            <a:ext cx="402336" cy="402336"/>
          </a:xfrm>
          <a:prstGeom prst="ellipse">
            <a:avLst/>
          </a:prstGeom>
          <a:solidFill>
            <a:srgbClr val="F59E0B"/>
          </a:solidFill>
          <a:ln w="12700">
            <a:solidFill>
              <a:srgbClr val="F59E0B"/>
            </a:solidFill>
            <a:prstDash val="solid"/>
          </a:ln>
        </p:spPr>
        <p:txBody>
          <a:bodyPr/>
          <a:lstStyle/>
          <a:p>
            <a:endParaRPr lang="en-IN"/>
          </a:p>
        </p:txBody>
      </p:sp>
      <p:sp>
        <p:nvSpPr>
          <p:cNvPr id="35" name="Text 33"/>
          <p:cNvSpPr/>
          <p:nvPr/>
        </p:nvSpPr>
        <p:spPr>
          <a:xfrm>
            <a:off x="4818888" y="2660904"/>
            <a:ext cx="402336" cy="402336"/>
          </a:xfrm>
          <a:prstGeom prst="rect">
            <a:avLst/>
          </a:prstGeom>
          <a:noFill/>
          <a:ln/>
        </p:spPr>
        <p:txBody>
          <a:bodyPr wrap="square" lIns="0" tIns="0" rIns="0" bIns="0" rtlCol="0" anchor="ctr"/>
          <a:lstStyle/>
          <a:p>
            <a:pPr marL="0" indent="0" algn="ctr">
              <a:buNone/>
            </a:pPr>
            <a:r>
              <a:rPr lang="en-US" sz="1100" b="1" dirty="0">
                <a:solidFill>
                  <a:srgbClr val="0F172A"/>
                </a:solidFill>
                <a:latin typeface="Calibri" pitchFamily="34" charset="0"/>
                <a:ea typeface="Calibri" pitchFamily="34" charset="-122"/>
                <a:cs typeface="Calibri" pitchFamily="34" charset="-120"/>
              </a:rPr>
              <a:t>08</a:t>
            </a:r>
            <a:endParaRPr lang="en-US" sz="1100" dirty="0"/>
          </a:p>
        </p:txBody>
      </p:sp>
      <p:sp>
        <p:nvSpPr>
          <p:cNvPr id="36" name="Text 34"/>
          <p:cNvSpPr/>
          <p:nvPr/>
        </p:nvSpPr>
        <p:spPr>
          <a:xfrm>
            <a:off x="5303520" y="2706624"/>
            <a:ext cx="3474720" cy="32004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AWS Bedrock &amp; Real-World Use Cases</a:t>
            </a:r>
            <a:endParaRPr lang="en-US" sz="1200" dirty="0"/>
          </a:p>
        </p:txBody>
      </p:sp>
      <p:sp>
        <p:nvSpPr>
          <p:cNvPr id="37" name="Shape 35"/>
          <p:cNvSpPr/>
          <p:nvPr/>
        </p:nvSpPr>
        <p:spPr>
          <a:xfrm>
            <a:off x="4709160" y="3310128"/>
            <a:ext cx="4160520" cy="658368"/>
          </a:xfrm>
          <a:prstGeom prst="roundRect">
            <a:avLst>
              <a:gd name="adj" fmla="val 13889"/>
            </a:avLst>
          </a:prstGeom>
          <a:solidFill>
            <a:srgbClr val="1E293B"/>
          </a:solidFill>
          <a:ln w="12700">
            <a:solidFill>
              <a:srgbClr val="06B6D4"/>
            </a:solidFill>
            <a:prstDash val="solid"/>
          </a:ln>
        </p:spPr>
        <p:txBody>
          <a:bodyPr/>
          <a:lstStyle/>
          <a:p>
            <a:endParaRPr lang="en-IN"/>
          </a:p>
        </p:txBody>
      </p:sp>
      <p:sp>
        <p:nvSpPr>
          <p:cNvPr id="38" name="Shape 36"/>
          <p:cNvSpPr/>
          <p:nvPr/>
        </p:nvSpPr>
        <p:spPr>
          <a:xfrm>
            <a:off x="4818888" y="3429000"/>
            <a:ext cx="402336" cy="402336"/>
          </a:xfrm>
          <a:prstGeom prst="ellipse">
            <a:avLst/>
          </a:prstGeom>
          <a:solidFill>
            <a:srgbClr val="06B6D4"/>
          </a:solidFill>
          <a:ln w="12700">
            <a:solidFill>
              <a:srgbClr val="06B6D4"/>
            </a:solidFill>
            <a:prstDash val="solid"/>
          </a:ln>
        </p:spPr>
        <p:txBody>
          <a:bodyPr/>
          <a:lstStyle/>
          <a:p>
            <a:endParaRPr lang="en-IN"/>
          </a:p>
        </p:txBody>
      </p:sp>
      <p:sp>
        <p:nvSpPr>
          <p:cNvPr id="39" name="Text 37"/>
          <p:cNvSpPr/>
          <p:nvPr/>
        </p:nvSpPr>
        <p:spPr>
          <a:xfrm>
            <a:off x="4818888" y="3429000"/>
            <a:ext cx="402336" cy="402336"/>
          </a:xfrm>
          <a:prstGeom prst="rect">
            <a:avLst/>
          </a:prstGeom>
          <a:noFill/>
          <a:ln/>
        </p:spPr>
        <p:txBody>
          <a:bodyPr wrap="square" lIns="0" tIns="0" rIns="0" bIns="0" rtlCol="0" anchor="ctr"/>
          <a:lstStyle/>
          <a:p>
            <a:pPr marL="0" indent="0" algn="ctr">
              <a:buNone/>
            </a:pPr>
            <a:r>
              <a:rPr lang="en-US" sz="1100" b="1" dirty="0">
                <a:solidFill>
                  <a:srgbClr val="0F172A"/>
                </a:solidFill>
                <a:latin typeface="Calibri" pitchFamily="34" charset="0"/>
                <a:ea typeface="Calibri" pitchFamily="34" charset="-122"/>
                <a:cs typeface="Calibri" pitchFamily="34" charset="-120"/>
              </a:rPr>
              <a:t>09</a:t>
            </a:r>
            <a:endParaRPr lang="en-US" sz="1100" dirty="0"/>
          </a:p>
        </p:txBody>
      </p:sp>
      <p:sp>
        <p:nvSpPr>
          <p:cNvPr id="40" name="Text 38"/>
          <p:cNvSpPr/>
          <p:nvPr/>
        </p:nvSpPr>
        <p:spPr>
          <a:xfrm>
            <a:off x="5303520" y="3474720"/>
            <a:ext cx="3474720" cy="32004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EV Charging Portal – End-to-End Demo</a:t>
            </a:r>
            <a:endParaRPr lang="en-US" sz="1200" dirty="0"/>
          </a:p>
        </p:txBody>
      </p:sp>
      <p:sp>
        <p:nvSpPr>
          <p:cNvPr id="41" name="Shape 39"/>
          <p:cNvSpPr/>
          <p:nvPr/>
        </p:nvSpPr>
        <p:spPr>
          <a:xfrm>
            <a:off x="4709160" y="4078224"/>
            <a:ext cx="4160520" cy="658368"/>
          </a:xfrm>
          <a:prstGeom prst="roundRect">
            <a:avLst>
              <a:gd name="adj" fmla="val 13889"/>
            </a:avLst>
          </a:prstGeom>
          <a:solidFill>
            <a:srgbClr val="1E293B"/>
          </a:solidFill>
          <a:ln w="12700">
            <a:solidFill>
              <a:srgbClr val="8B5CF6"/>
            </a:solidFill>
            <a:prstDash val="solid"/>
          </a:ln>
        </p:spPr>
        <p:txBody>
          <a:bodyPr/>
          <a:lstStyle/>
          <a:p>
            <a:endParaRPr lang="en-IN"/>
          </a:p>
        </p:txBody>
      </p:sp>
      <p:sp>
        <p:nvSpPr>
          <p:cNvPr id="42" name="Shape 40"/>
          <p:cNvSpPr/>
          <p:nvPr/>
        </p:nvSpPr>
        <p:spPr>
          <a:xfrm>
            <a:off x="4818888" y="4197096"/>
            <a:ext cx="402336" cy="402336"/>
          </a:xfrm>
          <a:prstGeom prst="ellipse">
            <a:avLst/>
          </a:prstGeom>
          <a:solidFill>
            <a:srgbClr val="8B5CF6"/>
          </a:solidFill>
          <a:ln w="12700">
            <a:solidFill>
              <a:srgbClr val="8B5CF6"/>
            </a:solidFill>
            <a:prstDash val="solid"/>
          </a:ln>
        </p:spPr>
        <p:txBody>
          <a:bodyPr/>
          <a:lstStyle/>
          <a:p>
            <a:endParaRPr lang="en-IN"/>
          </a:p>
        </p:txBody>
      </p:sp>
      <p:sp>
        <p:nvSpPr>
          <p:cNvPr id="43" name="Text 41"/>
          <p:cNvSpPr/>
          <p:nvPr/>
        </p:nvSpPr>
        <p:spPr>
          <a:xfrm>
            <a:off x="4818888" y="4197096"/>
            <a:ext cx="402336" cy="402336"/>
          </a:xfrm>
          <a:prstGeom prst="rect">
            <a:avLst/>
          </a:prstGeom>
          <a:noFill/>
          <a:ln/>
        </p:spPr>
        <p:txBody>
          <a:bodyPr wrap="square" lIns="0" tIns="0" rIns="0" bIns="0" rtlCol="0" anchor="ctr"/>
          <a:lstStyle/>
          <a:p>
            <a:pPr marL="0" indent="0" algn="ctr">
              <a:buNone/>
            </a:pPr>
            <a:r>
              <a:rPr lang="en-US" sz="1100" b="1" dirty="0">
                <a:solidFill>
                  <a:srgbClr val="0F172A"/>
                </a:solidFill>
                <a:latin typeface="Calibri" pitchFamily="34" charset="0"/>
                <a:ea typeface="Calibri" pitchFamily="34" charset="-122"/>
                <a:cs typeface="Calibri" pitchFamily="34" charset="-120"/>
              </a:rPr>
              <a:t>10</a:t>
            </a:r>
            <a:endParaRPr lang="en-US" sz="1100" dirty="0"/>
          </a:p>
        </p:txBody>
      </p:sp>
      <p:sp>
        <p:nvSpPr>
          <p:cNvPr id="44" name="Text 42"/>
          <p:cNvSpPr/>
          <p:nvPr/>
        </p:nvSpPr>
        <p:spPr>
          <a:xfrm>
            <a:off x="5303520" y="4242816"/>
            <a:ext cx="3474720" cy="32004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Interview Q&amp;A + Learning Roadmap</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0B981"/>
          </a:solidFill>
          <a:ln w="12700">
            <a:solidFill>
              <a:srgbClr val="10B981"/>
            </a:solidFill>
            <a:prstDash val="solid"/>
          </a:ln>
        </p:spPr>
        <p:txBody>
          <a:bodyPr/>
          <a:lstStyle/>
          <a:p>
            <a:endParaRPr lang="en-IN"/>
          </a:p>
        </p:txBody>
      </p:sp>
      <p:sp>
        <p:nvSpPr>
          <p:cNvPr id="3" name="Text 1"/>
          <p:cNvSpPr/>
          <p:nvPr/>
        </p:nvSpPr>
        <p:spPr>
          <a:xfrm>
            <a:off x="365760" y="109728"/>
            <a:ext cx="8229600" cy="50292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Evolution of Artificial Intelligence</a:t>
            </a:r>
            <a:endParaRPr lang="en-US" sz="2800" dirty="0"/>
          </a:p>
        </p:txBody>
      </p:sp>
      <p:sp>
        <p:nvSpPr>
          <p:cNvPr id="4" name="Text 2"/>
          <p:cNvSpPr/>
          <p:nvPr/>
        </p:nvSpPr>
        <p:spPr>
          <a:xfrm>
            <a:off x="365760" y="594360"/>
            <a:ext cx="8229600" cy="274320"/>
          </a:xfrm>
          <a:prstGeom prst="rect">
            <a:avLst/>
          </a:prstGeom>
          <a:noFill/>
          <a:ln/>
        </p:spPr>
        <p:txBody>
          <a:bodyPr wrap="square" rtlCol="0" anchor="ctr"/>
          <a:lstStyle/>
          <a:p>
            <a:pPr marL="0" indent="0">
              <a:buNone/>
            </a:pPr>
            <a:r>
              <a:rPr lang="en-US" sz="1300" i="1" dirty="0">
                <a:solidFill>
                  <a:srgbClr val="10B981"/>
                </a:solidFill>
                <a:latin typeface="Calibri" pitchFamily="34" charset="0"/>
                <a:ea typeface="Calibri" pitchFamily="34" charset="-122"/>
                <a:cs typeface="Calibri" pitchFamily="34" charset="-120"/>
              </a:rPr>
              <a:t>From rule-based systems to autonomous AI agents</a:t>
            </a:r>
            <a:endParaRPr lang="en-US" sz="1300" dirty="0"/>
          </a:p>
        </p:txBody>
      </p:sp>
      <p:sp>
        <p:nvSpPr>
          <p:cNvPr id="5" name="Shape 3"/>
          <p:cNvSpPr/>
          <p:nvPr/>
        </p:nvSpPr>
        <p:spPr>
          <a:xfrm>
            <a:off x="274320" y="960120"/>
            <a:ext cx="1920240" cy="3931920"/>
          </a:xfrm>
          <a:prstGeom prst="roundRect">
            <a:avLst>
              <a:gd name="adj" fmla="val 5714"/>
            </a:avLst>
          </a:prstGeom>
          <a:solidFill>
            <a:srgbClr val="1A2A3A"/>
          </a:solidFill>
          <a:ln w="19050">
            <a:solidFill>
              <a:srgbClr val="94A3B8"/>
            </a:solidFill>
            <a:prstDash val="solid"/>
          </a:ln>
        </p:spPr>
        <p:txBody>
          <a:bodyPr/>
          <a:lstStyle/>
          <a:p>
            <a:endParaRPr lang="en-IN"/>
          </a:p>
        </p:txBody>
      </p:sp>
      <p:sp>
        <p:nvSpPr>
          <p:cNvPr id="6" name="Shape 4"/>
          <p:cNvSpPr/>
          <p:nvPr/>
        </p:nvSpPr>
        <p:spPr>
          <a:xfrm>
            <a:off x="941832" y="1078992"/>
            <a:ext cx="585216" cy="585216"/>
          </a:xfrm>
          <a:prstGeom prst="ellipse">
            <a:avLst/>
          </a:prstGeom>
          <a:solidFill>
            <a:srgbClr val="94A3B8"/>
          </a:solidFill>
          <a:ln w="12700">
            <a:solidFill>
              <a:srgbClr val="94A3B8"/>
            </a:solidFill>
            <a:prstDash val="solid"/>
          </a:ln>
        </p:spPr>
        <p:txBody>
          <a:bodyPr/>
          <a:lstStyle/>
          <a:p>
            <a:endParaRPr lang="en-IN"/>
          </a:p>
        </p:txBody>
      </p:sp>
      <p:sp>
        <p:nvSpPr>
          <p:cNvPr id="7" name="Text 5"/>
          <p:cNvSpPr/>
          <p:nvPr/>
        </p:nvSpPr>
        <p:spPr>
          <a:xfrm>
            <a:off x="941832" y="1078992"/>
            <a:ext cx="585216" cy="585216"/>
          </a:xfrm>
          <a:prstGeom prst="rect">
            <a:avLst/>
          </a:prstGeom>
          <a:noFill/>
          <a:ln/>
        </p:spPr>
        <p:txBody>
          <a:bodyPr wrap="square" lIns="0" tIns="0" rIns="0" bIns="0" rtlCol="0" anchor="ctr"/>
          <a:lstStyle/>
          <a:p>
            <a:pPr marL="0" indent="0" algn="ctr">
              <a:buNone/>
            </a:pPr>
            <a:r>
              <a:rPr lang="en-US" sz="1800" b="1" dirty="0">
                <a:solidFill>
                  <a:srgbClr val="0F172A"/>
                </a:solidFill>
                <a:latin typeface="Calibri" pitchFamily="34" charset="0"/>
                <a:ea typeface="Calibri" pitchFamily="34" charset="-122"/>
                <a:cs typeface="Calibri" pitchFamily="34" charset="-120"/>
              </a:rPr>
              <a:t>1</a:t>
            </a:r>
            <a:endParaRPr lang="en-US" sz="1800" dirty="0"/>
          </a:p>
        </p:txBody>
      </p:sp>
      <p:sp>
        <p:nvSpPr>
          <p:cNvPr id="8" name="Text 6"/>
          <p:cNvSpPr/>
          <p:nvPr/>
        </p:nvSpPr>
        <p:spPr>
          <a:xfrm>
            <a:off x="274320" y="1737360"/>
            <a:ext cx="1920240" cy="411480"/>
          </a:xfrm>
          <a:prstGeom prst="rect">
            <a:avLst/>
          </a:prstGeom>
          <a:noFill/>
          <a:ln/>
        </p:spPr>
        <p:txBody>
          <a:bodyPr wrap="square" rtlCol="0" anchor="ctr"/>
          <a:lstStyle/>
          <a:p>
            <a:pPr marL="0" indent="0" algn="ctr">
              <a:buNone/>
            </a:pPr>
            <a:r>
              <a:rPr lang="en-US" sz="1250" b="1" dirty="0">
                <a:solidFill>
                  <a:srgbClr val="94A3B8"/>
                </a:solidFill>
                <a:latin typeface="Calibri" pitchFamily="34" charset="0"/>
                <a:ea typeface="Calibri" pitchFamily="34" charset="-122"/>
                <a:cs typeface="Calibri" pitchFamily="34" charset="-120"/>
              </a:rPr>
              <a:t>Traditional AI</a:t>
            </a:r>
            <a:endParaRPr lang="en-US" sz="1250" dirty="0"/>
          </a:p>
        </p:txBody>
      </p:sp>
      <p:sp>
        <p:nvSpPr>
          <p:cNvPr id="9" name="Text 7"/>
          <p:cNvSpPr/>
          <p:nvPr/>
        </p:nvSpPr>
        <p:spPr>
          <a:xfrm>
            <a:off x="274320" y="2121408"/>
            <a:ext cx="1920240" cy="256032"/>
          </a:xfrm>
          <a:prstGeom prst="rect">
            <a:avLst/>
          </a:prstGeom>
          <a:noFill/>
          <a:ln/>
        </p:spPr>
        <p:txBody>
          <a:bodyPr wrap="square" rtlCol="0" anchor="ctr"/>
          <a:lstStyle/>
          <a:p>
            <a:pPr marL="0" indent="0" algn="ctr">
              <a:buNone/>
            </a:pPr>
            <a:r>
              <a:rPr lang="en-US" sz="900" i="1" dirty="0">
                <a:solidFill>
                  <a:srgbClr val="94A3B8"/>
                </a:solidFill>
                <a:latin typeface="Calibri" pitchFamily="34" charset="0"/>
                <a:ea typeface="Calibri" pitchFamily="34" charset="-122"/>
                <a:cs typeface="Calibri" pitchFamily="34" charset="-120"/>
              </a:rPr>
              <a:t>1950s–2000s</a:t>
            </a:r>
            <a:endParaRPr lang="en-US" sz="900" dirty="0"/>
          </a:p>
        </p:txBody>
      </p:sp>
      <p:sp>
        <p:nvSpPr>
          <p:cNvPr id="10" name="Text 8"/>
          <p:cNvSpPr/>
          <p:nvPr/>
        </p:nvSpPr>
        <p:spPr>
          <a:xfrm>
            <a:off x="384048" y="2450592"/>
            <a:ext cx="1719072" cy="384048"/>
          </a:xfrm>
          <a:prstGeom prst="rect">
            <a:avLst/>
          </a:prstGeom>
          <a:noFill/>
          <a:ln/>
        </p:spPr>
        <p:txBody>
          <a:bodyPr wrap="square" rtlCol="0" anchor="ctr"/>
          <a:lstStyle/>
          <a:p>
            <a:pPr marL="0" indent="0">
              <a:buNone/>
            </a:pPr>
            <a:r>
              <a:rPr lang="en-US" sz="950" dirty="0">
                <a:solidFill>
                  <a:srgbClr val="CBD5E1"/>
                </a:solidFill>
                <a:latin typeface="Calibri" pitchFamily="34" charset="0"/>
                <a:ea typeface="Calibri" pitchFamily="34" charset="-122"/>
                <a:cs typeface="Calibri" pitchFamily="34" charset="-120"/>
              </a:rPr>
              <a:t>▸  Rule-based systems</a:t>
            </a:r>
            <a:endParaRPr lang="en-US" sz="950" dirty="0"/>
          </a:p>
        </p:txBody>
      </p:sp>
      <p:sp>
        <p:nvSpPr>
          <p:cNvPr id="11" name="Text 9"/>
          <p:cNvSpPr/>
          <p:nvPr/>
        </p:nvSpPr>
        <p:spPr>
          <a:xfrm>
            <a:off x="384048" y="2898648"/>
            <a:ext cx="1719072" cy="384048"/>
          </a:xfrm>
          <a:prstGeom prst="rect">
            <a:avLst/>
          </a:prstGeom>
          <a:noFill/>
          <a:ln/>
        </p:spPr>
        <p:txBody>
          <a:bodyPr wrap="square" rtlCol="0" anchor="ctr"/>
          <a:lstStyle/>
          <a:p>
            <a:pPr marL="0" indent="0">
              <a:buNone/>
            </a:pPr>
            <a:r>
              <a:rPr lang="en-US" sz="950" dirty="0">
                <a:solidFill>
                  <a:srgbClr val="CBD5E1"/>
                </a:solidFill>
                <a:latin typeface="Calibri" pitchFamily="34" charset="0"/>
                <a:ea typeface="Calibri" pitchFamily="34" charset="-122"/>
                <a:cs typeface="Calibri" pitchFamily="34" charset="-120"/>
              </a:rPr>
              <a:t>▸  Expert systems</a:t>
            </a:r>
            <a:endParaRPr lang="en-US" sz="950" dirty="0"/>
          </a:p>
        </p:txBody>
      </p:sp>
      <p:sp>
        <p:nvSpPr>
          <p:cNvPr id="12" name="Text 10"/>
          <p:cNvSpPr/>
          <p:nvPr/>
        </p:nvSpPr>
        <p:spPr>
          <a:xfrm>
            <a:off x="384048" y="3346704"/>
            <a:ext cx="1719072" cy="384048"/>
          </a:xfrm>
          <a:prstGeom prst="rect">
            <a:avLst/>
          </a:prstGeom>
          <a:noFill/>
          <a:ln/>
        </p:spPr>
        <p:txBody>
          <a:bodyPr wrap="square" rtlCol="0" anchor="ctr"/>
          <a:lstStyle/>
          <a:p>
            <a:pPr marL="0" indent="0">
              <a:buNone/>
            </a:pPr>
            <a:r>
              <a:rPr lang="en-US" sz="950" dirty="0">
                <a:solidFill>
                  <a:srgbClr val="CBD5E1"/>
                </a:solidFill>
                <a:latin typeface="Calibri" pitchFamily="34" charset="0"/>
                <a:ea typeface="Calibri" pitchFamily="34" charset="-122"/>
                <a:cs typeface="Calibri" pitchFamily="34" charset="-120"/>
              </a:rPr>
              <a:t>▸  Decision trees</a:t>
            </a:r>
            <a:endParaRPr lang="en-US" sz="950" dirty="0"/>
          </a:p>
        </p:txBody>
      </p:sp>
      <p:sp>
        <p:nvSpPr>
          <p:cNvPr id="13" name="Text 11"/>
          <p:cNvSpPr/>
          <p:nvPr/>
        </p:nvSpPr>
        <p:spPr>
          <a:xfrm>
            <a:off x="384048" y="3794760"/>
            <a:ext cx="1719072" cy="384048"/>
          </a:xfrm>
          <a:prstGeom prst="rect">
            <a:avLst/>
          </a:prstGeom>
          <a:noFill/>
          <a:ln/>
        </p:spPr>
        <p:txBody>
          <a:bodyPr wrap="square" rtlCol="0" anchor="ctr"/>
          <a:lstStyle/>
          <a:p>
            <a:pPr marL="0" indent="0">
              <a:buNone/>
            </a:pPr>
            <a:r>
              <a:rPr lang="en-US" sz="950" dirty="0">
                <a:solidFill>
                  <a:srgbClr val="CBD5E1"/>
                </a:solidFill>
                <a:latin typeface="Calibri" pitchFamily="34" charset="0"/>
                <a:ea typeface="Calibri" pitchFamily="34" charset="-122"/>
                <a:cs typeface="Calibri" pitchFamily="34" charset="-120"/>
              </a:rPr>
              <a:t>▸  Chess engines</a:t>
            </a:r>
            <a:endParaRPr lang="en-US" sz="950" dirty="0"/>
          </a:p>
        </p:txBody>
      </p:sp>
      <p:sp>
        <p:nvSpPr>
          <p:cNvPr id="14" name="Text 12"/>
          <p:cNvSpPr/>
          <p:nvPr/>
        </p:nvSpPr>
        <p:spPr>
          <a:xfrm>
            <a:off x="384048" y="4242816"/>
            <a:ext cx="1719072" cy="384048"/>
          </a:xfrm>
          <a:prstGeom prst="rect">
            <a:avLst/>
          </a:prstGeom>
          <a:noFill/>
          <a:ln/>
        </p:spPr>
        <p:txBody>
          <a:bodyPr wrap="square" rtlCol="0" anchor="ctr"/>
          <a:lstStyle/>
          <a:p>
            <a:pPr marL="0" indent="0">
              <a:buNone/>
            </a:pPr>
            <a:r>
              <a:rPr lang="en-US" sz="950" dirty="0">
                <a:solidFill>
                  <a:srgbClr val="CBD5E1"/>
                </a:solidFill>
                <a:latin typeface="Calibri" pitchFamily="34" charset="0"/>
                <a:ea typeface="Calibri" pitchFamily="34" charset="-122"/>
                <a:cs typeface="Calibri" pitchFamily="34" charset="-120"/>
              </a:rPr>
              <a:t>▸  Fixed responses</a:t>
            </a:r>
            <a:endParaRPr lang="en-US" sz="950" dirty="0"/>
          </a:p>
        </p:txBody>
      </p:sp>
      <p:sp>
        <p:nvSpPr>
          <p:cNvPr id="15" name="Shape 13"/>
          <p:cNvSpPr/>
          <p:nvPr/>
        </p:nvSpPr>
        <p:spPr>
          <a:xfrm>
            <a:off x="2450592" y="960120"/>
            <a:ext cx="1920240" cy="3931920"/>
          </a:xfrm>
          <a:prstGeom prst="roundRect">
            <a:avLst>
              <a:gd name="adj" fmla="val 5714"/>
            </a:avLst>
          </a:prstGeom>
          <a:solidFill>
            <a:srgbClr val="1A2212"/>
          </a:solidFill>
          <a:ln w="19050">
            <a:solidFill>
              <a:srgbClr val="F59E0B"/>
            </a:solidFill>
            <a:prstDash val="solid"/>
          </a:ln>
        </p:spPr>
        <p:txBody>
          <a:bodyPr/>
          <a:lstStyle/>
          <a:p>
            <a:endParaRPr lang="en-IN"/>
          </a:p>
        </p:txBody>
      </p:sp>
      <p:sp>
        <p:nvSpPr>
          <p:cNvPr id="16" name="Shape 14"/>
          <p:cNvSpPr/>
          <p:nvPr/>
        </p:nvSpPr>
        <p:spPr>
          <a:xfrm>
            <a:off x="3118104" y="1078992"/>
            <a:ext cx="585216" cy="585216"/>
          </a:xfrm>
          <a:prstGeom prst="ellipse">
            <a:avLst/>
          </a:prstGeom>
          <a:solidFill>
            <a:srgbClr val="F59E0B"/>
          </a:solidFill>
          <a:ln w="12700">
            <a:solidFill>
              <a:srgbClr val="F59E0B"/>
            </a:solidFill>
            <a:prstDash val="solid"/>
          </a:ln>
        </p:spPr>
        <p:txBody>
          <a:bodyPr/>
          <a:lstStyle/>
          <a:p>
            <a:endParaRPr lang="en-IN"/>
          </a:p>
        </p:txBody>
      </p:sp>
      <p:sp>
        <p:nvSpPr>
          <p:cNvPr id="17" name="Text 15"/>
          <p:cNvSpPr/>
          <p:nvPr/>
        </p:nvSpPr>
        <p:spPr>
          <a:xfrm>
            <a:off x="3118104" y="1078992"/>
            <a:ext cx="585216" cy="585216"/>
          </a:xfrm>
          <a:prstGeom prst="rect">
            <a:avLst/>
          </a:prstGeom>
          <a:noFill/>
          <a:ln/>
        </p:spPr>
        <p:txBody>
          <a:bodyPr wrap="square" lIns="0" tIns="0" rIns="0" bIns="0" rtlCol="0" anchor="ctr"/>
          <a:lstStyle/>
          <a:p>
            <a:pPr marL="0" indent="0" algn="ctr">
              <a:buNone/>
            </a:pPr>
            <a:r>
              <a:rPr lang="en-US" sz="1800" b="1" dirty="0">
                <a:solidFill>
                  <a:srgbClr val="0F172A"/>
                </a:solidFill>
                <a:latin typeface="Calibri" pitchFamily="34" charset="0"/>
                <a:ea typeface="Calibri" pitchFamily="34" charset="-122"/>
                <a:cs typeface="Calibri" pitchFamily="34" charset="-120"/>
              </a:rPr>
              <a:t>2</a:t>
            </a:r>
            <a:endParaRPr lang="en-US" sz="1800" dirty="0"/>
          </a:p>
        </p:txBody>
      </p:sp>
      <p:sp>
        <p:nvSpPr>
          <p:cNvPr id="18" name="Text 16"/>
          <p:cNvSpPr/>
          <p:nvPr/>
        </p:nvSpPr>
        <p:spPr>
          <a:xfrm>
            <a:off x="2450592" y="1737360"/>
            <a:ext cx="1920240" cy="411480"/>
          </a:xfrm>
          <a:prstGeom prst="rect">
            <a:avLst/>
          </a:prstGeom>
          <a:noFill/>
          <a:ln/>
        </p:spPr>
        <p:txBody>
          <a:bodyPr wrap="square" rtlCol="0" anchor="ctr"/>
          <a:lstStyle/>
          <a:p>
            <a:pPr marL="0" indent="0" algn="ctr">
              <a:buNone/>
            </a:pPr>
            <a:r>
              <a:rPr lang="en-US" sz="1250" b="1" dirty="0">
                <a:solidFill>
                  <a:srgbClr val="F59E0B"/>
                </a:solidFill>
                <a:latin typeface="Calibri" pitchFamily="34" charset="0"/>
                <a:ea typeface="Calibri" pitchFamily="34" charset="-122"/>
                <a:cs typeface="Calibri" pitchFamily="34" charset="-120"/>
              </a:rPr>
              <a:t>Machine Learning</a:t>
            </a:r>
            <a:endParaRPr lang="en-US" sz="1250" dirty="0"/>
          </a:p>
        </p:txBody>
      </p:sp>
      <p:sp>
        <p:nvSpPr>
          <p:cNvPr id="19" name="Text 17"/>
          <p:cNvSpPr/>
          <p:nvPr/>
        </p:nvSpPr>
        <p:spPr>
          <a:xfrm>
            <a:off x="2450592" y="2121408"/>
            <a:ext cx="1920240" cy="256032"/>
          </a:xfrm>
          <a:prstGeom prst="rect">
            <a:avLst/>
          </a:prstGeom>
          <a:noFill/>
          <a:ln/>
        </p:spPr>
        <p:txBody>
          <a:bodyPr wrap="square" rtlCol="0" anchor="ctr"/>
          <a:lstStyle/>
          <a:p>
            <a:pPr marL="0" indent="0" algn="ctr">
              <a:buNone/>
            </a:pPr>
            <a:r>
              <a:rPr lang="en-US" sz="900" i="1" dirty="0">
                <a:solidFill>
                  <a:srgbClr val="94A3B8"/>
                </a:solidFill>
                <a:latin typeface="Calibri" pitchFamily="34" charset="0"/>
                <a:ea typeface="Calibri" pitchFamily="34" charset="-122"/>
                <a:cs typeface="Calibri" pitchFamily="34" charset="-120"/>
              </a:rPr>
              <a:t>2000s–2017</a:t>
            </a:r>
            <a:endParaRPr lang="en-US" sz="900" dirty="0"/>
          </a:p>
        </p:txBody>
      </p:sp>
      <p:sp>
        <p:nvSpPr>
          <p:cNvPr id="20" name="Text 18"/>
          <p:cNvSpPr/>
          <p:nvPr/>
        </p:nvSpPr>
        <p:spPr>
          <a:xfrm>
            <a:off x="2560320" y="2450592"/>
            <a:ext cx="1719072" cy="384048"/>
          </a:xfrm>
          <a:prstGeom prst="rect">
            <a:avLst/>
          </a:prstGeom>
          <a:noFill/>
          <a:ln/>
        </p:spPr>
        <p:txBody>
          <a:bodyPr wrap="square" rtlCol="0" anchor="ctr"/>
          <a:lstStyle/>
          <a:p>
            <a:pPr marL="0" indent="0">
              <a:buNone/>
            </a:pPr>
            <a:r>
              <a:rPr lang="en-US" sz="950" dirty="0">
                <a:solidFill>
                  <a:srgbClr val="CBD5E1"/>
                </a:solidFill>
                <a:latin typeface="Calibri" pitchFamily="34" charset="0"/>
                <a:ea typeface="Calibri" pitchFamily="34" charset="-122"/>
                <a:cs typeface="Calibri" pitchFamily="34" charset="-120"/>
              </a:rPr>
              <a:t>▸  Pattern recognition</a:t>
            </a:r>
            <a:endParaRPr lang="en-US" sz="950" dirty="0"/>
          </a:p>
        </p:txBody>
      </p:sp>
      <p:sp>
        <p:nvSpPr>
          <p:cNvPr id="21" name="Text 19"/>
          <p:cNvSpPr/>
          <p:nvPr/>
        </p:nvSpPr>
        <p:spPr>
          <a:xfrm>
            <a:off x="2560320" y="2898648"/>
            <a:ext cx="1719072" cy="384048"/>
          </a:xfrm>
          <a:prstGeom prst="rect">
            <a:avLst/>
          </a:prstGeom>
          <a:noFill/>
          <a:ln/>
        </p:spPr>
        <p:txBody>
          <a:bodyPr wrap="square" rtlCol="0" anchor="ctr"/>
          <a:lstStyle/>
          <a:p>
            <a:pPr marL="0" indent="0">
              <a:buNone/>
            </a:pPr>
            <a:r>
              <a:rPr lang="en-US" sz="950" dirty="0">
                <a:solidFill>
                  <a:srgbClr val="CBD5E1"/>
                </a:solidFill>
                <a:latin typeface="Calibri" pitchFamily="34" charset="0"/>
                <a:ea typeface="Calibri" pitchFamily="34" charset="-122"/>
                <a:cs typeface="Calibri" pitchFamily="34" charset="-120"/>
              </a:rPr>
              <a:t>▸  Neural networks</a:t>
            </a:r>
            <a:endParaRPr lang="en-US" sz="950" dirty="0"/>
          </a:p>
        </p:txBody>
      </p:sp>
      <p:sp>
        <p:nvSpPr>
          <p:cNvPr id="22" name="Text 20"/>
          <p:cNvSpPr/>
          <p:nvPr/>
        </p:nvSpPr>
        <p:spPr>
          <a:xfrm>
            <a:off x="2560320" y="3346704"/>
            <a:ext cx="1719072" cy="384048"/>
          </a:xfrm>
          <a:prstGeom prst="rect">
            <a:avLst/>
          </a:prstGeom>
          <a:noFill/>
          <a:ln/>
        </p:spPr>
        <p:txBody>
          <a:bodyPr wrap="square" rtlCol="0" anchor="ctr"/>
          <a:lstStyle/>
          <a:p>
            <a:pPr marL="0" indent="0">
              <a:buNone/>
            </a:pPr>
            <a:r>
              <a:rPr lang="en-US" sz="950" dirty="0">
                <a:solidFill>
                  <a:srgbClr val="CBD5E1"/>
                </a:solidFill>
                <a:latin typeface="Calibri" pitchFamily="34" charset="0"/>
                <a:ea typeface="Calibri" pitchFamily="34" charset="-122"/>
                <a:cs typeface="Calibri" pitchFamily="34" charset="-120"/>
              </a:rPr>
              <a:t>▸  Training on data</a:t>
            </a:r>
            <a:endParaRPr lang="en-US" sz="950" dirty="0"/>
          </a:p>
        </p:txBody>
      </p:sp>
      <p:sp>
        <p:nvSpPr>
          <p:cNvPr id="23" name="Text 21"/>
          <p:cNvSpPr/>
          <p:nvPr/>
        </p:nvSpPr>
        <p:spPr>
          <a:xfrm>
            <a:off x="2560320" y="3794760"/>
            <a:ext cx="1719072" cy="384048"/>
          </a:xfrm>
          <a:prstGeom prst="rect">
            <a:avLst/>
          </a:prstGeom>
          <a:noFill/>
          <a:ln/>
        </p:spPr>
        <p:txBody>
          <a:bodyPr wrap="square" rtlCol="0" anchor="ctr"/>
          <a:lstStyle/>
          <a:p>
            <a:pPr marL="0" indent="0">
              <a:buNone/>
            </a:pPr>
            <a:r>
              <a:rPr lang="en-US" sz="950" dirty="0">
                <a:solidFill>
                  <a:srgbClr val="CBD5E1"/>
                </a:solidFill>
                <a:latin typeface="Calibri" pitchFamily="34" charset="0"/>
                <a:ea typeface="Calibri" pitchFamily="34" charset="-122"/>
                <a:cs typeface="Calibri" pitchFamily="34" charset="-120"/>
              </a:rPr>
              <a:t>▸  Predictions</a:t>
            </a:r>
            <a:endParaRPr lang="en-US" sz="950" dirty="0"/>
          </a:p>
        </p:txBody>
      </p:sp>
      <p:sp>
        <p:nvSpPr>
          <p:cNvPr id="24" name="Text 22"/>
          <p:cNvSpPr/>
          <p:nvPr/>
        </p:nvSpPr>
        <p:spPr>
          <a:xfrm>
            <a:off x="2560320" y="4242816"/>
            <a:ext cx="1719072" cy="384048"/>
          </a:xfrm>
          <a:prstGeom prst="rect">
            <a:avLst/>
          </a:prstGeom>
          <a:noFill/>
          <a:ln/>
        </p:spPr>
        <p:txBody>
          <a:bodyPr wrap="square" rtlCol="0" anchor="ctr"/>
          <a:lstStyle/>
          <a:p>
            <a:pPr marL="0" indent="0">
              <a:buNone/>
            </a:pPr>
            <a:r>
              <a:rPr lang="en-US" sz="950" dirty="0">
                <a:solidFill>
                  <a:srgbClr val="CBD5E1"/>
                </a:solidFill>
                <a:latin typeface="Calibri" pitchFamily="34" charset="0"/>
                <a:ea typeface="Calibri" pitchFamily="34" charset="-122"/>
                <a:cs typeface="Calibri" pitchFamily="34" charset="-120"/>
              </a:rPr>
              <a:t>▸  Classification</a:t>
            </a:r>
            <a:endParaRPr lang="en-US" sz="950" dirty="0"/>
          </a:p>
        </p:txBody>
      </p:sp>
      <p:sp>
        <p:nvSpPr>
          <p:cNvPr id="25" name="Shape 23"/>
          <p:cNvSpPr/>
          <p:nvPr/>
        </p:nvSpPr>
        <p:spPr>
          <a:xfrm>
            <a:off x="4626864" y="960120"/>
            <a:ext cx="1920240" cy="3931920"/>
          </a:xfrm>
          <a:prstGeom prst="roundRect">
            <a:avLst>
              <a:gd name="adj" fmla="val 5714"/>
            </a:avLst>
          </a:prstGeom>
          <a:solidFill>
            <a:srgbClr val="1A1230"/>
          </a:solidFill>
          <a:ln w="19050">
            <a:solidFill>
              <a:srgbClr val="8B5CF6"/>
            </a:solidFill>
            <a:prstDash val="solid"/>
          </a:ln>
        </p:spPr>
        <p:txBody>
          <a:bodyPr/>
          <a:lstStyle/>
          <a:p>
            <a:endParaRPr lang="en-IN"/>
          </a:p>
        </p:txBody>
      </p:sp>
      <p:sp>
        <p:nvSpPr>
          <p:cNvPr id="26" name="Shape 24"/>
          <p:cNvSpPr/>
          <p:nvPr/>
        </p:nvSpPr>
        <p:spPr>
          <a:xfrm>
            <a:off x="5294376" y="1078992"/>
            <a:ext cx="585216" cy="585216"/>
          </a:xfrm>
          <a:prstGeom prst="ellipse">
            <a:avLst/>
          </a:prstGeom>
          <a:solidFill>
            <a:srgbClr val="8B5CF6"/>
          </a:solidFill>
          <a:ln w="12700">
            <a:solidFill>
              <a:srgbClr val="8B5CF6"/>
            </a:solidFill>
            <a:prstDash val="solid"/>
          </a:ln>
        </p:spPr>
        <p:txBody>
          <a:bodyPr/>
          <a:lstStyle/>
          <a:p>
            <a:endParaRPr lang="en-IN"/>
          </a:p>
        </p:txBody>
      </p:sp>
      <p:sp>
        <p:nvSpPr>
          <p:cNvPr id="27" name="Text 25"/>
          <p:cNvSpPr/>
          <p:nvPr/>
        </p:nvSpPr>
        <p:spPr>
          <a:xfrm>
            <a:off x="5294376" y="1078992"/>
            <a:ext cx="585216" cy="585216"/>
          </a:xfrm>
          <a:prstGeom prst="rect">
            <a:avLst/>
          </a:prstGeom>
          <a:noFill/>
          <a:ln/>
        </p:spPr>
        <p:txBody>
          <a:bodyPr wrap="square" lIns="0" tIns="0" rIns="0" bIns="0" rtlCol="0" anchor="ctr"/>
          <a:lstStyle/>
          <a:p>
            <a:pPr marL="0" indent="0" algn="ctr">
              <a:buNone/>
            </a:pPr>
            <a:r>
              <a:rPr lang="en-US" sz="1800" b="1" dirty="0">
                <a:solidFill>
                  <a:srgbClr val="0F172A"/>
                </a:solidFill>
                <a:latin typeface="Calibri" pitchFamily="34" charset="0"/>
                <a:ea typeface="Calibri" pitchFamily="34" charset="-122"/>
                <a:cs typeface="Calibri" pitchFamily="34" charset="-120"/>
              </a:rPr>
              <a:t>3</a:t>
            </a:r>
            <a:endParaRPr lang="en-US" sz="1800" dirty="0"/>
          </a:p>
        </p:txBody>
      </p:sp>
      <p:sp>
        <p:nvSpPr>
          <p:cNvPr id="28" name="Text 26"/>
          <p:cNvSpPr/>
          <p:nvPr/>
        </p:nvSpPr>
        <p:spPr>
          <a:xfrm>
            <a:off x="4626864" y="1737360"/>
            <a:ext cx="1920240" cy="411480"/>
          </a:xfrm>
          <a:prstGeom prst="rect">
            <a:avLst/>
          </a:prstGeom>
          <a:noFill/>
          <a:ln/>
        </p:spPr>
        <p:txBody>
          <a:bodyPr wrap="square" rtlCol="0" anchor="ctr"/>
          <a:lstStyle/>
          <a:p>
            <a:pPr marL="0" indent="0" algn="ctr">
              <a:buNone/>
            </a:pPr>
            <a:r>
              <a:rPr lang="en-US" sz="1250" b="1" dirty="0">
                <a:solidFill>
                  <a:srgbClr val="8B5CF6"/>
                </a:solidFill>
                <a:latin typeface="Calibri" pitchFamily="34" charset="0"/>
                <a:ea typeface="Calibri" pitchFamily="34" charset="-122"/>
                <a:cs typeface="Calibri" pitchFamily="34" charset="-120"/>
              </a:rPr>
              <a:t>Generative AI</a:t>
            </a:r>
            <a:endParaRPr lang="en-US" sz="1250" dirty="0"/>
          </a:p>
        </p:txBody>
      </p:sp>
      <p:sp>
        <p:nvSpPr>
          <p:cNvPr id="29" name="Text 27"/>
          <p:cNvSpPr/>
          <p:nvPr/>
        </p:nvSpPr>
        <p:spPr>
          <a:xfrm>
            <a:off x="4626864" y="2121408"/>
            <a:ext cx="1920240" cy="256032"/>
          </a:xfrm>
          <a:prstGeom prst="rect">
            <a:avLst/>
          </a:prstGeom>
          <a:noFill/>
          <a:ln/>
        </p:spPr>
        <p:txBody>
          <a:bodyPr wrap="square" rtlCol="0" anchor="ctr"/>
          <a:lstStyle/>
          <a:p>
            <a:pPr marL="0" indent="0" algn="ctr">
              <a:buNone/>
            </a:pPr>
            <a:r>
              <a:rPr lang="en-US" sz="900" i="1" dirty="0">
                <a:solidFill>
                  <a:srgbClr val="94A3B8"/>
                </a:solidFill>
                <a:latin typeface="Calibri" pitchFamily="34" charset="0"/>
                <a:ea typeface="Calibri" pitchFamily="34" charset="-122"/>
                <a:cs typeface="Calibri" pitchFamily="34" charset="-120"/>
              </a:rPr>
              <a:t>2017–2022</a:t>
            </a:r>
            <a:endParaRPr lang="en-US" sz="900" dirty="0"/>
          </a:p>
        </p:txBody>
      </p:sp>
      <p:sp>
        <p:nvSpPr>
          <p:cNvPr id="30" name="Text 28"/>
          <p:cNvSpPr/>
          <p:nvPr/>
        </p:nvSpPr>
        <p:spPr>
          <a:xfrm>
            <a:off x="4736592" y="2450592"/>
            <a:ext cx="1719072" cy="384048"/>
          </a:xfrm>
          <a:prstGeom prst="rect">
            <a:avLst/>
          </a:prstGeom>
          <a:noFill/>
          <a:ln/>
        </p:spPr>
        <p:txBody>
          <a:bodyPr wrap="square" rtlCol="0" anchor="ctr"/>
          <a:lstStyle/>
          <a:p>
            <a:pPr marL="0" indent="0">
              <a:buNone/>
            </a:pPr>
            <a:r>
              <a:rPr lang="en-US" sz="950" dirty="0">
                <a:solidFill>
                  <a:srgbClr val="CBD5E1"/>
                </a:solidFill>
                <a:latin typeface="Calibri" pitchFamily="34" charset="0"/>
                <a:ea typeface="Calibri" pitchFamily="34" charset="-122"/>
                <a:cs typeface="Calibri" pitchFamily="34" charset="-120"/>
              </a:rPr>
              <a:t>▸  LLMs (GPT, Claude)</a:t>
            </a:r>
            <a:endParaRPr lang="en-US" sz="950" dirty="0"/>
          </a:p>
        </p:txBody>
      </p:sp>
      <p:sp>
        <p:nvSpPr>
          <p:cNvPr id="31" name="Text 29"/>
          <p:cNvSpPr/>
          <p:nvPr/>
        </p:nvSpPr>
        <p:spPr>
          <a:xfrm>
            <a:off x="4736592" y="2898648"/>
            <a:ext cx="1719072" cy="384048"/>
          </a:xfrm>
          <a:prstGeom prst="rect">
            <a:avLst/>
          </a:prstGeom>
          <a:noFill/>
          <a:ln/>
        </p:spPr>
        <p:txBody>
          <a:bodyPr wrap="square" rtlCol="0" anchor="ctr"/>
          <a:lstStyle/>
          <a:p>
            <a:pPr marL="0" indent="0">
              <a:buNone/>
            </a:pPr>
            <a:r>
              <a:rPr lang="en-US" sz="950" dirty="0">
                <a:solidFill>
                  <a:srgbClr val="CBD5E1"/>
                </a:solidFill>
                <a:latin typeface="Calibri" pitchFamily="34" charset="0"/>
                <a:ea typeface="Calibri" pitchFamily="34" charset="-122"/>
                <a:cs typeface="Calibri" pitchFamily="34" charset="-120"/>
              </a:rPr>
              <a:t>▸  Text generation</a:t>
            </a:r>
            <a:endParaRPr lang="en-US" sz="950" dirty="0"/>
          </a:p>
        </p:txBody>
      </p:sp>
      <p:sp>
        <p:nvSpPr>
          <p:cNvPr id="32" name="Text 30"/>
          <p:cNvSpPr/>
          <p:nvPr/>
        </p:nvSpPr>
        <p:spPr>
          <a:xfrm>
            <a:off x="4736592" y="3346704"/>
            <a:ext cx="1719072" cy="384048"/>
          </a:xfrm>
          <a:prstGeom prst="rect">
            <a:avLst/>
          </a:prstGeom>
          <a:noFill/>
          <a:ln/>
        </p:spPr>
        <p:txBody>
          <a:bodyPr wrap="square" rtlCol="0" anchor="ctr"/>
          <a:lstStyle/>
          <a:p>
            <a:pPr marL="0" indent="0">
              <a:buNone/>
            </a:pPr>
            <a:r>
              <a:rPr lang="en-US" sz="950" dirty="0">
                <a:solidFill>
                  <a:srgbClr val="CBD5E1"/>
                </a:solidFill>
                <a:latin typeface="Calibri" pitchFamily="34" charset="0"/>
                <a:ea typeface="Calibri" pitchFamily="34" charset="-122"/>
                <a:cs typeface="Calibri" pitchFamily="34" charset="-120"/>
              </a:rPr>
              <a:t>▸  Image creation</a:t>
            </a:r>
            <a:endParaRPr lang="en-US" sz="950" dirty="0"/>
          </a:p>
        </p:txBody>
      </p:sp>
      <p:sp>
        <p:nvSpPr>
          <p:cNvPr id="33" name="Text 31"/>
          <p:cNvSpPr/>
          <p:nvPr/>
        </p:nvSpPr>
        <p:spPr>
          <a:xfrm>
            <a:off x="4736592" y="3794760"/>
            <a:ext cx="1719072" cy="384048"/>
          </a:xfrm>
          <a:prstGeom prst="rect">
            <a:avLst/>
          </a:prstGeom>
          <a:noFill/>
          <a:ln/>
        </p:spPr>
        <p:txBody>
          <a:bodyPr wrap="square" rtlCol="0" anchor="ctr"/>
          <a:lstStyle/>
          <a:p>
            <a:pPr marL="0" indent="0">
              <a:buNone/>
            </a:pPr>
            <a:r>
              <a:rPr lang="en-US" sz="950" dirty="0">
                <a:solidFill>
                  <a:srgbClr val="CBD5E1"/>
                </a:solidFill>
                <a:latin typeface="Calibri" pitchFamily="34" charset="0"/>
                <a:ea typeface="Calibri" pitchFamily="34" charset="-122"/>
                <a:cs typeface="Calibri" pitchFamily="34" charset="-120"/>
              </a:rPr>
              <a:t>▸  Conversation</a:t>
            </a:r>
            <a:endParaRPr lang="en-US" sz="950" dirty="0"/>
          </a:p>
        </p:txBody>
      </p:sp>
      <p:sp>
        <p:nvSpPr>
          <p:cNvPr id="34" name="Text 32"/>
          <p:cNvSpPr/>
          <p:nvPr/>
        </p:nvSpPr>
        <p:spPr>
          <a:xfrm>
            <a:off x="4736592" y="4242816"/>
            <a:ext cx="1719072" cy="384048"/>
          </a:xfrm>
          <a:prstGeom prst="rect">
            <a:avLst/>
          </a:prstGeom>
          <a:noFill/>
          <a:ln/>
        </p:spPr>
        <p:txBody>
          <a:bodyPr wrap="square" rtlCol="0" anchor="ctr"/>
          <a:lstStyle/>
          <a:p>
            <a:pPr marL="0" indent="0">
              <a:buNone/>
            </a:pPr>
            <a:r>
              <a:rPr lang="en-US" sz="950" dirty="0">
                <a:solidFill>
                  <a:srgbClr val="CBD5E1"/>
                </a:solidFill>
                <a:latin typeface="Calibri" pitchFamily="34" charset="0"/>
                <a:ea typeface="Calibri" pitchFamily="34" charset="-122"/>
                <a:cs typeface="Calibri" pitchFamily="34" charset="-120"/>
              </a:rPr>
              <a:t>▸  Summarization</a:t>
            </a:r>
            <a:endParaRPr lang="en-US" sz="950" dirty="0"/>
          </a:p>
        </p:txBody>
      </p:sp>
      <p:sp>
        <p:nvSpPr>
          <p:cNvPr id="35" name="Shape 33"/>
          <p:cNvSpPr/>
          <p:nvPr/>
        </p:nvSpPr>
        <p:spPr>
          <a:xfrm>
            <a:off x="6803136" y="960120"/>
            <a:ext cx="1920240" cy="3931920"/>
          </a:xfrm>
          <a:prstGeom prst="roundRect">
            <a:avLst>
              <a:gd name="adj" fmla="val 5714"/>
            </a:avLst>
          </a:prstGeom>
          <a:solidFill>
            <a:srgbClr val="0A1828"/>
          </a:solidFill>
          <a:ln w="19050">
            <a:solidFill>
              <a:srgbClr val="06B6D4"/>
            </a:solidFill>
            <a:prstDash val="solid"/>
          </a:ln>
        </p:spPr>
        <p:txBody>
          <a:bodyPr/>
          <a:lstStyle/>
          <a:p>
            <a:endParaRPr lang="en-IN"/>
          </a:p>
        </p:txBody>
      </p:sp>
      <p:sp>
        <p:nvSpPr>
          <p:cNvPr id="36" name="Shape 34"/>
          <p:cNvSpPr/>
          <p:nvPr/>
        </p:nvSpPr>
        <p:spPr>
          <a:xfrm>
            <a:off x="7470648" y="1078992"/>
            <a:ext cx="585216" cy="585216"/>
          </a:xfrm>
          <a:prstGeom prst="ellipse">
            <a:avLst/>
          </a:prstGeom>
          <a:solidFill>
            <a:srgbClr val="06B6D4"/>
          </a:solidFill>
          <a:ln w="12700">
            <a:solidFill>
              <a:srgbClr val="06B6D4"/>
            </a:solidFill>
            <a:prstDash val="solid"/>
          </a:ln>
        </p:spPr>
        <p:txBody>
          <a:bodyPr/>
          <a:lstStyle/>
          <a:p>
            <a:endParaRPr lang="en-IN"/>
          </a:p>
        </p:txBody>
      </p:sp>
      <p:sp>
        <p:nvSpPr>
          <p:cNvPr id="37" name="Text 35"/>
          <p:cNvSpPr/>
          <p:nvPr/>
        </p:nvSpPr>
        <p:spPr>
          <a:xfrm>
            <a:off x="7470648" y="1078992"/>
            <a:ext cx="585216" cy="585216"/>
          </a:xfrm>
          <a:prstGeom prst="rect">
            <a:avLst/>
          </a:prstGeom>
          <a:noFill/>
          <a:ln/>
        </p:spPr>
        <p:txBody>
          <a:bodyPr wrap="square" lIns="0" tIns="0" rIns="0" bIns="0" rtlCol="0" anchor="ctr"/>
          <a:lstStyle/>
          <a:p>
            <a:pPr marL="0" indent="0" algn="ctr">
              <a:buNone/>
            </a:pPr>
            <a:r>
              <a:rPr lang="en-US" sz="1800" b="1" dirty="0">
                <a:solidFill>
                  <a:srgbClr val="0F172A"/>
                </a:solidFill>
                <a:latin typeface="Calibri" pitchFamily="34" charset="0"/>
                <a:ea typeface="Calibri" pitchFamily="34" charset="-122"/>
                <a:cs typeface="Calibri" pitchFamily="34" charset="-120"/>
              </a:rPr>
              <a:t>4</a:t>
            </a:r>
            <a:endParaRPr lang="en-US" sz="1800" dirty="0"/>
          </a:p>
        </p:txBody>
      </p:sp>
      <p:sp>
        <p:nvSpPr>
          <p:cNvPr id="38" name="Text 36"/>
          <p:cNvSpPr/>
          <p:nvPr/>
        </p:nvSpPr>
        <p:spPr>
          <a:xfrm>
            <a:off x="6803136" y="1737360"/>
            <a:ext cx="1920240" cy="411480"/>
          </a:xfrm>
          <a:prstGeom prst="rect">
            <a:avLst/>
          </a:prstGeom>
          <a:noFill/>
          <a:ln/>
        </p:spPr>
        <p:txBody>
          <a:bodyPr wrap="square" rtlCol="0" anchor="ctr"/>
          <a:lstStyle/>
          <a:p>
            <a:pPr marL="0" indent="0" algn="ctr">
              <a:buNone/>
            </a:pPr>
            <a:r>
              <a:rPr lang="en-US" sz="1250" b="1" dirty="0">
                <a:solidFill>
                  <a:srgbClr val="06B6D4"/>
                </a:solidFill>
                <a:latin typeface="Calibri" pitchFamily="34" charset="0"/>
                <a:ea typeface="Calibri" pitchFamily="34" charset="-122"/>
                <a:cs typeface="Calibri" pitchFamily="34" charset="-120"/>
              </a:rPr>
              <a:t>Agentic AI</a:t>
            </a:r>
            <a:endParaRPr lang="en-US" sz="1250" dirty="0"/>
          </a:p>
        </p:txBody>
      </p:sp>
      <p:sp>
        <p:nvSpPr>
          <p:cNvPr id="39" name="Text 37"/>
          <p:cNvSpPr/>
          <p:nvPr/>
        </p:nvSpPr>
        <p:spPr>
          <a:xfrm>
            <a:off x="6803136" y="2121408"/>
            <a:ext cx="1920240" cy="256032"/>
          </a:xfrm>
          <a:prstGeom prst="rect">
            <a:avLst/>
          </a:prstGeom>
          <a:noFill/>
          <a:ln/>
        </p:spPr>
        <p:txBody>
          <a:bodyPr wrap="square" rtlCol="0" anchor="ctr"/>
          <a:lstStyle/>
          <a:p>
            <a:pPr marL="0" indent="0" algn="ctr">
              <a:buNone/>
            </a:pPr>
            <a:r>
              <a:rPr lang="en-US" sz="900" i="1" dirty="0">
                <a:solidFill>
                  <a:srgbClr val="94A3B8"/>
                </a:solidFill>
                <a:latin typeface="Calibri" pitchFamily="34" charset="0"/>
                <a:ea typeface="Calibri" pitchFamily="34" charset="-122"/>
                <a:cs typeface="Calibri" pitchFamily="34" charset="-120"/>
              </a:rPr>
              <a:t>2023–Present</a:t>
            </a:r>
            <a:endParaRPr lang="en-US" sz="900" dirty="0"/>
          </a:p>
        </p:txBody>
      </p:sp>
      <p:sp>
        <p:nvSpPr>
          <p:cNvPr id="40" name="Text 38"/>
          <p:cNvSpPr/>
          <p:nvPr/>
        </p:nvSpPr>
        <p:spPr>
          <a:xfrm>
            <a:off x="6912864" y="2450592"/>
            <a:ext cx="1719072" cy="384048"/>
          </a:xfrm>
          <a:prstGeom prst="rect">
            <a:avLst/>
          </a:prstGeom>
          <a:noFill/>
          <a:ln/>
        </p:spPr>
        <p:txBody>
          <a:bodyPr wrap="square" rtlCol="0" anchor="ctr"/>
          <a:lstStyle/>
          <a:p>
            <a:pPr marL="0" indent="0">
              <a:buNone/>
            </a:pPr>
            <a:r>
              <a:rPr lang="en-US" sz="950" dirty="0">
                <a:solidFill>
                  <a:srgbClr val="CBD5E1"/>
                </a:solidFill>
                <a:latin typeface="Calibri" pitchFamily="34" charset="0"/>
                <a:ea typeface="Calibri" pitchFamily="34" charset="-122"/>
                <a:cs typeface="Calibri" pitchFamily="34" charset="-120"/>
              </a:rPr>
              <a:t>▸  Goal-driven planning</a:t>
            </a:r>
            <a:endParaRPr lang="en-US" sz="950" dirty="0"/>
          </a:p>
        </p:txBody>
      </p:sp>
      <p:sp>
        <p:nvSpPr>
          <p:cNvPr id="41" name="Text 39"/>
          <p:cNvSpPr/>
          <p:nvPr/>
        </p:nvSpPr>
        <p:spPr>
          <a:xfrm>
            <a:off x="6912864" y="2898648"/>
            <a:ext cx="1719072" cy="384048"/>
          </a:xfrm>
          <a:prstGeom prst="rect">
            <a:avLst/>
          </a:prstGeom>
          <a:noFill/>
          <a:ln/>
        </p:spPr>
        <p:txBody>
          <a:bodyPr wrap="square" rtlCol="0" anchor="ctr"/>
          <a:lstStyle/>
          <a:p>
            <a:pPr marL="0" indent="0">
              <a:buNone/>
            </a:pPr>
            <a:r>
              <a:rPr lang="en-US" sz="950" dirty="0">
                <a:solidFill>
                  <a:srgbClr val="CBD5E1"/>
                </a:solidFill>
                <a:latin typeface="Calibri" pitchFamily="34" charset="0"/>
                <a:ea typeface="Calibri" pitchFamily="34" charset="-122"/>
                <a:cs typeface="Calibri" pitchFamily="34" charset="-120"/>
              </a:rPr>
              <a:t>▸  Tool usage</a:t>
            </a:r>
            <a:endParaRPr lang="en-US" sz="950" dirty="0"/>
          </a:p>
        </p:txBody>
      </p:sp>
      <p:sp>
        <p:nvSpPr>
          <p:cNvPr id="42" name="Text 40"/>
          <p:cNvSpPr/>
          <p:nvPr/>
        </p:nvSpPr>
        <p:spPr>
          <a:xfrm>
            <a:off x="6912864" y="3346704"/>
            <a:ext cx="1719072" cy="384048"/>
          </a:xfrm>
          <a:prstGeom prst="rect">
            <a:avLst/>
          </a:prstGeom>
          <a:noFill/>
          <a:ln/>
        </p:spPr>
        <p:txBody>
          <a:bodyPr wrap="square" rtlCol="0" anchor="ctr"/>
          <a:lstStyle/>
          <a:p>
            <a:pPr marL="0" indent="0">
              <a:buNone/>
            </a:pPr>
            <a:r>
              <a:rPr lang="en-US" sz="950" dirty="0">
                <a:solidFill>
                  <a:srgbClr val="CBD5E1"/>
                </a:solidFill>
                <a:latin typeface="Calibri" pitchFamily="34" charset="0"/>
                <a:ea typeface="Calibri" pitchFamily="34" charset="-122"/>
                <a:cs typeface="Calibri" pitchFamily="34" charset="-120"/>
              </a:rPr>
              <a:t>▸  Multi-step reasoning</a:t>
            </a:r>
            <a:endParaRPr lang="en-US" sz="950" dirty="0"/>
          </a:p>
        </p:txBody>
      </p:sp>
      <p:sp>
        <p:nvSpPr>
          <p:cNvPr id="43" name="Text 41"/>
          <p:cNvSpPr/>
          <p:nvPr/>
        </p:nvSpPr>
        <p:spPr>
          <a:xfrm>
            <a:off x="6912864" y="3794760"/>
            <a:ext cx="1719072" cy="384048"/>
          </a:xfrm>
          <a:prstGeom prst="rect">
            <a:avLst/>
          </a:prstGeom>
          <a:noFill/>
          <a:ln/>
        </p:spPr>
        <p:txBody>
          <a:bodyPr wrap="square" rtlCol="0" anchor="ctr"/>
          <a:lstStyle/>
          <a:p>
            <a:pPr marL="0" indent="0">
              <a:buNone/>
            </a:pPr>
            <a:r>
              <a:rPr lang="en-US" sz="950" dirty="0">
                <a:solidFill>
                  <a:srgbClr val="CBD5E1"/>
                </a:solidFill>
                <a:latin typeface="Calibri" pitchFamily="34" charset="0"/>
                <a:ea typeface="Calibri" pitchFamily="34" charset="-122"/>
                <a:cs typeface="Calibri" pitchFamily="34" charset="-120"/>
              </a:rPr>
              <a:t>▸  Memory &amp; context</a:t>
            </a:r>
            <a:endParaRPr lang="en-US" sz="950" dirty="0"/>
          </a:p>
        </p:txBody>
      </p:sp>
      <p:sp>
        <p:nvSpPr>
          <p:cNvPr id="44" name="Text 42"/>
          <p:cNvSpPr/>
          <p:nvPr/>
        </p:nvSpPr>
        <p:spPr>
          <a:xfrm>
            <a:off x="6912864" y="4242816"/>
            <a:ext cx="1719072" cy="384048"/>
          </a:xfrm>
          <a:prstGeom prst="rect">
            <a:avLst/>
          </a:prstGeom>
          <a:noFill/>
          <a:ln/>
        </p:spPr>
        <p:txBody>
          <a:bodyPr wrap="square" rtlCol="0" anchor="ctr"/>
          <a:lstStyle/>
          <a:p>
            <a:pPr marL="0" indent="0">
              <a:buNone/>
            </a:pPr>
            <a:r>
              <a:rPr lang="en-US" sz="950" dirty="0">
                <a:solidFill>
                  <a:srgbClr val="CBD5E1"/>
                </a:solidFill>
                <a:latin typeface="Calibri" pitchFamily="34" charset="0"/>
                <a:ea typeface="Calibri" pitchFamily="34" charset="-122"/>
                <a:cs typeface="Calibri" pitchFamily="34" charset="-120"/>
              </a:rPr>
              <a:t>▸  Autonomous action</a:t>
            </a:r>
            <a:endParaRPr lang="en-US" sz="950" dirty="0"/>
          </a:p>
        </p:txBody>
      </p:sp>
      <p:sp>
        <p:nvSpPr>
          <p:cNvPr id="45" name="Shape 43"/>
          <p:cNvSpPr/>
          <p:nvPr/>
        </p:nvSpPr>
        <p:spPr>
          <a:xfrm>
            <a:off x="2176272" y="2926080"/>
            <a:ext cx="256032" cy="0"/>
          </a:xfrm>
          <a:prstGeom prst="line">
            <a:avLst/>
          </a:prstGeom>
          <a:noFill/>
          <a:ln w="19050">
            <a:solidFill>
              <a:srgbClr val="94A3B8"/>
            </a:solidFill>
            <a:prstDash val="sysDot"/>
          </a:ln>
        </p:spPr>
        <p:txBody>
          <a:bodyPr/>
          <a:lstStyle/>
          <a:p>
            <a:endParaRPr lang="en-IN"/>
          </a:p>
        </p:txBody>
      </p:sp>
      <p:sp>
        <p:nvSpPr>
          <p:cNvPr id="46" name="Shape 44"/>
          <p:cNvSpPr/>
          <p:nvPr/>
        </p:nvSpPr>
        <p:spPr>
          <a:xfrm>
            <a:off x="4352544" y="2926080"/>
            <a:ext cx="256032" cy="0"/>
          </a:xfrm>
          <a:prstGeom prst="line">
            <a:avLst/>
          </a:prstGeom>
          <a:noFill/>
          <a:ln w="19050">
            <a:solidFill>
              <a:srgbClr val="94A3B8"/>
            </a:solidFill>
            <a:prstDash val="sysDot"/>
          </a:ln>
        </p:spPr>
        <p:txBody>
          <a:bodyPr/>
          <a:lstStyle/>
          <a:p>
            <a:endParaRPr lang="en-IN"/>
          </a:p>
        </p:txBody>
      </p:sp>
      <p:sp>
        <p:nvSpPr>
          <p:cNvPr id="47" name="Shape 45"/>
          <p:cNvSpPr/>
          <p:nvPr/>
        </p:nvSpPr>
        <p:spPr>
          <a:xfrm>
            <a:off x="6528816" y="2926080"/>
            <a:ext cx="256032" cy="0"/>
          </a:xfrm>
          <a:prstGeom prst="line">
            <a:avLst/>
          </a:prstGeom>
          <a:noFill/>
          <a:ln w="19050">
            <a:solidFill>
              <a:srgbClr val="94A3B8"/>
            </a:solidFill>
            <a:prstDash val="sysDot"/>
          </a:ln>
        </p:spPr>
        <p:txBody>
          <a:bodyPr/>
          <a:lstStyle/>
          <a:p>
            <a:endParaRPr lang="en-I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8B5CF6"/>
          </a:solidFill>
          <a:ln w="12700">
            <a:solidFill>
              <a:srgbClr val="8B5CF6"/>
            </a:solidFill>
            <a:prstDash val="solid"/>
          </a:ln>
        </p:spPr>
        <p:txBody>
          <a:bodyPr/>
          <a:lstStyle/>
          <a:p>
            <a:endParaRPr lang="en-IN"/>
          </a:p>
        </p:txBody>
      </p:sp>
      <p:sp>
        <p:nvSpPr>
          <p:cNvPr id="3" name="Text 1"/>
          <p:cNvSpPr/>
          <p:nvPr/>
        </p:nvSpPr>
        <p:spPr>
          <a:xfrm>
            <a:off x="365760" y="109728"/>
            <a:ext cx="8229600" cy="50292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Generative AI &amp; LLMs</a:t>
            </a:r>
            <a:endParaRPr lang="en-US" sz="2800" dirty="0"/>
          </a:p>
        </p:txBody>
      </p:sp>
      <p:sp>
        <p:nvSpPr>
          <p:cNvPr id="4" name="Shape 2"/>
          <p:cNvSpPr/>
          <p:nvPr/>
        </p:nvSpPr>
        <p:spPr>
          <a:xfrm>
            <a:off x="274320" y="685800"/>
            <a:ext cx="4023360" cy="4206240"/>
          </a:xfrm>
          <a:prstGeom prst="roundRect">
            <a:avLst>
              <a:gd name="adj" fmla="val 2727"/>
            </a:avLst>
          </a:prstGeom>
          <a:solidFill>
            <a:srgbClr val="1E293B"/>
          </a:solidFill>
          <a:ln w="12700">
            <a:solidFill>
              <a:srgbClr val="8B5CF6"/>
            </a:solidFill>
            <a:prstDash val="solid"/>
          </a:ln>
        </p:spPr>
        <p:txBody>
          <a:bodyPr/>
          <a:lstStyle/>
          <a:p>
            <a:endParaRPr lang="en-IN"/>
          </a:p>
        </p:txBody>
      </p:sp>
      <p:sp>
        <p:nvSpPr>
          <p:cNvPr id="5" name="Text 3"/>
          <p:cNvSpPr/>
          <p:nvPr/>
        </p:nvSpPr>
        <p:spPr>
          <a:xfrm>
            <a:off x="411480" y="804672"/>
            <a:ext cx="3749040" cy="365760"/>
          </a:xfrm>
          <a:prstGeom prst="rect">
            <a:avLst/>
          </a:prstGeom>
          <a:noFill/>
          <a:ln/>
        </p:spPr>
        <p:txBody>
          <a:bodyPr wrap="square" rtlCol="0" anchor="ctr"/>
          <a:lstStyle/>
          <a:p>
            <a:pPr marL="0" indent="0">
              <a:buNone/>
            </a:pPr>
            <a:r>
              <a:rPr lang="en-US" sz="1500" b="1" dirty="0">
                <a:solidFill>
                  <a:srgbClr val="8B5CF6"/>
                </a:solidFill>
                <a:latin typeface="Calibri" pitchFamily="34" charset="0"/>
                <a:ea typeface="Calibri" pitchFamily="34" charset="-122"/>
                <a:cs typeface="Calibri" pitchFamily="34" charset="-120"/>
              </a:rPr>
              <a:t>How LLMs Work</a:t>
            </a:r>
            <a:endParaRPr lang="en-US" sz="1500" dirty="0"/>
          </a:p>
        </p:txBody>
      </p:sp>
      <p:sp>
        <p:nvSpPr>
          <p:cNvPr id="6" name="Shape 4"/>
          <p:cNvSpPr/>
          <p:nvPr/>
        </p:nvSpPr>
        <p:spPr>
          <a:xfrm>
            <a:off x="438912" y="1261872"/>
            <a:ext cx="347472" cy="347472"/>
          </a:xfrm>
          <a:prstGeom prst="ellipse">
            <a:avLst/>
          </a:prstGeom>
          <a:solidFill>
            <a:srgbClr val="8B5CF6"/>
          </a:solidFill>
          <a:ln w="12700">
            <a:solidFill>
              <a:srgbClr val="8B5CF6"/>
            </a:solidFill>
            <a:prstDash val="solid"/>
          </a:ln>
        </p:spPr>
        <p:txBody>
          <a:bodyPr/>
          <a:lstStyle/>
          <a:p>
            <a:endParaRPr lang="en-IN"/>
          </a:p>
        </p:txBody>
      </p:sp>
      <p:sp>
        <p:nvSpPr>
          <p:cNvPr id="7" name="Text 5"/>
          <p:cNvSpPr/>
          <p:nvPr/>
        </p:nvSpPr>
        <p:spPr>
          <a:xfrm>
            <a:off x="438912" y="1261872"/>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8" name="Text 6"/>
          <p:cNvSpPr/>
          <p:nvPr/>
        </p:nvSpPr>
        <p:spPr>
          <a:xfrm>
            <a:off x="914400" y="1261872"/>
            <a:ext cx="3291840" cy="201168"/>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Tokenization</a:t>
            </a:r>
            <a:endParaRPr lang="en-US" sz="1200" dirty="0"/>
          </a:p>
        </p:txBody>
      </p:sp>
      <p:sp>
        <p:nvSpPr>
          <p:cNvPr id="9" name="Text 7"/>
          <p:cNvSpPr/>
          <p:nvPr/>
        </p:nvSpPr>
        <p:spPr>
          <a:xfrm>
            <a:off x="914400" y="1444752"/>
            <a:ext cx="3291840" cy="182880"/>
          </a:xfrm>
          <a:prstGeom prst="rect">
            <a:avLst/>
          </a:prstGeom>
          <a:noFill/>
          <a:ln/>
        </p:spPr>
        <p:txBody>
          <a:bodyPr wrap="square" rtlCol="0" anchor="ctr"/>
          <a:lstStyle/>
          <a:p>
            <a:pPr marL="0" indent="0">
              <a:buNone/>
            </a:pPr>
            <a:r>
              <a:rPr lang="en-US" sz="950" dirty="0">
                <a:solidFill>
                  <a:srgbClr val="CBD5E1"/>
                </a:solidFill>
                <a:latin typeface="Calibri" pitchFamily="34" charset="0"/>
                <a:ea typeface="Calibri" pitchFamily="34" charset="-122"/>
                <a:cs typeface="Calibri" pitchFamily="34" charset="-120"/>
              </a:rPr>
              <a:t>Text → tokens (word pieces)</a:t>
            </a:r>
            <a:endParaRPr lang="en-US" sz="950" dirty="0"/>
          </a:p>
        </p:txBody>
      </p:sp>
      <p:sp>
        <p:nvSpPr>
          <p:cNvPr id="10" name="Shape 8"/>
          <p:cNvSpPr/>
          <p:nvPr/>
        </p:nvSpPr>
        <p:spPr>
          <a:xfrm>
            <a:off x="438912" y="1956816"/>
            <a:ext cx="347472" cy="347472"/>
          </a:xfrm>
          <a:prstGeom prst="ellipse">
            <a:avLst/>
          </a:prstGeom>
          <a:solidFill>
            <a:srgbClr val="8B5CF6"/>
          </a:solidFill>
          <a:ln w="12700">
            <a:solidFill>
              <a:srgbClr val="8B5CF6"/>
            </a:solidFill>
            <a:prstDash val="solid"/>
          </a:ln>
        </p:spPr>
        <p:txBody>
          <a:bodyPr/>
          <a:lstStyle/>
          <a:p>
            <a:endParaRPr lang="en-IN"/>
          </a:p>
        </p:txBody>
      </p:sp>
      <p:sp>
        <p:nvSpPr>
          <p:cNvPr id="11" name="Text 9"/>
          <p:cNvSpPr/>
          <p:nvPr/>
        </p:nvSpPr>
        <p:spPr>
          <a:xfrm>
            <a:off x="438912" y="1956816"/>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2" name="Text 10"/>
          <p:cNvSpPr/>
          <p:nvPr/>
        </p:nvSpPr>
        <p:spPr>
          <a:xfrm>
            <a:off x="914400" y="1956816"/>
            <a:ext cx="3291840" cy="201168"/>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Embeddings</a:t>
            </a:r>
            <a:endParaRPr lang="en-US" sz="1200" dirty="0"/>
          </a:p>
        </p:txBody>
      </p:sp>
      <p:sp>
        <p:nvSpPr>
          <p:cNvPr id="13" name="Text 11"/>
          <p:cNvSpPr/>
          <p:nvPr/>
        </p:nvSpPr>
        <p:spPr>
          <a:xfrm>
            <a:off x="914400" y="2139696"/>
            <a:ext cx="3291840" cy="182880"/>
          </a:xfrm>
          <a:prstGeom prst="rect">
            <a:avLst/>
          </a:prstGeom>
          <a:noFill/>
          <a:ln/>
        </p:spPr>
        <p:txBody>
          <a:bodyPr wrap="square" rtlCol="0" anchor="ctr"/>
          <a:lstStyle/>
          <a:p>
            <a:pPr marL="0" indent="0">
              <a:buNone/>
            </a:pPr>
            <a:r>
              <a:rPr lang="en-US" sz="950" dirty="0">
                <a:solidFill>
                  <a:srgbClr val="CBD5E1"/>
                </a:solidFill>
                <a:latin typeface="Calibri" pitchFamily="34" charset="0"/>
                <a:ea typeface="Calibri" pitchFamily="34" charset="-122"/>
                <a:cs typeface="Calibri" pitchFamily="34" charset="-120"/>
              </a:rPr>
              <a:t>Tokens → numeric vectors</a:t>
            </a:r>
            <a:endParaRPr lang="en-US" sz="950" dirty="0"/>
          </a:p>
        </p:txBody>
      </p:sp>
      <p:sp>
        <p:nvSpPr>
          <p:cNvPr id="14" name="Shape 12"/>
          <p:cNvSpPr/>
          <p:nvPr/>
        </p:nvSpPr>
        <p:spPr>
          <a:xfrm>
            <a:off x="438912" y="2651760"/>
            <a:ext cx="347472" cy="347472"/>
          </a:xfrm>
          <a:prstGeom prst="ellipse">
            <a:avLst/>
          </a:prstGeom>
          <a:solidFill>
            <a:srgbClr val="8B5CF6"/>
          </a:solidFill>
          <a:ln w="12700">
            <a:solidFill>
              <a:srgbClr val="8B5CF6"/>
            </a:solidFill>
            <a:prstDash val="solid"/>
          </a:ln>
        </p:spPr>
        <p:txBody>
          <a:bodyPr/>
          <a:lstStyle/>
          <a:p>
            <a:endParaRPr lang="en-IN"/>
          </a:p>
        </p:txBody>
      </p:sp>
      <p:sp>
        <p:nvSpPr>
          <p:cNvPr id="15" name="Text 13"/>
          <p:cNvSpPr/>
          <p:nvPr/>
        </p:nvSpPr>
        <p:spPr>
          <a:xfrm>
            <a:off x="438912" y="2651760"/>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6" name="Text 14"/>
          <p:cNvSpPr/>
          <p:nvPr/>
        </p:nvSpPr>
        <p:spPr>
          <a:xfrm>
            <a:off x="914400" y="2651760"/>
            <a:ext cx="3291840" cy="201168"/>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Transformer</a:t>
            </a:r>
            <a:endParaRPr lang="en-US" sz="1200" dirty="0"/>
          </a:p>
        </p:txBody>
      </p:sp>
      <p:sp>
        <p:nvSpPr>
          <p:cNvPr id="17" name="Text 15"/>
          <p:cNvSpPr/>
          <p:nvPr/>
        </p:nvSpPr>
        <p:spPr>
          <a:xfrm>
            <a:off x="914400" y="2834640"/>
            <a:ext cx="3291840" cy="182880"/>
          </a:xfrm>
          <a:prstGeom prst="rect">
            <a:avLst/>
          </a:prstGeom>
          <a:noFill/>
          <a:ln/>
        </p:spPr>
        <p:txBody>
          <a:bodyPr wrap="square" rtlCol="0" anchor="ctr"/>
          <a:lstStyle/>
          <a:p>
            <a:pPr marL="0" indent="0">
              <a:buNone/>
            </a:pPr>
            <a:r>
              <a:rPr lang="en-US" sz="950" dirty="0">
                <a:solidFill>
                  <a:srgbClr val="CBD5E1"/>
                </a:solidFill>
                <a:latin typeface="Calibri" pitchFamily="34" charset="0"/>
                <a:ea typeface="Calibri" pitchFamily="34" charset="-122"/>
                <a:cs typeface="Calibri" pitchFamily="34" charset="-120"/>
              </a:rPr>
              <a:t>Attention over all tokens</a:t>
            </a:r>
            <a:endParaRPr lang="en-US" sz="950" dirty="0"/>
          </a:p>
        </p:txBody>
      </p:sp>
      <p:sp>
        <p:nvSpPr>
          <p:cNvPr id="18" name="Shape 16"/>
          <p:cNvSpPr/>
          <p:nvPr/>
        </p:nvSpPr>
        <p:spPr>
          <a:xfrm>
            <a:off x="438912" y="3346704"/>
            <a:ext cx="347472" cy="347472"/>
          </a:xfrm>
          <a:prstGeom prst="ellipse">
            <a:avLst/>
          </a:prstGeom>
          <a:solidFill>
            <a:srgbClr val="8B5CF6"/>
          </a:solidFill>
          <a:ln w="12700">
            <a:solidFill>
              <a:srgbClr val="8B5CF6"/>
            </a:solidFill>
            <a:prstDash val="solid"/>
          </a:ln>
        </p:spPr>
        <p:txBody>
          <a:bodyPr/>
          <a:lstStyle/>
          <a:p>
            <a:endParaRPr lang="en-IN"/>
          </a:p>
        </p:txBody>
      </p:sp>
      <p:sp>
        <p:nvSpPr>
          <p:cNvPr id="19" name="Text 17"/>
          <p:cNvSpPr/>
          <p:nvPr/>
        </p:nvSpPr>
        <p:spPr>
          <a:xfrm>
            <a:off x="438912" y="3346704"/>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0" name="Text 18"/>
          <p:cNvSpPr/>
          <p:nvPr/>
        </p:nvSpPr>
        <p:spPr>
          <a:xfrm>
            <a:off x="914400" y="3346704"/>
            <a:ext cx="3291840" cy="201168"/>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Prediction</a:t>
            </a:r>
            <a:endParaRPr lang="en-US" sz="1200" dirty="0"/>
          </a:p>
        </p:txBody>
      </p:sp>
      <p:sp>
        <p:nvSpPr>
          <p:cNvPr id="21" name="Text 19"/>
          <p:cNvSpPr/>
          <p:nvPr/>
        </p:nvSpPr>
        <p:spPr>
          <a:xfrm>
            <a:off x="914400" y="3529584"/>
            <a:ext cx="3291840" cy="182880"/>
          </a:xfrm>
          <a:prstGeom prst="rect">
            <a:avLst/>
          </a:prstGeom>
          <a:noFill/>
          <a:ln/>
        </p:spPr>
        <p:txBody>
          <a:bodyPr wrap="square" rtlCol="0" anchor="ctr"/>
          <a:lstStyle/>
          <a:p>
            <a:pPr marL="0" indent="0">
              <a:buNone/>
            </a:pPr>
            <a:r>
              <a:rPr lang="en-US" sz="950" dirty="0">
                <a:solidFill>
                  <a:srgbClr val="CBD5E1"/>
                </a:solidFill>
                <a:latin typeface="Calibri" pitchFamily="34" charset="0"/>
                <a:ea typeface="Calibri" pitchFamily="34" charset="-122"/>
                <a:cs typeface="Calibri" pitchFamily="34" charset="-120"/>
              </a:rPr>
              <a:t>Next token probability</a:t>
            </a:r>
            <a:endParaRPr lang="en-US" sz="950" dirty="0"/>
          </a:p>
        </p:txBody>
      </p:sp>
      <p:sp>
        <p:nvSpPr>
          <p:cNvPr id="22" name="Shape 20"/>
          <p:cNvSpPr/>
          <p:nvPr/>
        </p:nvSpPr>
        <p:spPr>
          <a:xfrm>
            <a:off x="438912" y="4041648"/>
            <a:ext cx="347472" cy="347472"/>
          </a:xfrm>
          <a:prstGeom prst="ellipse">
            <a:avLst/>
          </a:prstGeom>
          <a:solidFill>
            <a:srgbClr val="8B5CF6"/>
          </a:solidFill>
          <a:ln w="12700">
            <a:solidFill>
              <a:srgbClr val="8B5CF6"/>
            </a:solidFill>
            <a:prstDash val="solid"/>
          </a:ln>
        </p:spPr>
        <p:txBody>
          <a:bodyPr/>
          <a:lstStyle/>
          <a:p>
            <a:endParaRPr lang="en-IN"/>
          </a:p>
        </p:txBody>
      </p:sp>
      <p:sp>
        <p:nvSpPr>
          <p:cNvPr id="23" name="Text 21"/>
          <p:cNvSpPr/>
          <p:nvPr/>
        </p:nvSpPr>
        <p:spPr>
          <a:xfrm>
            <a:off x="438912" y="4041648"/>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4" name="Text 22"/>
          <p:cNvSpPr/>
          <p:nvPr/>
        </p:nvSpPr>
        <p:spPr>
          <a:xfrm>
            <a:off x="914400" y="4041648"/>
            <a:ext cx="3291840" cy="201168"/>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Decoding</a:t>
            </a:r>
            <a:endParaRPr lang="en-US" sz="1200" dirty="0"/>
          </a:p>
        </p:txBody>
      </p:sp>
      <p:sp>
        <p:nvSpPr>
          <p:cNvPr id="25" name="Text 23"/>
          <p:cNvSpPr/>
          <p:nvPr/>
        </p:nvSpPr>
        <p:spPr>
          <a:xfrm>
            <a:off x="914400" y="4224528"/>
            <a:ext cx="3291840" cy="182880"/>
          </a:xfrm>
          <a:prstGeom prst="rect">
            <a:avLst/>
          </a:prstGeom>
          <a:noFill/>
          <a:ln/>
        </p:spPr>
        <p:txBody>
          <a:bodyPr wrap="square" rtlCol="0" anchor="ctr"/>
          <a:lstStyle/>
          <a:p>
            <a:pPr marL="0" indent="0">
              <a:buNone/>
            </a:pPr>
            <a:r>
              <a:rPr lang="en-US" sz="950" dirty="0">
                <a:solidFill>
                  <a:srgbClr val="CBD5E1"/>
                </a:solidFill>
                <a:latin typeface="Calibri" pitchFamily="34" charset="0"/>
                <a:ea typeface="Calibri" pitchFamily="34" charset="-122"/>
                <a:cs typeface="Calibri" pitchFamily="34" charset="-120"/>
              </a:rPr>
              <a:t>Generate full response</a:t>
            </a:r>
            <a:endParaRPr lang="en-US" sz="950" dirty="0"/>
          </a:p>
        </p:txBody>
      </p:sp>
      <p:sp>
        <p:nvSpPr>
          <p:cNvPr id="26" name="Shape 24"/>
          <p:cNvSpPr/>
          <p:nvPr/>
        </p:nvSpPr>
        <p:spPr>
          <a:xfrm>
            <a:off x="4572000" y="685800"/>
            <a:ext cx="4251960" cy="1920240"/>
          </a:xfrm>
          <a:prstGeom prst="roundRect">
            <a:avLst>
              <a:gd name="adj" fmla="val 5714"/>
            </a:avLst>
          </a:prstGeom>
          <a:solidFill>
            <a:srgbClr val="1E293B"/>
          </a:solidFill>
          <a:ln w="12700">
            <a:solidFill>
              <a:srgbClr val="06B6D4"/>
            </a:solidFill>
            <a:prstDash val="solid"/>
          </a:ln>
        </p:spPr>
        <p:txBody>
          <a:bodyPr/>
          <a:lstStyle/>
          <a:p>
            <a:endParaRPr lang="en-IN"/>
          </a:p>
        </p:txBody>
      </p:sp>
      <p:sp>
        <p:nvSpPr>
          <p:cNvPr id="27" name="Text 25"/>
          <p:cNvSpPr/>
          <p:nvPr/>
        </p:nvSpPr>
        <p:spPr>
          <a:xfrm>
            <a:off x="4709160" y="804672"/>
            <a:ext cx="3931920" cy="347472"/>
          </a:xfrm>
          <a:prstGeom prst="rect">
            <a:avLst/>
          </a:prstGeom>
          <a:noFill/>
          <a:ln/>
        </p:spPr>
        <p:txBody>
          <a:bodyPr wrap="square" rtlCol="0" anchor="ctr"/>
          <a:lstStyle/>
          <a:p>
            <a:pPr marL="0" indent="0">
              <a:buNone/>
            </a:pPr>
            <a:r>
              <a:rPr lang="en-US" sz="1400" b="1" dirty="0">
                <a:solidFill>
                  <a:srgbClr val="06B6D4"/>
                </a:solidFill>
                <a:latin typeface="Calibri" pitchFamily="34" charset="0"/>
                <a:ea typeface="Calibri" pitchFamily="34" charset="-122"/>
                <a:cs typeface="Calibri" pitchFamily="34" charset="-120"/>
              </a:rPr>
              <a:t>Popular LLMs</a:t>
            </a:r>
            <a:endParaRPr lang="en-US" sz="1400" dirty="0"/>
          </a:p>
        </p:txBody>
      </p:sp>
      <p:sp>
        <p:nvSpPr>
          <p:cNvPr id="28" name="Shape 26"/>
          <p:cNvSpPr/>
          <p:nvPr/>
        </p:nvSpPr>
        <p:spPr>
          <a:xfrm>
            <a:off x="4709160" y="1234440"/>
            <a:ext cx="1828800" cy="411480"/>
          </a:xfrm>
          <a:prstGeom prst="roundRect">
            <a:avLst>
              <a:gd name="adj" fmla="val 15556"/>
            </a:avLst>
          </a:prstGeom>
          <a:solidFill>
            <a:srgbClr val="0F172A"/>
          </a:solidFill>
          <a:ln w="12700">
            <a:solidFill>
              <a:srgbClr val="10B981"/>
            </a:solidFill>
            <a:prstDash val="solid"/>
          </a:ln>
        </p:spPr>
        <p:txBody>
          <a:bodyPr/>
          <a:lstStyle/>
          <a:p>
            <a:endParaRPr lang="en-IN"/>
          </a:p>
        </p:txBody>
      </p:sp>
      <p:sp>
        <p:nvSpPr>
          <p:cNvPr id="29" name="Text 27"/>
          <p:cNvSpPr/>
          <p:nvPr/>
        </p:nvSpPr>
        <p:spPr>
          <a:xfrm>
            <a:off x="4709160" y="1261872"/>
            <a:ext cx="1828800" cy="34747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GPT-4o
</a:t>
            </a:r>
            <a:r>
              <a:rPr lang="en-US" sz="800" dirty="0">
                <a:solidFill>
                  <a:srgbClr val="FFFFFF"/>
                </a:solidFill>
                <a:latin typeface="Calibri" pitchFamily="34" charset="0"/>
                <a:ea typeface="Calibri" pitchFamily="34" charset="-122"/>
                <a:cs typeface="Calibri" pitchFamily="34" charset="-120"/>
              </a:rPr>
              <a:t>OpenAI</a:t>
            </a:r>
            <a:endParaRPr lang="en-US" sz="1000" dirty="0"/>
          </a:p>
        </p:txBody>
      </p:sp>
      <p:sp>
        <p:nvSpPr>
          <p:cNvPr id="30" name="Shape 28"/>
          <p:cNvSpPr/>
          <p:nvPr/>
        </p:nvSpPr>
        <p:spPr>
          <a:xfrm>
            <a:off x="6720840" y="1234440"/>
            <a:ext cx="1828800" cy="411480"/>
          </a:xfrm>
          <a:prstGeom prst="roundRect">
            <a:avLst>
              <a:gd name="adj" fmla="val 15556"/>
            </a:avLst>
          </a:prstGeom>
          <a:solidFill>
            <a:srgbClr val="0F172A"/>
          </a:solidFill>
          <a:ln w="12700">
            <a:solidFill>
              <a:srgbClr val="8B5CF6"/>
            </a:solidFill>
            <a:prstDash val="solid"/>
          </a:ln>
        </p:spPr>
        <p:txBody>
          <a:bodyPr/>
          <a:lstStyle/>
          <a:p>
            <a:endParaRPr lang="en-IN"/>
          </a:p>
        </p:txBody>
      </p:sp>
      <p:sp>
        <p:nvSpPr>
          <p:cNvPr id="31" name="Text 29"/>
          <p:cNvSpPr/>
          <p:nvPr/>
        </p:nvSpPr>
        <p:spPr>
          <a:xfrm>
            <a:off x="6720840" y="1261872"/>
            <a:ext cx="1828800" cy="34747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Claude 3.5
</a:t>
            </a:r>
            <a:r>
              <a:rPr lang="en-US" sz="800" dirty="0">
                <a:solidFill>
                  <a:srgbClr val="FFFFFF"/>
                </a:solidFill>
                <a:latin typeface="Calibri" pitchFamily="34" charset="0"/>
                <a:ea typeface="Calibri" pitchFamily="34" charset="-122"/>
                <a:cs typeface="Calibri" pitchFamily="34" charset="-120"/>
              </a:rPr>
              <a:t>Anthropic</a:t>
            </a:r>
            <a:endParaRPr lang="en-US" sz="1000" dirty="0"/>
          </a:p>
        </p:txBody>
      </p:sp>
      <p:sp>
        <p:nvSpPr>
          <p:cNvPr id="32" name="Shape 30"/>
          <p:cNvSpPr/>
          <p:nvPr/>
        </p:nvSpPr>
        <p:spPr>
          <a:xfrm>
            <a:off x="4709160" y="1746504"/>
            <a:ext cx="1828800" cy="411480"/>
          </a:xfrm>
          <a:prstGeom prst="roundRect">
            <a:avLst>
              <a:gd name="adj" fmla="val 15556"/>
            </a:avLst>
          </a:prstGeom>
          <a:solidFill>
            <a:srgbClr val="0F172A"/>
          </a:solidFill>
          <a:ln w="12700">
            <a:solidFill>
              <a:srgbClr val="F59E0B"/>
            </a:solidFill>
            <a:prstDash val="solid"/>
          </a:ln>
        </p:spPr>
        <p:txBody>
          <a:bodyPr/>
          <a:lstStyle/>
          <a:p>
            <a:endParaRPr lang="en-IN"/>
          </a:p>
        </p:txBody>
      </p:sp>
      <p:sp>
        <p:nvSpPr>
          <p:cNvPr id="33" name="Text 31"/>
          <p:cNvSpPr/>
          <p:nvPr/>
        </p:nvSpPr>
        <p:spPr>
          <a:xfrm>
            <a:off x="4709160" y="1773936"/>
            <a:ext cx="1828800" cy="34747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Gemini 1.5
</a:t>
            </a:r>
            <a:r>
              <a:rPr lang="en-US" sz="800" dirty="0">
                <a:solidFill>
                  <a:srgbClr val="FFFFFF"/>
                </a:solidFill>
                <a:latin typeface="Calibri" pitchFamily="34" charset="0"/>
                <a:ea typeface="Calibri" pitchFamily="34" charset="-122"/>
                <a:cs typeface="Calibri" pitchFamily="34" charset="-120"/>
              </a:rPr>
              <a:t>Google</a:t>
            </a:r>
            <a:endParaRPr lang="en-US" sz="1000" dirty="0"/>
          </a:p>
        </p:txBody>
      </p:sp>
      <p:sp>
        <p:nvSpPr>
          <p:cNvPr id="34" name="Shape 32"/>
          <p:cNvSpPr/>
          <p:nvPr/>
        </p:nvSpPr>
        <p:spPr>
          <a:xfrm>
            <a:off x="6720840" y="1746504"/>
            <a:ext cx="1828800" cy="411480"/>
          </a:xfrm>
          <a:prstGeom prst="roundRect">
            <a:avLst>
              <a:gd name="adj" fmla="val 15556"/>
            </a:avLst>
          </a:prstGeom>
          <a:solidFill>
            <a:srgbClr val="0F172A"/>
          </a:solidFill>
          <a:ln w="12700">
            <a:solidFill>
              <a:srgbClr val="EF4444"/>
            </a:solidFill>
            <a:prstDash val="solid"/>
          </a:ln>
        </p:spPr>
        <p:txBody>
          <a:bodyPr/>
          <a:lstStyle/>
          <a:p>
            <a:endParaRPr lang="en-IN"/>
          </a:p>
        </p:txBody>
      </p:sp>
      <p:sp>
        <p:nvSpPr>
          <p:cNvPr id="35" name="Text 33"/>
          <p:cNvSpPr/>
          <p:nvPr/>
        </p:nvSpPr>
        <p:spPr>
          <a:xfrm>
            <a:off x="6720840" y="1773936"/>
            <a:ext cx="1828800" cy="34747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Llama 3
</a:t>
            </a:r>
            <a:r>
              <a:rPr lang="en-US" sz="800" dirty="0">
                <a:solidFill>
                  <a:srgbClr val="FFFFFF"/>
                </a:solidFill>
                <a:latin typeface="Calibri" pitchFamily="34" charset="0"/>
                <a:ea typeface="Calibri" pitchFamily="34" charset="-122"/>
                <a:cs typeface="Calibri" pitchFamily="34" charset="-120"/>
              </a:rPr>
              <a:t>Meta (Open)</a:t>
            </a:r>
            <a:endParaRPr lang="en-US" sz="1000" dirty="0"/>
          </a:p>
        </p:txBody>
      </p:sp>
      <p:sp>
        <p:nvSpPr>
          <p:cNvPr id="36" name="Shape 34"/>
          <p:cNvSpPr/>
          <p:nvPr/>
        </p:nvSpPr>
        <p:spPr>
          <a:xfrm>
            <a:off x="4572000" y="2697480"/>
            <a:ext cx="4251960" cy="2194560"/>
          </a:xfrm>
          <a:prstGeom prst="roundRect">
            <a:avLst>
              <a:gd name="adj" fmla="val 5000"/>
            </a:avLst>
          </a:prstGeom>
          <a:solidFill>
            <a:srgbClr val="1E293B"/>
          </a:solidFill>
          <a:ln w="12700">
            <a:solidFill>
              <a:srgbClr val="EF4444"/>
            </a:solidFill>
            <a:prstDash val="solid"/>
          </a:ln>
        </p:spPr>
        <p:txBody>
          <a:bodyPr/>
          <a:lstStyle/>
          <a:p>
            <a:endParaRPr lang="en-IN"/>
          </a:p>
        </p:txBody>
      </p:sp>
      <p:sp>
        <p:nvSpPr>
          <p:cNvPr id="37" name="Text 35"/>
          <p:cNvSpPr/>
          <p:nvPr/>
        </p:nvSpPr>
        <p:spPr>
          <a:xfrm>
            <a:off x="4709160" y="2816352"/>
            <a:ext cx="3931920" cy="365760"/>
          </a:xfrm>
          <a:prstGeom prst="rect">
            <a:avLst/>
          </a:prstGeom>
          <a:noFill/>
          <a:ln/>
        </p:spPr>
        <p:txBody>
          <a:bodyPr wrap="square" rtlCol="0" anchor="ctr"/>
          <a:lstStyle/>
          <a:p>
            <a:pPr marL="0" indent="0">
              <a:buNone/>
            </a:pPr>
            <a:r>
              <a:rPr lang="en-US" sz="1400" b="1" dirty="0">
                <a:solidFill>
                  <a:srgbClr val="EF4444"/>
                </a:solidFill>
                <a:latin typeface="Calibri" pitchFamily="34" charset="0"/>
                <a:ea typeface="Calibri" pitchFamily="34" charset="-122"/>
                <a:cs typeface="Calibri" pitchFamily="34" charset="-120"/>
              </a:rPr>
              <a:t>⚠  Limitations of Generative AI</a:t>
            </a:r>
            <a:endParaRPr lang="en-US" sz="1400" dirty="0"/>
          </a:p>
        </p:txBody>
      </p:sp>
      <p:sp>
        <p:nvSpPr>
          <p:cNvPr id="38" name="Text 36"/>
          <p:cNvSpPr/>
          <p:nvPr/>
        </p:nvSpPr>
        <p:spPr>
          <a:xfrm>
            <a:off x="4709160" y="3246120"/>
            <a:ext cx="3931920" cy="310896"/>
          </a:xfrm>
          <a:prstGeom prst="rect">
            <a:avLst/>
          </a:prstGeom>
          <a:noFill/>
          <a:ln/>
        </p:spPr>
        <p:txBody>
          <a:bodyPr wrap="square" rtlCol="0" anchor="ctr"/>
          <a:lstStyle/>
          <a:p>
            <a:pPr marL="0" indent="0">
              <a:buNone/>
            </a:pPr>
            <a:r>
              <a:rPr lang="en-US" sz="1100" dirty="0">
                <a:solidFill>
                  <a:srgbClr val="CBD5E1"/>
                </a:solidFill>
                <a:latin typeface="Calibri" pitchFamily="34" charset="0"/>
                <a:ea typeface="Calibri" pitchFamily="34" charset="-122"/>
                <a:cs typeface="Calibri" pitchFamily="34" charset="-120"/>
              </a:rPr>
              <a:t>✗  No real-time data (knowledge cutoff)</a:t>
            </a:r>
            <a:endParaRPr lang="en-US" sz="1100" dirty="0"/>
          </a:p>
        </p:txBody>
      </p:sp>
      <p:sp>
        <p:nvSpPr>
          <p:cNvPr id="39" name="Text 37"/>
          <p:cNvSpPr/>
          <p:nvPr/>
        </p:nvSpPr>
        <p:spPr>
          <a:xfrm>
            <a:off x="4709160" y="3575304"/>
            <a:ext cx="3931920" cy="310896"/>
          </a:xfrm>
          <a:prstGeom prst="rect">
            <a:avLst/>
          </a:prstGeom>
          <a:noFill/>
          <a:ln/>
        </p:spPr>
        <p:txBody>
          <a:bodyPr wrap="square" rtlCol="0" anchor="ctr"/>
          <a:lstStyle/>
          <a:p>
            <a:pPr marL="0" indent="0">
              <a:buNone/>
            </a:pPr>
            <a:r>
              <a:rPr lang="en-US" sz="1100" dirty="0">
                <a:solidFill>
                  <a:srgbClr val="CBD5E1"/>
                </a:solidFill>
                <a:latin typeface="Calibri" pitchFamily="34" charset="0"/>
                <a:ea typeface="Calibri" pitchFamily="34" charset="-122"/>
                <a:cs typeface="Calibri" pitchFamily="34" charset="-120"/>
              </a:rPr>
              <a:t>✗  No memory across sessions</a:t>
            </a:r>
            <a:endParaRPr lang="en-US" sz="1100" dirty="0"/>
          </a:p>
        </p:txBody>
      </p:sp>
      <p:sp>
        <p:nvSpPr>
          <p:cNvPr id="40" name="Text 38"/>
          <p:cNvSpPr/>
          <p:nvPr/>
        </p:nvSpPr>
        <p:spPr>
          <a:xfrm>
            <a:off x="4709160" y="3904488"/>
            <a:ext cx="3931920" cy="310896"/>
          </a:xfrm>
          <a:prstGeom prst="rect">
            <a:avLst/>
          </a:prstGeom>
          <a:noFill/>
          <a:ln/>
        </p:spPr>
        <p:txBody>
          <a:bodyPr wrap="square" rtlCol="0" anchor="ctr"/>
          <a:lstStyle/>
          <a:p>
            <a:pPr marL="0" indent="0">
              <a:buNone/>
            </a:pPr>
            <a:r>
              <a:rPr lang="en-US" sz="1100" dirty="0">
                <a:solidFill>
                  <a:srgbClr val="CBD5E1"/>
                </a:solidFill>
                <a:latin typeface="Calibri" pitchFamily="34" charset="0"/>
                <a:ea typeface="Calibri" pitchFamily="34" charset="-122"/>
                <a:cs typeface="Calibri" pitchFamily="34" charset="-120"/>
              </a:rPr>
              <a:t>✗  Cannot take actions in the world</a:t>
            </a:r>
            <a:endParaRPr lang="en-US" sz="1100" dirty="0"/>
          </a:p>
        </p:txBody>
      </p:sp>
      <p:sp>
        <p:nvSpPr>
          <p:cNvPr id="41" name="Text 39"/>
          <p:cNvSpPr/>
          <p:nvPr/>
        </p:nvSpPr>
        <p:spPr>
          <a:xfrm>
            <a:off x="4709160" y="4233672"/>
            <a:ext cx="3931920" cy="310896"/>
          </a:xfrm>
          <a:prstGeom prst="rect">
            <a:avLst/>
          </a:prstGeom>
          <a:noFill/>
          <a:ln/>
        </p:spPr>
        <p:txBody>
          <a:bodyPr wrap="square" rtlCol="0" anchor="ctr"/>
          <a:lstStyle/>
          <a:p>
            <a:pPr marL="0" indent="0">
              <a:buNone/>
            </a:pPr>
            <a:r>
              <a:rPr lang="en-US" sz="1100" dirty="0">
                <a:solidFill>
                  <a:srgbClr val="CBD5E1"/>
                </a:solidFill>
                <a:latin typeface="Calibri" pitchFamily="34" charset="0"/>
                <a:ea typeface="Calibri" pitchFamily="34" charset="-122"/>
                <a:cs typeface="Calibri" pitchFamily="34" charset="-120"/>
              </a:rPr>
              <a:t>✗  Hallucinations – incorrect facts</a:t>
            </a:r>
            <a:endParaRPr lang="en-US" sz="1100" dirty="0"/>
          </a:p>
        </p:txBody>
      </p:sp>
      <p:sp>
        <p:nvSpPr>
          <p:cNvPr id="42" name="Text 40"/>
          <p:cNvSpPr/>
          <p:nvPr/>
        </p:nvSpPr>
        <p:spPr>
          <a:xfrm>
            <a:off x="4709160" y="4562856"/>
            <a:ext cx="3931920" cy="310896"/>
          </a:xfrm>
          <a:prstGeom prst="rect">
            <a:avLst/>
          </a:prstGeom>
          <a:noFill/>
          <a:ln/>
        </p:spPr>
        <p:txBody>
          <a:bodyPr wrap="square" rtlCol="0" anchor="ctr"/>
          <a:lstStyle/>
          <a:p>
            <a:pPr marL="0" indent="0">
              <a:buNone/>
            </a:pPr>
            <a:r>
              <a:rPr lang="en-US" sz="1100" dirty="0">
                <a:solidFill>
                  <a:srgbClr val="CBD5E1"/>
                </a:solidFill>
                <a:latin typeface="Calibri" pitchFamily="34" charset="0"/>
                <a:ea typeface="Calibri" pitchFamily="34" charset="-122"/>
                <a:cs typeface="Calibri" pitchFamily="34" charset="-120"/>
              </a:rPr>
              <a:t>✗  No multi-step autonomous planning</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6B6D4"/>
          </a:solidFill>
          <a:ln w="12700">
            <a:solidFill>
              <a:srgbClr val="06B6D4"/>
            </a:solidFill>
            <a:prstDash val="solid"/>
          </a:ln>
        </p:spPr>
        <p:txBody>
          <a:bodyPr/>
          <a:lstStyle/>
          <a:p>
            <a:endParaRPr lang="en-IN"/>
          </a:p>
        </p:txBody>
      </p:sp>
      <p:sp>
        <p:nvSpPr>
          <p:cNvPr id="3" name="Text 1"/>
          <p:cNvSpPr/>
          <p:nvPr/>
        </p:nvSpPr>
        <p:spPr>
          <a:xfrm>
            <a:off x="365760" y="109728"/>
            <a:ext cx="8229600" cy="50292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What is Agentic AI?</a:t>
            </a:r>
            <a:endParaRPr lang="en-US" sz="2800" dirty="0"/>
          </a:p>
        </p:txBody>
      </p:sp>
      <p:sp>
        <p:nvSpPr>
          <p:cNvPr id="4" name="Shape 2"/>
          <p:cNvSpPr/>
          <p:nvPr/>
        </p:nvSpPr>
        <p:spPr>
          <a:xfrm>
            <a:off x="274320" y="685800"/>
            <a:ext cx="8595360" cy="804672"/>
          </a:xfrm>
          <a:prstGeom prst="roundRect">
            <a:avLst>
              <a:gd name="adj" fmla="val 11364"/>
            </a:avLst>
          </a:prstGeom>
          <a:solidFill>
            <a:srgbClr val="0A2340"/>
          </a:solidFill>
          <a:ln w="19050">
            <a:solidFill>
              <a:srgbClr val="06B6D4"/>
            </a:solidFill>
            <a:prstDash val="solid"/>
          </a:ln>
        </p:spPr>
        <p:txBody>
          <a:bodyPr/>
          <a:lstStyle/>
          <a:p>
            <a:endParaRPr lang="en-IN"/>
          </a:p>
        </p:txBody>
      </p:sp>
      <p:sp>
        <p:nvSpPr>
          <p:cNvPr id="5" name="Text 3"/>
          <p:cNvSpPr/>
          <p:nvPr/>
        </p:nvSpPr>
        <p:spPr>
          <a:xfrm>
            <a:off x="411480" y="749808"/>
            <a:ext cx="8321040" cy="621792"/>
          </a:xfrm>
          <a:prstGeom prst="rect">
            <a:avLst/>
          </a:prstGeom>
          <a:noFill/>
          <a:ln/>
        </p:spPr>
        <p:txBody>
          <a:bodyPr wrap="square" rtlCol="0" anchor="ctr"/>
          <a:lstStyle/>
          <a:p>
            <a:pPr marL="0" indent="0">
              <a:buNone/>
            </a:pPr>
            <a:r>
              <a:rPr lang="en-US" sz="1350" b="1" dirty="0">
                <a:solidFill>
                  <a:srgbClr val="06B6D4"/>
                </a:solidFill>
                <a:latin typeface="Calibri" pitchFamily="34" charset="0"/>
                <a:ea typeface="Calibri" pitchFamily="34" charset="-122"/>
                <a:cs typeface="Calibri" pitchFamily="34" charset="-120"/>
              </a:rPr>
              <a:t>Agentic AI </a:t>
            </a:r>
            <a:r>
              <a:rPr lang="en-US" sz="1350" dirty="0">
                <a:solidFill>
                  <a:srgbClr val="FFFFFF"/>
                </a:solidFill>
                <a:latin typeface="Calibri" pitchFamily="34" charset="0"/>
                <a:ea typeface="Calibri" pitchFamily="34" charset="-122"/>
                <a:cs typeface="Calibri" pitchFamily="34" charset="-120"/>
              </a:rPr>
              <a:t>refers to AI systems that can autonomously </a:t>
            </a:r>
            <a:r>
              <a:rPr lang="en-US" sz="1350" b="1" dirty="0">
                <a:solidFill>
                  <a:srgbClr val="10B981"/>
                </a:solidFill>
                <a:latin typeface="Calibri" pitchFamily="34" charset="0"/>
                <a:ea typeface="Calibri" pitchFamily="34" charset="-122"/>
                <a:cs typeface="Calibri" pitchFamily="34" charset="-120"/>
              </a:rPr>
              <a:t>plan, reason, use tools, </a:t>
            </a:r>
            <a:r>
              <a:rPr lang="en-US" sz="1350" dirty="0">
                <a:solidFill>
                  <a:srgbClr val="FFFFFF"/>
                </a:solidFill>
                <a:latin typeface="Calibri" pitchFamily="34" charset="0"/>
                <a:ea typeface="Calibri" pitchFamily="34" charset="-122"/>
                <a:cs typeface="Calibri" pitchFamily="34" charset="-120"/>
              </a:rPr>
              <a:t>and </a:t>
            </a:r>
            <a:r>
              <a:rPr lang="en-US" sz="1350" b="1" dirty="0">
                <a:solidFill>
                  <a:srgbClr val="F59E0B"/>
                </a:solidFill>
                <a:latin typeface="Calibri" pitchFamily="34" charset="0"/>
                <a:ea typeface="Calibri" pitchFamily="34" charset="-122"/>
                <a:cs typeface="Calibri" pitchFamily="34" charset="-120"/>
              </a:rPr>
              <a:t>take actions </a:t>
            </a:r>
            <a:r>
              <a:rPr lang="en-US" sz="1350" dirty="0">
                <a:solidFill>
                  <a:srgbClr val="FFFFFF"/>
                </a:solidFill>
                <a:latin typeface="Calibri" pitchFamily="34" charset="0"/>
                <a:ea typeface="Calibri" pitchFamily="34" charset="-122"/>
                <a:cs typeface="Calibri" pitchFamily="34" charset="-120"/>
              </a:rPr>
              <a:t>to achieve multi-step goals — going beyond simple question-answering.</a:t>
            </a:r>
            <a:endParaRPr lang="en-US" sz="1350" dirty="0"/>
          </a:p>
        </p:txBody>
      </p:sp>
      <p:sp>
        <p:nvSpPr>
          <p:cNvPr id="6" name="Shape 4"/>
          <p:cNvSpPr/>
          <p:nvPr/>
        </p:nvSpPr>
        <p:spPr>
          <a:xfrm>
            <a:off x="274320" y="1600200"/>
            <a:ext cx="2743200" cy="1481328"/>
          </a:xfrm>
          <a:prstGeom prst="roundRect">
            <a:avLst>
              <a:gd name="adj" fmla="val 7407"/>
            </a:avLst>
          </a:prstGeom>
          <a:solidFill>
            <a:srgbClr val="1E293B"/>
          </a:solidFill>
          <a:ln w="12700">
            <a:solidFill>
              <a:srgbClr val="F59E0B"/>
            </a:solidFill>
            <a:prstDash val="solid"/>
          </a:ln>
          <a:effectLst>
            <a:outerShdw blurRad="101600" dist="38100" dir="2700000" algn="bl" rotWithShape="0">
              <a:srgbClr val="000000">
                <a:alpha val="20000"/>
              </a:srgbClr>
            </a:outerShdw>
          </a:effectLst>
        </p:spPr>
        <p:txBody>
          <a:bodyPr/>
          <a:lstStyle/>
          <a:p>
            <a:endParaRPr lang="en-IN"/>
          </a:p>
        </p:txBody>
      </p:sp>
      <p:pic>
        <p:nvPicPr>
          <p:cNvPr id="7" name="Image 0" descr="preencoded.png"/>
          <p:cNvPicPr>
            <a:picLocks noChangeAspect="1"/>
          </p:cNvPicPr>
          <p:nvPr/>
        </p:nvPicPr>
        <p:blipFill>
          <a:blip r:embed="rId3"/>
          <a:stretch>
            <a:fillRect/>
          </a:stretch>
        </p:blipFill>
        <p:spPr>
          <a:xfrm>
            <a:off x="411480" y="1783080"/>
            <a:ext cx="411480" cy="411480"/>
          </a:xfrm>
          <a:prstGeom prst="rect">
            <a:avLst/>
          </a:prstGeom>
        </p:spPr>
      </p:pic>
      <p:sp>
        <p:nvSpPr>
          <p:cNvPr id="8" name="Text 5"/>
          <p:cNvSpPr/>
          <p:nvPr/>
        </p:nvSpPr>
        <p:spPr>
          <a:xfrm>
            <a:off x="914400" y="1783080"/>
            <a:ext cx="2011680" cy="384048"/>
          </a:xfrm>
          <a:prstGeom prst="rect">
            <a:avLst/>
          </a:prstGeom>
          <a:noFill/>
          <a:ln/>
        </p:spPr>
        <p:txBody>
          <a:bodyPr wrap="square" rtlCol="0" anchor="ctr"/>
          <a:lstStyle/>
          <a:p>
            <a:pPr marL="0" indent="0">
              <a:buNone/>
            </a:pPr>
            <a:r>
              <a:rPr lang="en-US" sz="1300" b="1" dirty="0">
                <a:solidFill>
                  <a:srgbClr val="F59E0B"/>
                </a:solidFill>
                <a:latin typeface="Calibri" pitchFamily="34" charset="0"/>
                <a:ea typeface="Calibri" pitchFamily="34" charset="-122"/>
                <a:cs typeface="Calibri" pitchFamily="34" charset="-120"/>
              </a:rPr>
              <a:t>Goal-Driven</a:t>
            </a:r>
            <a:endParaRPr lang="en-US" sz="1300" dirty="0"/>
          </a:p>
        </p:txBody>
      </p:sp>
      <p:sp>
        <p:nvSpPr>
          <p:cNvPr id="9" name="Text 6"/>
          <p:cNvSpPr/>
          <p:nvPr/>
        </p:nvSpPr>
        <p:spPr>
          <a:xfrm>
            <a:off x="384048" y="2258568"/>
            <a:ext cx="2542032" cy="713232"/>
          </a:xfrm>
          <a:prstGeom prst="rect">
            <a:avLst/>
          </a:prstGeom>
          <a:noFill/>
          <a:ln/>
        </p:spPr>
        <p:txBody>
          <a:bodyPr wrap="square" rtlCol="0" anchor="ctr"/>
          <a:lstStyle/>
          <a:p>
            <a:pPr marL="0" indent="0">
              <a:buNone/>
            </a:pPr>
            <a:r>
              <a:rPr lang="en-US" sz="1000" dirty="0">
                <a:solidFill>
                  <a:srgbClr val="CBD5E1"/>
                </a:solidFill>
                <a:latin typeface="Calibri" pitchFamily="34" charset="0"/>
                <a:ea typeface="Calibri" pitchFamily="34" charset="-122"/>
                <a:cs typeface="Calibri" pitchFamily="34" charset="-120"/>
              </a:rPr>
              <a:t>Understands the end objective and works towards it step-by-step</a:t>
            </a:r>
            <a:endParaRPr lang="en-US" sz="1000" dirty="0"/>
          </a:p>
        </p:txBody>
      </p:sp>
      <p:sp>
        <p:nvSpPr>
          <p:cNvPr id="10" name="Shape 7"/>
          <p:cNvSpPr/>
          <p:nvPr/>
        </p:nvSpPr>
        <p:spPr>
          <a:xfrm>
            <a:off x="3154680" y="1600200"/>
            <a:ext cx="2743200" cy="1481328"/>
          </a:xfrm>
          <a:prstGeom prst="roundRect">
            <a:avLst>
              <a:gd name="adj" fmla="val 7407"/>
            </a:avLst>
          </a:prstGeom>
          <a:solidFill>
            <a:srgbClr val="1E293B"/>
          </a:solidFill>
          <a:ln w="12700">
            <a:solidFill>
              <a:srgbClr val="8B5CF6"/>
            </a:solidFill>
            <a:prstDash val="solid"/>
          </a:ln>
          <a:effectLst>
            <a:outerShdw blurRad="101600" dist="38100" dir="2700000" algn="bl" rotWithShape="0">
              <a:srgbClr val="000000">
                <a:alpha val="20000"/>
              </a:srgbClr>
            </a:outerShdw>
          </a:effectLst>
        </p:spPr>
        <p:txBody>
          <a:bodyPr/>
          <a:lstStyle/>
          <a:p>
            <a:endParaRPr lang="en-IN"/>
          </a:p>
        </p:txBody>
      </p:sp>
      <p:pic>
        <p:nvPicPr>
          <p:cNvPr id="11" name="Image 1" descr="preencoded.png"/>
          <p:cNvPicPr>
            <a:picLocks noChangeAspect="1"/>
          </p:cNvPicPr>
          <p:nvPr/>
        </p:nvPicPr>
        <p:blipFill>
          <a:blip r:embed="rId4"/>
          <a:stretch>
            <a:fillRect/>
          </a:stretch>
        </p:blipFill>
        <p:spPr>
          <a:xfrm>
            <a:off x="3291840" y="1783080"/>
            <a:ext cx="411480" cy="411480"/>
          </a:xfrm>
          <a:prstGeom prst="rect">
            <a:avLst/>
          </a:prstGeom>
        </p:spPr>
      </p:pic>
      <p:sp>
        <p:nvSpPr>
          <p:cNvPr id="12" name="Text 8"/>
          <p:cNvSpPr/>
          <p:nvPr/>
        </p:nvSpPr>
        <p:spPr>
          <a:xfrm>
            <a:off x="3794760" y="1783080"/>
            <a:ext cx="2011680" cy="384048"/>
          </a:xfrm>
          <a:prstGeom prst="rect">
            <a:avLst/>
          </a:prstGeom>
          <a:noFill/>
          <a:ln/>
        </p:spPr>
        <p:txBody>
          <a:bodyPr wrap="square" rtlCol="0" anchor="ctr"/>
          <a:lstStyle/>
          <a:p>
            <a:pPr marL="0" indent="0">
              <a:buNone/>
            </a:pPr>
            <a:r>
              <a:rPr lang="en-US" sz="1300" b="1" dirty="0">
                <a:solidFill>
                  <a:srgbClr val="8B5CF6"/>
                </a:solidFill>
                <a:latin typeface="Calibri" pitchFamily="34" charset="0"/>
                <a:ea typeface="Calibri" pitchFamily="34" charset="-122"/>
                <a:cs typeface="Calibri" pitchFamily="34" charset="-120"/>
              </a:rPr>
              <a:t>Planning</a:t>
            </a:r>
            <a:endParaRPr lang="en-US" sz="1300" dirty="0"/>
          </a:p>
        </p:txBody>
      </p:sp>
      <p:sp>
        <p:nvSpPr>
          <p:cNvPr id="13" name="Text 9"/>
          <p:cNvSpPr/>
          <p:nvPr/>
        </p:nvSpPr>
        <p:spPr>
          <a:xfrm>
            <a:off x="3264408" y="2258568"/>
            <a:ext cx="2542032" cy="713232"/>
          </a:xfrm>
          <a:prstGeom prst="rect">
            <a:avLst/>
          </a:prstGeom>
          <a:noFill/>
          <a:ln/>
        </p:spPr>
        <p:txBody>
          <a:bodyPr wrap="square" rtlCol="0" anchor="ctr"/>
          <a:lstStyle/>
          <a:p>
            <a:pPr marL="0" indent="0">
              <a:buNone/>
            </a:pPr>
            <a:r>
              <a:rPr lang="en-US" sz="1000" dirty="0">
                <a:solidFill>
                  <a:srgbClr val="CBD5E1"/>
                </a:solidFill>
                <a:latin typeface="Calibri" pitchFamily="34" charset="0"/>
                <a:ea typeface="Calibri" pitchFamily="34" charset="-122"/>
                <a:cs typeface="Calibri" pitchFamily="34" charset="-120"/>
              </a:rPr>
              <a:t>Breaks complex tasks into sub-tasks and sequences them logically</a:t>
            </a:r>
            <a:endParaRPr lang="en-US" sz="1000" dirty="0"/>
          </a:p>
        </p:txBody>
      </p:sp>
      <p:sp>
        <p:nvSpPr>
          <p:cNvPr id="14" name="Shape 10"/>
          <p:cNvSpPr/>
          <p:nvPr/>
        </p:nvSpPr>
        <p:spPr>
          <a:xfrm>
            <a:off x="6035040" y="1600200"/>
            <a:ext cx="2743200" cy="1481328"/>
          </a:xfrm>
          <a:prstGeom prst="roundRect">
            <a:avLst>
              <a:gd name="adj" fmla="val 7407"/>
            </a:avLst>
          </a:prstGeom>
          <a:solidFill>
            <a:srgbClr val="1E293B"/>
          </a:solidFill>
          <a:ln w="12700">
            <a:solidFill>
              <a:srgbClr val="06B6D4"/>
            </a:solidFill>
            <a:prstDash val="solid"/>
          </a:ln>
          <a:effectLst>
            <a:outerShdw blurRad="101600" dist="38100" dir="2700000" algn="bl" rotWithShape="0">
              <a:srgbClr val="000000">
                <a:alpha val="20000"/>
              </a:srgbClr>
            </a:outerShdw>
          </a:effectLst>
        </p:spPr>
        <p:txBody>
          <a:bodyPr/>
          <a:lstStyle/>
          <a:p>
            <a:endParaRPr lang="en-IN"/>
          </a:p>
        </p:txBody>
      </p:sp>
      <p:pic>
        <p:nvPicPr>
          <p:cNvPr id="15" name="Image 2" descr="preencoded.png"/>
          <p:cNvPicPr>
            <a:picLocks noChangeAspect="1"/>
          </p:cNvPicPr>
          <p:nvPr/>
        </p:nvPicPr>
        <p:blipFill>
          <a:blip r:embed="rId5"/>
          <a:stretch>
            <a:fillRect/>
          </a:stretch>
        </p:blipFill>
        <p:spPr>
          <a:xfrm>
            <a:off x="6172200" y="1783080"/>
            <a:ext cx="411480" cy="411480"/>
          </a:xfrm>
          <a:prstGeom prst="rect">
            <a:avLst/>
          </a:prstGeom>
        </p:spPr>
      </p:pic>
      <p:sp>
        <p:nvSpPr>
          <p:cNvPr id="16" name="Text 11"/>
          <p:cNvSpPr/>
          <p:nvPr/>
        </p:nvSpPr>
        <p:spPr>
          <a:xfrm>
            <a:off x="6675120" y="1783080"/>
            <a:ext cx="2011680" cy="384048"/>
          </a:xfrm>
          <a:prstGeom prst="rect">
            <a:avLst/>
          </a:prstGeom>
          <a:noFill/>
          <a:ln/>
        </p:spPr>
        <p:txBody>
          <a:bodyPr wrap="square" rtlCol="0" anchor="ctr"/>
          <a:lstStyle/>
          <a:p>
            <a:pPr marL="0" indent="0">
              <a:buNone/>
            </a:pPr>
            <a:r>
              <a:rPr lang="en-US" sz="1300" b="1" dirty="0">
                <a:solidFill>
                  <a:srgbClr val="06B6D4"/>
                </a:solidFill>
                <a:latin typeface="Calibri" pitchFamily="34" charset="0"/>
                <a:ea typeface="Calibri" pitchFamily="34" charset="-122"/>
                <a:cs typeface="Calibri" pitchFamily="34" charset="-120"/>
              </a:rPr>
              <a:t>Reasoning</a:t>
            </a:r>
            <a:endParaRPr lang="en-US" sz="1300" dirty="0"/>
          </a:p>
        </p:txBody>
      </p:sp>
      <p:sp>
        <p:nvSpPr>
          <p:cNvPr id="17" name="Text 12"/>
          <p:cNvSpPr/>
          <p:nvPr/>
        </p:nvSpPr>
        <p:spPr>
          <a:xfrm>
            <a:off x="6144768" y="2258568"/>
            <a:ext cx="2542032" cy="713232"/>
          </a:xfrm>
          <a:prstGeom prst="rect">
            <a:avLst/>
          </a:prstGeom>
          <a:noFill/>
          <a:ln/>
        </p:spPr>
        <p:txBody>
          <a:bodyPr wrap="square" rtlCol="0" anchor="ctr"/>
          <a:lstStyle/>
          <a:p>
            <a:pPr marL="0" indent="0">
              <a:buNone/>
            </a:pPr>
            <a:r>
              <a:rPr lang="en-US" sz="1000" dirty="0">
                <a:solidFill>
                  <a:srgbClr val="CBD5E1"/>
                </a:solidFill>
                <a:latin typeface="Calibri" pitchFamily="34" charset="0"/>
                <a:ea typeface="Calibri" pitchFamily="34" charset="-122"/>
                <a:cs typeface="Calibri" pitchFamily="34" charset="-120"/>
              </a:rPr>
              <a:t>Applies logic to decide next actions and evaluate outcomes</a:t>
            </a:r>
            <a:endParaRPr lang="en-US" sz="1000" dirty="0"/>
          </a:p>
        </p:txBody>
      </p:sp>
      <p:sp>
        <p:nvSpPr>
          <p:cNvPr id="18" name="Shape 13"/>
          <p:cNvSpPr/>
          <p:nvPr/>
        </p:nvSpPr>
        <p:spPr>
          <a:xfrm>
            <a:off x="274320" y="3227832"/>
            <a:ext cx="2743200" cy="1481328"/>
          </a:xfrm>
          <a:prstGeom prst="roundRect">
            <a:avLst>
              <a:gd name="adj" fmla="val 7407"/>
            </a:avLst>
          </a:prstGeom>
          <a:solidFill>
            <a:srgbClr val="1E293B"/>
          </a:solidFill>
          <a:ln w="12700">
            <a:solidFill>
              <a:srgbClr val="10B981"/>
            </a:solidFill>
            <a:prstDash val="solid"/>
          </a:ln>
          <a:effectLst>
            <a:outerShdw blurRad="101600" dist="38100" dir="2700000" algn="bl" rotWithShape="0">
              <a:srgbClr val="000000">
                <a:alpha val="20000"/>
              </a:srgbClr>
            </a:outerShdw>
          </a:effectLst>
        </p:spPr>
        <p:txBody>
          <a:bodyPr/>
          <a:lstStyle/>
          <a:p>
            <a:endParaRPr lang="en-IN"/>
          </a:p>
        </p:txBody>
      </p:sp>
      <p:pic>
        <p:nvPicPr>
          <p:cNvPr id="19" name="Image 3" descr="preencoded.png"/>
          <p:cNvPicPr>
            <a:picLocks noChangeAspect="1"/>
          </p:cNvPicPr>
          <p:nvPr/>
        </p:nvPicPr>
        <p:blipFill>
          <a:blip r:embed="rId6"/>
          <a:stretch>
            <a:fillRect/>
          </a:stretch>
        </p:blipFill>
        <p:spPr>
          <a:xfrm>
            <a:off x="411480" y="3410712"/>
            <a:ext cx="411480" cy="411480"/>
          </a:xfrm>
          <a:prstGeom prst="rect">
            <a:avLst/>
          </a:prstGeom>
        </p:spPr>
      </p:pic>
      <p:sp>
        <p:nvSpPr>
          <p:cNvPr id="20" name="Text 14"/>
          <p:cNvSpPr/>
          <p:nvPr/>
        </p:nvSpPr>
        <p:spPr>
          <a:xfrm>
            <a:off x="914400" y="3410712"/>
            <a:ext cx="2011680" cy="384048"/>
          </a:xfrm>
          <a:prstGeom prst="rect">
            <a:avLst/>
          </a:prstGeom>
          <a:noFill/>
          <a:ln/>
        </p:spPr>
        <p:txBody>
          <a:bodyPr wrap="square" rtlCol="0" anchor="ctr"/>
          <a:lstStyle/>
          <a:p>
            <a:pPr marL="0" indent="0">
              <a:buNone/>
            </a:pPr>
            <a:r>
              <a:rPr lang="en-US" sz="1300" b="1" dirty="0">
                <a:solidFill>
                  <a:srgbClr val="10B981"/>
                </a:solidFill>
                <a:latin typeface="Calibri" pitchFamily="34" charset="0"/>
                <a:ea typeface="Calibri" pitchFamily="34" charset="-122"/>
                <a:cs typeface="Calibri" pitchFamily="34" charset="-120"/>
              </a:rPr>
              <a:t>Tool Usage</a:t>
            </a:r>
            <a:endParaRPr lang="en-US" sz="1300" dirty="0"/>
          </a:p>
        </p:txBody>
      </p:sp>
      <p:sp>
        <p:nvSpPr>
          <p:cNvPr id="21" name="Text 15"/>
          <p:cNvSpPr/>
          <p:nvPr/>
        </p:nvSpPr>
        <p:spPr>
          <a:xfrm>
            <a:off x="384048" y="3886200"/>
            <a:ext cx="2542032" cy="713232"/>
          </a:xfrm>
          <a:prstGeom prst="rect">
            <a:avLst/>
          </a:prstGeom>
          <a:noFill/>
          <a:ln/>
        </p:spPr>
        <p:txBody>
          <a:bodyPr wrap="square" rtlCol="0" anchor="ctr"/>
          <a:lstStyle/>
          <a:p>
            <a:pPr marL="0" indent="0">
              <a:buNone/>
            </a:pPr>
            <a:r>
              <a:rPr lang="en-US" sz="1000" dirty="0">
                <a:solidFill>
                  <a:srgbClr val="CBD5E1"/>
                </a:solidFill>
                <a:latin typeface="Calibri" pitchFamily="34" charset="0"/>
                <a:ea typeface="Calibri" pitchFamily="34" charset="-122"/>
                <a:cs typeface="Calibri" pitchFamily="34" charset="-120"/>
              </a:rPr>
              <a:t>Calls APIs, searches web, queries databases, runs code</a:t>
            </a:r>
            <a:endParaRPr lang="en-US" sz="1000" dirty="0"/>
          </a:p>
        </p:txBody>
      </p:sp>
      <p:sp>
        <p:nvSpPr>
          <p:cNvPr id="22" name="Shape 16"/>
          <p:cNvSpPr/>
          <p:nvPr/>
        </p:nvSpPr>
        <p:spPr>
          <a:xfrm>
            <a:off x="3154680" y="3227832"/>
            <a:ext cx="2743200" cy="1481328"/>
          </a:xfrm>
          <a:prstGeom prst="roundRect">
            <a:avLst>
              <a:gd name="adj" fmla="val 7407"/>
            </a:avLst>
          </a:prstGeom>
          <a:solidFill>
            <a:srgbClr val="1E293B"/>
          </a:solidFill>
          <a:ln w="12700">
            <a:solidFill>
              <a:srgbClr val="EF4444"/>
            </a:solidFill>
            <a:prstDash val="solid"/>
          </a:ln>
          <a:effectLst>
            <a:outerShdw blurRad="101600" dist="38100" dir="2700000" algn="bl" rotWithShape="0">
              <a:srgbClr val="000000">
                <a:alpha val="20000"/>
              </a:srgbClr>
            </a:outerShdw>
          </a:effectLst>
        </p:spPr>
        <p:txBody>
          <a:bodyPr/>
          <a:lstStyle/>
          <a:p>
            <a:endParaRPr lang="en-IN"/>
          </a:p>
        </p:txBody>
      </p:sp>
      <p:pic>
        <p:nvPicPr>
          <p:cNvPr id="23" name="Image 4" descr="preencoded.png"/>
          <p:cNvPicPr>
            <a:picLocks noChangeAspect="1"/>
          </p:cNvPicPr>
          <p:nvPr/>
        </p:nvPicPr>
        <p:blipFill>
          <a:blip r:embed="rId7"/>
          <a:stretch>
            <a:fillRect/>
          </a:stretch>
        </p:blipFill>
        <p:spPr>
          <a:xfrm>
            <a:off x="3291840" y="3410712"/>
            <a:ext cx="411480" cy="411480"/>
          </a:xfrm>
          <a:prstGeom prst="rect">
            <a:avLst/>
          </a:prstGeom>
        </p:spPr>
      </p:pic>
      <p:sp>
        <p:nvSpPr>
          <p:cNvPr id="24" name="Text 17"/>
          <p:cNvSpPr/>
          <p:nvPr/>
        </p:nvSpPr>
        <p:spPr>
          <a:xfrm>
            <a:off x="3794760" y="3410712"/>
            <a:ext cx="2011680" cy="384048"/>
          </a:xfrm>
          <a:prstGeom prst="rect">
            <a:avLst/>
          </a:prstGeom>
          <a:noFill/>
          <a:ln/>
        </p:spPr>
        <p:txBody>
          <a:bodyPr wrap="square" rtlCol="0" anchor="ctr"/>
          <a:lstStyle/>
          <a:p>
            <a:pPr marL="0" indent="0">
              <a:buNone/>
            </a:pPr>
            <a:r>
              <a:rPr lang="en-US" sz="1300" b="1" dirty="0">
                <a:solidFill>
                  <a:srgbClr val="EF4444"/>
                </a:solidFill>
                <a:latin typeface="Calibri" pitchFamily="34" charset="0"/>
                <a:ea typeface="Calibri" pitchFamily="34" charset="-122"/>
                <a:cs typeface="Calibri" pitchFamily="34" charset="-120"/>
              </a:rPr>
              <a:t>Memory</a:t>
            </a:r>
            <a:endParaRPr lang="en-US" sz="1300" dirty="0"/>
          </a:p>
        </p:txBody>
      </p:sp>
      <p:sp>
        <p:nvSpPr>
          <p:cNvPr id="25" name="Text 18"/>
          <p:cNvSpPr/>
          <p:nvPr/>
        </p:nvSpPr>
        <p:spPr>
          <a:xfrm>
            <a:off x="3264408" y="3886200"/>
            <a:ext cx="2542032" cy="713232"/>
          </a:xfrm>
          <a:prstGeom prst="rect">
            <a:avLst/>
          </a:prstGeom>
          <a:noFill/>
          <a:ln/>
        </p:spPr>
        <p:txBody>
          <a:bodyPr wrap="square" rtlCol="0" anchor="ctr"/>
          <a:lstStyle/>
          <a:p>
            <a:pPr marL="0" indent="0">
              <a:buNone/>
            </a:pPr>
            <a:r>
              <a:rPr lang="en-US" sz="1000" dirty="0">
                <a:solidFill>
                  <a:srgbClr val="CBD5E1"/>
                </a:solidFill>
                <a:latin typeface="Calibri" pitchFamily="34" charset="0"/>
                <a:ea typeface="Calibri" pitchFamily="34" charset="-122"/>
                <a:cs typeface="Calibri" pitchFamily="34" charset="-120"/>
              </a:rPr>
              <a:t>Remembers past interactions via short &amp; long-term memory</a:t>
            </a:r>
            <a:endParaRPr lang="en-US" sz="1000" dirty="0"/>
          </a:p>
        </p:txBody>
      </p:sp>
      <p:sp>
        <p:nvSpPr>
          <p:cNvPr id="26" name="Shape 19"/>
          <p:cNvSpPr/>
          <p:nvPr/>
        </p:nvSpPr>
        <p:spPr>
          <a:xfrm>
            <a:off x="6035040" y="3227832"/>
            <a:ext cx="2743200" cy="1481328"/>
          </a:xfrm>
          <a:prstGeom prst="roundRect">
            <a:avLst>
              <a:gd name="adj" fmla="val 7407"/>
            </a:avLst>
          </a:prstGeom>
          <a:solidFill>
            <a:srgbClr val="1E293B"/>
          </a:solidFill>
          <a:ln w="12700">
            <a:solidFill>
              <a:srgbClr val="F59E0B"/>
            </a:solidFill>
            <a:prstDash val="solid"/>
          </a:ln>
          <a:effectLst>
            <a:outerShdw blurRad="101600" dist="38100" dir="2700000" algn="bl" rotWithShape="0">
              <a:srgbClr val="000000">
                <a:alpha val="20000"/>
              </a:srgbClr>
            </a:outerShdw>
          </a:effectLst>
        </p:spPr>
        <p:txBody>
          <a:bodyPr/>
          <a:lstStyle/>
          <a:p>
            <a:endParaRPr lang="en-IN"/>
          </a:p>
        </p:txBody>
      </p:sp>
      <p:pic>
        <p:nvPicPr>
          <p:cNvPr id="27" name="Image 5" descr="preencoded.png"/>
          <p:cNvPicPr>
            <a:picLocks noChangeAspect="1"/>
          </p:cNvPicPr>
          <p:nvPr/>
        </p:nvPicPr>
        <p:blipFill>
          <a:blip r:embed="rId8"/>
          <a:stretch>
            <a:fillRect/>
          </a:stretch>
        </p:blipFill>
        <p:spPr>
          <a:xfrm>
            <a:off x="6172200" y="3410712"/>
            <a:ext cx="411480" cy="411480"/>
          </a:xfrm>
          <a:prstGeom prst="rect">
            <a:avLst/>
          </a:prstGeom>
        </p:spPr>
      </p:pic>
      <p:sp>
        <p:nvSpPr>
          <p:cNvPr id="28" name="Text 20"/>
          <p:cNvSpPr/>
          <p:nvPr/>
        </p:nvSpPr>
        <p:spPr>
          <a:xfrm>
            <a:off x="6675120" y="3410712"/>
            <a:ext cx="2011680" cy="384048"/>
          </a:xfrm>
          <a:prstGeom prst="rect">
            <a:avLst/>
          </a:prstGeom>
          <a:noFill/>
          <a:ln/>
        </p:spPr>
        <p:txBody>
          <a:bodyPr wrap="square" rtlCol="0" anchor="ctr"/>
          <a:lstStyle/>
          <a:p>
            <a:pPr marL="0" indent="0">
              <a:buNone/>
            </a:pPr>
            <a:r>
              <a:rPr lang="en-US" sz="1300" b="1" dirty="0">
                <a:solidFill>
                  <a:srgbClr val="F59E0B"/>
                </a:solidFill>
                <a:latin typeface="Calibri" pitchFamily="34" charset="0"/>
                <a:ea typeface="Calibri" pitchFamily="34" charset="-122"/>
                <a:cs typeface="Calibri" pitchFamily="34" charset="-120"/>
              </a:rPr>
              <a:t>Autonomy</a:t>
            </a:r>
            <a:endParaRPr lang="en-US" sz="1300" dirty="0"/>
          </a:p>
        </p:txBody>
      </p:sp>
      <p:sp>
        <p:nvSpPr>
          <p:cNvPr id="29" name="Text 21"/>
          <p:cNvSpPr/>
          <p:nvPr/>
        </p:nvSpPr>
        <p:spPr>
          <a:xfrm>
            <a:off x="6144768" y="3886200"/>
            <a:ext cx="2542032" cy="713232"/>
          </a:xfrm>
          <a:prstGeom prst="rect">
            <a:avLst/>
          </a:prstGeom>
          <a:noFill/>
          <a:ln/>
        </p:spPr>
        <p:txBody>
          <a:bodyPr wrap="square" rtlCol="0" anchor="ctr"/>
          <a:lstStyle/>
          <a:p>
            <a:pPr marL="0" indent="0">
              <a:buNone/>
            </a:pPr>
            <a:r>
              <a:rPr lang="en-US" sz="1000" dirty="0">
                <a:solidFill>
                  <a:srgbClr val="CBD5E1"/>
                </a:solidFill>
                <a:latin typeface="Calibri" pitchFamily="34" charset="0"/>
                <a:ea typeface="Calibri" pitchFamily="34" charset="-122"/>
                <a:cs typeface="Calibri" pitchFamily="34" charset="-120"/>
              </a:rPr>
              <a:t>Operates without human approval for each individual step</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59E0B"/>
          </a:solidFill>
          <a:ln w="12700">
            <a:solidFill>
              <a:srgbClr val="F59E0B"/>
            </a:solidFill>
            <a:prstDash val="solid"/>
          </a:ln>
        </p:spPr>
        <p:txBody>
          <a:bodyPr/>
          <a:lstStyle/>
          <a:p>
            <a:endParaRPr lang="en-IN"/>
          </a:p>
        </p:txBody>
      </p:sp>
      <p:sp>
        <p:nvSpPr>
          <p:cNvPr id="3" name="Text 1"/>
          <p:cNvSpPr/>
          <p:nvPr/>
        </p:nvSpPr>
        <p:spPr>
          <a:xfrm>
            <a:off x="365760" y="109728"/>
            <a:ext cx="8229600" cy="50292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Generative AI vs Agentic AI</a:t>
            </a:r>
            <a:endParaRPr lang="en-US" sz="2800" dirty="0"/>
          </a:p>
        </p:txBody>
      </p:sp>
      <p:sp>
        <p:nvSpPr>
          <p:cNvPr id="4" name="Shape 2"/>
          <p:cNvSpPr/>
          <p:nvPr/>
        </p:nvSpPr>
        <p:spPr>
          <a:xfrm>
            <a:off x="274320" y="685800"/>
            <a:ext cx="2286000" cy="475488"/>
          </a:xfrm>
          <a:prstGeom prst="rect">
            <a:avLst/>
          </a:prstGeom>
          <a:solidFill>
            <a:srgbClr val="0EA5E9"/>
          </a:solidFill>
          <a:ln w="6350">
            <a:solidFill>
              <a:srgbClr val="0369A1"/>
            </a:solidFill>
            <a:prstDash val="solid"/>
          </a:ln>
        </p:spPr>
        <p:txBody>
          <a:bodyPr/>
          <a:lstStyle/>
          <a:p>
            <a:endParaRPr lang="en-IN"/>
          </a:p>
        </p:txBody>
      </p:sp>
      <p:sp>
        <p:nvSpPr>
          <p:cNvPr id="5" name="Text 3"/>
          <p:cNvSpPr/>
          <p:nvPr/>
        </p:nvSpPr>
        <p:spPr>
          <a:xfrm>
            <a:off x="365760" y="685800"/>
            <a:ext cx="2103120" cy="475488"/>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Feature</a:t>
            </a:r>
            <a:endParaRPr lang="en-US" sz="1300" dirty="0"/>
          </a:p>
        </p:txBody>
      </p:sp>
      <p:sp>
        <p:nvSpPr>
          <p:cNvPr id="6" name="Shape 4"/>
          <p:cNvSpPr/>
          <p:nvPr/>
        </p:nvSpPr>
        <p:spPr>
          <a:xfrm>
            <a:off x="2560320" y="685800"/>
            <a:ext cx="3017520" cy="475488"/>
          </a:xfrm>
          <a:prstGeom prst="rect">
            <a:avLst/>
          </a:prstGeom>
          <a:solidFill>
            <a:srgbClr val="0EA5E9"/>
          </a:solidFill>
          <a:ln w="6350">
            <a:solidFill>
              <a:srgbClr val="0369A1"/>
            </a:solidFill>
            <a:prstDash val="solid"/>
          </a:ln>
        </p:spPr>
        <p:txBody>
          <a:bodyPr/>
          <a:lstStyle/>
          <a:p>
            <a:endParaRPr lang="en-IN"/>
          </a:p>
        </p:txBody>
      </p:sp>
      <p:sp>
        <p:nvSpPr>
          <p:cNvPr id="7" name="Text 5"/>
          <p:cNvSpPr/>
          <p:nvPr/>
        </p:nvSpPr>
        <p:spPr>
          <a:xfrm>
            <a:off x="2651760" y="685800"/>
            <a:ext cx="2834640" cy="475488"/>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Generative AI</a:t>
            </a:r>
            <a:endParaRPr lang="en-US" sz="1300" dirty="0"/>
          </a:p>
        </p:txBody>
      </p:sp>
      <p:sp>
        <p:nvSpPr>
          <p:cNvPr id="8" name="Shape 6"/>
          <p:cNvSpPr/>
          <p:nvPr/>
        </p:nvSpPr>
        <p:spPr>
          <a:xfrm>
            <a:off x="5577840" y="685800"/>
            <a:ext cx="3017520" cy="475488"/>
          </a:xfrm>
          <a:prstGeom prst="rect">
            <a:avLst/>
          </a:prstGeom>
          <a:solidFill>
            <a:srgbClr val="0EA5E9"/>
          </a:solidFill>
          <a:ln w="6350">
            <a:solidFill>
              <a:srgbClr val="0369A1"/>
            </a:solidFill>
            <a:prstDash val="solid"/>
          </a:ln>
        </p:spPr>
        <p:txBody>
          <a:bodyPr/>
          <a:lstStyle/>
          <a:p>
            <a:endParaRPr lang="en-IN"/>
          </a:p>
        </p:txBody>
      </p:sp>
      <p:sp>
        <p:nvSpPr>
          <p:cNvPr id="9" name="Text 7"/>
          <p:cNvSpPr/>
          <p:nvPr/>
        </p:nvSpPr>
        <p:spPr>
          <a:xfrm>
            <a:off x="5669280" y="685800"/>
            <a:ext cx="2834640" cy="475488"/>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Agentic AI</a:t>
            </a:r>
            <a:endParaRPr lang="en-US" sz="1300" dirty="0"/>
          </a:p>
        </p:txBody>
      </p:sp>
      <p:sp>
        <p:nvSpPr>
          <p:cNvPr id="10" name="Shape 8"/>
          <p:cNvSpPr/>
          <p:nvPr/>
        </p:nvSpPr>
        <p:spPr>
          <a:xfrm>
            <a:off x="274320" y="1179576"/>
            <a:ext cx="2286000" cy="475488"/>
          </a:xfrm>
          <a:prstGeom prst="rect">
            <a:avLst/>
          </a:prstGeom>
          <a:solidFill>
            <a:srgbClr val="172032"/>
          </a:solidFill>
          <a:ln w="6350">
            <a:solidFill>
              <a:srgbClr val="0369A1"/>
            </a:solidFill>
            <a:prstDash val="solid"/>
          </a:ln>
        </p:spPr>
        <p:txBody>
          <a:bodyPr/>
          <a:lstStyle/>
          <a:p>
            <a:endParaRPr lang="en-IN"/>
          </a:p>
        </p:txBody>
      </p:sp>
      <p:sp>
        <p:nvSpPr>
          <p:cNvPr id="11" name="Text 9"/>
          <p:cNvSpPr/>
          <p:nvPr/>
        </p:nvSpPr>
        <p:spPr>
          <a:xfrm>
            <a:off x="365760" y="1179576"/>
            <a:ext cx="2103120" cy="475488"/>
          </a:xfrm>
          <a:prstGeom prst="rect">
            <a:avLst/>
          </a:prstGeom>
          <a:noFill/>
          <a:ln/>
        </p:spPr>
        <p:txBody>
          <a:bodyPr wrap="square" rtlCol="0" anchor="ctr"/>
          <a:lstStyle/>
          <a:p>
            <a:pPr marL="0" indent="0">
              <a:buNone/>
            </a:pPr>
            <a:r>
              <a:rPr lang="en-US" sz="1150" b="1" dirty="0">
                <a:solidFill>
                  <a:srgbClr val="F59E0B"/>
                </a:solidFill>
                <a:latin typeface="Calibri" pitchFamily="34" charset="0"/>
                <a:ea typeface="Calibri" pitchFamily="34" charset="-122"/>
                <a:cs typeface="Calibri" pitchFamily="34" charset="-120"/>
              </a:rPr>
              <a:t>Mode</a:t>
            </a:r>
            <a:endParaRPr lang="en-US" sz="1150" dirty="0"/>
          </a:p>
        </p:txBody>
      </p:sp>
      <p:sp>
        <p:nvSpPr>
          <p:cNvPr id="12" name="Shape 10"/>
          <p:cNvSpPr/>
          <p:nvPr/>
        </p:nvSpPr>
        <p:spPr>
          <a:xfrm>
            <a:off x="2560320" y="1179576"/>
            <a:ext cx="3017520" cy="475488"/>
          </a:xfrm>
          <a:prstGeom prst="rect">
            <a:avLst/>
          </a:prstGeom>
          <a:solidFill>
            <a:srgbClr val="172032"/>
          </a:solidFill>
          <a:ln w="6350">
            <a:solidFill>
              <a:srgbClr val="0369A1"/>
            </a:solidFill>
            <a:prstDash val="solid"/>
          </a:ln>
        </p:spPr>
        <p:txBody>
          <a:bodyPr/>
          <a:lstStyle/>
          <a:p>
            <a:endParaRPr lang="en-IN"/>
          </a:p>
        </p:txBody>
      </p:sp>
      <p:sp>
        <p:nvSpPr>
          <p:cNvPr id="13" name="Text 11"/>
          <p:cNvSpPr/>
          <p:nvPr/>
        </p:nvSpPr>
        <p:spPr>
          <a:xfrm>
            <a:off x="2651760" y="1179576"/>
            <a:ext cx="2834640" cy="475488"/>
          </a:xfrm>
          <a:prstGeom prst="rect">
            <a:avLst/>
          </a:prstGeom>
          <a:noFill/>
          <a:ln/>
        </p:spPr>
        <p:txBody>
          <a:bodyPr wrap="square" rtlCol="0" anchor="ctr"/>
          <a:lstStyle/>
          <a:p>
            <a:pPr marL="0" indent="0">
              <a:buNone/>
            </a:pPr>
            <a:r>
              <a:rPr lang="en-US" sz="1150" dirty="0">
                <a:solidFill>
                  <a:srgbClr val="CBD5E1"/>
                </a:solidFill>
                <a:latin typeface="Calibri" pitchFamily="34" charset="0"/>
                <a:ea typeface="Calibri" pitchFamily="34" charset="-122"/>
                <a:cs typeface="Calibri" pitchFamily="34" charset="-120"/>
              </a:rPr>
              <a:t>Reactive (responds)</a:t>
            </a:r>
            <a:endParaRPr lang="en-US" sz="1150" dirty="0"/>
          </a:p>
        </p:txBody>
      </p:sp>
      <p:sp>
        <p:nvSpPr>
          <p:cNvPr id="14" name="Shape 12"/>
          <p:cNvSpPr/>
          <p:nvPr/>
        </p:nvSpPr>
        <p:spPr>
          <a:xfrm>
            <a:off x="5577840" y="1179576"/>
            <a:ext cx="3017520" cy="475488"/>
          </a:xfrm>
          <a:prstGeom prst="rect">
            <a:avLst/>
          </a:prstGeom>
          <a:solidFill>
            <a:srgbClr val="172032"/>
          </a:solidFill>
          <a:ln w="6350">
            <a:solidFill>
              <a:srgbClr val="0369A1"/>
            </a:solidFill>
            <a:prstDash val="solid"/>
          </a:ln>
        </p:spPr>
        <p:txBody>
          <a:bodyPr/>
          <a:lstStyle/>
          <a:p>
            <a:endParaRPr lang="en-IN"/>
          </a:p>
        </p:txBody>
      </p:sp>
      <p:sp>
        <p:nvSpPr>
          <p:cNvPr id="15" name="Text 13"/>
          <p:cNvSpPr/>
          <p:nvPr/>
        </p:nvSpPr>
        <p:spPr>
          <a:xfrm>
            <a:off x="5669280" y="1179576"/>
            <a:ext cx="2834640" cy="475488"/>
          </a:xfrm>
          <a:prstGeom prst="rect">
            <a:avLst/>
          </a:prstGeom>
          <a:noFill/>
          <a:ln/>
        </p:spPr>
        <p:txBody>
          <a:bodyPr wrap="square" rtlCol="0" anchor="ctr"/>
          <a:lstStyle/>
          <a:p>
            <a:pPr marL="0" indent="0">
              <a:buNone/>
            </a:pPr>
            <a:r>
              <a:rPr lang="en-US" sz="1150" dirty="0">
                <a:solidFill>
                  <a:srgbClr val="06B6D4"/>
                </a:solidFill>
                <a:latin typeface="Calibri" pitchFamily="34" charset="0"/>
                <a:ea typeface="Calibri" pitchFamily="34" charset="-122"/>
                <a:cs typeface="Calibri" pitchFamily="34" charset="-120"/>
              </a:rPr>
              <a:t>Proactive (acts)</a:t>
            </a:r>
            <a:endParaRPr lang="en-US" sz="1150" dirty="0"/>
          </a:p>
        </p:txBody>
      </p:sp>
      <p:sp>
        <p:nvSpPr>
          <p:cNvPr id="16" name="Shape 14"/>
          <p:cNvSpPr/>
          <p:nvPr/>
        </p:nvSpPr>
        <p:spPr>
          <a:xfrm>
            <a:off x="274320" y="1673352"/>
            <a:ext cx="2286000" cy="475488"/>
          </a:xfrm>
          <a:prstGeom prst="rect">
            <a:avLst/>
          </a:prstGeom>
          <a:solidFill>
            <a:srgbClr val="1E293B"/>
          </a:solidFill>
          <a:ln w="6350">
            <a:solidFill>
              <a:srgbClr val="0369A1"/>
            </a:solidFill>
            <a:prstDash val="solid"/>
          </a:ln>
        </p:spPr>
        <p:txBody>
          <a:bodyPr/>
          <a:lstStyle/>
          <a:p>
            <a:endParaRPr lang="en-IN"/>
          </a:p>
        </p:txBody>
      </p:sp>
      <p:sp>
        <p:nvSpPr>
          <p:cNvPr id="17" name="Text 15"/>
          <p:cNvSpPr/>
          <p:nvPr/>
        </p:nvSpPr>
        <p:spPr>
          <a:xfrm>
            <a:off x="365760" y="1673352"/>
            <a:ext cx="2103120" cy="475488"/>
          </a:xfrm>
          <a:prstGeom prst="rect">
            <a:avLst/>
          </a:prstGeom>
          <a:noFill/>
          <a:ln/>
        </p:spPr>
        <p:txBody>
          <a:bodyPr wrap="square" rtlCol="0" anchor="ctr"/>
          <a:lstStyle/>
          <a:p>
            <a:pPr marL="0" indent="0">
              <a:buNone/>
            </a:pPr>
            <a:r>
              <a:rPr lang="en-US" sz="1150" b="1" dirty="0">
                <a:solidFill>
                  <a:srgbClr val="F59E0B"/>
                </a:solidFill>
                <a:latin typeface="Calibri" pitchFamily="34" charset="0"/>
                <a:ea typeface="Calibri" pitchFamily="34" charset="-122"/>
                <a:cs typeface="Calibri" pitchFamily="34" charset="-120"/>
              </a:rPr>
              <a:t>Memory</a:t>
            </a:r>
            <a:endParaRPr lang="en-US" sz="1150" dirty="0"/>
          </a:p>
        </p:txBody>
      </p:sp>
      <p:sp>
        <p:nvSpPr>
          <p:cNvPr id="18" name="Shape 16"/>
          <p:cNvSpPr/>
          <p:nvPr/>
        </p:nvSpPr>
        <p:spPr>
          <a:xfrm>
            <a:off x="2560320" y="1673352"/>
            <a:ext cx="3017520" cy="475488"/>
          </a:xfrm>
          <a:prstGeom prst="rect">
            <a:avLst/>
          </a:prstGeom>
          <a:solidFill>
            <a:srgbClr val="1E293B"/>
          </a:solidFill>
          <a:ln w="6350">
            <a:solidFill>
              <a:srgbClr val="0369A1"/>
            </a:solidFill>
            <a:prstDash val="solid"/>
          </a:ln>
        </p:spPr>
        <p:txBody>
          <a:bodyPr/>
          <a:lstStyle/>
          <a:p>
            <a:endParaRPr lang="en-IN"/>
          </a:p>
        </p:txBody>
      </p:sp>
      <p:sp>
        <p:nvSpPr>
          <p:cNvPr id="19" name="Text 17"/>
          <p:cNvSpPr/>
          <p:nvPr/>
        </p:nvSpPr>
        <p:spPr>
          <a:xfrm>
            <a:off x="2651760" y="1673352"/>
            <a:ext cx="2834640" cy="475488"/>
          </a:xfrm>
          <a:prstGeom prst="rect">
            <a:avLst/>
          </a:prstGeom>
          <a:noFill/>
          <a:ln/>
        </p:spPr>
        <p:txBody>
          <a:bodyPr wrap="square" rtlCol="0" anchor="ctr"/>
          <a:lstStyle/>
          <a:p>
            <a:pPr marL="0" indent="0">
              <a:buNone/>
            </a:pPr>
            <a:r>
              <a:rPr lang="en-US" sz="1150" dirty="0">
                <a:solidFill>
                  <a:srgbClr val="CBD5E1"/>
                </a:solidFill>
                <a:latin typeface="Calibri" pitchFamily="34" charset="0"/>
                <a:ea typeface="Calibri" pitchFamily="34" charset="-122"/>
                <a:cs typeface="Calibri" pitchFamily="34" charset="-120"/>
              </a:rPr>
              <a:t>Stateless (no memory)</a:t>
            </a:r>
            <a:endParaRPr lang="en-US" sz="1150" dirty="0"/>
          </a:p>
        </p:txBody>
      </p:sp>
      <p:sp>
        <p:nvSpPr>
          <p:cNvPr id="20" name="Shape 18"/>
          <p:cNvSpPr/>
          <p:nvPr/>
        </p:nvSpPr>
        <p:spPr>
          <a:xfrm>
            <a:off x="5577840" y="1673352"/>
            <a:ext cx="3017520" cy="475488"/>
          </a:xfrm>
          <a:prstGeom prst="rect">
            <a:avLst/>
          </a:prstGeom>
          <a:solidFill>
            <a:srgbClr val="1E293B"/>
          </a:solidFill>
          <a:ln w="6350">
            <a:solidFill>
              <a:srgbClr val="0369A1"/>
            </a:solidFill>
            <a:prstDash val="solid"/>
          </a:ln>
        </p:spPr>
        <p:txBody>
          <a:bodyPr/>
          <a:lstStyle/>
          <a:p>
            <a:endParaRPr lang="en-IN"/>
          </a:p>
        </p:txBody>
      </p:sp>
      <p:sp>
        <p:nvSpPr>
          <p:cNvPr id="21" name="Text 19"/>
          <p:cNvSpPr/>
          <p:nvPr/>
        </p:nvSpPr>
        <p:spPr>
          <a:xfrm>
            <a:off x="5669280" y="1673352"/>
            <a:ext cx="2834640" cy="475488"/>
          </a:xfrm>
          <a:prstGeom prst="rect">
            <a:avLst/>
          </a:prstGeom>
          <a:noFill/>
          <a:ln/>
        </p:spPr>
        <p:txBody>
          <a:bodyPr wrap="square" rtlCol="0" anchor="ctr"/>
          <a:lstStyle/>
          <a:p>
            <a:pPr marL="0" indent="0">
              <a:buNone/>
            </a:pPr>
            <a:r>
              <a:rPr lang="en-US" sz="1150" dirty="0">
                <a:solidFill>
                  <a:srgbClr val="06B6D4"/>
                </a:solidFill>
                <a:latin typeface="Calibri" pitchFamily="34" charset="0"/>
                <a:ea typeface="Calibri" pitchFamily="34" charset="-122"/>
                <a:cs typeface="Calibri" pitchFamily="34" charset="-120"/>
              </a:rPr>
              <a:t>Stateful (short/long-term)</a:t>
            </a:r>
            <a:endParaRPr lang="en-US" sz="1150" dirty="0"/>
          </a:p>
        </p:txBody>
      </p:sp>
      <p:sp>
        <p:nvSpPr>
          <p:cNvPr id="22" name="Shape 20"/>
          <p:cNvSpPr/>
          <p:nvPr/>
        </p:nvSpPr>
        <p:spPr>
          <a:xfrm>
            <a:off x="274320" y="2167128"/>
            <a:ext cx="2286000" cy="475488"/>
          </a:xfrm>
          <a:prstGeom prst="rect">
            <a:avLst/>
          </a:prstGeom>
          <a:solidFill>
            <a:srgbClr val="172032"/>
          </a:solidFill>
          <a:ln w="6350">
            <a:solidFill>
              <a:srgbClr val="0369A1"/>
            </a:solidFill>
            <a:prstDash val="solid"/>
          </a:ln>
        </p:spPr>
        <p:txBody>
          <a:bodyPr/>
          <a:lstStyle/>
          <a:p>
            <a:endParaRPr lang="en-IN"/>
          </a:p>
        </p:txBody>
      </p:sp>
      <p:sp>
        <p:nvSpPr>
          <p:cNvPr id="23" name="Text 21"/>
          <p:cNvSpPr/>
          <p:nvPr/>
        </p:nvSpPr>
        <p:spPr>
          <a:xfrm>
            <a:off x="365760" y="2167128"/>
            <a:ext cx="2103120" cy="475488"/>
          </a:xfrm>
          <a:prstGeom prst="rect">
            <a:avLst/>
          </a:prstGeom>
          <a:noFill/>
          <a:ln/>
        </p:spPr>
        <p:txBody>
          <a:bodyPr wrap="square" rtlCol="0" anchor="ctr"/>
          <a:lstStyle/>
          <a:p>
            <a:pPr marL="0" indent="0">
              <a:buNone/>
            </a:pPr>
            <a:r>
              <a:rPr lang="en-US" sz="1150" b="1" dirty="0">
                <a:solidFill>
                  <a:srgbClr val="F59E0B"/>
                </a:solidFill>
                <a:latin typeface="Calibri" pitchFamily="34" charset="0"/>
                <a:ea typeface="Calibri" pitchFamily="34" charset="-122"/>
                <a:cs typeface="Calibri" pitchFamily="34" charset="-120"/>
              </a:rPr>
              <a:t>Tool Use</a:t>
            </a:r>
            <a:endParaRPr lang="en-US" sz="1150" dirty="0"/>
          </a:p>
        </p:txBody>
      </p:sp>
      <p:sp>
        <p:nvSpPr>
          <p:cNvPr id="24" name="Shape 22"/>
          <p:cNvSpPr/>
          <p:nvPr/>
        </p:nvSpPr>
        <p:spPr>
          <a:xfrm>
            <a:off x="2560320" y="2167128"/>
            <a:ext cx="3017520" cy="475488"/>
          </a:xfrm>
          <a:prstGeom prst="rect">
            <a:avLst/>
          </a:prstGeom>
          <a:solidFill>
            <a:srgbClr val="172032"/>
          </a:solidFill>
          <a:ln w="6350">
            <a:solidFill>
              <a:srgbClr val="0369A1"/>
            </a:solidFill>
            <a:prstDash val="solid"/>
          </a:ln>
        </p:spPr>
        <p:txBody>
          <a:bodyPr/>
          <a:lstStyle/>
          <a:p>
            <a:endParaRPr lang="en-IN"/>
          </a:p>
        </p:txBody>
      </p:sp>
      <p:sp>
        <p:nvSpPr>
          <p:cNvPr id="25" name="Text 23"/>
          <p:cNvSpPr/>
          <p:nvPr/>
        </p:nvSpPr>
        <p:spPr>
          <a:xfrm>
            <a:off x="2651760" y="2167128"/>
            <a:ext cx="2834640" cy="475488"/>
          </a:xfrm>
          <a:prstGeom prst="rect">
            <a:avLst/>
          </a:prstGeom>
          <a:noFill/>
          <a:ln/>
        </p:spPr>
        <p:txBody>
          <a:bodyPr wrap="square" rtlCol="0" anchor="ctr"/>
          <a:lstStyle/>
          <a:p>
            <a:pPr marL="0" indent="0">
              <a:buNone/>
            </a:pPr>
            <a:r>
              <a:rPr lang="en-US" sz="1150" dirty="0">
                <a:solidFill>
                  <a:srgbClr val="CBD5E1"/>
                </a:solidFill>
                <a:latin typeface="Calibri" pitchFamily="34" charset="0"/>
                <a:ea typeface="Calibri" pitchFamily="34" charset="-122"/>
                <a:cs typeface="Calibri" pitchFamily="34" charset="-120"/>
              </a:rPr>
              <a:t>None (text only)</a:t>
            </a:r>
            <a:endParaRPr lang="en-US" sz="1150" dirty="0"/>
          </a:p>
        </p:txBody>
      </p:sp>
      <p:sp>
        <p:nvSpPr>
          <p:cNvPr id="26" name="Shape 24"/>
          <p:cNvSpPr/>
          <p:nvPr/>
        </p:nvSpPr>
        <p:spPr>
          <a:xfrm>
            <a:off x="5577840" y="2167128"/>
            <a:ext cx="3017520" cy="475488"/>
          </a:xfrm>
          <a:prstGeom prst="rect">
            <a:avLst/>
          </a:prstGeom>
          <a:solidFill>
            <a:srgbClr val="172032"/>
          </a:solidFill>
          <a:ln w="6350">
            <a:solidFill>
              <a:srgbClr val="0369A1"/>
            </a:solidFill>
            <a:prstDash val="solid"/>
          </a:ln>
        </p:spPr>
        <p:txBody>
          <a:bodyPr/>
          <a:lstStyle/>
          <a:p>
            <a:endParaRPr lang="en-IN"/>
          </a:p>
        </p:txBody>
      </p:sp>
      <p:sp>
        <p:nvSpPr>
          <p:cNvPr id="27" name="Text 25"/>
          <p:cNvSpPr/>
          <p:nvPr/>
        </p:nvSpPr>
        <p:spPr>
          <a:xfrm>
            <a:off x="5669280" y="2167128"/>
            <a:ext cx="2834640" cy="475488"/>
          </a:xfrm>
          <a:prstGeom prst="rect">
            <a:avLst/>
          </a:prstGeom>
          <a:noFill/>
          <a:ln/>
        </p:spPr>
        <p:txBody>
          <a:bodyPr wrap="square" rtlCol="0" anchor="ctr"/>
          <a:lstStyle/>
          <a:p>
            <a:pPr marL="0" indent="0">
              <a:buNone/>
            </a:pPr>
            <a:r>
              <a:rPr lang="en-US" sz="1150" dirty="0">
                <a:solidFill>
                  <a:srgbClr val="06B6D4"/>
                </a:solidFill>
                <a:latin typeface="Calibri" pitchFamily="34" charset="0"/>
                <a:ea typeface="Calibri" pitchFamily="34" charset="-122"/>
                <a:cs typeface="Calibri" pitchFamily="34" charset="-120"/>
              </a:rPr>
              <a:t>Yes (APIs, DBs, search)</a:t>
            </a:r>
            <a:endParaRPr lang="en-US" sz="1150" dirty="0"/>
          </a:p>
        </p:txBody>
      </p:sp>
      <p:sp>
        <p:nvSpPr>
          <p:cNvPr id="28" name="Shape 26"/>
          <p:cNvSpPr/>
          <p:nvPr/>
        </p:nvSpPr>
        <p:spPr>
          <a:xfrm>
            <a:off x="274320" y="2660904"/>
            <a:ext cx="2286000" cy="475488"/>
          </a:xfrm>
          <a:prstGeom prst="rect">
            <a:avLst/>
          </a:prstGeom>
          <a:solidFill>
            <a:srgbClr val="1E293B"/>
          </a:solidFill>
          <a:ln w="6350">
            <a:solidFill>
              <a:srgbClr val="0369A1"/>
            </a:solidFill>
            <a:prstDash val="solid"/>
          </a:ln>
        </p:spPr>
        <p:txBody>
          <a:bodyPr/>
          <a:lstStyle/>
          <a:p>
            <a:endParaRPr lang="en-IN"/>
          </a:p>
        </p:txBody>
      </p:sp>
      <p:sp>
        <p:nvSpPr>
          <p:cNvPr id="29" name="Text 27"/>
          <p:cNvSpPr/>
          <p:nvPr/>
        </p:nvSpPr>
        <p:spPr>
          <a:xfrm>
            <a:off x="365760" y="2660904"/>
            <a:ext cx="2103120" cy="475488"/>
          </a:xfrm>
          <a:prstGeom prst="rect">
            <a:avLst/>
          </a:prstGeom>
          <a:noFill/>
          <a:ln/>
        </p:spPr>
        <p:txBody>
          <a:bodyPr wrap="square" rtlCol="0" anchor="ctr"/>
          <a:lstStyle/>
          <a:p>
            <a:pPr marL="0" indent="0">
              <a:buNone/>
            </a:pPr>
            <a:r>
              <a:rPr lang="en-US" sz="1150" b="1" dirty="0">
                <a:solidFill>
                  <a:srgbClr val="F59E0B"/>
                </a:solidFill>
                <a:latin typeface="Calibri" pitchFamily="34" charset="0"/>
                <a:ea typeface="Calibri" pitchFamily="34" charset="-122"/>
                <a:cs typeface="Calibri" pitchFamily="34" charset="-120"/>
              </a:rPr>
              <a:t>Planning</a:t>
            </a:r>
            <a:endParaRPr lang="en-US" sz="1150" dirty="0"/>
          </a:p>
        </p:txBody>
      </p:sp>
      <p:sp>
        <p:nvSpPr>
          <p:cNvPr id="30" name="Shape 28"/>
          <p:cNvSpPr/>
          <p:nvPr/>
        </p:nvSpPr>
        <p:spPr>
          <a:xfrm>
            <a:off x="2560320" y="2660904"/>
            <a:ext cx="3017520" cy="475488"/>
          </a:xfrm>
          <a:prstGeom prst="rect">
            <a:avLst/>
          </a:prstGeom>
          <a:solidFill>
            <a:srgbClr val="1E293B"/>
          </a:solidFill>
          <a:ln w="6350">
            <a:solidFill>
              <a:srgbClr val="0369A1"/>
            </a:solidFill>
            <a:prstDash val="solid"/>
          </a:ln>
        </p:spPr>
        <p:txBody>
          <a:bodyPr/>
          <a:lstStyle/>
          <a:p>
            <a:endParaRPr lang="en-IN"/>
          </a:p>
        </p:txBody>
      </p:sp>
      <p:sp>
        <p:nvSpPr>
          <p:cNvPr id="31" name="Text 29"/>
          <p:cNvSpPr/>
          <p:nvPr/>
        </p:nvSpPr>
        <p:spPr>
          <a:xfrm>
            <a:off x="2651760" y="2660904"/>
            <a:ext cx="2834640" cy="475488"/>
          </a:xfrm>
          <a:prstGeom prst="rect">
            <a:avLst/>
          </a:prstGeom>
          <a:noFill/>
          <a:ln/>
        </p:spPr>
        <p:txBody>
          <a:bodyPr wrap="square" rtlCol="0" anchor="ctr"/>
          <a:lstStyle/>
          <a:p>
            <a:pPr marL="0" indent="0">
              <a:buNone/>
            </a:pPr>
            <a:r>
              <a:rPr lang="en-US" sz="1150" dirty="0">
                <a:solidFill>
                  <a:srgbClr val="CBD5E1"/>
                </a:solidFill>
                <a:latin typeface="Calibri" pitchFamily="34" charset="0"/>
                <a:ea typeface="Calibri" pitchFamily="34" charset="-122"/>
                <a:cs typeface="Calibri" pitchFamily="34" charset="-120"/>
              </a:rPr>
              <a:t>Single response</a:t>
            </a:r>
            <a:endParaRPr lang="en-US" sz="1150" dirty="0"/>
          </a:p>
        </p:txBody>
      </p:sp>
      <p:sp>
        <p:nvSpPr>
          <p:cNvPr id="32" name="Shape 30"/>
          <p:cNvSpPr/>
          <p:nvPr/>
        </p:nvSpPr>
        <p:spPr>
          <a:xfrm>
            <a:off x="5577840" y="2660904"/>
            <a:ext cx="3017520" cy="475488"/>
          </a:xfrm>
          <a:prstGeom prst="rect">
            <a:avLst/>
          </a:prstGeom>
          <a:solidFill>
            <a:srgbClr val="1E293B"/>
          </a:solidFill>
          <a:ln w="6350">
            <a:solidFill>
              <a:srgbClr val="0369A1"/>
            </a:solidFill>
            <a:prstDash val="solid"/>
          </a:ln>
        </p:spPr>
        <p:txBody>
          <a:bodyPr/>
          <a:lstStyle/>
          <a:p>
            <a:endParaRPr lang="en-IN"/>
          </a:p>
        </p:txBody>
      </p:sp>
      <p:sp>
        <p:nvSpPr>
          <p:cNvPr id="33" name="Text 31"/>
          <p:cNvSpPr/>
          <p:nvPr/>
        </p:nvSpPr>
        <p:spPr>
          <a:xfrm>
            <a:off x="5669280" y="2660904"/>
            <a:ext cx="2834640" cy="475488"/>
          </a:xfrm>
          <a:prstGeom prst="rect">
            <a:avLst/>
          </a:prstGeom>
          <a:noFill/>
          <a:ln/>
        </p:spPr>
        <p:txBody>
          <a:bodyPr wrap="square" rtlCol="0" anchor="ctr"/>
          <a:lstStyle/>
          <a:p>
            <a:pPr marL="0" indent="0">
              <a:buNone/>
            </a:pPr>
            <a:r>
              <a:rPr lang="en-US" sz="1150" dirty="0">
                <a:solidFill>
                  <a:srgbClr val="06B6D4"/>
                </a:solidFill>
                <a:latin typeface="Calibri" pitchFamily="34" charset="0"/>
                <a:ea typeface="Calibri" pitchFamily="34" charset="-122"/>
                <a:cs typeface="Calibri" pitchFamily="34" charset="-120"/>
              </a:rPr>
              <a:t>Multi-step planning</a:t>
            </a:r>
            <a:endParaRPr lang="en-US" sz="1150" dirty="0"/>
          </a:p>
        </p:txBody>
      </p:sp>
      <p:sp>
        <p:nvSpPr>
          <p:cNvPr id="34" name="Shape 32"/>
          <p:cNvSpPr/>
          <p:nvPr/>
        </p:nvSpPr>
        <p:spPr>
          <a:xfrm>
            <a:off x="274320" y="3154680"/>
            <a:ext cx="2286000" cy="475488"/>
          </a:xfrm>
          <a:prstGeom prst="rect">
            <a:avLst/>
          </a:prstGeom>
          <a:solidFill>
            <a:srgbClr val="172032"/>
          </a:solidFill>
          <a:ln w="6350">
            <a:solidFill>
              <a:srgbClr val="0369A1"/>
            </a:solidFill>
            <a:prstDash val="solid"/>
          </a:ln>
        </p:spPr>
        <p:txBody>
          <a:bodyPr/>
          <a:lstStyle/>
          <a:p>
            <a:endParaRPr lang="en-IN"/>
          </a:p>
        </p:txBody>
      </p:sp>
      <p:sp>
        <p:nvSpPr>
          <p:cNvPr id="35" name="Text 33"/>
          <p:cNvSpPr/>
          <p:nvPr/>
        </p:nvSpPr>
        <p:spPr>
          <a:xfrm>
            <a:off x="365760" y="3154680"/>
            <a:ext cx="2103120" cy="475488"/>
          </a:xfrm>
          <a:prstGeom prst="rect">
            <a:avLst/>
          </a:prstGeom>
          <a:noFill/>
          <a:ln/>
        </p:spPr>
        <p:txBody>
          <a:bodyPr wrap="square" rtlCol="0" anchor="ctr"/>
          <a:lstStyle/>
          <a:p>
            <a:pPr marL="0" indent="0">
              <a:buNone/>
            </a:pPr>
            <a:r>
              <a:rPr lang="en-US" sz="1150" b="1" dirty="0">
                <a:solidFill>
                  <a:srgbClr val="F59E0B"/>
                </a:solidFill>
                <a:latin typeface="Calibri" pitchFamily="34" charset="0"/>
                <a:ea typeface="Calibri" pitchFamily="34" charset="-122"/>
                <a:cs typeface="Calibri" pitchFamily="34" charset="-120"/>
              </a:rPr>
              <a:t>Autonomy</a:t>
            </a:r>
            <a:endParaRPr lang="en-US" sz="1150" dirty="0"/>
          </a:p>
        </p:txBody>
      </p:sp>
      <p:sp>
        <p:nvSpPr>
          <p:cNvPr id="36" name="Shape 34"/>
          <p:cNvSpPr/>
          <p:nvPr/>
        </p:nvSpPr>
        <p:spPr>
          <a:xfrm>
            <a:off x="2560320" y="3154680"/>
            <a:ext cx="3017520" cy="475488"/>
          </a:xfrm>
          <a:prstGeom prst="rect">
            <a:avLst/>
          </a:prstGeom>
          <a:solidFill>
            <a:srgbClr val="172032"/>
          </a:solidFill>
          <a:ln w="6350">
            <a:solidFill>
              <a:srgbClr val="0369A1"/>
            </a:solidFill>
            <a:prstDash val="solid"/>
          </a:ln>
        </p:spPr>
        <p:txBody>
          <a:bodyPr/>
          <a:lstStyle/>
          <a:p>
            <a:endParaRPr lang="en-IN"/>
          </a:p>
        </p:txBody>
      </p:sp>
      <p:sp>
        <p:nvSpPr>
          <p:cNvPr id="37" name="Text 35"/>
          <p:cNvSpPr/>
          <p:nvPr/>
        </p:nvSpPr>
        <p:spPr>
          <a:xfrm>
            <a:off x="2651760" y="3154680"/>
            <a:ext cx="2834640" cy="475488"/>
          </a:xfrm>
          <a:prstGeom prst="rect">
            <a:avLst/>
          </a:prstGeom>
          <a:noFill/>
          <a:ln/>
        </p:spPr>
        <p:txBody>
          <a:bodyPr wrap="square" rtlCol="0" anchor="ctr"/>
          <a:lstStyle/>
          <a:p>
            <a:pPr marL="0" indent="0">
              <a:buNone/>
            </a:pPr>
            <a:r>
              <a:rPr lang="en-US" sz="1150" dirty="0">
                <a:solidFill>
                  <a:srgbClr val="CBD5E1"/>
                </a:solidFill>
                <a:latin typeface="Calibri" pitchFamily="34" charset="0"/>
                <a:ea typeface="Calibri" pitchFamily="34" charset="-122"/>
                <a:cs typeface="Calibri" pitchFamily="34" charset="-120"/>
              </a:rPr>
              <a:t>Human-driven</a:t>
            </a:r>
            <a:endParaRPr lang="en-US" sz="1150" dirty="0"/>
          </a:p>
        </p:txBody>
      </p:sp>
      <p:sp>
        <p:nvSpPr>
          <p:cNvPr id="38" name="Shape 36"/>
          <p:cNvSpPr/>
          <p:nvPr/>
        </p:nvSpPr>
        <p:spPr>
          <a:xfrm>
            <a:off x="5577840" y="3154680"/>
            <a:ext cx="3017520" cy="475488"/>
          </a:xfrm>
          <a:prstGeom prst="rect">
            <a:avLst/>
          </a:prstGeom>
          <a:solidFill>
            <a:srgbClr val="172032"/>
          </a:solidFill>
          <a:ln w="6350">
            <a:solidFill>
              <a:srgbClr val="0369A1"/>
            </a:solidFill>
            <a:prstDash val="solid"/>
          </a:ln>
        </p:spPr>
        <p:txBody>
          <a:bodyPr/>
          <a:lstStyle/>
          <a:p>
            <a:endParaRPr lang="en-IN"/>
          </a:p>
        </p:txBody>
      </p:sp>
      <p:sp>
        <p:nvSpPr>
          <p:cNvPr id="39" name="Text 37"/>
          <p:cNvSpPr/>
          <p:nvPr/>
        </p:nvSpPr>
        <p:spPr>
          <a:xfrm>
            <a:off x="5669280" y="3154680"/>
            <a:ext cx="2834640" cy="475488"/>
          </a:xfrm>
          <a:prstGeom prst="rect">
            <a:avLst/>
          </a:prstGeom>
          <a:noFill/>
          <a:ln/>
        </p:spPr>
        <p:txBody>
          <a:bodyPr wrap="square" rtlCol="0" anchor="ctr"/>
          <a:lstStyle/>
          <a:p>
            <a:pPr marL="0" indent="0">
              <a:buNone/>
            </a:pPr>
            <a:r>
              <a:rPr lang="en-US" sz="1150" dirty="0">
                <a:solidFill>
                  <a:srgbClr val="06B6D4"/>
                </a:solidFill>
                <a:latin typeface="Calibri" pitchFamily="34" charset="0"/>
                <a:ea typeface="Calibri" pitchFamily="34" charset="-122"/>
                <a:cs typeface="Calibri" pitchFamily="34" charset="-120"/>
              </a:rPr>
              <a:t>Self-directed</a:t>
            </a:r>
            <a:endParaRPr lang="en-US" sz="1150" dirty="0"/>
          </a:p>
        </p:txBody>
      </p:sp>
      <p:sp>
        <p:nvSpPr>
          <p:cNvPr id="40" name="Shape 38"/>
          <p:cNvSpPr/>
          <p:nvPr/>
        </p:nvSpPr>
        <p:spPr>
          <a:xfrm>
            <a:off x="274320" y="3648456"/>
            <a:ext cx="2286000" cy="475488"/>
          </a:xfrm>
          <a:prstGeom prst="rect">
            <a:avLst/>
          </a:prstGeom>
          <a:solidFill>
            <a:srgbClr val="1E293B"/>
          </a:solidFill>
          <a:ln w="6350">
            <a:solidFill>
              <a:srgbClr val="0369A1"/>
            </a:solidFill>
            <a:prstDash val="solid"/>
          </a:ln>
        </p:spPr>
        <p:txBody>
          <a:bodyPr/>
          <a:lstStyle/>
          <a:p>
            <a:endParaRPr lang="en-IN"/>
          </a:p>
        </p:txBody>
      </p:sp>
      <p:sp>
        <p:nvSpPr>
          <p:cNvPr id="41" name="Text 39"/>
          <p:cNvSpPr/>
          <p:nvPr/>
        </p:nvSpPr>
        <p:spPr>
          <a:xfrm>
            <a:off x="365760" y="3648456"/>
            <a:ext cx="2103120" cy="475488"/>
          </a:xfrm>
          <a:prstGeom prst="rect">
            <a:avLst/>
          </a:prstGeom>
          <a:noFill/>
          <a:ln/>
        </p:spPr>
        <p:txBody>
          <a:bodyPr wrap="square" rtlCol="0" anchor="ctr"/>
          <a:lstStyle/>
          <a:p>
            <a:pPr marL="0" indent="0">
              <a:buNone/>
            </a:pPr>
            <a:r>
              <a:rPr lang="en-US" sz="1150" b="1" dirty="0">
                <a:solidFill>
                  <a:srgbClr val="F59E0B"/>
                </a:solidFill>
                <a:latin typeface="Calibri" pitchFamily="34" charset="0"/>
                <a:ea typeface="Calibri" pitchFamily="34" charset="-122"/>
                <a:cs typeface="Calibri" pitchFamily="34" charset="-120"/>
              </a:rPr>
              <a:t>Reasoning</a:t>
            </a:r>
            <a:endParaRPr lang="en-US" sz="1150" dirty="0"/>
          </a:p>
        </p:txBody>
      </p:sp>
      <p:sp>
        <p:nvSpPr>
          <p:cNvPr id="42" name="Shape 40"/>
          <p:cNvSpPr/>
          <p:nvPr/>
        </p:nvSpPr>
        <p:spPr>
          <a:xfrm>
            <a:off x="2560320" y="3648456"/>
            <a:ext cx="3017520" cy="475488"/>
          </a:xfrm>
          <a:prstGeom prst="rect">
            <a:avLst/>
          </a:prstGeom>
          <a:solidFill>
            <a:srgbClr val="1E293B"/>
          </a:solidFill>
          <a:ln w="6350">
            <a:solidFill>
              <a:srgbClr val="0369A1"/>
            </a:solidFill>
            <a:prstDash val="solid"/>
          </a:ln>
        </p:spPr>
        <p:txBody>
          <a:bodyPr/>
          <a:lstStyle/>
          <a:p>
            <a:endParaRPr lang="en-IN"/>
          </a:p>
        </p:txBody>
      </p:sp>
      <p:sp>
        <p:nvSpPr>
          <p:cNvPr id="43" name="Text 41"/>
          <p:cNvSpPr/>
          <p:nvPr/>
        </p:nvSpPr>
        <p:spPr>
          <a:xfrm>
            <a:off x="2651760" y="3648456"/>
            <a:ext cx="2834640" cy="475488"/>
          </a:xfrm>
          <a:prstGeom prst="rect">
            <a:avLst/>
          </a:prstGeom>
          <a:noFill/>
          <a:ln/>
        </p:spPr>
        <p:txBody>
          <a:bodyPr wrap="square" rtlCol="0" anchor="ctr"/>
          <a:lstStyle/>
          <a:p>
            <a:pPr marL="0" indent="0">
              <a:buNone/>
            </a:pPr>
            <a:r>
              <a:rPr lang="en-US" sz="1150" dirty="0">
                <a:solidFill>
                  <a:srgbClr val="CBD5E1"/>
                </a:solidFill>
                <a:latin typeface="Calibri" pitchFamily="34" charset="0"/>
                <a:ea typeface="Calibri" pitchFamily="34" charset="-122"/>
                <a:cs typeface="Calibri" pitchFamily="34" charset="-120"/>
              </a:rPr>
              <a:t>Single inference</a:t>
            </a:r>
            <a:endParaRPr lang="en-US" sz="1150" dirty="0"/>
          </a:p>
        </p:txBody>
      </p:sp>
      <p:sp>
        <p:nvSpPr>
          <p:cNvPr id="44" name="Shape 42"/>
          <p:cNvSpPr/>
          <p:nvPr/>
        </p:nvSpPr>
        <p:spPr>
          <a:xfrm>
            <a:off x="5577840" y="3648456"/>
            <a:ext cx="3017520" cy="475488"/>
          </a:xfrm>
          <a:prstGeom prst="rect">
            <a:avLst/>
          </a:prstGeom>
          <a:solidFill>
            <a:srgbClr val="1E293B"/>
          </a:solidFill>
          <a:ln w="6350">
            <a:solidFill>
              <a:srgbClr val="0369A1"/>
            </a:solidFill>
            <a:prstDash val="solid"/>
          </a:ln>
        </p:spPr>
        <p:txBody>
          <a:bodyPr/>
          <a:lstStyle/>
          <a:p>
            <a:endParaRPr lang="en-IN"/>
          </a:p>
        </p:txBody>
      </p:sp>
      <p:sp>
        <p:nvSpPr>
          <p:cNvPr id="45" name="Text 43"/>
          <p:cNvSpPr/>
          <p:nvPr/>
        </p:nvSpPr>
        <p:spPr>
          <a:xfrm>
            <a:off x="5669280" y="3648456"/>
            <a:ext cx="2834640" cy="475488"/>
          </a:xfrm>
          <a:prstGeom prst="rect">
            <a:avLst/>
          </a:prstGeom>
          <a:noFill/>
          <a:ln/>
        </p:spPr>
        <p:txBody>
          <a:bodyPr wrap="square" rtlCol="0" anchor="ctr"/>
          <a:lstStyle/>
          <a:p>
            <a:pPr marL="0" indent="0">
              <a:buNone/>
            </a:pPr>
            <a:r>
              <a:rPr lang="en-US" sz="1150" dirty="0">
                <a:solidFill>
                  <a:srgbClr val="06B6D4"/>
                </a:solidFill>
                <a:latin typeface="Calibri" pitchFamily="34" charset="0"/>
                <a:ea typeface="Calibri" pitchFamily="34" charset="-122"/>
                <a:cs typeface="Calibri" pitchFamily="34" charset="-120"/>
              </a:rPr>
              <a:t>Iterative reasoning loop</a:t>
            </a:r>
            <a:endParaRPr lang="en-US" sz="1150" dirty="0"/>
          </a:p>
        </p:txBody>
      </p:sp>
      <p:sp>
        <p:nvSpPr>
          <p:cNvPr id="46" name="Shape 44"/>
          <p:cNvSpPr/>
          <p:nvPr/>
        </p:nvSpPr>
        <p:spPr>
          <a:xfrm>
            <a:off x="274320" y="4142232"/>
            <a:ext cx="2286000" cy="475488"/>
          </a:xfrm>
          <a:prstGeom prst="rect">
            <a:avLst/>
          </a:prstGeom>
          <a:solidFill>
            <a:srgbClr val="172032"/>
          </a:solidFill>
          <a:ln w="6350">
            <a:solidFill>
              <a:srgbClr val="0369A1"/>
            </a:solidFill>
            <a:prstDash val="solid"/>
          </a:ln>
        </p:spPr>
        <p:txBody>
          <a:bodyPr/>
          <a:lstStyle/>
          <a:p>
            <a:endParaRPr lang="en-IN"/>
          </a:p>
        </p:txBody>
      </p:sp>
      <p:sp>
        <p:nvSpPr>
          <p:cNvPr id="47" name="Text 45"/>
          <p:cNvSpPr/>
          <p:nvPr/>
        </p:nvSpPr>
        <p:spPr>
          <a:xfrm>
            <a:off x="365760" y="4142232"/>
            <a:ext cx="2103120" cy="475488"/>
          </a:xfrm>
          <a:prstGeom prst="rect">
            <a:avLst/>
          </a:prstGeom>
          <a:noFill/>
          <a:ln/>
        </p:spPr>
        <p:txBody>
          <a:bodyPr wrap="square" rtlCol="0" anchor="ctr"/>
          <a:lstStyle/>
          <a:p>
            <a:pPr marL="0" indent="0">
              <a:buNone/>
            </a:pPr>
            <a:r>
              <a:rPr lang="en-US" sz="1150" b="1" dirty="0">
                <a:solidFill>
                  <a:srgbClr val="F59E0B"/>
                </a:solidFill>
                <a:latin typeface="Calibri" pitchFamily="34" charset="0"/>
                <a:ea typeface="Calibri" pitchFamily="34" charset="-122"/>
                <a:cs typeface="Calibri" pitchFamily="34" charset="-120"/>
              </a:rPr>
              <a:t>Loop Type</a:t>
            </a:r>
            <a:endParaRPr lang="en-US" sz="1150" dirty="0"/>
          </a:p>
        </p:txBody>
      </p:sp>
      <p:sp>
        <p:nvSpPr>
          <p:cNvPr id="48" name="Shape 46"/>
          <p:cNvSpPr/>
          <p:nvPr/>
        </p:nvSpPr>
        <p:spPr>
          <a:xfrm>
            <a:off x="2560320" y="4142232"/>
            <a:ext cx="3017520" cy="475488"/>
          </a:xfrm>
          <a:prstGeom prst="rect">
            <a:avLst/>
          </a:prstGeom>
          <a:solidFill>
            <a:srgbClr val="172032"/>
          </a:solidFill>
          <a:ln w="6350">
            <a:solidFill>
              <a:srgbClr val="0369A1"/>
            </a:solidFill>
            <a:prstDash val="solid"/>
          </a:ln>
        </p:spPr>
        <p:txBody>
          <a:bodyPr/>
          <a:lstStyle/>
          <a:p>
            <a:endParaRPr lang="en-IN"/>
          </a:p>
        </p:txBody>
      </p:sp>
      <p:sp>
        <p:nvSpPr>
          <p:cNvPr id="49" name="Text 47"/>
          <p:cNvSpPr/>
          <p:nvPr/>
        </p:nvSpPr>
        <p:spPr>
          <a:xfrm>
            <a:off x="2651760" y="4142232"/>
            <a:ext cx="2834640" cy="475488"/>
          </a:xfrm>
          <a:prstGeom prst="rect">
            <a:avLst/>
          </a:prstGeom>
          <a:noFill/>
          <a:ln/>
        </p:spPr>
        <p:txBody>
          <a:bodyPr wrap="square" rtlCol="0" anchor="ctr"/>
          <a:lstStyle/>
          <a:p>
            <a:pPr marL="0" indent="0">
              <a:buNone/>
            </a:pPr>
            <a:r>
              <a:rPr lang="en-US" sz="1150" dirty="0">
                <a:solidFill>
                  <a:srgbClr val="CBD5E1"/>
                </a:solidFill>
                <a:latin typeface="Calibri" pitchFamily="34" charset="0"/>
                <a:ea typeface="Calibri" pitchFamily="34" charset="-122"/>
                <a:cs typeface="Calibri" pitchFamily="34" charset="-120"/>
              </a:rPr>
              <a:t>One-shot</a:t>
            </a:r>
            <a:endParaRPr lang="en-US" sz="1150" dirty="0"/>
          </a:p>
        </p:txBody>
      </p:sp>
      <p:sp>
        <p:nvSpPr>
          <p:cNvPr id="50" name="Shape 48"/>
          <p:cNvSpPr/>
          <p:nvPr/>
        </p:nvSpPr>
        <p:spPr>
          <a:xfrm>
            <a:off x="5577840" y="4142232"/>
            <a:ext cx="3017520" cy="475488"/>
          </a:xfrm>
          <a:prstGeom prst="rect">
            <a:avLst/>
          </a:prstGeom>
          <a:solidFill>
            <a:srgbClr val="172032"/>
          </a:solidFill>
          <a:ln w="6350">
            <a:solidFill>
              <a:srgbClr val="0369A1"/>
            </a:solidFill>
            <a:prstDash val="solid"/>
          </a:ln>
        </p:spPr>
        <p:txBody>
          <a:bodyPr/>
          <a:lstStyle/>
          <a:p>
            <a:endParaRPr lang="en-IN"/>
          </a:p>
        </p:txBody>
      </p:sp>
      <p:sp>
        <p:nvSpPr>
          <p:cNvPr id="51" name="Text 49"/>
          <p:cNvSpPr/>
          <p:nvPr/>
        </p:nvSpPr>
        <p:spPr>
          <a:xfrm>
            <a:off x="5669280" y="4142232"/>
            <a:ext cx="2834640" cy="475488"/>
          </a:xfrm>
          <a:prstGeom prst="rect">
            <a:avLst/>
          </a:prstGeom>
          <a:noFill/>
          <a:ln/>
        </p:spPr>
        <p:txBody>
          <a:bodyPr wrap="square" rtlCol="0" anchor="ctr"/>
          <a:lstStyle/>
          <a:p>
            <a:pPr marL="0" indent="0">
              <a:buNone/>
            </a:pPr>
            <a:r>
              <a:rPr lang="en-US" sz="1150" dirty="0">
                <a:solidFill>
                  <a:srgbClr val="06B6D4"/>
                </a:solidFill>
                <a:latin typeface="Calibri" pitchFamily="34" charset="0"/>
                <a:ea typeface="Calibri" pitchFamily="34" charset="-122"/>
                <a:cs typeface="Calibri" pitchFamily="34" charset="-120"/>
              </a:rPr>
              <a:t>Think → Act → Observe</a:t>
            </a:r>
            <a:endParaRPr lang="en-US" sz="1150" dirty="0"/>
          </a:p>
        </p:txBody>
      </p:sp>
      <p:sp>
        <p:nvSpPr>
          <p:cNvPr id="52" name="Shape 50"/>
          <p:cNvSpPr/>
          <p:nvPr/>
        </p:nvSpPr>
        <p:spPr>
          <a:xfrm>
            <a:off x="274320" y="4636008"/>
            <a:ext cx="2286000" cy="475488"/>
          </a:xfrm>
          <a:prstGeom prst="rect">
            <a:avLst/>
          </a:prstGeom>
          <a:solidFill>
            <a:srgbClr val="1E293B"/>
          </a:solidFill>
          <a:ln w="6350">
            <a:solidFill>
              <a:srgbClr val="0369A1"/>
            </a:solidFill>
            <a:prstDash val="solid"/>
          </a:ln>
        </p:spPr>
        <p:txBody>
          <a:bodyPr/>
          <a:lstStyle/>
          <a:p>
            <a:endParaRPr lang="en-IN"/>
          </a:p>
        </p:txBody>
      </p:sp>
      <p:sp>
        <p:nvSpPr>
          <p:cNvPr id="53" name="Text 51"/>
          <p:cNvSpPr/>
          <p:nvPr/>
        </p:nvSpPr>
        <p:spPr>
          <a:xfrm>
            <a:off x="365760" y="4636008"/>
            <a:ext cx="2103120" cy="475488"/>
          </a:xfrm>
          <a:prstGeom prst="rect">
            <a:avLst/>
          </a:prstGeom>
          <a:noFill/>
          <a:ln/>
        </p:spPr>
        <p:txBody>
          <a:bodyPr wrap="square" rtlCol="0" anchor="ctr"/>
          <a:lstStyle/>
          <a:p>
            <a:pPr marL="0" indent="0">
              <a:buNone/>
            </a:pPr>
            <a:r>
              <a:rPr lang="en-US" sz="1150" b="1" dirty="0">
                <a:solidFill>
                  <a:srgbClr val="F59E0B"/>
                </a:solidFill>
                <a:latin typeface="Calibri" pitchFamily="34" charset="0"/>
                <a:ea typeface="Calibri" pitchFamily="34" charset="-122"/>
                <a:cs typeface="Calibri" pitchFamily="34" charset="-120"/>
              </a:rPr>
              <a:t>Example</a:t>
            </a:r>
            <a:endParaRPr lang="en-US" sz="1150" dirty="0"/>
          </a:p>
        </p:txBody>
      </p:sp>
      <p:sp>
        <p:nvSpPr>
          <p:cNvPr id="54" name="Shape 52"/>
          <p:cNvSpPr/>
          <p:nvPr/>
        </p:nvSpPr>
        <p:spPr>
          <a:xfrm>
            <a:off x="2560320" y="4636008"/>
            <a:ext cx="3017520" cy="475488"/>
          </a:xfrm>
          <a:prstGeom prst="rect">
            <a:avLst/>
          </a:prstGeom>
          <a:solidFill>
            <a:srgbClr val="1E293B"/>
          </a:solidFill>
          <a:ln w="6350">
            <a:solidFill>
              <a:srgbClr val="0369A1"/>
            </a:solidFill>
            <a:prstDash val="solid"/>
          </a:ln>
        </p:spPr>
        <p:txBody>
          <a:bodyPr/>
          <a:lstStyle/>
          <a:p>
            <a:endParaRPr lang="en-IN"/>
          </a:p>
        </p:txBody>
      </p:sp>
      <p:sp>
        <p:nvSpPr>
          <p:cNvPr id="55" name="Text 53"/>
          <p:cNvSpPr/>
          <p:nvPr/>
        </p:nvSpPr>
        <p:spPr>
          <a:xfrm>
            <a:off x="2651760" y="4636008"/>
            <a:ext cx="2834640" cy="475488"/>
          </a:xfrm>
          <a:prstGeom prst="rect">
            <a:avLst/>
          </a:prstGeom>
          <a:noFill/>
          <a:ln/>
        </p:spPr>
        <p:txBody>
          <a:bodyPr wrap="square" rtlCol="0" anchor="ctr"/>
          <a:lstStyle/>
          <a:p>
            <a:pPr marL="0" indent="0">
              <a:buNone/>
            </a:pPr>
            <a:r>
              <a:rPr lang="en-US" sz="1150" dirty="0">
                <a:solidFill>
                  <a:srgbClr val="CBD5E1"/>
                </a:solidFill>
                <a:latin typeface="Calibri" pitchFamily="34" charset="0"/>
                <a:ea typeface="Calibri" pitchFamily="34" charset="-122"/>
                <a:cs typeface="Calibri" pitchFamily="34" charset="-120"/>
              </a:rPr>
              <a:t>ChatGPT answering Q</a:t>
            </a:r>
            <a:endParaRPr lang="en-US" sz="1150" dirty="0"/>
          </a:p>
        </p:txBody>
      </p:sp>
      <p:sp>
        <p:nvSpPr>
          <p:cNvPr id="56" name="Shape 54"/>
          <p:cNvSpPr/>
          <p:nvPr/>
        </p:nvSpPr>
        <p:spPr>
          <a:xfrm>
            <a:off x="5577840" y="4636008"/>
            <a:ext cx="3017520" cy="475488"/>
          </a:xfrm>
          <a:prstGeom prst="rect">
            <a:avLst/>
          </a:prstGeom>
          <a:solidFill>
            <a:srgbClr val="1E293B"/>
          </a:solidFill>
          <a:ln w="6350">
            <a:solidFill>
              <a:srgbClr val="0369A1"/>
            </a:solidFill>
            <a:prstDash val="solid"/>
          </a:ln>
        </p:spPr>
        <p:txBody>
          <a:bodyPr/>
          <a:lstStyle/>
          <a:p>
            <a:endParaRPr lang="en-IN"/>
          </a:p>
        </p:txBody>
      </p:sp>
      <p:sp>
        <p:nvSpPr>
          <p:cNvPr id="57" name="Text 55"/>
          <p:cNvSpPr/>
          <p:nvPr/>
        </p:nvSpPr>
        <p:spPr>
          <a:xfrm>
            <a:off x="5669280" y="4636008"/>
            <a:ext cx="2834640" cy="475488"/>
          </a:xfrm>
          <a:prstGeom prst="rect">
            <a:avLst/>
          </a:prstGeom>
          <a:noFill/>
          <a:ln/>
        </p:spPr>
        <p:txBody>
          <a:bodyPr wrap="square" rtlCol="0" anchor="ctr"/>
          <a:lstStyle/>
          <a:p>
            <a:pPr marL="0" indent="0">
              <a:buNone/>
            </a:pPr>
            <a:r>
              <a:rPr lang="en-US" sz="1150" dirty="0">
                <a:solidFill>
                  <a:srgbClr val="06B6D4"/>
                </a:solidFill>
                <a:latin typeface="Calibri" pitchFamily="34" charset="0"/>
                <a:ea typeface="Calibri" pitchFamily="34" charset="-122"/>
                <a:cs typeface="Calibri" pitchFamily="34" charset="-120"/>
              </a:rPr>
              <a:t>Agent booking a flight</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0B981"/>
          </a:solidFill>
          <a:ln w="12700">
            <a:solidFill>
              <a:srgbClr val="10B981"/>
            </a:solidFill>
            <a:prstDash val="solid"/>
          </a:ln>
        </p:spPr>
        <p:txBody>
          <a:bodyPr/>
          <a:lstStyle/>
          <a:p>
            <a:endParaRPr lang="en-IN"/>
          </a:p>
        </p:txBody>
      </p:sp>
      <p:sp>
        <p:nvSpPr>
          <p:cNvPr id="3" name="Text 1"/>
          <p:cNvSpPr/>
          <p:nvPr/>
        </p:nvSpPr>
        <p:spPr>
          <a:xfrm>
            <a:off x="365760" y="109728"/>
            <a:ext cx="8229600" cy="50292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How Agentic AI Works</a:t>
            </a:r>
            <a:endParaRPr lang="en-US" sz="2800" dirty="0"/>
          </a:p>
        </p:txBody>
      </p:sp>
      <p:sp>
        <p:nvSpPr>
          <p:cNvPr id="4" name="Text 2"/>
          <p:cNvSpPr/>
          <p:nvPr/>
        </p:nvSpPr>
        <p:spPr>
          <a:xfrm>
            <a:off x="365760" y="594360"/>
            <a:ext cx="8229600" cy="256032"/>
          </a:xfrm>
          <a:prstGeom prst="rect">
            <a:avLst/>
          </a:prstGeom>
          <a:noFill/>
          <a:ln/>
        </p:spPr>
        <p:txBody>
          <a:bodyPr wrap="square" rtlCol="0" anchor="ctr"/>
          <a:lstStyle/>
          <a:p>
            <a:pPr marL="0" indent="0">
              <a:buNone/>
            </a:pPr>
            <a:r>
              <a:rPr lang="en-US" sz="1300" i="1" dirty="0">
                <a:solidFill>
                  <a:srgbClr val="10B981"/>
                </a:solidFill>
                <a:latin typeface="Calibri" pitchFamily="34" charset="0"/>
                <a:ea typeface="Calibri" pitchFamily="34" charset="-122"/>
                <a:cs typeface="Calibri" pitchFamily="34" charset="-120"/>
              </a:rPr>
              <a:t>The Agent Execution Loop</a:t>
            </a:r>
            <a:endParaRPr lang="en-US" sz="1300" dirty="0"/>
          </a:p>
        </p:txBody>
      </p:sp>
      <p:sp>
        <p:nvSpPr>
          <p:cNvPr id="5" name="Shape 3"/>
          <p:cNvSpPr/>
          <p:nvPr/>
        </p:nvSpPr>
        <p:spPr>
          <a:xfrm>
            <a:off x="228600" y="1691640"/>
            <a:ext cx="1051560" cy="685800"/>
          </a:xfrm>
          <a:prstGeom prst="ellipse">
            <a:avLst/>
          </a:prstGeom>
          <a:solidFill>
            <a:srgbClr val="06B6D4"/>
          </a:solidFill>
          <a:ln w="12700">
            <a:solidFill>
              <a:srgbClr val="06B6D4"/>
            </a:solidFill>
            <a:prstDash val="solid"/>
          </a:ln>
        </p:spPr>
        <p:txBody>
          <a:bodyPr/>
          <a:lstStyle/>
          <a:p>
            <a:endParaRPr lang="en-IN"/>
          </a:p>
        </p:txBody>
      </p:sp>
      <p:sp>
        <p:nvSpPr>
          <p:cNvPr id="6" name="Text 4"/>
          <p:cNvSpPr/>
          <p:nvPr/>
        </p:nvSpPr>
        <p:spPr>
          <a:xfrm>
            <a:off x="228600" y="1691640"/>
            <a:ext cx="1051560" cy="685800"/>
          </a:xfrm>
          <a:prstGeom prst="rect">
            <a:avLst/>
          </a:prstGeom>
          <a:noFill/>
          <a:ln/>
        </p:spPr>
        <p:txBody>
          <a:bodyPr wrap="square" lIns="0" tIns="0" rIns="0" bIns="0" rtlCol="0" anchor="ctr"/>
          <a:lstStyle/>
          <a:p>
            <a:pPr marL="0" indent="0" algn="ctr">
              <a:buNone/>
            </a:pPr>
            <a:r>
              <a:rPr lang="en-US" sz="900" b="1" dirty="0">
                <a:solidFill>
                  <a:srgbClr val="0F172A"/>
                </a:solidFill>
                <a:latin typeface="Calibri" pitchFamily="34" charset="0"/>
                <a:ea typeface="Calibri" pitchFamily="34" charset="-122"/>
                <a:cs typeface="Calibri" pitchFamily="34" charset="-120"/>
              </a:rPr>
              <a:t>User</a:t>
            </a:r>
            <a:endParaRPr lang="en-US" sz="900" dirty="0"/>
          </a:p>
          <a:p>
            <a:pPr marL="0" indent="0" algn="ctr">
              <a:buNone/>
            </a:pPr>
            <a:r>
              <a:rPr lang="en-US" sz="900" b="1" dirty="0">
                <a:solidFill>
                  <a:srgbClr val="0F172A"/>
                </a:solidFill>
                <a:latin typeface="Calibri" pitchFamily="34" charset="0"/>
                <a:ea typeface="Calibri" pitchFamily="34" charset="-122"/>
                <a:cs typeface="Calibri" pitchFamily="34" charset="-120"/>
              </a:rPr>
              <a:t>Request</a:t>
            </a:r>
            <a:endParaRPr lang="en-US" sz="900" dirty="0"/>
          </a:p>
        </p:txBody>
      </p:sp>
      <p:sp>
        <p:nvSpPr>
          <p:cNvPr id="7" name="Shape 5"/>
          <p:cNvSpPr/>
          <p:nvPr/>
        </p:nvSpPr>
        <p:spPr>
          <a:xfrm>
            <a:off x="1280160" y="2034540"/>
            <a:ext cx="411480" cy="0"/>
          </a:xfrm>
          <a:prstGeom prst="line">
            <a:avLst/>
          </a:prstGeom>
          <a:noFill/>
          <a:ln w="19050">
            <a:solidFill>
              <a:srgbClr val="94A3B8"/>
            </a:solidFill>
            <a:prstDash val="solid"/>
          </a:ln>
        </p:spPr>
        <p:txBody>
          <a:bodyPr/>
          <a:lstStyle/>
          <a:p>
            <a:endParaRPr lang="en-IN"/>
          </a:p>
        </p:txBody>
      </p:sp>
      <p:sp>
        <p:nvSpPr>
          <p:cNvPr id="8" name="Shape 6"/>
          <p:cNvSpPr/>
          <p:nvPr/>
        </p:nvSpPr>
        <p:spPr>
          <a:xfrm>
            <a:off x="1463040" y="1691640"/>
            <a:ext cx="1051560" cy="685800"/>
          </a:xfrm>
          <a:prstGeom prst="ellipse">
            <a:avLst/>
          </a:prstGeom>
          <a:solidFill>
            <a:srgbClr val="8B5CF6"/>
          </a:solidFill>
          <a:ln w="12700">
            <a:solidFill>
              <a:srgbClr val="8B5CF6"/>
            </a:solidFill>
            <a:prstDash val="solid"/>
          </a:ln>
        </p:spPr>
        <p:txBody>
          <a:bodyPr/>
          <a:lstStyle/>
          <a:p>
            <a:endParaRPr lang="en-IN"/>
          </a:p>
        </p:txBody>
      </p:sp>
      <p:sp>
        <p:nvSpPr>
          <p:cNvPr id="9" name="Text 7"/>
          <p:cNvSpPr/>
          <p:nvPr/>
        </p:nvSpPr>
        <p:spPr>
          <a:xfrm>
            <a:off x="1463040" y="1691640"/>
            <a:ext cx="1051560" cy="685800"/>
          </a:xfrm>
          <a:prstGeom prst="rect">
            <a:avLst/>
          </a:prstGeom>
          <a:noFill/>
          <a:ln/>
        </p:spPr>
        <p:txBody>
          <a:bodyPr wrap="square" lIns="0" tIns="0" rIns="0" bIns="0" rtlCol="0" anchor="ctr"/>
          <a:lstStyle/>
          <a:p>
            <a:pPr marL="0" indent="0" algn="ctr">
              <a:buNone/>
            </a:pPr>
            <a:r>
              <a:rPr lang="en-US" sz="900" b="1" dirty="0">
                <a:solidFill>
                  <a:srgbClr val="0F172A"/>
                </a:solidFill>
                <a:latin typeface="Calibri" pitchFamily="34" charset="0"/>
                <a:ea typeface="Calibri" pitchFamily="34" charset="-122"/>
                <a:cs typeface="Calibri" pitchFamily="34" charset="-120"/>
              </a:rPr>
              <a:t>Agent</a:t>
            </a:r>
            <a:endParaRPr lang="en-US" sz="900" dirty="0"/>
          </a:p>
          <a:p>
            <a:pPr marL="0" indent="0" algn="ctr">
              <a:buNone/>
            </a:pPr>
            <a:r>
              <a:rPr lang="en-US" sz="900" b="1" dirty="0">
                <a:solidFill>
                  <a:srgbClr val="0F172A"/>
                </a:solidFill>
                <a:latin typeface="Calibri" pitchFamily="34" charset="0"/>
                <a:ea typeface="Calibri" pitchFamily="34" charset="-122"/>
                <a:cs typeface="Calibri" pitchFamily="34" charset="-120"/>
              </a:rPr>
              <a:t>Core</a:t>
            </a:r>
            <a:endParaRPr lang="en-US" sz="900" dirty="0"/>
          </a:p>
        </p:txBody>
      </p:sp>
      <p:sp>
        <p:nvSpPr>
          <p:cNvPr id="10" name="Shape 8"/>
          <p:cNvSpPr/>
          <p:nvPr/>
        </p:nvSpPr>
        <p:spPr>
          <a:xfrm>
            <a:off x="2514600" y="2034540"/>
            <a:ext cx="411480" cy="0"/>
          </a:xfrm>
          <a:prstGeom prst="line">
            <a:avLst/>
          </a:prstGeom>
          <a:noFill/>
          <a:ln w="19050">
            <a:solidFill>
              <a:srgbClr val="94A3B8"/>
            </a:solidFill>
            <a:prstDash val="solid"/>
          </a:ln>
        </p:spPr>
        <p:txBody>
          <a:bodyPr/>
          <a:lstStyle/>
          <a:p>
            <a:endParaRPr lang="en-IN"/>
          </a:p>
        </p:txBody>
      </p:sp>
      <p:sp>
        <p:nvSpPr>
          <p:cNvPr id="11" name="Shape 9"/>
          <p:cNvSpPr/>
          <p:nvPr/>
        </p:nvSpPr>
        <p:spPr>
          <a:xfrm>
            <a:off x="2697480" y="1691640"/>
            <a:ext cx="1051560" cy="685800"/>
          </a:xfrm>
          <a:prstGeom prst="ellipse">
            <a:avLst/>
          </a:prstGeom>
          <a:solidFill>
            <a:srgbClr val="10B981"/>
          </a:solidFill>
          <a:ln w="12700">
            <a:solidFill>
              <a:srgbClr val="10B981"/>
            </a:solidFill>
            <a:prstDash val="solid"/>
          </a:ln>
        </p:spPr>
        <p:txBody>
          <a:bodyPr/>
          <a:lstStyle/>
          <a:p>
            <a:endParaRPr lang="en-IN"/>
          </a:p>
        </p:txBody>
      </p:sp>
      <p:sp>
        <p:nvSpPr>
          <p:cNvPr id="12" name="Text 10"/>
          <p:cNvSpPr/>
          <p:nvPr/>
        </p:nvSpPr>
        <p:spPr>
          <a:xfrm>
            <a:off x="2697480" y="1691640"/>
            <a:ext cx="1051560" cy="685800"/>
          </a:xfrm>
          <a:prstGeom prst="rect">
            <a:avLst/>
          </a:prstGeom>
          <a:noFill/>
          <a:ln/>
        </p:spPr>
        <p:txBody>
          <a:bodyPr wrap="square" lIns="0" tIns="0" rIns="0" bIns="0" rtlCol="0" anchor="ctr"/>
          <a:lstStyle/>
          <a:p>
            <a:pPr marL="0" indent="0" algn="ctr">
              <a:buNone/>
            </a:pPr>
            <a:r>
              <a:rPr lang="en-US" sz="900" b="1" dirty="0">
                <a:solidFill>
                  <a:srgbClr val="0F172A"/>
                </a:solidFill>
                <a:latin typeface="Calibri" pitchFamily="34" charset="0"/>
                <a:ea typeface="Calibri" pitchFamily="34" charset="-122"/>
                <a:cs typeface="Calibri" pitchFamily="34" charset="-120"/>
              </a:rPr>
              <a:t>Planner</a:t>
            </a:r>
            <a:endParaRPr lang="en-US" sz="900" dirty="0"/>
          </a:p>
        </p:txBody>
      </p:sp>
      <p:sp>
        <p:nvSpPr>
          <p:cNvPr id="13" name="Shape 11"/>
          <p:cNvSpPr/>
          <p:nvPr/>
        </p:nvSpPr>
        <p:spPr>
          <a:xfrm>
            <a:off x="3749040" y="2034540"/>
            <a:ext cx="411480" cy="0"/>
          </a:xfrm>
          <a:prstGeom prst="line">
            <a:avLst/>
          </a:prstGeom>
          <a:noFill/>
          <a:ln w="19050">
            <a:solidFill>
              <a:srgbClr val="94A3B8"/>
            </a:solidFill>
            <a:prstDash val="solid"/>
          </a:ln>
        </p:spPr>
        <p:txBody>
          <a:bodyPr/>
          <a:lstStyle/>
          <a:p>
            <a:endParaRPr lang="en-IN"/>
          </a:p>
        </p:txBody>
      </p:sp>
      <p:sp>
        <p:nvSpPr>
          <p:cNvPr id="14" name="Shape 12"/>
          <p:cNvSpPr/>
          <p:nvPr/>
        </p:nvSpPr>
        <p:spPr>
          <a:xfrm>
            <a:off x="3931920" y="1691640"/>
            <a:ext cx="1051560" cy="685800"/>
          </a:xfrm>
          <a:prstGeom prst="ellipse">
            <a:avLst/>
          </a:prstGeom>
          <a:solidFill>
            <a:srgbClr val="F59E0B"/>
          </a:solidFill>
          <a:ln w="12700">
            <a:solidFill>
              <a:srgbClr val="F59E0B"/>
            </a:solidFill>
            <a:prstDash val="solid"/>
          </a:ln>
        </p:spPr>
        <p:txBody>
          <a:bodyPr/>
          <a:lstStyle/>
          <a:p>
            <a:endParaRPr lang="en-IN"/>
          </a:p>
        </p:txBody>
      </p:sp>
      <p:sp>
        <p:nvSpPr>
          <p:cNvPr id="15" name="Text 13"/>
          <p:cNvSpPr/>
          <p:nvPr/>
        </p:nvSpPr>
        <p:spPr>
          <a:xfrm>
            <a:off x="3931920" y="1691640"/>
            <a:ext cx="1051560" cy="685800"/>
          </a:xfrm>
          <a:prstGeom prst="rect">
            <a:avLst/>
          </a:prstGeom>
          <a:noFill/>
          <a:ln/>
        </p:spPr>
        <p:txBody>
          <a:bodyPr wrap="square" lIns="0" tIns="0" rIns="0" bIns="0" rtlCol="0" anchor="ctr"/>
          <a:lstStyle/>
          <a:p>
            <a:pPr marL="0" indent="0" algn="ctr">
              <a:buNone/>
            </a:pPr>
            <a:r>
              <a:rPr lang="en-US" sz="900" b="1" dirty="0">
                <a:solidFill>
                  <a:srgbClr val="0F172A"/>
                </a:solidFill>
                <a:latin typeface="Calibri" pitchFamily="34" charset="0"/>
                <a:ea typeface="Calibri" pitchFamily="34" charset="-122"/>
                <a:cs typeface="Calibri" pitchFamily="34" charset="-120"/>
              </a:rPr>
              <a:t>Tool</a:t>
            </a:r>
            <a:endParaRPr lang="en-US" sz="900" dirty="0"/>
          </a:p>
          <a:p>
            <a:pPr marL="0" indent="0" algn="ctr">
              <a:buNone/>
            </a:pPr>
            <a:r>
              <a:rPr lang="en-US" sz="900" b="1" dirty="0">
                <a:solidFill>
                  <a:srgbClr val="0F172A"/>
                </a:solidFill>
                <a:latin typeface="Calibri" pitchFamily="34" charset="0"/>
                <a:ea typeface="Calibri" pitchFamily="34" charset="-122"/>
                <a:cs typeface="Calibri" pitchFamily="34" charset="-120"/>
              </a:rPr>
              <a:t>Selection</a:t>
            </a:r>
            <a:endParaRPr lang="en-US" sz="900" dirty="0"/>
          </a:p>
        </p:txBody>
      </p:sp>
      <p:sp>
        <p:nvSpPr>
          <p:cNvPr id="16" name="Shape 14"/>
          <p:cNvSpPr/>
          <p:nvPr/>
        </p:nvSpPr>
        <p:spPr>
          <a:xfrm>
            <a:off x="4983480" y="2034540"/>
            <a:ext cx="411480" cy="0"/>
          </a:xfrm>
          <a:prstGeom prst="line">
            <a:avLst/>
          </a:prstGeom>
          <a:noFill/>
          <a:ln w="19050">
            <a:solidFill>
              <a:srgbClr val="94A3B8"/>
            </a:solidFill>
            <a:prstDash val="solid"/>
          </a:ln>
        </p:spPr>
        <p:txBody>
          <a:bodyPr/>
          <a:lstStyle/>
          <a:p>
            <a:endParaRPr lang="en-IN"/>
          </a:p>
        </p:txBody>
      </p:sp>
      <p:sp>
        <p:nvSpPr>
          <p:cNvPr id="17" name="Shape 15"/>
          <p:cNvSpPr/>
          <p:nvPr/>
        </p:nvSpPr>
        <p:spPr>
          <a:xfrm>
            <a:off x="5166360" y="1691640"/>
            <a:ext cx="1051560" cy="685800"/>
          </a:xfrm>
          <a:prstGeom prst="ellipse">
            <a:avLst/>
          </a:prstGeom>
          <a:solidFill>
            <a:srgbClr val="EF4444"/>
          </a:solidFill>
          <a:ln w="12700">
            <a:solidFill>
              <a:srgbClr val="EF4444"/>
            </a:solidFill>
            <a:prstDash val="solid"/>
          </a:ln>
        </p:spPr>
        <p:txBody>
          <a:bodyPr/>
          <a:lstStyle/>
          <a:p>
            <a:endParaRPr lang="en-IN"/>
          </a:p>
        </p:txBody>
      </p:sp>
      <p:sp>
        <p:nvSpPr>
          <p:cNvPr id="18" name="Text 16"/>
          <p:cNvSpPr/>
          <p:nvPr/>
        </p:nvSpPr>
        <p:spPr>
          <a:xfrm>
            <a:off x="5166360" y="1691640"/>
            <a:ext cx="1051560" cy="685800"/>
          </a:xfrm>
          <a:prstGeom prst="rect">
            <a:avLst/>
          </a:prstGeom>
          <a:noFill/>
          <a:ln/>
        </p:spPr>
        <p:txBody>
          <a:bodyPr wrap="square" lIns="0" tIns="0" rIns="0" bIns="0" rtlCol="0" anchor="ctr"/>
          <a:lstStyle/>
          <a:p>
            <a:pPr marL="0" indent="0" algn="ctr">
              <a:buNone/>
            </a:pPr>
            <a:r>
              <a:rPr lang="en-US" sz="900" b="1" dirty="0">
                <a:solidFill>
                  <a:srgbClr val="0F172A"/>
                </a:solidFill>
                <a:latin typeface="Calibri" pitchFamily="34" charset="0"/>
                <a:ea typeface="Calibri" pitchFamily="34" charset="-122"/>
                <a:cs typeface="Calibri" pitchFamily="34" charset="-120"/>
              </a:rPr>
              <a:t>Execution</a:t>
            </a:r>
            <a:endParaRPr lang="en-US" sz="900" dirty="0"/>
          </a:p>
        </p:txBody>
      </p:sp>
      <p:sp>
        <p:nvSpPr>
          <p:cNvPr id="19" name="Shape 17"/>
          <p:cNvSpPr/>
          <p:nvPr/>
        </p:nvSpPr>
        <p:spPr>
          <a:xfrm>
            <a:off x="6217920" y="2034540"/>
            <a:ext cx="411480" cy="0"/>
          </a:xfrm>
          <a:prstGeom prst="line">
            <a:avLst/>
          </a:prstGeom>
          <a:noFill/>
          <a:ln w="19050">
            <a:solidFill>
              <a:srgbClr val="94A3B8"/>
            </a:solidFill>
            <a:prstDash val="solid"/>
          </a:ln>
        </p:spPr>
        <p:txBody>
          <a:bodyPr/>
          <a:lstStyle/>
          <a:p>
            <a:endParaRPr lang="en-IN"/>
          </a:p>
        </p:txBody>
      </p:sp>
      <p:sp>
        <p:nvSpPr>
          <p:cNvPr id="20" name="Shape 18"/>
          <p:cNvSpPr/>
          <p:nvPr/>
        </p:nvSpPr>
        <p:spPr>
          <a:xfrm>
            <a:off x="6400800" y="1691640"/>
            <a:ext cx="1051560" cy="685800"/>
          </a:xfrm>
          <a:prstGeom prst="ellipse">
            <a:avLst/>
          </a:prstGeom>
          <a:solidFill>
            <a:srgbClr val="10B981"/>
          </a:solidFill>
          <a:ln w="12700">
            <a:solidFill>
              <a:srgbClr val="10B981"/>
            </a:solidFill>
            <a:prstDash val="solid"/>
          </a:ln>
        </p:spPr>
        <p:txBody>
          <a:bodyPr/>
          <a:lstStyle/>
          <a:p>
            <a:endParaRPr lang="en-IN"/>
          </a:p>
        </p:txBody>
      </p:sp>
      <p:sp>
        <p:nvSpPr>
          <p:cNvPr id="21" name="Text 19"/>
          <p:cNvSpPr/>
          <p:nvPr/>
        </p:nvSpPr>
        <p:spPr>
          <a:xfrm>
            <a:off x="6400800" y="1691640"/>
            <a:ext cx="1051560" cy="685800"/>
          </a:xfrm>
          <a:prstGeom prst="rect">
            <a:avLst/>
          </a:prstGeom>
          <a:noFill/>
          <a:ln/>
        </p:spPr>
        <p:txBody>
          <a:bodyPr wrap="square" lIns="0" tIns="0" rIns="0" bIns="0" rtlCol="0" anchor="ctr"/>
          <a:lstStyle/>
          <a:p>
            <a:pPr marL="0" indent="0" algn="ctr">
              <a:buNone/>
            </a:pPr>
            <a:r>
              <a:rPr lang="en-US" sz="900" b="1" dirty="0">
                <a:solidFill>
                  <a:srgbClr val="0F172A"/>
                </a:solidFill>
                <a:latin typeface="Calibri" pitchFamily="34" charset="0"/>
                <a:ea typeface="Calibri" pitchFamily="34" charset="-122"/>
                <a:cs typeface="Calibri" pitchFamily="34" charset="-120"/>
              </a:rPr>
              <a:t>Observation</a:t>
            </a:r>
            <a:endParaRPr lang="en-US" sz="900" dirty="0"/>
          </a:p>
        </p:txBody>
      </p:sp>
      <p:sp>
        <p:nvSpPr>
          <p:cNvPr id="22" name="Shape 20"/>
          <p:cNvSpPr/>
          <p:nvPr/>
        </p:nvSpPr>
        <p:spPr>
          <a:xfrm>
            <a:off x="7452360" y="2034540"/>
            <a:ext cx="411480" cy="0"/>
          </a:xfrm>
          <a:prstGeom prst="line">
            <a:avLst/>
          </a:prstGeom>
          <a:noFill/>
          <a:ln w="19050">
            <a:solidFill>
              <a:srgbClr val="94A3B8"/>
            </a:solidFill>
            <a:prstDash val="solid"/>
          </a:ln>
        </p:spPr>
        <p:txBody>
          <a:bodyPr/>
          <a:lstStyle/>
          <a:p>
            <a:endParaRPr lang="en-IN"/>
          </a:p>
        </p:txBody>
      </p:sp>
      <p:sp>
        <p:nvSpPr>
          <p:cNvPr id="23" name="Shape 21"/>
          <p:cNvSpPr/>
          <p:nvPr/>
        </p:nvSpPr>
        <p:spPr>
          <a:xfrm>
            <a:off x="7635240" y="1691640"/>
            <a:ext cx="1051560" cy="685800"/>
          </a:xfrm>
          <a:prstGeom prst="ellipse">
            <a:avLst/>
          </a:prstGeom>
          <a:solidFill>
            <a:srgbClr val="06B6D4"/>
          </a:solidFill>
          <a:ln w="12700">
            <a:solidFill>
              <a:srgbClr val="06B6D4"/>
            </a:solidFill>
            <a:prstDash val="solid"/>
          </a:ln>
        </p:spPr>
        <p:txBody>
          <a:bodyPr/>
          <a:lstStyle/>
          <a:p>
            <a:endParaRPr lang="en-IN"/>
          </a:p>
        </p:txBody>
      </p:sp>
      <p:sp>
        <p:nvSpPr>
          <p:cNvPr id="24" name="Text 22"/>
          <p:cNvSpPr/>
          <p:nvPr/>
        </p:nvSpPr>
        <p:spPr>
          <a:xfrm>
            <a:off x="7635240" y="1691640"/>
            <a:ext cx="1051560" cy="685800"/>
          </a:xfrm>
          <a:prstGeom prst="rect">
            <a:avLst/>
          </a:prstGeom>
          <a:noFill/>
          <a:ln/>
        </p:spPr>
        <p:txBody>
          <a:bodyPr wrap="square" lIns="0" tIns="0" rIns="0" bIns="0" rtlCol="0" anchor="ctr"/>
          <a:lstStyle/>
          <a:p>
            <a:pPr marL="0" indent="0" algn="ctr">
              <a:buNone/>
            </a:pPr>
            <a:r>
              <a:rPr lang="en-US" sz="900" b="1" dirty="0">
                <a:solidFill>
                  <a:srgbClr val="0F172A"/>
                </a:solidFill>
                <a:latin typeface="Calibri" pitchFamily="34" charset="0"/>
                <a:ea typeface="Calibri" pitchFamily="34" charset="-122"/>
                <a:cs typeface="Calibri" pitchFamily="34" charset="-120"/>
              </a:rPr>
              <a:t>Final</a:t>
            </a:r>
            <a:endParaRPr lang="en-US" sz="900" dirty="0"/>
          </a:p>
          <a:p>
            <a:pPr marL="0" indent="0" algn="ctr">
              <a:buNone/>
            </a:pPr>
            <a:r>
              <a:rPr lang="en-US" sz="900" b="1" dirty="0">
                <a:solidFill>
                  <a:srgbClr val="0F172A"/>
                </a:solidFill>
                <a:latin typeface="Calibri" pitchFamily="34" charset="0"/>
                <a:ea typeface="Calibri" pitchFamily="34" charset="-122"/>
                <a:cs typeface="Calibri" pitchFamily="34" charset="-120"/>
              </a:rPr>
              <a:t>Response</a:t>
            </a:r>
            <a:endParaRPr lang="en-US" sz="900" dirty="0"/>
          </a:p>
        </p:txBody>
      </p:sp>
      <p:sp>
        <p:nvSpPr>
          <p:cNvPr id="25" name="Shape 23"/>
          <p:cNvSpPr/>
          <p:nvPr/>
        </p:nvSpPr>
        <p:spPr>
          <a:xfrm>
            <a:off x="6922008" y="2395728"/>
            <a:ext cx="0" cy="457200"/>
          </a:xfrm>
          <a:prstGeom prst="line">
            <a:avLst/>
          </a:prstGeom>
          <a:noFill/>
          <a:ln w="19050">
            <a:solidFill>
              <a:srgbClr val="F59E0B"/>
            </a:solidFill>
            <a:prstDash val="dash"/>
          </a:ln>
        </p:spPr>
        <p:txBody>
          <a:bodyPr/>
          <a:lstStyle/>
          <a:p>
            <a:endParaRPr lang="en-IN"/>
          </a:p>
        </p:txBody>
      </p:sp>
      <p:sp>
        <p:nvSpPr>
          <p:cNvPr id="26" name="Shape 24"/>
          <p:cNvSpPr/>
          <p:nvPr/>
        </p:nvSpPr>
        <p:spPr>
          <a:xfrm>
            <a:off x="749808" y="2852928"/>
            <a:ext cx="6172200" cy="0"/>
          </a:xfrm>
          <a:prstGeom prst="line">
            <a:avLst/>
          </a:prstGeom>
          <a:noFill/>
          <a:ln w="19050">
            <a:solidFill>
              <a:srgbClr val="F59E0B"/>
            </a:solidFill>
            <a:prstDash val="dash"/>
          </a:ln>
        </p:spPr>
        <p:txBody>
          <a:bodyPr/>
          <a:lstStyle/>
          <a:p>
            <a:endParaRPr lang="en-IN"/>
          </a:p>
        </p:txBody>
      </p:sp>
      <p:sp>
        <p:nvSpPr>
          <p:cNvPr id="27" name="Shape 25"/>
          <p:cNvSpPr/>
          <p:nvPr/>
        </p:nvSpPr>
        <p:spPr>
          <a:xfrm>
            <a:off x="749808" y="2395728"/>
            <a:ext cx="0" cy="457200"/>
          </a:xfrm>
          <a:prstGeom prst="line">
            <a:avLst/>
          </a:prstGeom>
          <a:noFill/>
          <a:ln w="19050">
            <a:solidFill>
              <a:srgbClr val="F59E0B"/>
            </a:solidFill>
            <a:prstDash val="dash"/>
          </a:ln>
        </p:spPr>
        <p:txBody>
          <a:bodyPr/>
          <a:lstStyle/>
          <a:p>
            <a:endParaRPr lang="en-IN"/>
          </a:p>
        </p:txBody>
      </p:sp>
      <p:sp>
        <p:nvSpPr>
          <p:cNvPr id="28" name="Text 26"/>
          <p:cNvSpPr/>
          <p:nvPr/>
        </p:nvSpPr>
        <p:spPr>
          <a:xfrm>
            <a:off x="2286000" y="2907792"/>
            <a:ext cx="3657600" cy="237744"/>
          </a:xfrm>
          <a:prstGeom prst="rect">
            <a:avLst/>
          </a:prstGeom>
          <a:noFill/>
          <a:ln/>
        </p:spPr>
        <p:txBody>
          <a:bodyPr wrap="square" rtlCol="0" anchor="ctr"/>
          <a:lstStyle/>
          <a:p>
            <a:pPr marL="0" indent="0" algn="ctr">
              <a:buNone/>
            </a:pPr>
            <a:r>
              <a:rPr lang="en-US" sz="1000" i="1" dirty="0">
                <a:solidFill>
                  <a:srgbClr val="F59E0B"/>
                </a:solidFill>
                <a:latin typeface="Calibri" pitchFamily="34" charset="0"/>
                <a:ea typeface="Calibri" pitchFamily="34" charset="-122"/>
                <a:cs typeface="Calibri" pitchFamily="34" charset="-120"/>
              </a:rPr>
              <a:t>↺ Observe &amp; Re-plan if needed</a:t>
            </a:r>
            <a:endParaRPr lang="en-US" sz="1000" dirty="0"/>
          </a:p>
        </p:txBody>
      </p:sp>
      <p:sp>
        <p:nvSpPr>
          <p:cNvPr id="29" name="Shape 27"/>
          <p:cNvSpPr/>
          <p:nvPr/>
        </p:nvSpPr>
        <p:spPr>
          <a:xfrm>
            <a:off x="274320" y="3291840"/>
            <a:ext cx="2743200" cy="841248"/>
          </a:xfrm>
          <a:prstGeom prst="roundRect">
            <a:avLst>
              <a:gd name="adj" fmla="val 8696"/>
            </a:avLst>
          </a:prstGeom>
          <a:solidFill>
            <a:srgbClr val="1E293B"/>
          </a:solidFill>
          <a:ln w="12700">
            <a:solidFill>
              <a:srgbClr val="06B6D4"/>
            </a:solidFill>
            <a:prstDash val="solid"/>
          </a:ln>
        </p:spPr>
        <p:txBody>
          <a:bodyPr/>
          <a:lstStyle/>
          <a:p>
            <a:endParaRPr lang="en-IN"/>
          </a:p>
        </p:txBody>
      </p:sp>
      <p:sp>
        <p:nvSpPr>
          <p:cNvPr id="30" name="Text 28"/>
          <p:cNvSpPr/>
          <p:nvPr/>
        </p:nvSpPr>
        <p:spPr>
          <a:xfrm>
            <a:off x="384048" y="3346704"/>
            <a:ext cx="2542032" cy="274320"/>
          </a:xfrm>
          <a:prstGeom prst="rect">
            <a:avLst/>
          </a:prstGeom>
          <a:noFill/>
          <a:ln/>
        </p:spPr>
        <p:txBody>
          <a:bodyPr wrap="square" rtlCol="0" anchor="ctr"/>
          <a:lstStyle/>
          <a:p>
            <a:pPr marL="0" indent="0">
              <a:buNone/>
            </a:pPr>
            <a:r>
              <a:rPr lang="en-US" sz="1100" b="1" dirty="0">
                <a:solidFill>
                  <a:srgbClr val="06B6D4"/>
                </a:solidFill>
                <a:latin typeface="Calibri" pitchFamily="34" charset="0"/>
                <a:ea typeface="Calibri" pitchFamily="34" charset="-122"/>
                <a:cs typeface="Calibri" pitchFamily="34" charset="-120"/>
              </a:rPr>
              <a:t>1. User Request</a:t>
            </a:r>
            <a:endParaRPr lang="en-US" sz="1100" dirty="0"/>
          </a:p>
        </p:txBody>
      </p:sp>
      <p:sp>
        <p:nvSpPr>
          <p:cNvPr id="31" name="Text 29"/>
          <p:cNvSpPr/>
          <p:nvPr/>
        </p:nvSpPr>
        <p:spPr>
          <a:xfrm>
            <a:off x="384048" y="3621024"/>
            <a:ext cx="2542032" cy="420624"/>
          </a:xfrm>
          <a:prstGeom prst="rect">
            <a:avLst/>
          </a:prstGeom>
          <a:noFill/>
          <a:ln/>
        </p:spPr>
        <p:txBody>
          <a:bodyPr wrap="square" rtlCol="0" anchor="ctr"/>
          <a:lstStyle/>
          <a:p>
            <a:pPr marL="0" indent="0">
              <a:buNone/>
            </a:pPr>
            <a:r>
              <a:rPr lang="en-US" sz="950" dirty="0">
                <a:solidFill>
                  <a:srgbClr val="CBD5E1"/>
                </a:solidFill>
                <a:latin typeface="Calibri" pitchFamily="34" charset="0"/>
                <a:ea typeface="Calibri" pitchFamily="34" charset="-122"/>
                <a:cs typeface="Calibri" pitchFamily="34" charset="-120"/>
              </a:rPr>
              <a:t>User states a high-level goal: 'Book me a flight to Delhi tomorrow'</a:t>
            </a:r>
            <a:endParaRPr lang="en-US" sz="950" dirty="0"/>
          </a:p>
        </p:txBody>
      </p:sp>
      <p:sp>
        <p:nvSpPr>
          <p:cNvPr id="32" name="Shape 30"/>
          <p:cNvSpPr/>
          <p:nvPr/>
        </p:nvSpPr>
        <p:spPr>
          <a:xfrm>
            <a:off x="3182112" y="3291840"/>
            <a:ext cx="2743200" cy="841248"/>
          </a:xfrm>
          <a:prstGeom prst="roundRect">
            <a:avLst>
              <a:gd name="adj" fmla="val 8696"/>
            </a:avLst>
          </a:prstGeom>
          <a:solidFill>
            <a:srgbClr val="1E293B"/>
          </a:solidFill>
          <a:ln w="12700">
            <a:solidFill>
              <a:srgbClr val="10B981"/>
            </a:solidFill>
            <a:prstDash val="solid"/>
          </a:ln>
        </p:spPr>
        <p:txBody>
          <a:bodyPr/>
          <a:lstStyle/>
          <a:p>
            <a:endParaRPr lang="en-IN"/>
          </a:p>
        </p:txBody>
      </p:sp>
      <p:sp>
        <p:nvSpPr>
          <p:cNvPr id="33" name="Text 31"/>
          <p:cNvSpPr/>
          <p:nvPr/>
        </p:nvSpPr>
        <p:spPr>
          <a:xfrm>
            <a:off x="3291840" y="3346704"/>
            <a:ext cx="2542032" cy="274320"/>
          </a:xfrm>
          <a:prstGeom prst="rect">
            <a:avLst/>
          </a:prstGeom>
          <a:noFill/>
          <a:ln/>
        </p:spPr>
        <p:txBody>
          <a:bodyPr wrap="square" rtlCol="0" anchor="ctr"/>
          <a:lstStyle/>
          <a:p>
            <a:pPr marL="0" indent="0">
              <a:buNone/>
            </a:pPr>
            <a:r>
              <a:rPr lang="en-US" sz="1100" b="1" dirty="0">
                <a:solidFill>
                  <a:srgbClr val="10B981"/>
                </a:solidFill>
                <a:latin typeface="Calibri" pitchFamily="34" charset="0"/>
                <a:ea typeface="Calibri" pitchFamily="34" charset="-122"/>
                <a:cs typeface="Calibri" pitchFamily="34" charset="-120"/>
              </a:rPr>
              <a:t>2. Planning</a:t>
            </a:r>
            <a:endParaRPr lang="en-US" sz="1100" dirty="0"/>
          </a:p>
        </p:txBody>
      </p:sp>
      <p:sp>
        <p:nvSpPr>
          <p:cNvPr id="34" name="Text 32"/>
          <p:cNvSpPr/>
          <p:nvPr/>
        </p:nvSpPr>
        <p:spPr>
          <a:xfrm>
            <a:off x="3291840" y="3621024"/>
            <a:ext cx="2542032" cy="420624"/>
          </a:xfrm>
          <a:prstGeom prst="rect">
            <a:avLst/>
          </a:prstGeom>
          <a:noFill/>
          <a:ln/>
        </p:spPr>
        <p:txBody>
          <a:bodyPr wrap="square" rtlCol="0" anchor="ctr"/>
          <a:lstStyle/>
          <a:p>
            <a:pPr marL="0" indent="0">
              <a:buNone/>
            </a:pPr>
            <a:r>
              <a:rPr lang="en-US" sz="950" dirty="0">
                <a:solidFill>
                  <a:srgbClr val="CBD5E1"/>
                </a:solidFill>
                <a:latin typeface="Calibri" pitchFamily="34" charset="0"/>
                <a:ea typeface="Calibri" pitchFamily="34" charset="-122"/>
                <a:cs typeface="Calibri" pitchFamily="34" charset="-120"/>
              </a:rPr>
              <a:t>Agent breaks goal into steps: search flights → compare → book → confirm</a:t>
            </a:r>
            <a:endParaRPr lang="en-US" sz="950" dirty="0"/>
          </a:p>
        </p:txBody>
      </p:sp>
      <p:sp>
        <p:nvSpPr>
          <p:cNvPr id="35" name="Shape 33"/>
          <p:cNvSpPr/>
          <p:nvPr/>
        </p:nvSpPr>
        <p:spPr>
          <a:xfrm>
            <a:off x="6089904" y="3291840"/>
            <a:ext cx="2743200" cy="841248"/>
          </a:xfrm>
          <a:prstGeom prst="roundRect">
            <a:avLst>
              <a:gd name="adj" fmla="val 8696"/>
            </a:avLst>
          </a:prstGeom>
          <a:solidFill>
            <a:srgbClr val="1E293B"/>
          </a:solidFill>
          <a:ln w="12700">
            <a:solidFill>
              <a:srgbClr val="F59E0B"/>
            </a:solidFill>
            <a:prstDash val="solid"/>
          </a:ln>
        </p:spPr>
        <p:txBody>
          <a:bodyPr/>
          <a:lstStyle/>
          <a:p>
            <a:endParaRPr lang="en-IN"/>
          </a:p>
        </p:txBody>
      </p:sp>
      <p:sp>
        <p:nvSpPr>
          <p:cNvPr id="36" name="Text 34"/>
          <p:cNvSpPr/>
          <p:nvPr/>
        </p:nvSpPr>
        <p:spPr>
          <a:xfrm>
            <a:off x="6199632" y="3346704"/>
            <a:ext cx="2542032" cy="274320"/>
          </a:xfrm>
          <a:prstGeom prst="rect">
            <a:avLst/>
          </a:prstGeom>
          <a:noFill/>
          <a:ln/>
        </p:spPr>
        <p:txBody>
          <a:bodyPr wrap="square" rtlCol="0" anchor="ctr"/>
          <a:lstStyle/>
          <a:p>
            <a:pPr marL="0" indent="0">
              <a:buNone/>
            </a:pPr>
            <a:r>
              <a:rPr lang="en-US" sz="1100" b="1" dirty="0">
                <a:solidFill>
                  <a:srgbClr val="F59E0B"/>
                </a:solidFill>
                <a:latin typeface="Calibri" pitchFamily="34" charset="0"/>
                <a:ea typeface="Calibri" pitchFamily="34" charset="-122"/>
                <a:cs typeface="Calibri" pitchFamily="34" charset="-120"/>
              </a:rPr>
              <a:t>3. Tool Use</a:t>
            </a:r>
            <a:endParaRPr lang="en-US" sz="1100" dirty="0"/>
          </a:p>
        </p:txBody>
      </p:sp>
      <p:sp>
        <p:nvSpPr>
          <p:cNvPr id="37" name="Text 35"/>
          <p:cNvSpPr/>
          <p:nvPr/>
        </p:nvSpPr>
        <p:spPr>
          <a:xfrm>
            <a:off x="6199632" y="3621024"/>
            <a:ext cx="2542032" cy="420624"/>
          </a:xfrm>
          <a:prstGeom prst="rect">
            <a:avLst/>
          </a:prstGeom>
          <a:noFill/>
          <a:ln/>
        </p:spPr>
        <p:txBody>
          <a:bodyPr wrap="square" rtlCol="0" anchor="ctr"/>
          <a:lstStyle/>
          <a:p>
            <a:pPr marL="0" indent="0">
              <a:buNone/>
            </a:pPr>
            <a:r>
              <a:rPr lang="en-US" sz="950" dirty="0">
                <a:solidFill>
                  <a:srgbClr val="CBD5E1"/>
                </a:solidFill>
                <a:latin typeface="Calibri" pitchFamily="34" charset="0"/>
                <a:ea typeface="Calibri" pitchFamily="34" charset="-122"/>
                <a:cs typeface="Calibri" pitchFamily="34" charset="-120"/>
              </a:rPr>
              <a:t>Calls external tools: Flights API, Payment API, Calendar API</a:t>
            </a:r>
            <a:endParaRPr lang="en-US" sz="950" dirty="0"/>
          </a:p>
        </p:txBody>
      </p:sp>
      <p:sp>
        <p:nvSpPr>
          <p:cNvPr id="38" name="Shape 36"/>
          <p:cNvSpPr/>
          <p:nvPr/>
        </p:nvSpPr>
        <p:spPr>
          <a:xfrm>
            <a:off x="274320" y="4251960"/>
            <a:ext cx="2743200" cy="841248"/>
          </a:xfrm>
          <a:prstGeom prst="roundRect">
            <a:avLst>
              <a:gd name="adj" fmla="val 8696"/>
            </a:avLst>
          </a:prstGeom>
          <a:solidFill>
            <a:srgbClr val="1E293B"/>
          </a:solidFill>
          <a:ln w="12700">
            <a:solidFill>
              <a:srgbClr val="8B5CF6"/>
            </a:solidFill>
            <a:prstDash val="solid"/>
          </a:ln>
        </p:spPr>
        <p:txBody>
          <a:bodyPr/>
          <a:lstStyle/>
          <a:p>
            <a:endParaRPr lang="en-IN"/>
          </a:p>
        </p:txBody>
      </p:sp>
      <p:sp>
        <p:nvSpPr>
          <p:cNvPr id="39" name="Text 37"/>
          <p:cNvSpPr/>
          <p:nvPr/>
        </p:nvSpPr>
        <p:spPr>
          <a:xfrm>
            <a:off x="384048" y="4306824"/>
            <a:ext cx="2542032" cy="274320"/>
          </a:xfrm>
          <a:prstGeom prst="rect">
            <a:avLst/>
          </a:prstGeom>
          <a:noFill/>
          <a:ln/>
        </p:spPr>
        <p:txBody>
          <a:bodyPr wrap="square" rtlCol="0" anchor="ctr"/>
          <a:lstStyle/>
          <a:p>
            <a:pPr marL="0" indent="0">
              <a:buNone/>
            </a:pPr>
            <a:r>
              <a:rPr lang="en-US" sz="1100" b="1" dirty="0">
                <a:solidFill>
                  <a:srgbClr val="8B5CF6"/>
                </a:solidFill>
                <a:latin typeface="Calibri" pitchFamily="34" charset="0"/>
                <a:ea typeface="Calibri" pitchFamily="34" charset="-122"/>
                <a:cs typeface="Calibri" pitchFamily="34" charset="-120"/>
              </a:rPr>
              <a:t>4. Memory</a:t>
            </a:r>
            <a:endParaRPr lang="en-US" sz="1100" dirty="0"/>
          </a:p>
        </p:txBody>
      </p:sp>
      <p:sp>
        <p:nvSpPr>
          <p:cNvPr id="40" name="Text 38"/>
          <p:cNvSpPr/>
          <p:nvPr/>
        </p:nvSpPr>
        <p:spPr>
          <a:xfrm>
            <a:off x="384048" y="4581144"/>
            <a:ext cx="2542032" cy="420624"/>
          </a:xfrm>
          <a:prstGeom prst="rect">
            <a:avLst/>
          </a:prstGeom>
          <a:noFill/>
          <a:ln/>
        </p:spPr>
        <p:txBody>
          <a:bodyPr wrap="square" rtlCol="0" anchor="ctr"/>
          <a:lstStyle/>
          <a:p>
            <a:pPr marL="0" indent="0">
              <a:buNone/>
            </a:pPr>
            <a:r>
              <a:rPr lang="en-US" sz="950" dirty="0">
                <a:solidFill>
                  <a:srgbClr val="CBD5E1"/>
                </a:solidFill>
                <a:latin typeface="Calibri" pitchFamily="34" charset="0"/>
                <a:ea typeface="Calibri" pitchFamily="34" charset="-122"/>
                <a:cs typeface="Calibri" pitchFamily="34" charset="-120"/>
              </a:rPr>
              <a:t>Stores context (preferences, history) in short/long-term memory</a:t>
            </a:r>
            <a:endParaRPr lang="en-US" sz="950" dirty="0"/>
          </a:p>
        </p:txBody>
      </p:sp>
      <p:sp>
        <p:nvSpPr>
          <p:cNvPr id="41" name="Shape 39"/>
          <p:cNvSpPr/>
          <p:nvPr/>
        </p:nvSpPr>
        <p:spPr>
          <a:xfrm>
            <a:off x="3182112" y="4251960"/>
            <a:ext cx="2743200" cy="841248"/>
          </a:xfrm>
          <a:prstGeom prst="roundRect">
            <a:avLst>
              <a:gd name="adj" fmla="val 8696"/>
            </a:avLst>
          </a:prstGeom>
          <a:solidFill>
            <a:srgbClr val="1E293B"/>
          </a:solidFill>
          <a:ln w="12700">
            <a:solidFill>
              <a:srgbClr val="EF4444"/>
            </a:solidFill>
            <a:prstDash val="solid"/>
          </a:ln>
        </p:spPr>
        <p:txBody>
          <a:bodyPr/>
          <a:lstStyle/>
          <a:p>
            <a:endParaRPr lang="en-IN"/>
          </a:p>
        </p:txBody>
      </p:sp>
      <p:sp>
        <p:nvSpPr>
          <p:cNvPr id="42" name="Text 40"/>
          <p:cNvSpPr/>
          <p:nvPr/>
        </p:nvSpPr>
        <p:spPr>
          <a:xfrm>
            <a:off x="3291840" y="4306824"/>
            <a:ext cx="2542032" cy="274320"/>
          </a:xfrm>
          <a:prstGeom prst="rect">
            <a:avLst/>
          </a:prstGeom>
          <a:noFill/>
          <a:ln/>
        </p:spPr>
        <p:txBody>
          <a:bodyPr wrap="square" rtlCol="0" anchor="ctr"/>
          <a:lstStyle/>
          <a:p>
            <a:pPr marL="0" indent="0">
              <a:buNone/>
            </a:pPr>
            <a:r>
              <a:rPr lang="en-US" sz="1100" b="1" dirty="0">
                <a:solidFill>
                  <a:srgbClr val="EF4444"/>
                </a:solidFill>
                <a:latin typeface="Calibri" pitchFamily="34" charset="0"/>
                <a:ea typeface="Calibri" pitchFamily="34" charset="-122"/>
                <a:cs typeface="Calibri" pitchFamily="34" charset="-120"/>
              </a:rPr>
              <a:t>5. Observation</a:t>
            </a:r>
            <a:endParaRPr lang="en-US" sz="1100" dirty="0"/>
          </a:p>
        </p:txBody>
      </p:sp>
      <p:sp>
        <p:nvSpPr>
          <p:cNvPr id="43" name="Text 41"/>
          <p:cNvSpPr/>
          <p:nvPr/>
        </p:nvSpPr>
        <p:spPr>
          <a:xfrm>
            <a:off x="3291840" y="4581144"/>
            <a:ext cx="2542032" cy="420624"/>
          </a:xfrm>
          <a:prstGeom prst="rect">
            <a:avLst/>
          </a:prstGeom>
          <a:noFill/>
          <a:ln/>
        </p:spPr>
        <p:txBody>
          <a:bodyPr wrap="square" rtlCol="0" anchor="ctr"/>
          <a:lstStyle/>
          <a:p>
            <a:pPr marL="0" indent="0">
              <a:buNone/>
            </a:pPr>
            <a:r>
              <a:rPr lang="en-US" sz="950" dirty="0">
                <a:solidFill>
                  <a:srgbClr val="CBD5E1"/>
                </a:solidFill>
                <a:latin typeface="Calibri" pitchFamily="34" charset="0"/>
                <a:ea typeface="Calibri" pitchFamily="34" charset="-122"/>
                <a:cs typeface="Calibri" pitchFamily="34" charset="-120"/>
              </a:rPr>
              <a:t>Reviews tool outputs, decides if goal is achieved or re-plans</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8B5CF6"/>
          </a:solidFill>
          <a:ln w="12700">
            <a:solidFill>
              <a:srgbClr val="8B5CF6"/>
            </a:solidFill>
            <a:prstDash val="solid"/>
          </a:ln>
        </p:spPr>
        <p:txBody>
          <a:bodyPr/>
          <a:lstStyle/>
          <a:p>
            <a:endParaRPr lang="en-IN"/>
          </a:p>
        </p:txBody>
      </p:sp>
      <p:sp>
        <p:nvSpPr>
          <p:cNvPr id="3" name="Text 1"/>
          <p:cNvSpPr/>
          <p:nvPr/>
        </p:nvSpPr>
        <p:spPr>
          <a:xfrm>
            <a:off x="365760" y="109728"/>
            <a:ext cx="8229600" cy="50292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ReAct Agent Pattern</a:t>
            </a:r>
            <a:endParaRPr lang="en-US" sz="2800" dirty="0"/>
          </a:p>
        </p:txBody>
      </p:sp>
      <p:sp>
        <p:nvSpPr>
          <p:cNvPr id="4" name="Text 2"/>
          <p:cNvSpPr/>
          <p:nvPr/>
        </p:nvSpPr>
        <p:spPr>
          <a:xfrm>
            <a:off x="365760" y="594360"/>
            <a:ext cx="8229600" cy="274320"/>
          </a:xfrm>
          <a:prstGeom prst="rect">
            <a:avLst/>
          </a:prstGeom>
          <a:noFill/>
          <a:ln/>
        </p:spPr>
        <p:txBody>
          <a:bodyPr wrap="square" rtlCol="0" anchor="ctr"/>
          <a:lstStyle/>
          <a:p>
            <a:pPr marL="0" indent="0">
              <a:buNone/>
            </a:pPr>
            <a:r>
              <a:rPr lang="en-US" sz="1300" i="1" dirty="0">
                <a:solidFill>
                  <a:srgbClr val="8B5CF6"/>
                </a:solidFill>
                <a:latin typeface="Calibri" pitchFamily="34" charset="0"/>
                <a:ea typeface="Calibri" pitchFamily="34" charset="-122"/>
                <a:cs typeface="Calibri" pitchFamily="34" charset="-120"/>
              </a:rPr>
              <a:t>Reason + Act — The Core Loop Behind Most Agents</a:t>
            </a:r>
            <a:endParaRPr lang="en-US" sz="1300" dirty="0"/>
          </a:p>
        </p:txBody>
      </p:sp>
      <p:sp>
        <p:nvSpPr>
          <p:cNvPr id="5" name="Shape 3"/>
          <p:cNvSpPr/>
          <p:nvPr/>
        </p:nvSpPr>
        <p:spPr>
          <a:xfrm>
            <a:off x="914400" y="1005840"/>
            <a:ext cx="2286000" cy="1188720"/>
          </a:xfrm>
          <a:prstGeom prst="roundRect">
            <a:avLst>
              <a:gd name="adj" fmla="val 11538"/>
            </a:avLst>
          </a:prstGeom>
          <a:solidFill>
            <a:srgbClr val="1E293B"/>
          </a:solidFill>
          <a:ln w="25400">
            <a:solidFill>
              <a:srgbClr val="8B5CF6"/>
            </a:solidFill>
            <a:prstDash val="solid"/>
          </a:ln>
        </p:spPr>
        <p:txBody>
          <a:bodyPr/>
          <a:lstStyle/>
          <a:p>
            <a:endParaRPr lang="en-IN"/>
          </a:p>
        </p:txBody>
      </p:sp>
      <p:sp>
        <p:nvSpPr>
          <p:cNvPr id="6" name="Text 4"/>
          <p:cNvSpPr/>
          <p:nvPr/>
        </p:nvSpPr>
        <p:spPr>
          <a:xfrm>
            <a:off x="914400" y="1143000"/>
            <a:ext cx="2286000" cy="411480"/>
          </a:xfrm>
          <a:prstGeom prst="rect">
            <a:avLst/>
          </a:prstGeom>
          <a:noFill/>
          <a:ln/>
        </p:spPr>
        <p:txBody>
          <a:bodyPr wrap="square" rtlCol="0" anchor="ctr"/>
          <a:lstStyle/>
          <a:p>
            <a:pPr marL="0" indent="0" algn="ctr">
              <a:buNone/>
            </a:pPr>
            <a:r>
              <a:rPr lang="en-US" sz="1500" b="1" dirty="0">
                <a:solidFill>
                  <a:srgbClr val="8B5CF6"/>
                </a:solidFill>
                <a:latin typeface="Calibri" pitchFamily="34" charset="0"/>
                <a:ea typeface="Calibri" pitchFamily="34" charset="-122"/>
                <a:cs typeface="Calibri" pitchFamily="34" charset="-120"/>
              </a:rPr>
              <a:t>THOUGHT</a:t>
            </a:r>
            <a:endParaRPr lang="en-US" sz="1500" dirty="0"/>
          </a:p>
        </p:txBody>
      </p:sp>
      <p:sp>
        <p:nvSpPr>
          <p:cNvPr id="7" name="Text 5"/>
          <p:cNvSpPr/>
          <p:nvPr/>
        </p:nvSpPr>
        <p:spPr>
          <a:xfrm>
            <a:off x="914400" y="1554480"/>
            <a:ext cx="2286000" cy="502920"/>
          </a:xfrm>
          <a:prstGeom prst="rect">
            <a:avLst/>
          </a:prstGeom>
          <a:noFill/>
          <a:ln/>
        </p:spPr>
        <p:txBody>
          <a:bodyPr wrap="square" rtlCol="0" anchor="ctr"/>
          <a:lstStyle/>
          <a:p>
            <a:pPr marL="0" indent="0" algn="ctr">
              <a:buNone/>
            </a:pPr>
            <a:r>
              <a:rPr lang="en-US" sz="1000" dirty="0">
                <a:solidFill>
                  <a:srgbClr val="CBD5E1"/>
                </a:solidFill>
                <a:latin typeface="Calibri" pitchFamily="34" charset="0"/>
                <a:ea typeface="Calibri" pitchFamily="34" charset="-122"/>
                <a:cs typeface="Calibri" pitchFamily="34" charset="-120"/>
              </a:rPr>
              <a:t>Reasoning step</a:t>
            </a:r>
            <a:endParaRPr lang="en-US" sz="1000" dirty="0"/>
          </a:p>
          <a:p>
            <a:pPr marL="0" indent="0" algn="ctr">
              <a:buNone/>
            </a:pPr>
            <a:r>
              <a:rPr lang="en-US" sz="1000" dirty="0">
                <a:solidFill>
                  <a:srgbClr val="CBD5E1"/>
                </a:solidFill>
                <a:latin typeface="Calibri" pitchFamily="34" charset="0"/>
                <a:ea typeface="Calibri" pitchFamily="34" charset="-122"/>
                <a:cs typeface="Calibri" pitchFamily="34" charset="-120"/>
              </a:rPr>
              <a:t>(internal planning)</a:t>
            </a:r>
            <a:endParaRPr lang="en-US" sz="1000" dirty="0"/>
          </a:p>
        </p:txBody>
      </p:sp>
      <p:sp>
        <p:nvSpPr>
          <p:cNvPr id="8" name="Shape 6"/>
          <p:cNvSpPr/>
          <p:nvPr/>
        </p:nvSpPr>
        <p:spPr>
          <a:xfrm>
            <a:off x="3840480" y="1005840"/>
            <a:ext cx="2286000" cy="1188720"/>
          </a:xfrm>
          <a:prstGeom prst="roundRect">
            <a:avLst>
              <a:gd name="adj" fmla="val 11538"/>
            </a:avLst>
          </a:prstGeom>
          <a:solidFill>
            <a:srgbClr val="1E293B"/>
          </a:solidFill>
          <a:ln w="25400">
            <a:solidFill>
              <a:srgbClr val="10B981"/>
            </a:solidFill>
            <a:prstDash val="solid"/>
          </a:ln>
        </p:spPr>
        <p:txBody>
          <a:bodyPr/>
          <a:lstStyle/>
          <a:p>
            <a:endParaRPr lang="en-IN"/>
          </a:p>
        </p:txBody>
      </p:sp>
      <p:sp>
        <p:nvSpPr>
          <p:cNvPr id="9" name="Text 7"/>
          <p:cNvSpPr/>
          <p:nvPr/>
        </p:nvSpPr>
        <p:spPr>
          <a:xfrm>
            <a:off x="3840480" y="1143000"/>
            <a:ext cx="2286000" cy="411480"/>
          </a:xfrm>
          <a:prstGeom prst="rect">
            <a:avLst/>
          </a:prstGeom>
          <a:noFill/>
          <a:ln/>
        </p:spPr>
        <p:txBody>
          <a:bodyPr wrap="square" rtlCol="0" anchor="ctr"/>
          <a:lstStyle/>
          <a:p>
            <a:pPr marL="0" indent="0" algn="ctr">
              <a:buNone/>
            </a:pPr>
            <a:r>
              <a:rPr lang="en-US" sz="1500" b="1" dirty="0">
                <a:solidFill>
                  <a:srgbClr val="10B981"/>
                </a:solidFill>
                <a:latin typeface="Calibri" pitchFamily="34" charset="0"/>
                <a:ea typeface="Calibri" pitchFamily="34" charset="-122"/>
                <a:cs typeface="Calibri" pitchFamily="34" charset="-120"/>
              </a:rPr>
              <a:t>ACTION</a:t>
            </a:r>
            <a:endParaRPr lang="en-US" sz="1500" dirty="0"/>
          </a:p>
        </p:txBody>
      </p:sp>
      <p:sp>
        <p:nvSpPr>
          <p:cNvPr id="10" name="Text 8"/>
          <p:cNvSpPr/>
          <p:nvPr/>
        </p:nvSpPr>
        <p:spPr>
          <a:xfrm>
            <a:off x="3840480" y="1554480"/>
            <a:ext cx="2286000" cy="502920"/>
          </a:xfrm>
          <a:prstGeom prst="rect">
            <a:avLst/>
          </a:prstGeom>
          <a:noFill/>
          <a:ln/>
        </p:spPr>
        <p:txBody>
          <a:bodyPr wrap="square" rtlCol="0" anchor="ctr"/>
          <a:lstStyle/>
          <a:p>
            <a:pPr marL="0" indent="0" algn="ctr">
              <a:buNone/>
            </a:pPr>
            <a:r>
              <a:rPr lang="en-US" sz="1000" dirty="0">
                <a:solidFill>
                  <a:srgbClr val="CBD5E1"/>
                </a:solidFill>
                <a:latin typeface="Calibri" pitchFamily="34" charset="0"/>
                <a:ea typeface="Calibri" pitchFamily="34" charset="-122"/>
                <a:cs typeface="Calibri" pitchFamily="34" charset="-120"/>
              </a:rPr>
              <a:t>Call a tool</a:t>
            </a:r>
            <a:endParaRPr lang="en-US" sz="1000" dirty="0"/>
          </a:p>
          <a:p>
            <a:pPr marL="0" indent="0" algn="ctr">
              <a:buNone/>
            </a:pPr>
            <a:r>
              <a:rPr lang="en-US" sz="1000" dirty="0">
                <a:solidFill>
                  <a:srgbClr val="CBD5E1"/>
                </a:solidFill>
                <a:latin typeface="Calibri" pitchFamily="34" charset="0"/>
                <a:ea typeface="Calibri" pitchFamily="34" charset="-122"/>
                <a:cs typeface="Calibri" pitchFamily="34" charset="-120"/>
              </a:rPr>
              <a:t>(API, DB, search)</a:t>
            </a:r>
            <a:endParaRPr lang="en-US" sz="1000" dirty="0"/>
          </a:p>
        </p:txBody>
      </p:sp>
      <p:sp>
        <p:nvSpPr>
          <p:cNvPr id="11" name="Shape 9"/>
          <p:cNvSpPr/>
          <p:nvPr/>
        </p:nvSpPr>
        <p:spPr>
          <a:xfrm>
            <a:off x="2377440" y="2834640"/>
            <a:ext cx="2286000" cy="1188720"/>
          </a:xfrm>
          <a:prstGeom prst="roundRect">
            <a:avLst>
              <a:gd name="adj" fmla="val 11538"/>
            </a:avLst>
          </a:prstGeom>
          <a:solidFill>
            <a:srgbClr val="1E293B"/>
          </a:solidFill>
          <a:ln w="25400">
            <a:solidFill>
              <a:srgbClr val="F59E0B"/>
            </a:solidFill>
            <a:prstDash val="solid"/>
          </a:ln>
        </p:spPr>
        <p:txBody>
          <a:bodyPr/>
          <a:lstStyle/>
          <a:p>
            <a:endParaRPr lang="en-IN"/>
          </a:p>
        </p:txBody>
      </p:sp>
      <p:sp>
        <p:nvSpPr>
          <p:cNvPr id="12" name="Text 10"/>
          <p:cNvSpPr/>
          <p:nvPr/>
        </p:nvSpPr>
        <p:spPr>
          <a:xfrm>
            <a:off x="2377440" y="2971800"/>
            <a:ext cx="2286000" cy="411480"/>
          </a:xfrm>
          <a:prstGeom prst="rect">
            <a:avLst/>
          </a:prstGeom>
          <a:noFill/>
          <a:ln/>
        </p:spPr>
        <p:txBody>
          <a:bodyPr wrap="square" rtlCol="0" anchor="ctr"/>
          <a:lstStyle/>
          <a:p>
            <a:pPr marL="0" indent="0" algn="ctr">
              <a:buNone/>
            </a:pPr>
            <a:r>
              <a:rPr lang="en-US" sz="1500" b="1" dirty="0">
                <a:solidFill>
                  <a:srgbClr val="F59E0B"/>
                </a:solidFill>
                <a:latin typeface="Calibri" pitchFamily="34" charset="0"/>
                <a:ea typeface="Calibri" pitchFamily="34" charset="-122"/>
                <a:cs typeface="Calibri" pitchFamily="34" charset="-120"/>
              </a:rPr>
              <a:t>OBSERVATION</a:t>
            </a:r>
            <a:endParaRPr lang="en-US" sz="1500" dirty="0"/>
          </a:p>
        </p:txBody>
      </p:sp>
      <p:sp>
        <p:nvSpPr>
          <p:cNvPr id="13" name="Text 11"/>
          <p:cNvSpPr/>
          <p:nvPr/>
        </p:nvSpPr>
        <p:spPr>
          <a:xfrm>
            <a:off x="2377440" y="3383280"/>
            <a:ext cx="2286000" cy="502920"/>
          </a:xfrm>
          <a:prstGeom prst="rect">
            <a:avLst/>
          </a:prstGeom>
          <a:noFill/>
          <a:ln/>
        </p:spPr>
        <p:txBody>
          <a:bodyPr wrap="square" rtlCol="0" anchor="ctr"/>
          <a:lstStyle/>
          <a:p>
            <a:pPr marL="0" indent="0" algn="ctr">
              <a:buNone/>
            </a:pPr>
            <a:r>
              <a:rPr lang="en-US" sz="1000" dirty="0">
                <a:solidFill>
                  <a:srgbClr val="CBD5E1"/>
                </a:solidFill>
                <a:latin typeface="Calibri" pitchFamily="34" charset="0"/>
                <a:ea typeface="Calibri" pitchFamily="34" charset="-122"/>
                <a:cs typeface="Calibri" pitchFamily="34" charset="-120"/>
              </a:rPr>
              <a:t>Tool result</a:t>
            </a:r>
            <a:endParaRPr lang="en-US" sz="1000" dirty="0"/>
          </a:p>
          <a:p>
            <a:pPr marL="0" indent="0" algn="ctr">
              <a:buNone/>
            </a:pPr>
            <a:r>
              <a:rPr lang="en-US" sz="1000" dirty="0">
                <a:solidFill>
                  <a:srgbClr val="CBD5E1"/>
                </a:solidFill>
                <a:latin typeface="Calibri" pitchFamily="34" charset="0"/>
                <a:ea typeface="Calibri" pitchFamily="34" charset="-122"/>
                <a:cs typeface="Calibri" pitchFamily="34" charset="-120"/>
              </a:rPr>
              <a:t>(API response)</a:t>
            </a:r>
            <a:endParaRPr lang="en-US" sz="1000" dirty="0"/>
          </a:p>
        </p:txBody>
      </p:sp>
      <p:sp>
        <p:nvSpPr>
          <p:cNvPr id="14" name="Shape 12"/>
          <p:cNvSpPr/>
          <p:nvPr/>
        </p:nvSpPr>
        <p:spPr>
          <a:xfrm>
            <a:off x="3200400" y="1600200"/>
            <a:ext cx="640080" cy="0"/>
          </a:xfrm>
          <a:prstGeom prst="line">
            <a:avLst/>
          </a:prstGeom>
          <a:noFill/>
          <a:ln w="19050">
            <a:solidFill>
              <a:srgbClr val="8B5CF6"/>
            </a:solidFill>
            <a:prstDash val="solid"/>
          </a:ln>
        </p:spPr>
        <p:txBody>
          <a:bodyPr/>
          <a:lstStyle/>
          <a:p>
            <a:endParaRPr lang="en-IN"/>
          </a:p>
        </p:txBody>
      </p:sp>
      <p:sp>
        <p:nvSpPr>
          <p:cNvPr id="15" name="Shape 13"/>
          <p:cNvSpPr/>
          <p:nvPr/>
        </p:nvSpPr>
        <p:spPr>
          <a:xfrm>
            <a:off x="4983480" y="2194560"/>
            <a:ext cx="0" cy="640080"/>
          </a:xfrm>
          <a:prstGeom prst="line">
            <a:avLst/>
          </a:prstGeom>
          <a:noFill/>
          <a:ln w="19050">
            <a:solidFill>
              <a:srgbClr val="10B981"/>
            </a:solidFill>
            <a:prstDash val="solid"/>
          </a:ln>
        </p:spPr>
        <p:txBody>
          <a:bodyPr/>
          <a:lstStyle/>
          <a:p>
            <a:endParaRPr lang="en-IN"/>
          </a:p>
        </p:txBody>
      </p:sp>
      <p:sp>
        <p:nvSpPr>
          <p:cNvPr id="16" name="Shape 14"/>
          <p:cNvSpPr/>
          <p:nvPr/>
        </p:nvSpPr>
        <p:spPr>
          <a:xfrm>
            <a:off x="2148840" y="3429000"/>
            <a:ext cx="228600" cy="0"/>
          </a:xfrm>
          <a:prstGeom prst="line">
            <a:avLst/>
          </a:prstGeom>
          <a:noFill/>
          <a:ln w="19050">
            <a:solidFill>
              <a:srgbClr val="F59E0B"/>
            </a:solidFill>
            <a:prstDash val="solid"/>
          </a:ln>
        </p:spPr>
        <p:txBody>
          <a:bodyPr/>
          <a:lstStyle/>
          <a:p>
            <a:endParaRPr lang="en-IN"/>
          </a:p>
        </p:txBody>
      </p:sp>
      <p:sp>
        <p:nvSpPr>
          <p:cNvPr id="17" name="Shape 15"/>
          <p:cNvSpPr/>
          <p:nvPr/>
        </p:nvSpPr>
        <p:spPr>
          <a:xfrm>
            <a:off x="1143000" y="2194560"/>
            <a:ext cx="0" cy="640080"/>
          </a:xfrm>
          <a:prstGeom prst="line">
            <a:avLst/>
          </a:prstGeom>
          <a:noFill/>
          <a:ln w="19050">
            <a:solidFill>
              <a:srgbClr val="F59E0B"/>
            </a:solidFill>
            <a:prstDash val="solid"/>
          </a:ln>
        </p:spPr>
        <p:txBody>
          <a:bodyPr/>
          <a:lstStyle/>
          <a:p>
            <a:endParaRPr lang="en-IN"/>
          </a:p>
        </p:txBody>
      </p:sp>
      <p:sp>
        <p:nvSpPr>
          <p:cNvPr id="18" name="Text 16"/>
          <p:cNvSpPr/>
          <p:nvPr/>
        </p:nvSpPr>
        <p:spPr>
          <a:xfrm>
            <a:off x="2743200" y="4206240"/>
            <a:ext cx="3657600" cy="274320"/>
          </a:xfrm>
          <a:prstGeom prst="rect">
            <a:avLst/>
          </a:prstGeom>
          <a:noFill/>
          <a:ln/>
        </p:spPr>
        <p:txBody>
          <a:bodyPr wrap="square" rtlCol="0" anchor="ctr"/>
          <a:lstStyle/>
          <a:p>
            <a:pPr marL="0" indent="0" algn="ctr">
              <a:buNone/>
            </a:pPr>
            <a:r>
              <a:rPr lang="en-US" sz="1100" i="1" dirty="0">
                <a:solidFill>
                  <a:srgbClr val="94A3B8"/>
                </a:solidFill>
                <a:latin typeface="Calibri" pitchFamily="34" charset="0"/>
                <a:ea typeface="Calibri" pitchFamily="34" charset="-122"/>
                <a:cs typeface="Calibri" pitchFamily="34" charset="-120"/>
              </a:rPr>
              <a:t>REPEAT UNTIL GOAL ACHIEVED</a:t>
            </a:r>
            <a:endParaRPr lang="en-US" sz="1100" dirty="0"/>
          </a:p>
        </p:txBody>
      </p:sp>
      <p:sp>
        <p:nvSpPr>
          <p:cNvPr id="19" name="Shape 17"/>
          <p:cNvSpPr/>
          <p:nvPr/>
        </p:nvSpPr>
        <p:spPr>
          <a:xfrm>
            <a:off x="6583680" y="914400"/>
            <a:ext cx="2331720" cy="3931920"/>
          </a:xfrm>
          <a:prstGeom prst="roundRect">
            <a:avLst>
              <a:gd name="adj" fmla="val 4706"/>
            </a:avLst>
          </a:prstGeom>
          <a:solidFill>
            <a:srgbClr val="1E293B"/>
          </a:solidFill>
          <a:ln w="12700">
            <a:solidFill>
              <a:srgbClr val="06B6D4"/>
            </a:solidFill>
            <a:prstDash val="solid"/>
          </a:ln>
        </p:spPr>
        <p:txBody>
          <a:bodyPr/>
          <a:lstStyle/>
          <a:p>
            <a:endParaRPr lang="en-IN"/>
          </a:p>
        </p:txBody>
      </p:sp>
      <p:sp>
        <p:nvSpPr>
          <p:cNvPr id="20" name="Text 18"/>
          <p:cNvSpPr/>
          <p:nvPr/>
        </p:nvSpPr>
        <p:spPr>
          <a:xfrm>
            <a:off x="6675120" y="1005840"/>
            <a:ext cx="2148840" cy="320040"/>
          </a:xfrm>
          <a:prstGeom prst="rect">
            <a:avLst/>
          </a:prstGeom>
          <a:noFill/>
          <a:ln/>
        </p:spPr>
        <p:txBody>
          <a:bodyPr wrap="square" rtlCol="0" anchor="ctr"/>
          <a:lstStyle/>
          <a:p>
            <a:pPr marL="0" indent="0">
              <a:buNone/>
            </a:pPr>
            <a:r>
              <a:rPr lang="en-US" sz="1100" b="1" dirty="0">
                <a:solidFill>
                  <a:srgbClr val="06B6D4"/>
                </a:solidFill>
                <a:latin typeface="Calibri" pitchFamily="34" charset="0"/>
                <a:ea typeface="Calibri" pitchFamily="34" charset="-122"/>
                <a:cs typeface="Calibri" pitchFamily="34" charset="-120"/>
              </a:rPr>
              <a:t>Example Walkthrough</a:t>
            </a:r>
            <a:endParaRPr lang="en-US" sz="1100" dirty="0"/>
          </a:p>
        </p:txBody>
      </p:sp>
      <p:sp>
        <p:nvSpPr>
          <p:cNvPr id="21" name="Text 19"/>
          <p:cNvSpPr/>
          <p:nvPr/>
        </p:nvSpPr>
        <p:spPr>
          <a:xfrm>
            <a:off x="6675120" y="1325880"/>
            <a:ext cx="2148840" cy="411480"/>
          </a:xfrm>
          <a:prstGeom prst="rect">
            <a:avLst/>
          </a:prstGeom>
          <a:noFill/>
          <a:ln/>
        </p:spPr>
        <p:txBody>
          <a:bodyPr wrap="square" rtlCol="0" anchor="ctr"/>
          <a:lstStyle/>
          <a:p>
            <a:pPr marL="0" indent="0">
              <a:buNone/>
            </a:pPr>
            <a:r>
              <a:rPr lang="en-US" sz="950" i="1" dirty="0">
                <a:solidFill>
                  <a:srgbClr val="CBD5E1"/>
                </a:solidFill>
                <a:latin typeface="Calibri" pitchFamily="34" charset="0"/>
                <a:ea typeface="Calibri" pitchFamily="34" charset="-122"/>
                <a:cs typeface="Calibri" pitchFamily="34" charset="-120"/>
              </a:rPr>
              <a:t>Task: What is today's weather in Chennai?</a:t>
            </a:r>
            <a:endParaRPr lang="en-US" sz="950" dirty="0"/>
          </a:p>
        </p:txBody>
      </p:sp>
      <p:sp>
        <p:nvSpPr>
          <p:cNvPr id="22" name="Text 20"/>
          <p:cNvSpPr/>
          <p:nvPr/>
        </p:nvSpPr>
        <p:spPr>
          <a:xfrm>
            <a:off x="6675120" y="1828800"/>
            <a:ext cx="2148840" cy="201168"/>
          </a:xfrm>
          <a:prstGeom prst="rect">
            <a:avLst/>
          </a:prstGeom>
          <a:noFill/>
          <a:ln/>
        </p:spPr>
        <p:txBody>
          <a:bodyPr wrap="square" rtlCol="0" anchor="ctr"/>
          <a:lstStyle/>
          <a:p>
            <a:pPr marL="0" indent="0">
              <a:buNone/>
            </a:pPr>
            <a:r>
              <a:rPr lang="en-US" sz="900" b="1" dirty="0">
                <a:solidFill>
                  <a:srgbClr val="8B5CF6"/>
                </a:solidFill>
                <a:latin typeface="Calibri" pitchFamily="34" charset="0"/>
                <a:ea typeface="Calibri" pitchFamily="34" charset="-122"/>
                <a:cs typeface="Calibri" pitchFamily="34" charset="-120"/>
              </a:rPr>
              <a:t>💭 Thought:</a:t>
            </a:r>
            <a:endParaRPr lang="en-US" sz="900" dirty="0"/>
          </a:p>
        </p:txBody>
      </p:sp>
      <p:sp>
        <p:nvSpPr>
          <p:cNvPr id="23" name="Text 21"/>
          <p:cNvSpPr/>
          <p:nvPr/>
        </p:nvSpPr>
        <p:spPr>
          <a:xfrm>
            <a:off x="6675120" y="2011680"/>
            <a:ext cx="2148840" cy="201168"/>
          </a:xfrm>
          <a:prstGeom prst="rect">
            <a:avLst/>
          </a:prstGeom>
          <a:noFill/>
          <a:ln/>
        </p:spPr>
        <p:txBody>
          <a:bodyPr wrap="square" rtlCol="0" anchor="ctr"/>
          <a:lstStyle/>
          <a:p>
            <a:pPr marL="0" indent="0">
              <a:buNone/>
            </a:pPr>
            <a:r>
              <a:rPr lang="en-US" sz="850" i="1" dirty="0">
                <a:solidFill>
                  <a:srgbClr val="CBD5E1"/>
                </a:solidFill>
                <a:latin typeface="Calibri" pitchFamily="34" charset="0"/>
                <a:ea typeface="Calibri" pitchFamily="34" charset="-122"/>
                <a:cs typeface="Calibri" pitchFamily="34" charset="-120"/>
              </a:rPr>
              <a:t>I need to call the weather API for Chennai</a:t>
            </a:r>
            <a:endParaRPr lang="en-US" sz="850" dirty="0"/>
          </a:p>
        </p:txBody>
      </p:sp>
      <p:sp>
        <p:nvSpPr>
          <p:cNvPr id="24" name="Text 22"/>
          <p:cNvSpPr/>
          <p:nvPr/>
        </p:nvSpPr>
        <p:spPr>
          <a:xfrm>
            <a:off x="6675120" y="2258568"/>
            <a:ext cx="2148840" cy="201168"/>
          </a:xfrm>
          <a:prstGeom prst="rect">
            <a:avLst/>
          </a:prstGeom>
          <a:noFill/>
          <a:ln/>
        </p:spPr>
        <p:txBody>
          <a:bodyPr wrap="square" rtlCol="0" anchor="ctr"/>
          <a:lstStyle/>
          <a:p>
            <a:pPr marL="0" indent="0">
              <a:buNone/>
            </a:pPr>
            <a:r>
              <a:rPr lang="en-US" sz="900" b="1" dirty="0">
                <a:solidFill>
                  <a:srgbClr val="10B981"/>
                </a:solidFill>
                <a:latin typeface="Calibri" pitchFamily="34" charset="0"/>
                <a:ea typeface="Calibri" pitchFamily="34" charset="-122"/>
                <a:cs typeface="Calibri" pitchFamily="34" charset="-120"/>
              </a:rPr>
              <a:t>⚡ Action:</a:t>
            </a:r>
            <a:endParaRPr lang="en-US" sz="900" dirty="0"/>
          </a:p>
        </p:txBody>
      </p:sp>
      <p:sp>
        <p:nvSpPr>
          <p:cNvPr id="25" name="Text 23"/>
          <p:cNvSpPr/>
          <p:nvPr/>
        </p:nvSpPr>
        <p:spPr>
          <a:xfrm>
            <a:off x="6675120" y="2441448"/>
            <a:ext cx="2148840" cy="201168"/>
          </a:xfrm>
          <a:prstGeom prst="rect">
            <a:avLst/>
          </a:prstGeom>
          <a:noFill/>
          <a:ln/>
        </p:spPr>
        <p:txBody>
          <a:bodyPr wrap="square" rtlCol="0" anchor="ctr"/>
          <a:lstStyle/>
          <a:p>
            <a:pPr marL="0" indent="0">
              <a:buNone/>
            </a:pPr>
            <a:r>
              <a:rPr lang="en-US" sz="850" i="1" dirty="0">
                <a:solidFill>
                  <a:srgbClr val="CBD5E1"/>
                </a:solidFill>
                <a:latin typeface="Calibri" pitchFamily="34" charset="0"/>
                <a:ea typeface="Calibri" pitchFamily="34" charset="-122"/>
                <a:cs typeface="Calibri" pitchFamily="34" charset="-120"/>
              </a:rPr>
              <a:t>weather_api(city='Chennai')</a:t>
            </a:r>
            <a:endParaRPr lang="en-US" sz="850" dirty="0"/>
          </a:p>
        </p:txBody>
      </p:sp>
      <p:sp>
        <p:nvSpPr>
          <p:cNvPr id="26" name="Text 24"/>
          <p:cNvSpPr/>
          <p:nvPr/>
        </p:nvSpPr>
        <p:spPr>
          <a:xfrm>
            <a:off x="6675120" y="2688336"/>
            <a:ext cx="2148840" cy="201168"/>
          </a:xfrm>
          <a:prstGeom prst="rect">
            <a:avLst/>
          </a:prstGeom>
          <a:noFill/>
          <a:ln/>
        </p:spPr>
        <p:txBody>
          <a:bodyPr wrap="square" rtlCol="0" anchor="ctr"/>
          <a:lstStyle/>
          <a:p>
            <a:pPr marL="0" indent="0">
              <a:buNone/>
            </a:pPr>
            <a:r>
              <a:rPr lang="en-US" sz="900" b="1" dirty="0">
                <a:solidFill>
                  <a:srgbClr val="8B5CF6"/>
                </a:solidFill>
                <a:latin typeface="Calibri" pitchFamily="34" charset="0"/>
                <a:ea typeface="Calibri" pitchFamily="34" charset="-122"/>
                <a:cs typeface="Calibri" pitchFamily="34" charset="-120"/>
              </a:rPr>
              <a:t>👁 Observe:</a:t>
            </a:r>
            <a:endParaRPr lang="en-US" sz="900" dirty="0"/>
          </a:p>
        </p:txBody>
      </p:sp>
      <p:sp>
        <p:nvSpPr>
          <p:cNvPr id="27" name="Text 25"/>
          <p:cNvSpPr/>
          <p:nvPr/>
        </p:nvSpPr>
        <p:spPr>
          <a:xfrm>
            <a:off x="6675120" y="2871216"/>
            <a:ext cx="2148840" cy="201168"/>
          </a:xfrm>
          <a:prstGeom prst="rect">
            <a:avLst/>
          </a:prstGeom>
          <a:noFill/>
          <a:ln/>
        </p:spPr>
        <p:txBody>
          <a:bodyPr wrap="square" rtlCol="0" anchor="ctr"/>
          <a:lstStyle/>
          <a:p>
            <a:pPr marL="0" indent="0">
              <a:buNone/>
            </a:pPr>
            <a:r>
              <a:rPr lang="en-US" sz="850" i="1" dirty="0">
                <a:solidFill>
                  <a:srgbClr val="CBD5E1"/>
                </a:solidFill>
                <a:latin typeface="Calibri" pitchFamily="34" charset="0"/>
                <a:ea typeface="Calibri" pitchFamily="34" charset="-122"/>
                <a:cs typeface="Calibri" pitchFamily="34" charset="-120"/>
              </a:rPr>
              <a:t>{'temp': 34, 'humidity': 78}</a:t>
            </a:r>
            <a:endParaRPr lang="en-US" sz="850" dirty="0"/>
          </a:p>
        </p:txBody>
      </p:sp>
      <p:sp>
        <p:nvSpPr>
          <p:cNvPr id="28" name="Text 26"/>
          <p:cNvSpPr/>
          <p:nvPr/>
        </p:nvSpPr>
        <p:spPr>
          <a:xfrm>
            <a:off x="6675120" y="3118104"/>
            <a:ext cx="2148840" cy="201168"/>
          </a:xfrm>
          <a:prstGeom prst="rect">
            <a:avLst/>
          </a:prstGeom>
          <a:noFill/>
          <a:ln/>
        </p:spPr>
        <p:txBody>
          <a:bodyPr wrap="square" rtlCol="0" anchor="ctr"/>
          <a:lstStyle/>
          <a:p>
            <a:pPr marL="0" indent="0">
              <a:buNone/>
            </a:pPr>
            <a:r>
              <a:rPr lang="en-US" sz="900" b="1" dirty="0">
                <a:solidFill>
                  <a:srgbClr val="F59E0B"/>
                </a:solidFill>
                <a:latin typeface="Calibri" pitchFamily="34" charset="0"/>
                <a:ea typeface="Calibri" pitchFamily="34" charset="-122"/>
                <a:cs typeface="Calibri" pitchFamily="34" charset="-120"/>
              </a:rPr>
              <a:t>💭 Thought:</a:t>
            </a:r>
            <a:endParaRPr lang="en-US" sz="900" dirty="0"/>
          </a:p>
        </p:txBody>
      </p:sp>
      <p:sp>
        <p:nvSpPr>
          <p:cNvPr id="29" name="Text 27"/>
          <p:cNvSpPr/>
          <p:nvPr/>
        </p:nvSpPr>
        <p:spPr>
          <a:xfrm>
            <a:off x="6675120" y="3300984"/>
            <a:ext cx="2148840" cy="201168"/>
          </a:xfrm>
          <a:prstGeom prst="rect">
            <a:avLst/>
          </a:prstGeom>
          <a:noFill/>
          <a:ln/>
        </p:spPr>
        <p:txBody>
          <a:bodyPr wrap="square" rtlCol="0" anchor="ctr"/>
          <a:lstStyle/>
          <a:p>
            <a:pPr marL="0" indent="0">
              <a:buNone/>
            </a:pPr>
            <a:r>
              <a:rPr lang="en-US" sz="850" i="1" dirty="0">
                <a:solidFill>
                  <a:srgbClr val="CBD5E1"/>
                </a:solidFill>
                <a:latin typeface="Calibri" pitchFamily="34" charset="0"/>
                <a:ea typeface="Calibri" pitchFamily="34" charset="-122"/>
                <a:cs typeface="Calibri" pitchFamily="34" charset="-120"/>
              </a:rPr>
              <a:t>Got data. Can now answer.</a:t>
            </a:r>
            <a:endParaRPr lang="en-US" sz="850" dirty="0"/>
          </a:p>
        </p:txBody>
      </p:sp>
      <p:sp>
        <p:nvSpPr>
          <p:cNvPr id="30" name="Text 28"/>
          <p:cNvSpPr/>
          <p:nvPr/>
        </p:nvSpPr>
        <p:spPr>
          <a:xfrm>
            <a:off x="6675120" y="3547872"/>
            <a:ext cx="2148840" cy="201168"/>
          </a:xfrm>
          <a:prstGeom prst="rect">
            <a:avLst/>
          </a:prstGeom>
          <a:noFill/>
          <a:ln/>
        </p:spPr>
        <p:txBody>
          <a:bodyPr wrap="square" rtlCol="0" anchor="ctr"/>
          <a:lstStyle/>
          <a:p>
            <a:pPr marL="0" indent="0">
              <a:buNone/>
            </a:pPr>
            <a:r>
              <a:rPr lang="en-US" sz="900" b="1" dirty="0">
                <a:solidFill>
                  <a:srgbClr val="8B5CF6"/>
                </a:solidFill>
                <a:latin typeface="Calibri" pitchFamily="34" charset="0"/>
                <a:ea typeface="Calibri" pitchFamily="34" charset="-122"/>
                <a:cs typeface="Calibri" pitchFamily="34" charset="-120"/>
              </a:rPr>
              <a:t>✅ Answer:</a:t>
            </a:r>
            <a:endParaRPr lang="en-US" sz="900" dirty="0"/>
          </a:p>
        </p:txBody>
      </p:sp>
      <p:sp>
        <p:nvSpPr>
          <p:cNvPr id="31" name="Text 29"/>
          <p:cNvSpPr/>
          <p:nvPr/>
        </p:nvSpPr>
        <p:spPr>
          <a:xfrm>
            <a:off x="6675120" y="3730752"/>
            <a:ext cx="2148840" cy="201168"/>
          </a:xfrm>
          <a:prstGeom prst="rect">
            <a:avLst/>
          </a:prstGeom>
          <a:noFill/>
          <a:ln/>
        </p:spPr>
        <p:txBody>
          <a:bodyPr wrap="square" rtlCol="0" anchor="ctr"/>
          <a:lstStyle/>
          <a:p>
            <a:pPr marL="0" indent="0">
              <a:buNone/>
            </a:pPr>
            <a:r>
              <a:rPr lang="en-US" sz="850" i="1" dirty="0">
                <a:solidFill>
                  <a:srgbClr val="CBD5E1"/>
                </a:solidFill>
                <a:latin typeface="Calibri" pitchFamily="34" charset="0"/>
                <a:ea typeface="Calibri" pitchFamily="34" charset="-122"/>
                <a:cs typeface="Calibri" pitchFamily="34" charset="-120"/>
              </a:rPr>
              <a:t>Chennai: 34°C, Humid</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59E0B"/>
          </a:solidFill>
          <a:ln w="12700">
            <a:solidFill>
              <a:srgbClr val="F59E0B"/>
            </a:solidFill>
            <a:prstDash val="solid"/>
          </a:ln>
        </p:spPr>
        <p:txBody>
          <a:bodyPr/>
          <a:lstStyle/>
          <a:p>
            <a:endParaRPr lang="en-IN"/>
          </a:p>
        </p:txBody>
      </p:sp>
      <p:sp>
        <p:nvSpPr>
          <p:cNvPr id="3" name="Text 1"/>
          <p:cNvSpPr/>
          <p:nvPr/>
        </p:nvSpPr>
        <p:spPr>
          <a:xfrm>
            <a:off x="365760" y="109728"/>
            <a:ext cx="8229600" cy="50292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Tool Calling</a:t>
            </a:r>
            <a:endParaRPr lang="en-US" sz="2800" dirty="0"/>
          </a:p>
        </p:txBody>
      </p:sp>
      <p:sp>
        <p:nvSpPr>
          <p:cNvPr id="4" name="Text 2"/>
          <p:cNvSpPr/>
          <p:nvPr/>
        </p:nvSpPr>
        <p:spPr>
          <a:xfrm>
            <a:off x="365760" y="594360"/>
            <a:ext cx="8229600" cy="256032"/>
          </a:xfrm>
          <a:prstGeom prst="rect">
            <a:avLst/>
          </a:prstGeom>
          <a:noFill/>
          <a:ln/>
        </p:spPr>
        <p:txBody>
          <a:bodyPr wrap="square" rtlCol="0" anchor="ctr"/>
          <a:lstStyle/>
          <a:p>
            <a:pPr marL="0" indent="0">
              <a:buNone/>
            </a:pPr>
            <a:r>
              <a:rPr lang="en-US" sz="1300" i="1" dirty="0">
                <a:solidFill>
                  <a:srgbClr val="F59E0B"/>
                </a:solidFill>
                <a:latin typeface="Calibri" pitchFamily="34" charset="0"/>
                <a:ea typeface="Calibri" pitchFamily="34" charset="-122"/>
                <a:cs typeface="Calibri" pitchFamily="34" charset="-120"/>
              </a:rPr>
              <a:t>How Agents interact with the external world</a:t>
            </a:r>
            <a:endParaRPr lang="en-US" sz="1300" dirty="0"/>
          </a:p>
        </p:txBody>
      </p:sp>
      <p:sp>
        <p:nvSpPr>
          <p:cNvPr id="5" name="Shape 3"/>
          <p:cNvSpPr/>
          <p:nvPr/>
        </p:nvSpPr>
        <p:spPr>
          <a:xfrm>
            <a:off x="3474720" y="1828800"/>
            <a:ext cx="2194560" cy="1097280"/>
          </a:xfrm>
          <a:prstGeom prst="roundRect">
            <a:avLst>
              <a:gd name="adj" fmla="val 12500"/>
            </a:avLst>
          </a:prstGeom>
          <a:solidFill>
            <a:srgbClr val="1E3A5F"/>
          </a:solidFill>
          <a:ln w="25400">
            <a:solidFill>
              <a:srgbClr val="06B6D4"/>
            </a:solidFill>
            <a:prstDash val="solid"/>
          </a:ln>
        </p:spPr>
        <p:txBody>
          <a:bodyPr/>
          <a:lstStyle/>
          <a:p>
            <a:endParaRPr lang="en-IN"/>
          </a:p>
        </p:txBody>
      </p:sp>
      <p:sp>
        <p:nvSpPr>
          <p:cNvPr id="6" name="Text 4"/>
          <p:cNvSpPr/>
          <p:nvPr/>
        </p:nvSpPr>
        <p:spPr>
          <a:xfrm>
            <a:off x="3474720" y="1965960"/>
            <a:ext cx="2194560" cy="411480"/>
          </a:xfrm>
          <a:prstGeom prst="rect">
            <a:avLst/>
          </a:prstGeom>
          <a:noFill/>
          <a:ln/>
        </p:spPr>
        <p:txBody>
          <a:bodyPr wrap="square" rtlCol="0" anchor="ctr"/>
          <a:lstStyle/>
          <a:p>
            <a:pPr marL="0" indent="0" algn="ctr">
              <a:buNone/>
            </a:pPr>
            <a:r>
              <a:rPr lang="en-US" sz="1600" b="1" dirty="0">
                <a:solidFill>
                  <a:srgbClr val="06B6D4"/>
                </a:solidFill>
                <a:latin typeface="Calibri" pitchFamily="34" charset="0"/>
                <a:ea typeface="Calibri" pitchFamily="34" charset="-122"/>
                <a:cs typeface="Calibri" pitchFamily="34" charset="-120"/>
              </a:rPr>
              <a:t>🤖 AGENT</a:t>
            </a:r>
            <a:endParaRPr lang="en-US" sz="1600" dirty="0"/>
          </a:p>
        </p:txBody>
      </p:sp>
      <p:sp>
        <p:nvSpPr>
          <p:cNvPr id="7" name="Text 5"/>
          <p:cNvSpPr/>
          <p:nvPr/>
        </p:nvSpPr>
        <p:spPr>
          <a:xfrm>
            <a:off x="3474720" y="2377440"/>
            <a:ext cx="2194560" cy="274320"/>
          </a:xfrm>
          <a:prstGeom prst="rect">
            <a:avLst/>
          </a:prstGeom>
          <a:noFill/>
          <a:ln/>
        </p:spPr>
        <p:txBody>
          <a:bodyPr wrap="square" rtlCol="0" anchor="ctr"/>
          <a:lstStyle/>
          <a:p>
            <a:pPr marL="0" indent="0" algn="ctr">
              <a:buNone/>
            </a:pPr>
            <a:r>
              <a:rPr lang="en-US" sz="1000" i="1" dirty="0">
                <a:solidFill>
                  <a:srgbClr val="94A3B8"/>
                </a:solidFill>
                <a:latin typeface="Calibri" pitchFamily="34" charset="0"/>
                <a:ea typeface="Calibri" pitchFamily="34" charset="-122"/>
                <a:cs typeface="Calibri" pitchFamily="34" charset="-120"/>
              </a:rPr>
              <a:t>(LLM Core)</a:t>
            </a:r>
            <a:endParaRPr lang="en-US" sz="1000" dirty="0"/>
          </a:p>
        </p:txBody>
      </p:sp>
      <p:sp>
        <p:nvSpPr>
          <p:cNvPr id="8" name="Shape 6"/>
          <p:cNvSpPr/>
          <p:nvPr/>
        </p:nvSpPr>
        <p:spPr>
          <a:xfrm>
            <a:off x="182880" y="914400"/>
            <a:ext cx="2011680" cy="658368"/>
          </a:xfrm>
          <a:prstGeom prst="roundRect">
            <a:avLst>
              <a:gd name="adj" fmla="val 13889"/>
            </a:avLst>
          </a:prstGeom>
          <a:solidFill>
            <a:srgbClr val="1E293B"/>
          </a:solidFill>
          <a:ln w="12700">
            <a:solidFill>
              <a:srgbClr val="06B6D4"/>
            </a:solidFill>
            <a:prstDash val="solid"/>
          </a:ln>
        </p:spPr>
        <p:txBody>
          <a:bodyPr/>
          <a:lstStyle/>
          <a:p>
            <a:endParaRPr lang="en-IN"/>
          </a:p>
        </p:txBody>
      </p:sp>
      <p:sp>
        <p:nvSpPr>
          <p:cNvPr id="9" name="Text 7"/>
          <p:cNvSpPr/>
          <p:nvPr/>
        </p:nvSpPr>
        <p:spPr>
          <a:xfrm>
            <a:off x="182880" y="1051560"/>
            <a:ext cx="2011680" cy="365760"/>
          </a:xfrm>
          <a:prstGeom prst="rect">
            <a:avLst/>
          </a:prstGeom>
          <a:noFill/>
          <a:ln/>
        </p:spPr>
        <p:txBody>
          <a:bodyPr wrap="square" rtlCol="0" anchor="ctr"/>
          <a:lstStyle/>
          <a:p>
            <a:pPr marL="0" indent="0" algn="ctr">
              <a:buNone/>
            </a:pPr>
            <a:r>
              <a:rPr lang="en-US" sz="1100" b="1" dirty="0">
                <a:solidFill>
                  <a:srgbClr val="06B6D4"/>
                </a:solidFill>
                <a:latin typeface="Calibri" pitchFamily="34" charset="0"/>
                <a:ea typeface="Calibri" pitchFamily="34" charset="-122"/>
                <a:cs typeface="Calibri" pitchFamily="34" charset="-120"/>
              </a:rPr>
              <a:t>🌤 Weather API</a:t>
            </a:r>
            <a:endParaRPr lang="en-US" sz="1100" dirty="0"/>
          </a:p>
        </p:txBody>
      </p:sp>
      <p:sp>
        <p:nvSpPr>
          <p:cNvPr id="10" name="Shape 8"/>
          <p:cNvSpPr/>
          <p:nvPr/>
        </p:nvSpPr>
        <p:spPr>
          <a:xfrm>
            <a:off x="2194560" y="1243584"/>
            <a:ext cx="1280160" cy="0"/>
          </a:xfrm>
          <a:prstGeom prst="line">
            <a:avLst/>
          </a:prstGeom>
          <a:noFill/>
          <a:ln w="9525">
            <a:solidFill>
              <a:srgbClr val="06B6D4">
                <a:alpha val="70000"/>
              </a:srgbClr>
            </a:solidFill>
            <a:prstDash val="sysDot"/>
          </a:ln>
        </p:spPr>
        <p:txBody>
          <a:bodyPr/>
          <a:lstStyle/>
          <a:p>
            <a:endParaRPr lang="en-IN"/>
          </a:p>
        </p:txBody>
      </p:sp>
      <p:sp>
        <p:nvSpPr>
          <p:cNvPr id="11" name="Shape 9"/>
          <p:cNvSpPr/>
          <p:nvPr/>
        </p:nvSpPr>
        <p:spPr>
          <a:xfrm>
            <a:off x="182880" y="2194560"/>
            <a:ext cx="2011680" cy="658368"/>
          </a:xfrm>
          <a:prstGeom prst="roundRect">
            <a:avLst>
              <a:gd name="adj" fmla="val 13889"/>
            </a:avLst>
          </a:prstGeom>
          <a:solidFill>
            <a:srgbClr val="1E293B"/>
          </a:solidFill>
          <a:ln w="12700">
            <a:solidFill>
              <a:srgbClr val="8B5CF6"/>
            </a:solidFill>
            <a:prstDash val="solid"/>
          </a:ln>
        </p:spPr>
        <p:txBody>
          <a:bodyPr/>
          <a:lstStyle/>
          <a:p>
            <a:endParaRPr lang="en-IN"/>
          </a:p>
        </p:txBody>
      </p:sp>
      <p:sp>
        <p:nvSpPr>
          <p:cNvPr id="12" name="Text 10"/>
          <p:cNvSpPr/>
          <p:nvPr/>
        </p:nvSpPr>
        <p:spPr>
          <a:xfrm>
            <a:off x="182880" y="2331720"/>
            <a:ext cx="2011680" cy="365760"/>
          </a:xfrm>
          <a:prstGeom prst="rect">
            <a:avLst/>
          </a:prstGeom>
          <a:noFill/>
          <a:ln/>
        </p:spPr>
        <p:txBody>
          <a:bodyPr wrap="square" rtlCol="0" anchor="ctr"/>
          <a:lstStyle/>
          <a:p>
            <a:pPr marL="0" indent="0" algn="ctr">
              <a:buNone/>
            </a:pPr>
            <a:r>
              <a:rPr lang="en-US" sz="1100" b="1" dirty="0">
                <a:solidFill>
                  <a:srgbClr val="8B5CF6"/>
                </a:solidFill>
                <a:latin typeface="Calibri" pitchFamily="34" charset="0"/>
                <a:ea typeface="Calibri" pitchFamily="34" charset="-122"/>
                <a:cs typeface="Calibri" pitchFamily="34" charset="-120"/>
              </a:rPr>
              <a:t>🔍 Web Search</a:t>
            </a:r>
            <a:endParaRPr lang="en-US" sz="1100" dirty="0"/>
          </a:p>
        </p:txBody>
      </p:sp>
      <p:sp>
        <p:nvSpPr>
          <p:cNvPr id="13" name="Shape 11"/>
          <p:cNvSpPr/>
          <p:nvPr/>
        </p:nvSpPr>
        <p:spPr>
          <a:xfrm>
            <a:off x="2194560" y="2377440"/>
            <a:ext cx="1280160" cy="0"/>
          </a:xfrm>
          <a:prstGeom prst="line">
            <a:avLst/>
          </a:prstGeom>
          <a:noFill/>
          <a:ln w="9525">
            <a:solidFill>
              <a:srgbClr val="8B5CF6">
                <a:alpha val="70000"/>
              </a:srgbClr>
            </a:solidFill>
            <a:prstDash val="sysDot"/>
          </a:ln>
        </p:spPr>
        <p:txBody>
          <a:bodyPr/>
          <a:lstStyle/>
          <a:p>
            <a:endParaRPr lang="en-IN"/>
          </a:p>
        </p:txBody>
      </p:sp>
      <p:sp>
        <p:nvSpPr>
          <p:cNvPr id="14" name="Shape 12"/>
          <p:cNvSpPr/>
          <p:nvPr/>
        </p:nvSpPr>
        <p:spPr>
          <a:xfrm>
            <a:off x="182880" y="3474720"/>
            <a:ext cx="2011680" cy="658368"/>
          </a:xfrm>
          <a:prstGeom prst="roundRect">
            <a:avLst>
              <a:gd name="adj" fmla="val 13889"/>
            </a:avLst>
          </a:prstGeom>
          <a:solidFill>
            <a:srgbClr val="1E293B"/>
          </a:solidFill>
          <a:ln w="12700">
            <a:solidFill>
              <a:srgbClr val="10B981"/>
            </a:solidFill>
            <a:prstDash val="solid"/>
          </a:ln>
        </p:spPr>
        <p:txBody>
          <a:bodyPr/>
          <a:lstStyle/>
          <a:p>
            <a:endParaRPr lang="en-IN"/>
          </a:p>
        </p:txBody>
      </p:sp>
      <p:sp>
        <p:nvSpPr>
          <p:cNvPr id="15" name="Text 13"/>
          <p:cNvSpPr/>
          <p:nvPr/>
        </p:nvSpPr>
        <p:spPr>
          <a:xfrm>
            <a:off x="182880" y="3611880"/>
            <a:ext cx="2011680" cy="365760"/>
          </a:xfrm>
          <a:prstGeom prst="rect">
            <a:avLst/>
          </a:prstGeom>
          <a:noFill/>
          <a:ln/>
        </p:spPr>
        <p:txBody>
          <a:bodyPr wrap="square" rtlCol="0" anchor="ctr"/>
          <a:lstStyle/>
          <a:p>
            <a:pPr marL="0" indent="0" algn="ctr">
              <a:buNone/>
            </a:pPr>
            <a:r>
              <a:rPr lang="en-US" sz="1100" b="1" dirty="0">
                <a:solidFill>
                  <a:srgbClr val="10B981"/>
                </a:solidFill>
                <a:latin typeface="Calibri" pitchFamily="34" charset="0"/>
                <a:ea typeface="Calibri" pitchFamily="34" charset="-122"/>
                <a:cs typeface="Calibri" pitchFamily="34" charset="-120"/>
              </a:rPr>
              <a:t>🗄 Database</a:t>
            </a:r>
            <a:endParaRPr lang="en-US" sz="1100" dirty="0"/>
          </a:p>
        </p:txBody>
      </p:sp>
      <p:sp>
        <p:nvSpPr>
          <p:cNvPr id="16" name="Shape 14"/>
          <p:cNvSpPr/>
          <p:nvPr/>
        </p:nvSpPr>
        <p:spPr>
          <a:xfrm>
            <a:off x="2194560" y="2377440"/>
            <a:ext cx="1280160" cy="0"/>
          </a:xfrm>
          <a:prstGeom prst="line">
            <a:avLst/>
          </a:prstGeom>
          <a:noFill/>
          <a:ln w="9525">
            <a:solidFill>
              <a:srgbClr val="10B981">
                <a:alpha val="70000"/>
              </a:srgbClr>
            </a:solidFill>
            <a:prstDash val="sysDot"/>
          </a:ln>
        </p:spPr>
        <p:txBody>
          <a:bodyPr/>
          <a:lstStyle/>
          <a:p>
            <a:endParaRPr lang="en-IN"/>
          </a:p>
        </p:txBody>
      </p:sp>
      <p:sp>
        <p:nvSpPr>
          <p:cNvPr id="17" name="Shape 15"/>
          <p:cNvSpPr/>
          <p:nvPr/>
        </p:nvSpPr>
        <p:spPr>
          <a:xfrm>
            <a:off x="6583680" y="914400"/>
            <a:ext cx="2011680" cy="658368"/>
          </a:xfrm>
          <a:prstGeom prst="roundRect">
            <a:avLst>
              <a:gd name="adj" fmla="val 13889"/>
            </a:avLst>
          </a:prstGeom>
          <a:solidFill>
            <a:srgbClr val="1E293B"/>
          </a:solidFill>
          <a:ln w="12700">
            <a:solidFill>
              <a:srgbClr val="F59E0B"/>
            </a:solidFill>
            <a:prstDash val="solid"/>
          </a:ln>
        </p:spPr>
        <p:txBody>
          <a:bodyPr/>
          <a:lstStyle/>
          <a:p>
            <a:endParaRPr lang="en-IN"/>
          </a:p>
        </p:txBody>
      </p:sp>
      <p:sp>
        <p:nvSpPr>
          <p:cNvPr id="18" name="Text 16"/>
          <p:cNvSpPr/>
          <p:nvPr/>
        </p:nvSpPr>
        <p:spPr>
          <a:xfrm>
            <a:off x="6583680" y="1051560"/>
            <a:ext cx="2011680" cy="365760"/>
          </a:xfrm>
          <a:prstGeom prst="rect">
            <a:avLst/>
          </a:prstGeom>
          <a:noFill/>
          <a:ln/>
        </p:spPr>
        <p:txBody>
          <a:bodyPr wrap="square" rtlCol="0" anchor="ctr"/>
          <a:lstStyle/>
          <a:p>
            <a:pPr marL="0" indent="0" algn="ctr">
              <a:buNone/>
            </a:pPr>
            <a:r>
              <a:rPr lang="en-US" sz="1100" b="1" dirty="0">
                <a:solidFill>
                  <a:srgbClr val="F59E0B"/>
                </a:solidFill>
                <a:latin typeface="Calibri" pitchFamily="34" charset="0"/>
                <a:ea typeface="Calibri" pitchFamily="34" charset="-122"/>
                <a:cs typeface="Calibri" pitchFamily="34" charset="-120"/>
              </a:rPr>
              <a:t>🧮 Calculator</a:t>
            </a:r>
            <a:endParaRPr lang="en-US" sz="1100" dirty="0"/>
          </a:p>
        </p:txBody>
      </p:sp>
      <p:sp>
        <p:nvSpPr>
          <p:cNvPr id="19" name="Shape 17"/>
          <p:cNvSpPr/>
          <p:nvPr/>
        </p:nvSpPr>
        <p:spPr>
          <a:xfrm>
            <a:off x="5669280" y="1243584"/>
            <a:ext cx="914400" cy="0"/>
          </a:xfrm>
          <a:prstGeom prst="line">
            <a:avLst/>
          </a:prstGeom>
          <a:noFill/>
          <a:ln w="9525">
            <a:solidFill>
              <a:srgbClr val="F59E0B">
                <a:alpha val="70000"/>
              </a:srgbClr>
            </a:solidFill>
            <a:prstDash val="sysDot"/>
          </a:ln>
        </p:spPr>
        <p:txBody>
          <a:bodyPr/>
          <a:lstStyle/>
          <a:p>
            <a:endParaRPr lang="en-IN"/>
          </a:p>
        </p:txBody>
      </p:sp>
      <p:sp>
        <p:nvSpPr>
          <p:cNvPr id="20" name="Shape 18"/>
          <p:cNvSpPr/>
          <p:nvPr/>
        </p:nvSpPr>
        <p:spPr>
          <a:xfrm>
            <a:off x="6583680" y="2194560"/>
            <a:ext cx="2011680" cy="658368"/>
          </a:xfrm>
          <a:prstGeom prst="roundRect">
            <a:avLst>
              <a:gd name="adj" fmla="val 13889"/>
            </a:avLst>
          </a:prstGeom>
          <a:solidFill>
            <a:srgbClr val="1E293B"/>
          </a:solidFill>
          <a:ln w="12700">
            <a:solidFill>
              <a:srgbClr val="EF4444"/>
            </a:solidFill>
            <a:prstDash val="solid"/>
          </a:ln>
        </p:spPr>
        <p:txBody>
          <a:bodyPr/>
          <a:lstStyle/>
          <a:p>
            <a:endParaRPr lang="en-IN"/>
          </a:p>
        </p:txBody>
      </p:sp>
      <p:sp>
        <p:nvSpPr>
          <p:cNvPr id="21" name="Text 19"/>
          <p:cNvSpPr/>
          <p:nvPr/>
        </p:nvSpPr>
        <p:spPr>
          <a:xfrm>
            <a:off x="6583680" y="2331720"/>
            <a:ext cx="2011680" cy="365760"/>
          </a:xfrm>
          <a:prstGeom prst="rect">
            <a:avLst/>
          </a:prstGeom>
          <a:noFill/>
          <a:ln/>
        </p:spPr>
        <p:txBody>
          <a:bodyPr wrap="square" rtlCol="0" anchor="ctr"/>
          <a:lstStyle/>
          <a:p>
            <a:pPr marL="0" indent="0" algn="ctr">
              <a:buNone/>
            </a:pPr>
            <a:r>
              <a:rPr lang="en-US" sz="1100" b="1" dirty="0">
                <a:solidFill>
                  <a:srgbClr val="EF4444"/>
                </a:solidFill>
                <a:latin typeface="Calibri" pitchFamily="34" charset="0"/>
                <a:ea typeface="Calibri" pitchFamily="34" charset="-122"/>
                <a:cs typeface="Calibri" pitchFamily="34" charset="-120"/>
              </a:rPr>
              <a:t>📧 Email Sender</a:t>
            </a:r>
            <a:endParaRPr lang="en-US" sz="1100" dirty="0"/>
          </a:p>
        </p:txBody>
      </p:sp>
      <p:sp>
        <p:nvSpPr>
          <p:cNvPr id="22" name="Shape 20"/>
          <p:cNvSpPr/>
          <p:nvPr/>
        </p:nvSpPr>
        <p:spPr>
          <a:xfrm>
            <a:off x="5669280" y="2377440"/>
            <a:ext cx="914400" cy="0"/>
          </a:xfrm>
          <a:prstGeom prst="line">
            <a:avLst/>
          </a:prstGeom>
          <a:noFill/>
          <a:ln w="9525">
            <a:solidFill>
              <a:srgbClr val="EF4444">
                <a:alpha val="70000"/>
              </a:srgbClr>
            </a:solidFill>
            <a:prstDash val="sysDot"/>
          </a:ln>
        </p:spPr>
        <p:txBody>
          <a:bodyPr/>
          <a:lstStyle/>
          <a:p>
            <a:endParaRPr lang="en-IN"/>
          </a:p>
        </p:txBody>
      </p:sp>
      <p:sp>
        <p:nvSpPr>
          <p:cNvPr id="23" name="Shape 21"/>
          <p:cNvSpPr/>
          <p:nvPr/>
        </p:nvSpPr>
        <p:spPr>
          <a:xfrm>
            <a:off x="6583680" y="3474720"/>
            <a:ext cx="2011680" cy="658368"/>
          </a:xfrm>
          <a:prstGeom prst="roundRect">
            <a:avLst>
              <a:gd name="adj" fmla="val 13889"/>
            </a:avLst>
          </a:prstGeom>
          <a:solidFill>
            <a:srgbClr val="1E293B"/>
          </a:solidFill>
          <a:ln w="12700">
            <a:solidFill>
              <a:srgbClr val="8B5CF6"/>
            </a:solidFill>
            <a:prstDash val="solid"/>
          </a:ln>
        </p:spPr>
        <p:txBody>
          <a:bodyPr/>
          <a:lstStyle/>
          <a:p>
            <a:endParaRPr lang="en-IN"/>
          </a:p>
        </p:txBody>
      </p:sp>
      <p:sp>
        <p:nvSpPr>
          <p:cNvPr id="24" name="Text 22"/>
          <p:cNvSpPr/>
          <p:nvPr/>
        </p:nvSpPr>
        <p:spPr>
          <a:xfrm>
            <a:off x="6583680" y="3611880"/>
            <a:ext cx="2011680" cy="365760"/>
          </a:xfrm>
          <a:prstGeom prst="rect">
            <a:avLst/>
          </a:prstGeom>
          <a:noFill/>
          <a:ln/>
        </p:spPr>
        <p:txBody>
          <a:bodyPr wrap="square" rtlCol="0" anchor="ctr"/>
          <a:lstStyle/>
          <a:p>
            <a:pPr marL="0" indent="0" algn="ctr">
              <a:buNone/>
            </a:pPr>
            <a:r>
              <a:rPr lang="en-US" sz="1100" b="1" dirty="0">
                <a:solidFill>
                  <a:srgbClr val="8B5CF6"/>
                </a:solidFill>
                <a:latin typeface="Calibri" pitchFamily="34" charset="0"/>
                <a:ea typeface="Calibri" pitchFamily="34" charset="-122"/>
                <a:cs typeface="Calibri" pitchFamily="34" charset="-120"/>
              </a:rPr>
              <a:t>💻 Code Runner</a:t>
            </a:r>
            <a:endParaRPr lang="en-US" sz="1100" dirty="0"/>
          </a:p>
        </p:txBody>
      </p:sp>
      <p:sp>
        <p:nvSpPr>
          <p:cNvPr id="25" name="Shape 23"/>
          <p:cNvSpPr/>
          <p:nvPr/>
        </p:nvSpPr>
        <p:spPr>
          <a:xfrm>
            <a:off x="5669280" y="2377440"/>
            <a:ext cx="914400" cy="0"/>
          </a:xfrm>
          <a:prstGeom prst="line">
            <a:avLst/>
          </a:prstGeom>
          <a:noFill/>
          <a:ln w="9525">
            <a:solidFill>
              <a:srgbClr val="8B5CF6">
                <a:alpha val="70000"/>
              </a:srgbClr>
            </a:solidFill>
            <a:prstDash val="sysDot"/>
          </a:ln>
        </p:spPr>
        <p:txBody>
          <a:bodyPr/>
          <a:lstStyle/>
          <a:p>
            <a:endParaRPr lang="en-IN"/>
          </a:p>
        </p:txBody>
      </p:sp>
      <p:sp>
        <p:nvSpPr>
          <p:cNvPr id="26" name="Shape 24"/>
          <p:cNvSpPr/>
          <p:nvPr/>
        </p:nvSpPr>
        <p:spPr>
          <a:xfrm>
            <a:off x="274320" y="4297680"/>
            <a:ext cx="8595360" cy="685800"/>
          </a:xfrm>
          <a:prstGeom prst="roundRect">
            <a:avLst>
              <a:gd name="adj" fmla="val 13333"/>
            </a:avLst>
          </a:prstGeom>
          <a:solidFill>
            <a:srgbClr val="1E293B"/>
          </a:solidFill>
          <a:ln w="12700">
            <a:solidFill>
              <a:srgbClr val="10B981"/>
            </a:solidFill>
            <a:prstDash val="solid"/>
          </a:ln>
        </p:spPr>
        <p:txBody>
          <a:bodyPr/>
          <a:lstStyle/>
          <a:p>
            <a:endParaRPr lang="en-IN"/>
          </a:p>
        </p:txBody>
      </p:sp>
      <p:sp>
        <p:nvSpPr>
          <p:cNvPr id="27" name="Text 25"/>
          <p:cNvSpPr/>
          <p:nvPr/>
        </p:nvSpPr>
        <p:spPr>
          <a:xfrm>
            <a:off x="457200" y="4389120"/>
            <a:ext cx="1645920" cy="457200"/>
          </a:xfrm>
          <a:prstGeom prst="rect">
            <a:avLst/>
          </a:prstGeom>
          <a:noFill/>
          <a:ln/>
        </p:spPr>
        <p:txBody>
          <a:bodyPr wrap="square" rtlCol="0" anchor="ctr"/>
          <a:lstStyle/>
          <a:p>
            <a:pPr marL="0" indent="0">
              <a:buNone/>
            </a:pPr>
            <a:r>
              <a:rPr lang="en-US" sz="1100" b="1" dirty="0">
                <a:solidFill>
                  <a:srgbClr val="10B981"/>
                </a:solidFill>
                <a:latin typeface="Calibri" pitchFamily="34" charset="0"/>
                <a:ea typeface="Calibri" pitchFamily="34" charset="-122"/>
                <a:cs typeface="Calibri" pitchFamily="34" charset="-120"/>
              </a:rPr>
              <a:t>How It Works:  </a:t>
            </a:r>
            <a:endParaRPr lang="en-US" sz="1100" dirty="0"/>
          </a:p>
        </p:txBody>
      </p:sp>
      <p:sp>
        <p:nvSpPr>
          <p:cNvPr id="28" name="Text 26"/>
          <p:cNvSpPr/>
          <p:nvPr/>
        </p:nvSpPr>
        <p:spPr>
          <a:xfrm>
            <a:off x="2011680" y="4407408"/>
            <a:ext cx="6675120" cy="457200"/>
          </a:xfrm>
          <a:prstGeom prst="rect">
            <a:avLst/>
          </a:prstGeom>
          <a:noFill/>
          <a:ln/>
        </p:spPr>
        <p:txBody>
          <a:bodyPr wrap="square" rtlCol="0" anchor="ctr"/>
          <a:lstStyle/>
          <a:p>
            <a:pPr marL="0" indent="0">
              <a:buNone/>
            </a:pPr>
            <a:r>
              <a:rPr lang="en-US" sz="1050" dirty="0">
                <a:solidFill>
                  <a:srgbClr val="CBD5E1"/>
                </a:solidFill>
                <a:latin typeface="Calibri" pitchFamily="34" charset="0"/>
                <a:ea typeface="Calibri" pitchFamily="34" charset="-122"/>
                <a:cs typeface="Calibri" pitchFamily="34" charset="-120"/>
              </a:rPr>
              <a:t>LLM decides tool to call  →  passes structured JSON args  →  tool executes  →  result returned  →  LLM uses result to continue</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8B5CF6"/>
          </a:solidFill>
          <a:ln w="12700">
            <a:solidFill>
              <a:srgbClr val="8B5CF6"/>
            </a:solidFill>
            <a:prstDash val="solid"/>
          </a:ln>
        </p:spPr>
        <p:txBody>
          <a:bodyPr/>
          <a:lstStyle/>
          <a:p>
            <a:endParaRPr lang="en-IN"/>
          </a:p>
        </p:txBody>
      </p:sp>
      <p:sp>
        <p:nvSpPr>
          <p:cNvPr id="3" name="Text 1"/>
          <p:cNvSpPr/>
          <p:nvPr/>
        </p:nvSpPr>
        <p:spPr>
          <a:xfrm>
            <a:off x="365760" y="109728"/>
            <a:ext cx="8229600" cy="50292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MCP — Model Context Protocol</a:t>
            </a:r>
            <a:endParaRPr lang="en-US" sz="2800" dirty="0"/>
          </a:p>
        </p:txBody>
      </p:sp>
      <p:sp>
        <p:nvSpPr>
          <p:cNvPr id="4" name="Shape 2"/>
          <p:cNvSpPr/>
          <p:nvPr/>
        </p:nvSpPr>
        <p:spPr>
          <a:xfrm>
            <a:off x="274320" y="685800"/>
            <a:ext cx="8595360" cy="658368"/>
          </a:xfrm>
          <a:prstGeom prst="roundRect">
            <a:avLst>
              <a:gd name="adj" fmla="val 13889"/>
            </a:avLst>
          </a:prstGeom>
          <a:solidFill>
            <a:srgbClr val="0A1828"/>
          </a:solidFill>
          <a:ln w="19050">
            <a:solidFill>
              <a:srgbClr val="8B5CF6"/>
            </a:solidFill>
            <a:prstDash val="solid"/>
          </a:ln>
        </p:spPr>
        <p:txBody>
          <a:bodyPr/>
          <a:lstStyle/>
          <a:p>
            <a:endParaRPr lang="en-IN"/>
          </a:p>
        </p:txBody>
      </p:sp>
      <p:sp>
        <p:nvSpPr>
          <p:cNvPr id="5" name="Text 3"/>
          <p:cNvSpPr/>
          <p:nvPr/>
        </p:nvSpPr>
        <p:spPr>
          <a:xfrm>
            <a:off x="457200" y="758952"/>
            <a:ext cx="8229600" cy="512064"/>
          </a:xfrm>
          <a:prstGeom prst="rect">
            <a:avLst/>
          </a:prstGeom>
          <a:noFill/>
          <a:ln/>
        </p:spPr>
        <p:txBody>
          <a:bodyPr wrap="square" rtlCol="0" anchor="ctr"/>
          <a:lstStyle/>
          <a:p>
            <a:pPr marL="0" indent="0">
              <a:buNone/>
            </a:pPr>
            <a:r>
              <a:rPr lang="en-US" sz="1200" dirty="0">
                <a:solidFill>
                  <a:srgbClr val="CBD5E1"/>
                </a:solidFill>
                <a:latin typeface="Calibri" pitchFamily="34" charset="0"/>
                <a:ea typeface="Calibri" pitchFamily="34" charset="-122"/>
                <a:cs typeface="Calibri" pitchFamily="34" charset="-120"/>
              </a:rPr>
              <a:t>MCP is an open protocol by Anthropic that standardizes how AI models connect to external tools, data sources, and services — like USB for AI.</a:t>
            </a:r>
            <a:endParaRPr lang="en-US" sz="1200" dirty="0"/>
          </a:p>
        </p:txBody>
      </p:sp>
      <p:sp>
        <p:nvSpPr>
          <p:cNvPr id="6" name="Shape 4"/>
          <p:cNvSpPr/>
          <p:nvPr/>
        </p:nvSpPr>
        <p:spPr>
          <a:xfrm>
            <a:off x="274320" y="1463040"/>
            <a:ext cx="2468880" cy="3200400"/>
          </a:xfrm>
          <a:prstGeom prst="roundRect">
            <a:avLst>
              <a:gd name="adj" fmla="val 4444"/>
            </a:avLst>
          </a:prstGeom>
          <a:solidFill>
            <a:srgbClr val="1E293B"/>
          </a:solidFill>
          <a:ln w="19050">
            <a:solidFill>
              <a:srgbClr val="06B6D4"/>
            </a:solidFill>
            <a:prstDash val="solid"/>
          </a:ln>
        </p:spPr>
        <p:txBody>
          <a:bodyPr/>
          <a:lstStyle/>
          <a:p>
            <a:endParaRPr lang="en-IN"/>
          </a:p>
        </p:txBody>
      </p:sp>
      <p:sp>
        <p:nvSpPr>
          <p:cNvPr id="7" name="Text 5"/>
          <p:cNvSpPr/>
          <p:nvPr/>
        </p:nvSpPr>
        <p:spPr>
          <a:xfrm>
            <a:off x="274320" y="1536192"/>
            <a:ext cx="2468880" cy="384048"/>
          </a:xfrm>
          <a:prstGeom prst="rect">
            <a:avLst/>
          </a:prstGeom>
          <a:noFill/>
          <a:ln/>
        </p:spPr>
        <p:txBody>
          <a:bodyPr wrap="square" rtlCol="0" anchor="ctr"/>
          <a:lstStyle/>
          <a:p>
            <a:pPr marL="0" indent="0" algn="ctr">
              <a:buNone/>
            </a:pPr>
            <a:r>
              <a:rPr lang="en-US" sz="1200" b="1" dirty="0">
                <a:solidFill>
                  <a:srgbClr val="06B6D4"/>
                </a:solidFill>
                <a:latin typeface="Calibri" pitchFamily="34" charset="0"/>
                <a:ea typeface="Calibri" pitchFamily="34" charset="-122"/>
                <a:cs typeface="Calibri" pitchFamily="34" charset="-120"/>
              </a:rPr>
              <a:t>MCP CLIENT</a:t>
            </a:r>
            <a:endParaRPr lang="en-US" sz="1200" dirty="0"/>
          </a:p>
        </p:txBody>
      </p:sp>
      <p:sp>
        <p:nvSpPr>
          <p:cNvPr id="8" name="Shape 6"/>
          <p:cNvSpPr/>
          <p:nvPr/>
        </p:nvSpPr>
        <p:spPr>
          <a:xfrm>
            <a:off x="457200" y="2029968"/>
            <a:ext cx="2103120" cy="475488"/>
          </a:xfrm>
          <a:prstGeom prst="roundRect">
            <a:avLst>
              <a:gd name="adj" fmla="val 13462"/>
            </a:avLst>
          </a:prstGeom>
          <a:solidFill>
            <a:srgbClr val="0F172A"/>
          </a:solidFill>
          <a:ln w="6350">
            <a:solidFill>
              <a:srgbClr val="06B6D4"/>
            </a:solidFill>
            <a:prstDash val="solid"/>
          </a:ln>
        </p:spPr>
        <p:txBody>
          <a:bodyPr/>
          <a:lstStyle/>
          <a:p>
            <a:endParaRPr lang="en-IN"/>
          </a:p>
        </p:txBody>
      </p:sp>
      <p:sp>
        <p:nvSpPr>
          <p:cNvPr id="9" name="Text 7"/>
          <p:cNvSpPr/>
          <p:nvPr/>
        </p:nvSpPr>
        <p:spPr>
          <a:xfrm>
            <a:off x="457200" y="2029968"/>
            <a:ext cx="2103120" cy="475488"/>
          </a:xfrm>
          <a:prstGeom prst="rect">
            <a:avLst/>
          </a:prstGeom>
          <a:noFill/>
          <a:ln/>
        </p:spPr>
        <p:txBody>
          <a:bodyPr wrap="square" rtlCol="0" anchor="ctr"/>
          <a:lstStyle/>
          <a:p>
            <a:pPr marL="0" indent="0" algn="ctr">
              <a:buNone/>
            </a:pPr>
            <a:r>
              <a:rPr lang="en-US" sz="1050" dirty="0">
                <a:solidFill>
                  <a:srgbClr val="CBD5E1"/>
                </a:solidFill>
                <a:latin typeface="Calibri" pitchFamily="34" charset="0"/>
                <a:ea typeface="Calibri" pitchFamily="34" charset="-122"/>
                <a:cs typeface="Calibri" pitchFamily="34" charset="-120"/>
              </a:rPr>
              <a:t>Claude / GPT</a:t>
            </a:r>
            <a:endParaRPr lang="en-US" sz="1050" dirty="0"/>
          </a:p>
        </p:txBody>
      </p:sp>
      <p:sp>
        <p:nvSpPr>
          <p:cNvPr id="10" name="Shape 8"/>
          <p:cNvSpPr/>
          <p:nvPr/>
        </p:nvSpPr>
        <p:spPr>
          <a:xfrm>
            <a:off x="457200" y="2651760"/>
            <a:ext cx="2103120" cy="475488"/>
          </a:xfrm>
          <a:prstGeom prst="roundRect">
            <a:avLst>
              <a:gd name="adj" fmla="val 13462"/>
            </a:avLst>
          </a:prstGeom>
          <a:solidFill>
            <a:srgbClr val="0F172A"/>
          </a:solidFill>
          <a:ln w="6350">
            <a:solidFill>
              <a:srgbClr val="06B6D4"/>
            </a:solidFill>
            <a:prstDash val="solid"/>
          </a:ln>
        </p:spPr>
        <p:txBody>
          <a:bodyPr/>
          <a:lstStyle/>
          <a:p>
            <a:endParaRPr lang="en-IN"/>
          </a:p>
        </p:txBody>
      </p:sp>
      <p:sp>
        <p:nvSpPr>
          <p:cNvPr id="11" name="Text 9"/>
          <p:cNvSpPr/>
          <p:nvPr/>
        </p:nvSpPr>
        <p:spPr>
          <a:xfrm>
            <a:off x="457200" y="2651760"/>
            <a:ext cx="2103120" cy="475488"/>
          </a:xfrm>
          <a:prstGeom prst="rect">
            <a:avLst/>
          </a:prstGeom>
          <a:noFill/>
          <a:ln/>
        </p:spPr>
        <p:txBody>
          <a:bodyPr wrap="square" rtlCol="0" anchor="ctr"/>
          <a:lstStyle/>
          <a:p>
            <a:pPr marL="0" indent="0" algn="ctr">
              <a:buNone/>
            </a:pPr>
            <a:r>
              <a:rPr lang="en-US" sz="1050" dirty="0">
                <a:solidFill>
                  <a:srgbClr val="CBD5E1"/>
                </a:solidFill>
                <a:latin typeface="Calibri" pitchFamily="34" charset="0"/>
                <a:ea typeface="Calibri" pitchFamily="34" charset="-122"/>
                <a:cs typeface="Calibri" pitchFamily="34" charset="-120"/>
              </a:rPr>
              <a:t>Agent App</a:t>
            </a:r>
            <a:endParaRPr lang="en-US" sz="1050" dirty="0"/>
          </a:p>
        </p:txBody>
      </p:sp>
      <p:sp>
        <p:nvSpPr>
          <p:cNvPr id="12" name="Shape 10"/>
          <p:cNvSpPr/>
          <p:nvPr/>
        </p:nvSpPr>
        <p:spPr>
          <a:xfrm>
            <a:off x="457200" y="3273552"/>
            <a:ext cx="2103120" cy="475488"/>
          </a:xfrm>
          <a:prstGeom prst="roundRect">
            <a:avLst>
              <a:gd name="adj" fmla="val 13462"/>
            </a:avLst>
          </a:prstGeom>
          <a:solidFill>
            <a:srgbClr val="0F172A"/>
          </a:solidFill>
          <a:ln w="6350">
            <a:solidFill>
              <a:srgbClr val="06B6D4"/>
            </a:solidFill>
            <a:prstDash val="solid"/>
          </a:ln>
        </p:spPr>
        <p:txBody>
          <a:bodyPr/>
          <a:lstStyle/>
          <a:p>
            <a:endParaRPr lang="en-IN"/>
          </a:p>
        </p:txBody>
      </p:sp>
      <p:sp>
        <p:nvSpPr>
          <p:cNvPr id="13" name="Text 11"/>
          <p:cNvSpPr/>
          <p:nvPr/>
        </p:nvSpPr>
        <p:spPr>
          <a:xfrm>
            <a:off x="457200" y="3273552"/>
            <a:ext cx="2103120" cy="475488"/>
          </a:xfrm>
          <a:prstGeom prst="rect">
            <a:avLst/>
          </a:prstGeom>
          <a:noFill/>
          <a:ln/>
        </p:spPr>
        <p:txBody>
          <a:bodyPr wrap="square" rtlCol="0" anchor="ctr"/>
          <a:lstStyle/>
          <a:p>
            <a:pPr marL="0" indent="0" algn="ctr">
              <a:buNone/>
            </a:pPr>
            <a:r>
              <a:rPr lang="en-US" sz="1050" dirty="0">
                <a:solidFill>
                  <a:srgbClr val="CBD5E1"/>
                </a:solidFill>
                <a:latin typeface="Calibri" pitchFamily="34" charset="0"/>
                <a:ea typeface="Calibri" pitchFamily="34" charset="-122"/>
                <a:cs typeface="Calibri" pitchFamily="34" charset="-120"/>
              </a:rPr>
              <a:t>IDE Plugin</a:t>
            </a:r>
            <a:endParaRPr lang="en-US" sz="1050" dirty="0"/>
          </a:p>
        </p:txBody>
      </p:sp>
      <p:sp>
        <p:nvSpPr>
          <p:cNvPr id="14" name="Shape 12"/>
          <p:cNvSpPr/>
          <p:nvPr/>
        </p:nvSpPr>
        <p:spPr>
          <a:xfrm>
            <a:off x="457200" y="3895344"/>
            <a:ext cx="2103120" cy="475488"/>
          </a:xfrm>
          <a:prstGeom prst="roundRect">
            <a:avLst>
              <a:gd name="adj" fmla="val 13462"/>
            </a:avLst>
          </a:prstGeom>
          <a:solidFill>
            <a:srgbClr val="0F172A"/>
          </a:solidFill>
          <a:ln w="6350">
            <a:solidFill>
              <a:srgbClr val="06B6D4"/>
            </a:solidFill>
            <a:prstDash val="solid"/>
          </a:ln>
        </p:spPr>
        <p:txBody>
          <a:bodyPr/>
          <a:lstStyle/>
          <a:p>
            <a:endParaRPr lang="en-IN"/>
          </a:p>
        </p:txBody>
      </p:sp>
      <p:sp>
        <p:nvSpPr>
          <p:cNvPr id="15" name="Text 13"/>
          <p:cNvSpPr/>
          <p:nvPr/>
        </p:nvSpPr>
        <p:spPr>
          <a:xfrm>
            <a:off x="457200" y="3895344"/>
            <a:ext cx="2103120" cy="475488"/>
          </a:xfrm>
          <a:prstGeom prst="rect">
            <a:avLst/>
          </a:prstGeom>
          <a:noFill/>
          <a:ln/>
        </p:spPr>
        <p:txBody>
          <a:bodyPr wrap="square" rtlCol="0" anchor="ctr"/>
          <a:lstStyle/>
          <a:p>
            <a:pPr marL="0" indent="0" algn="ctr">
              <a:buNone/>
            </a:pPr>
            <a:r>
              <a:rPr lang="en-US" sz="1050" dirty="0">
                <a:solidFill>
                  <a:srgbClr val="CBD5E1"/>
                </a:solidFill>
                <a:latin typeface="Calibri" pitchFamily="34" charset="0"/>
                <a:ea typeface="Calibri" pitchFamily="34" charset="-122"/>
                <a:cs typeface="Calibri" pitchFamily="34" charset="-120"/>
              </a:rPr>
              <a:t>Web UI</a:t>
            </a:r>
            <a:endParaRPr lang="en-US" sz="1050" dirty="0"/>
          </a:p>
        </p:txBody>
      </p:sp>
      <p:sp>
        <p:nvSpPr>
          <p:cNvPr id="16" name="Shape 14"/>
          <p:cNvSpPr/>
          <p:nvPr/>
        </p:nvSpPr>
        <p:spPr>
          <a:xfrm>
            <a:off x="3017520" y="1828800"/>
            <a:ext cx="3108960" cy="2468880"/>
          </a:xfrm>
          <a:prstGeom prst="roundRect">
            <a:avLst>
              <a:gd name="adj" fmla="val 5556"/>
            </a:avLst>
          </a:prstGeom>
          <a:solidFill>
            <a:srgbClr val="0A1828"/>
          </a:solidFill>
          <a:ln w="25400">
            <a:solidFill>
              <a:srgbClr val="8B5CF6"/>
            </a:solidFill>
            <a:prstDash val="solid"/>
          </a:ln>
        </p:spPr>
        <p:txBody>
          <a:bodyPr/>
          <a:lstStyle/>
          <a:p>
            <a:endParaRPr lang="en-IN"/>
          </a:p>
        </p:txBody>
      </p:sp>
      <p:sp>
        <p:nvSpPr>
          <p:cNvPr id="17" name="Text 15"/>
          <p:cNvSpPr/>
          <p:nvPr/>
        </p:nvSpPr>
        <p:spPr>
          <a:xfrm>
            <a:off x="3017520" y="1901952"/>
            <a:ext cx="3108960" cy="384048"/>
          </a:xfrm>
          <a:prstGeom prst="rect">
            <a:avLst/>
          </a:prstGeom>
          <a:noFill/>
          <a:ln/>
        </p:spPr>
        <p:txBody>
          <a:bodyPr wrap="square" rtlCol="0" anchor="ctr"/>
          <a:lstStyle/>
          <a:p>
            <a:pPr marL="0" indent="0" algn="ctr">
              <a:buNone/>
            </a:pPr>
            <a:r>
              <a:rPr lang="en-US" sz="1200" b="1" dirty="0">
                <a:solidFill>
                  <a:srgbClr val="8B5CF6"/>
                </a:solidFill>
                <a:latin typeface="Calibri" pitchFamily="34" charset="0"/>
                <a:ea typeface="Calibri" pitchFamily="34" charset="-122"/>
                <a:cs typeface="Calibri" pitchFamily="34" charset="-120"/>
              </a:rPr>
              <a:t>MCP PROTOCOL</a:t>
            </a:r>
            <a:endParaRPr lang="en-US" sz="1200" dirty="0"/>
          </a:p>
        </p:txBody>
      </p:sp>
      <p:sp>
        <p:nvSpPr>
          <p:cNvPr id="18" name="Shape 16"/>
          <p:cNvSpPr/>
          <p:nvPr/>
        </p:nvSpPr>
        <p:spPr>
          <a:xfrm>
            <a:off x="3246120" y="2377440"/>
            <a:ext cx="2651760" cy="457200"/>
          </a:xfrm>
          <a:prstGeom prst="roundRect">
            <a:avLst>
              <a:gd name="adj" fmla="val 14000"/>
            </a:avLst>
          </a:prstGeom>
          <a:solidFill>
            <a:srgbClr val="1E293B"/>
          </a:solidFill>
          <a:ln w="9525">
            <a:solidFill>
              <a:srgbClr val="10B981"/>
            </a:solidFill>
            <a:prstDash val="solid"/>
          </a:ln>
        </p:spPr>
        <p:txBody>
          <a:bodyPr/>
          <a:lstStyle/>
          <a:p>
            <a:endParaRPr lang="en-IN"/>
          </a:p>
        </p:txBody>
      </p:sp>
      <p:sp>
        <p:nvSpPr>
          <p:cNvPr id="19" name="Text 17"/>
          <p:cNvSpPr/>
          <p:nvPr/>
        </p:nvSpPr>
        <p:spPr>
          <a:xfrm>
            <a:off x="3246120" y="2377440"/>
            <a:ext cx="2651760" cy="457200"/>
          </a:xfrm>
          <a:prstGeom prst="rect">
            <a:avLst/>
          </a:prstGeom>
          <a:noFill/>
          <a:ln/>
        </p:spPr>
        <p:txBody>
          <a:bodyPr wrap="square" rtlCol="0" anchor="ctr"/>
          <a:lstStyle/>
          <a:p>
            <a:pPr marL="0" indent="0" algn="ctr">
              <a:buNone/>
            </a:pPr>
            <a:r>
              <a:rPr lang="en-US" sz="1000" dirty="0">
                <a:solidFill>
                  <a:srgbClr val="10B981"/>
                </a:solidFill>
                <a:latin typeface="Calibri" pitchFamily="34" charset="0"/>
                <a:ea typeface="Calibri" pitchFamily="34" charset="-122"/>
                <a:cs typeface="Calibri" pitchFamily="34" charset="-120"/>
              </a:rPr>
              <a:t>Tools  — executable functions</a:t>
            </a:r>
            <a:endParaRPr lang="en-US" sz="1000" dirty="0"/>
          </a:p>
        </p:txBody>
      </p:sp>
      <p:sp>
        <p:nvSpPr>
          <p:cNvPr id="20" name="Shape 18"/>
          <p:cNvSpPr/>
          <p:nvPr/>
        </p:nvSpPr>
        <p:spPr>
          <a:xfrm>
            <a:off x="3246120" y="2907792"/>
            <a:ext cx="2651760" cy="457200"/>
          </a:xfrm>
          <a:prstGeom prst="roundRect">
            <a:avLst>
              <a:gd name="adj" fmla="val 14000"/>
            </a:avLst>
          </a:prstGeom>
          <a:solidFill>
            <a:srgbClr val="1E293B"/>
          </a:solidFill>
          <a:ln w="9525">
            <a:solidFill>
              <a:srgbClr val="F59E0B"/>
            </a:solidFill>
            <a:prstDash val="solid"/>
          </a:ln>
        </p:spPr>
        <p:txBody>
          <a:bodyPr/>
          <a:lstStyle/>
          <a:p>
            <a:endParaRPr lang="en-IN"/>
          </a:p>
        </p:txBody>
      </p:sp>
      <p:sp>
        <p:nvSpPr>
          <p:cNvPr id="21" name="Text 19"/>
          <p:cNvSpPr/>
          <p:nvPr/>
        </p:nvSpPr>
        <p:spPr>
          <a:xfrm>
            <a:off x="3246120" y="2907792"/>
            <a:ext cx="2651760" cy="457200"/>
          </a:xfrm>
          <a:prstGeom prst="rect">
            <a:avLst/>
          </a:prstGeom>
          <a:noFill/>
          <a:ln/>
        </p:spPr>
        <p:txBody>
          <a:bodyPr wrap="square" rtlCol="0" anchor="ctr"/>
          <a:lstStyle/>
          <a:p>
            <a:pPr marL="0" indent="0" algn="ctr">
              <a:buNone/>
            </a:pPr>
            <a:r>
              <a:rPr lang="en-US" sz="1000" dirty="0">
                <a:solidFill>
                  <a:srgbClr val="F59E0B"/>
                </a:solidFill>
                <a:latin typeface="Calibri" pitchFamily="34" charset="0"/>
                <a:ea typeface="Calibri" pitchFamily="34" charset="-122"/>
                <a:cs typeface="Calibri" pitchFamily="34" charset="-120"/>
              </a:rPr>
              <a:t>Resources — data/files</a:t>
            </a:r>
            <a:endParaRPr lang="en-US" sz="1000" dirty="0"/>
          </a:p>
        </p:txBody>
      </p:sp>
      <p:sp>
        <p:nvSpPr>
          <p:cNvPr id="22" name="Shape 20"/>
          <p:cNvSpPr/>
          <p:nvPr/>
        </p:nvSpPr>
        <p:spPr>
          <a:xfrm>
            <a:off x="3246120" y="3438144"/>
            <a:ext cx="2651760" cy="457200"/>
          </a:xfrm>
          <a:prstGeom prst="roundRect">
            <a:avLst>
              <a:gd name="adj" fmla="val 14000"/>
            </a:avLst>
          </a:prstGeom>
          <a:solidFill>
            <a:srgbClr val="1E293B"/>
          </a:solidFill>
          <a:ln w="9525">
            <a:solidFill>
              <a:srgbClr val="06B6D4"/>
            </a:solidFill>
            <a:prstDash val="solid"/>
          </a:ln>
        </p:spPr>
        <p:txBody>
          <a:bodyPr/>
          <a:lstStyle/>
          <a:p>
            <a:endParaRPr lang="en-IN"/>
          </a:p>
        </p:txBody>
      </p:sp>
      <p:sp>
        <p:nvSpPr>
          <p:cNvPr id="23" name="Text 21"/>
          <p:cNvSpPr/>
          <p:nvPr/>
        </p:nvSpPr>
        <p:spPr>
          <a:xfrm>
            <a:off x="3246120" y="3438144"/>
            <a:ext cx="2651760" cy="457200"/>
          </a:xfrm>
          <a:prstGeom prst="rect">
            <a:avLst/>
          </a:prstGeom>
          <a:noFill/>
          <a:ln/>
        </p:spPr>
        <p:txBody>
          <a:bodyPr wrap="square" rtlCol="0" anchor="ctr"/>
          <a:lstStyle/>
          <a:p>
            <a:pPr marL="0" indent="0" algn="ctr">
              <a:buNone/>
            </a:pPr>
            <a:r>
              <a:rPr lang="en-US" sz="1000" dirty="0">
                <a:solidFill>
                  <a:srgbClr val="06B6D4"/>
                </a:solidFill>
                <a:latin typeface="Calibri" pitchFamily="34" charset="0"/>
                <a:ea typeface="Calibri" pitchFamily="34" charset="-122"/>
                <a:cs typeface="Calibri" pitchFamily="34" charset="-120"/>
              </a:rPr>
              <a:t>Prompts — reusable templates</a:t>
            </a:r>
            <a:endParaRPr lang="en-US" sz="1000" dirty="0"/>
          </a:p>
        </p:txBody>
      </p:sp>
      <p:sp>
        <p:nvSpPr>
          <p:cNvPr id="24" name="Shape 22"/>
          <p:cNvSpPr/>
          <p:nvPr/>
        </p:nvSpPr>
        <p:spPr>
          <a:xfrm>
            <a:off x="6400800" y="1463040"/>
            <a:ext cx="2468880" cy="3200400"/>
          </a:xfrm>
          <a:prstGeom prst="roundRect">
            <a:avLst>
              <a:gd name="adj" fmla="val 4444"/>
            </a:avLst>
          </a:prstGeom>
          <a:solidFill>
            <a:srgbClr val="1E293B"/>
          </a:solidFill>
          <a:ln w="19050">
            <a:solidFill>
              <a:srgbClr val="10B981"/>
            </a:solidFill>
            <a:prstDash val="solid"/>
          </a:ln>
        </p:spPr>
        <p:txBody>
          <a:bodyPr/>
          <a:lstStyle/>
          <a:p>
            <a:endParaRPr lang="en-IN"/>
          </a:p>
        </p:txBody>
      </p:sp>
      <p:sp>
        <p:nvSpPr>
          <p:cNvPr id="25" name="Text 23"/>
          <p:cNvSpPr/>
          <p:nvPr/>
        </p:nvSpPr>
        <p:spPr>
          <a:xfrm>
            <a:off x="6400800" y="1536192"/>
            <a:ext cx="2468880" cy="384048"/>
          </a:xfrm>
          <a:prstGeom prst="rect">
            <a:avLst/>
          </a:prstGeom>
          <a:noFill/>
          <a:ln/>
        </p:spPr>
        <p:txBody>
          <a:bodyPr wrap="square" rtlCol="0" anchor="ctr"/>
          <a:lstStyle/>
          <a:p>
            <a:pPr marL="0" indent="0" algn="ctr">
              <a:buNone/>
            </a:pPr>
            <a:r>
              <a:rPr lang="en-US" sz="1200" b="1" dirty="0">
                <a:solidFill>
                  <a:srgbClr val="10B981"/>
                </a:solidFill>
                <a:latin typeface="Calibri" pitchFamily="34" charset="0"/>
                <a:ea typeface="Calibri" pitchFamily="34" charset="-122"/>
                <a:cs typeface="Calibri" pitchFamily="34" charset="-120"/>
              </a:rPr>
              <a:t>MCP SERVER</a:t>
            </a:r>
            <a:endParaRPr lang="en-US" sz="1200" dirty="0"/>
          </a:p>
        </p:txBody>
      </p:sp>
      <p:sp>
        <p:nvSpPr>
          <p:cNvPr id="26" name="Shape 24"/>
          <p:cNvSpPr/>
          <p:nvPr/>
        </p:nvSpPr>
        <p:spPr>
          <a:xfrm>
            <a:off x="6583680" y="2029968"/>
            <a:ext cx="2103120" cy="475488"/>
          </a:xfrm>
          <a:prstGeom prst="roundRect">
            <a:avLst>
              <a:gd name="adj" fmla="val 13462"/>
            </a:avLst>
          </a:prstGeom>
          <a:solidFill>
            <a:srgbClr val="0F172A"/>
          </a:solidFill>
          <a:ln w="6350">
            <a:solidFill>
              <a:srgbClr val="10B981"/>
            </a:solidFill>
            <a:prstDash val="solid"/>
          </a:ln>
        </p:spPr>
        <p:txBody>
          <a:bodyPr/>
          <a:lstStyle/>
          <a:p>
            <a:endParaRPr lang="en-IN"/>
          </a:p>
        </p:txBody>
      </p:sp>
      <p:sp>
        <p:nvSpPr>
          <p:cNvPr id="27" name="Text 25"/>
          <p:cNvSpPr/>
          <p:nvPr/>
        </p:nvSpPr>
        <p:spPr>
          <a:xfrm>
            <a:off x="6583680" y="2029968"/>
            <a:ext cx="2103120" cy="475488"/>
          </a:xfrm>
          <a:prstGeom prst="rect">
            <a:avLst/>
          </a:prstGeom>
          <a:noFill/>
          <a:ln/>
        </p:spPr>
        <p:txBody>
          <a:bodyPr wrap="square" rtlCol="0" anchor="ctr"/>
          <a:lstStyle/>
          <a:p>
            <a:pPr marL="0" indent="0" algn="ctr">
              <a:buNone/>
            </a:pPr>
            <a:r>
              <a:rPr lang="en-US" sz="1050" dirty="0">
                <a:solidFill>
                  <a:srgbClr val="CBD5E1"/>
                </a:solidFill>
                <a:latin typeface="Calibri" pitchFamily="34" charset="0"/>
                <a:ea typeface="Calibri" pitchFamily="34" charset="-122"/>
                <a:cs typeface="Calibri" pitchFamily="34" charset="-120"/>
              </a:rPr>
              <a:t>GitHub</a:t>
            </a:r>
            <a:endParaRPr lang="en-US" sz="1050" dirty="0"/>
          </a:p>
        </p:txBody>
      </p:sp>
      <p:sp>
        <p:nvSpPr>
          <p:cNvPr id="28" name="Shape 26"/>
          <p:cNvSpPr/>
          <p:nvPr/>
        </p:nvSpPr>
        <p:spPr>
          <a:xfrm>
            <a:off x="6583680" y="2651760"/>
            <a:ext cx="2103120" cy="475488"/>
          </a:xfrm>
          <a:prstGeom prst="roundRect">
            <a:avLst>
              <a:gd name="adj" fmla="val 13462"/>
            </a:avLst>
          </a:prstGeom>
          <a:solidFill>
            <a:srgbClr val="0F172A"/>
          </a:solidFill>
          <a:ln w="6350">
            <a:solidFill>
              <a:srgbClr val="10B981"/>
            </a:solidFill>
            <a:prstDash val="solid"/>
          </a:ln>
        </p:spPr>
        <p:txBody>
          <a:bodyPr/>
          <a:lstStyle/>
          <a:p>
            <a:endParaRPr lang="en-IN"/>
          </a:p>
        </p:txBody>
      </p:sp>
      <p:sp>
        <p:nvSpPr>
          <p:cNvPr id="29" name="Text 27"/>
          <p:cNvSpPr/>
          <p:nvPr/>
        </p:nvSpPr>
        <p:spPr>
          <a:xfrm>
            <a:off x="6583680" y="2651760"/>
            <a:ext cx="2103120" cy="475488"/>
          </a:xfrm>
          <a:prstGeom prst="rect">
            <a:avLst/>
          </a:prstGeom>
          <a:noFill/>
          <a:ln/>
        </p:spPr>
        <p:txBody>
          <a:bodyPr wrap="square" rtlCol="0" anchor="ctr"/>
          <a:lstStyle/>
          <a:p>
            <a:pPr marL="0" indent="0" algn="ctr">
              <a:buNone/>
            </a:pPr>
            <a:r>
              <a:rPr lang="en-US" sz="1050" dirty="0">
                <a:solidFill>
                  <a:srgbClr val="CBD5E1"/>
                </a:solidFill>
                <a:latin typeface="Calibri" pitchFamily="34" charset="0"/>
                <a:ea typeface="Calibri" pitchFamily="34" charset="-122"/>
                <a:cs typeface="Calibri" pitchFamily="34" charset="-120"/>
              </a:rPr>
              <a:t>Postgres DB</a:t>
            </a:r>
            <a:endParaRPr lang="en-US" sz="1050" dirty="0"/>
          </a:p>
        </p:txBody>
      </p:sp>
      <p:sp>
        <p:nvSpPr>
          <p:cNvPr id="30" name="Shape 28"/>
          <p:cNvSpPr/>
          <p:nvPr/>
        </p:nvSpPr>
        <p:spPr>
          <a:xfrm>
            <a:off x="6583680" y="3273552"/>
            <a:ext cx="2103120" cy="475488"/>
          </a:xfrm>
          <a:prstGeom prst="roundRect">
            <a:avLst>
              <a:gd name="adj" fmla="val 13462"/>
            </a:avLst>
          </a:prstGeom>
          <a:solidFill>
            <a:srgbClr val="0F172A"/>
          </a:solidFill>
          <a:ln w="6350">
            <a:solidFill>
              <a:srgbClr val="10B981"/>
            </a:solidFill>
            <a:prstDash val="solid"/>
          </a:ln>
        </p:spPr>
        <p:txBody>
          <a:bodyPr/>
          <a:lstStyle/>
          <a:p>
            <a:endParaRPr lang="en-IN"/>
          </a:p>
        </p:txBody>
      </p:sp>
      <p:sp>
        <p:nvSpPr>
          <p:cNvPr id="31" name="Text 29"/>
          <p:cNvSpPr/>
          <p:nvPr/>
        </p:nvSpPr>
        <p:spPr>
          <a:xfrm>
            <a:off x="6583680" y="3273552"/>
            <a:ext cx="2103120" cy="475488"/>
          </a:xfrm>
          <a:prstGeom prst="rect">
            <a:avLst/>
          </a:prstGeom>
          <a:noFill/>
          <a:ln/>
        </p:spPr>
        <p:txBody>
          <a:bodyPr wrap="square" rtlCol="0" anchor="ctr"/>
          <a:lstStyle/>
          <a:p>
            <a:pPr marL="0" indent="0" algn="ctr">
              <a:buNone/>
            </a:pPr>
            <a:r>
              <a:rPr lang="en-US" sz="1050" dirty="0">
                <a:solidFill>
                  <a:srgbClr val="CBD5E1"/>
                </a:solidFill>
                <a:latin typeface="Calibri" pitchFamily="34" charset="0"/>
                <a:ea typeface="Calibri" pitchFamily="34" charset="-122"/>
                <a:cs typeface="Calibri" pitchFamily="34" charset="-120"/>
              </a:rPr>
              <a:t>Slack</a:t>
            </a:r>
            <a:endParaRPr lang="en-US" sz="1050" dirty="0"/>
          </a:p>
        </p:txBody>
      </p:sp>
      <p:sp>
        <p:nvSpPr>
          <p:cNvPr id="32" name="Shape 30"/>
          <p:cNvSpPr/>
          <p:nvPr/>
        </p:nvSpPr>
        <p:spPr>
          <a:xfrm>
            <a:off x="6583680" y="3895344"/>
            <a:ext cx="2103120" cy="475488"/>
          </a:xfrm>
          <a:prstGeom prst="roundRect">
            <a:avLst>
              <a:gd name="adj" fmla="val 13462"/>
            </a:avLst>
          </a:prstGeom>
          <a:solidFill>
            <a:srgbClr val="0F172A"/>
          </a:solidFill>
          <a:ln w="6350">
            <a:solidFill>
              <a:srgbClr val="10B981"/>
            </a:solidFill>
            <a:prstDash val="solid"/>
          </a:ln>
        </p:spPr>
        <p:txBody>
          <a:bodyPr/>
          <a:lstStyle/>
          <a:p>
            <a:endParaRPr lang="en-IN"/>
          </a:p>
        </p:txBody>
      </p:sp>
      <p:sp>
        <p:nvSpPr>
          <p:cNvPr id="33" name="Text 31"/>
          <p:cNvSpPr/>
          <p:nvPr/>
        </p:nvSpPr>
        <p:spPr>
          <a:xfrm>
            <a:off x="6583680" y="3895344"/>
            <a:ext cx="2103120" cy="475488"/>
          </a:xfrm>
          <a:prstGeom prst="rect">
            <a:avLst/>
          </a:prstGeom>
          <a:noFill/>
          <a:ln/>
        </p:spPr>
        <p:txBody>
          <a:bodyPr wrap="square" rtlCol="0" anchor="ctr"/>
          <a:lstStyle/>
          <a:p>
            <a:pPr marL="0" indent="0" algn="ctr">
              <a:buNone/>
            </a:pPr>
            <a:r>
              <a:rPr lang="en-US" sz="1050" dirty="0">
                <a:solidFill>
                  <a:srgbClr val="CBD5E1"/>
                </a:solidFill>
                <a:latin typeface="Calibri" pitchFamily="34" charset="0"/>
                <a:ea typeface="Calibri" pitchFamily="34" charset="-122"/>
                <a:cs typeface="Calibri" pitchFamily="34" charset="-120"/>
              </a:rPr>
              <a:t>File System</a:t>
            </a:r>
            <a:endParaRPr lang="en-US" sz="1050" dirty="0"/>
          </a:p>
        </p:txBody>
      </p:sp>
      <p:sp>
        <p:nvSpPr>
          <p:cNvPr id="34" name="Shape 32"/>
          <p:cNvSpPr/>
          <p:nvPr/>
        </p:nvSpPr>
        <p:spPr>
          <a:xfrm>
            <a:off x="2743200" y="3063240"/>
            <a:ext cx="274320" cy="0"/>
          </a:xfrm>
          <a:prstGeom prst="line">
            <a:avLst/>
          </a:prstGeom>
          <a:noFill/>
          <a:ln w="25400">
            <a:solidFill>
              <a:srgbClr val="8B5CF6"/>
            </a:solidFill>
            <a:prstDash val="solid"/>
          </a:ln>
        </p:spPr>
        <p:txBody>
          <a:bodyPr/>
          <a:lstStyle/>
          <a:p>
            <a:endParaRPr lang="en-IN"/>
          </a:p>
        </p:txBody>
      </p:sp>
      <p:sp>
        <p:nvSpPr>
          <p:cNvPr id="35" name="Shape 33"/>
          <p:cNvSpPr/>
          <p:nvPr/>
        </p:nvSpPr>
        <p:spPr>
          <a:xfrm>
            <a:off x="6126480" y="3063240"/>
            <a:ext cx="274320" cy="0"/>
          </a:xfrm>
          <a:prstGeom prst="line">
            <a:avLst/>
          </a:prstGeom>
          <a:noFill/>
          <a:ln w="25400">
            <a:solidFill>
              <a:srgbClr val="8B5CF6"/>
            </a:solidFill>
            <a:prstDash val="solid"/>
          </a:ln>
        </p:spPr>
        <p:txBody>
          <a:bodyPr/>
          <a:lstStyle/>
          <a:p>
            <a:endParaRPr lang="en-IN"/>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0B981"/>
          </a:solidFill>
          <a:ln w="12700">
            <a:solidFill>
              <a:srgbClr val="10B981"/>
            </a:solidFill>
            <a:prstDash val="solid"/>
          </a:ln>
        </p:spPr>
        <p:txBody>
          <a:bodyPr/>
          <a:lstStyle/>
          <a:p>
            <a:endParaRPr lang="en-IN"/>
          </a:p>
        </p:txBody>
      </p:sp>
      <p:sp>
        <p:nvSpPr>
          <p:cNvPr id="3" name="Text 1"/>
          <p:cNvSpPr/>
          <p:nvPr/>
        </p:nvSpPr>
        <p:spPr>
          <a:xfrm>
            <a:off x="365760" y="109728"/>
            <a:ext cx="8229600" cy="50292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RAG — Retrieval Augmented Generation</a:t>
            </a:r>
            <a:endParaRPr lang="en-US" sz="2600" dirty="0"/>
          </a:p>
        </p:txBody>
      </p:sp>
      <p:sp>
        <p:nvSpPr>
          <p:cNvPr id="4" name="Shape 2"/>
          <p:cNvSpPr/>
          <p:nvPr/>
        </p:nvSpPr>
        <p:spPr>
          <a:xfrm>
            <a:off x="274320" y="685800"/>
            <a:ext cx="8595360" cy="548640"/>
          </a:xfrm>
          <a:prstGeom prst="roundRect">
            <a:avLst>
              <a:gd name="adj" fmla="val 13333"/>
            </a:avLst>
          </a:prstGeom>
          <a:solidFill>
            <a:srgbClr val="0A2818"/>
          </a:solidFill>
          <a:ln w="12700">
            <a:solidFill>
              <a:srgbClr val="10B981"/>
            </a:solidFill>
            <a:prstDash val="solid"/>
          </a:ln>
        </p:spPr>
        <p:txBody>
          <a:bodyPr/>
          <a:lstStyle/>
          <a:p>
            <a:endParaRPr lang="en-IN"/>
          </a:p>
        </p:txBody>
      </p:sp>
      <p:sp>
        <p:nvSpPr>
          <p:cNvPr id="5" name="Text 3"/>
          <p:cNvSpPr/>
          <p:nvPr/>
        </p:nvSpPr>
        <p:spPr>
          <a:xfrm>
            <a:off x="457200" y="758952"/>
            <a:ext cx="8229600" cy="402336"/>
          </a:xfrm>
          <a:prstGeom prst="rect">
            <a:avLst/>
          </a:prstGeom>
          <a:noFill/>
          <a:ln/>
        </p:spPr>
        <p:txBody>
          <a:bodyPr wrap="square" rtlCol="0" anchor="ctr"/>
          <a:lstStyle/>
          <a:p>
            <a:pPr marL="0" indent="0">
              <a:buNone/>
            </a:pPr>
            <a:r>
              <a:rPr lang="en-US" sz="1150" dirty="0">
                <a:solidFill>
                  <a:srgbClr val="CBD5E1"/>
                </a:solidFill>
                <a:latin typeface="Calibri" pitchFamily="34" charset="0"/>
                <a:ea typeface="Calibri" pitchFamily="34" charset="-122"/>
                <a:cs typeface="Calibri" pitchFamily="34" charset="-120"/>
              </a:rPr>
              <a:t>RAG enhances LLMs with real-time access to your own documents and data — solving the knowledge cutoff and hallucination problems.</a:t>
            </a:r>
            <a:endParaRPr lang="en-US" sz="1150" dirty="0"/>
          </a:p>
        </p:txBody>
      </p:sp>
      <p:sp>
        <p:nvSpPr>
          <p:cNvPr id="6" name="Text 4"/>
          <p:cNvSpPr/>
          <p:nvPr/>
        </p:nvSpPr>
        <p:spPr>
          <a:xfrm>
            <a:off x="274320" y="1325880"/>
            <a:ext cx="8229600" cy="274320"/>
          </a:xfrm>
          <a:prstGeom prst="rect">
            <a:avLst/>
          </a:prstGeom>
          <a:noFill/>
          <a:ln/>
        </p:spPr>
        <p:txBody>
          <a:bodyPr wrap="square" rtlCol="0" anchor="ctr"/>
          <a:lstStyle/>
          <a:p>
            <a:pPr marL="0" indent="0">
              <a:buNone/>
            </a:pPr>
            <a:r>
              <a:rPr lang="en-US" sz="1100" b="1" i="1" dirty="0">
                <a:solidFill>
                  <a:srgbClr val="94A3B8"/>
                </a:solidFill>
                <a:latin typeface="Calibri" pitchFamily="34" charset="0"/>
                <a:ea typeface="Calibri" pitchFamily="34" charset="-122"/>
                <a:cs typeface="Calibri" pitchFamily="34" charset="-120"/>
              </a:rPr>
              <a:t>INDEXING PIPELINE</a:t>
            </a:r>
            <a:endParaRPr lang="en-US" sz="1100" dirty="0"/>
          </a:p>
        </p:txBody>
      </p:sp>
      <p:sp>
        <p:nvSpPr>
          <p:cNvPr id="7" name="Shape 5"/>
          <p:cNvSpPr/>
          <p:nvPr/>
        </p:nvSpPr>
        <p:spPr>
          <a:xfrm>
            <a:off x="274320" y="1645920"/>
            <a:ext cx="1554480" cy="777240"/>
          </a:xfrm>
          <a:prstGeom prst="roundRect">
            <a:avLst>
              <a:gd name="adj" fmla="val 11765"/>
            </a:avLst>
          </a:prstGeom>
          <a:solidFill>
            <a:srgbClr val="1E293B"/>
          </a:solidFill>
          <a:ln w="19050">
            <a:solidFill>
              <a:srgbClr val="F59E0B"/>
            </a:solidFill>
            <a:prstDash val="solid"/>
          </a:ln>
        </p:spPr>
        <p:txBody>
          <a:bodyPr/>
          <a:lstStyle/>
          <a:p>
            <a:endParaRPr lang="en-IN"/>
          </a:p>
        </p:txBody>
      </p:sp>
      <p:sp>
        <p:nvSpPr>
          <p:cNvPr id="8" name="Text 6"/>
          <p:cNvSpPr/>
          <p:nvPr/>
        </p:nvSpPr>
        <p:spPr>
          <a:xfrm>
            <a:off x="274320" y="1664208"/>
            <a:ext cx="1554480" cy="320040"/>
          </a:xfrm>
          <a:prstGeom prst="rect">
            <a:avLst/>
          </a:prstGeom>
          <a:noFill/>
          <a:ln/>
        </p:spPr>
        <p:txBody>
          <a:bodyPr wrap="square" rtlCol="0" anchor="ctr"/>
          <a:lstStyle/>
          <a:p>
            <a:pPr marL="0" indent="0" algn="ctr">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9" name="Text 7"/>
          <p:cNvSpPr/>
          <p:nvPr/>
        </p:nvSpPr>
        <p:spPr>
          <a:xfrm>
            <a:off x="274320" y="1993392"/>
            <a:ext cx="1554480" cy="365760"/>
          </a:xfrm>
          <a:prstGeom prst="rect">
            <a:avLst/>
          </a:prstGeom>
          <a:noFill/>
          <a:ln/>
        </p:spPr>
        <p:txBody>
          <a:bodyPr wrap="square" rtlCol="0" anchor="ctr"/>
          <a:lstStyle/>
          <a:p>
            <a:pPr marL="0" indent="0" algn="ctr">
              <a:buNone/>
            </a:pPr>
            <a:r>
              <a:rPr lang="en-US" sz="950" b="1" dirty="0">
                <a:solidFill>
                  <a:srgbClr val="F59E0B"/>
                </a:solidFill>
                <a:latin typeface="Calibri" pitchFamily="34" charset="0"/>
                <a:ea typeface="Calibri" pitchFamily="34" charset="-122"/>
                <a:cs typeface="Calibri" pitchFamily="34" charset="-120"/>
              </a:rPr>
              <a:t>PDF / Docs</a:t>
            </a:r>
            <a:endParaRPr lang="en-US" sz="950" dirty="0"/>
          </a:p>
        </p:txBody>
      </p:sp>
      <p:sp>
        <p:nvSpPr>
          <p:cNvPr id="10" name="Shape 8"/>
          <p:cNvSpPr/>
          <p:nvPr/>
        </p:nvSpPr>
        <p:spPr>
          <a:xfrm>
            <a:off x="1828800" y="2029968"/>
            <a:ext cx="182880" cy="0"/>
          </a:xfrm>
          <a:prstGeom prst="line">
            <a:avLst/>
          </a:prstGeom>
          <a:noFill/>
          <a:ln w="19050">
            <a:solidFill>
              <a:srgbClr val="94A3B8"/>
            </a:solidFill>
            <a:prstDash val="solid"/>
          </a:ln>
        </p:spPr>
        <p:txBody>
          <a:bodyPr/>
          <a:lstStyle/>
          <a:p>
            <a:endParaRPr lang="en-IN"/>
          </a:p>
        </p:txBody>
      </p:sp>
      <p:sp>
        <p:nvSpPr>
          <p:cNvPr id="11" name="Shape 9"/>
          <p:cNvSpPr/>
          <p:nvPr/>
        </p:nvSpPr>
        <p:spPr>
          <a:xfrm>
            <a:off x="2011680" y="1645920"/>
            <a:ext cx="1554480" cy="777240"/>
          </a:xfrm>
          <a:prstGeom prst="roundRect">
            <a:avLst>
              <a:gd name="adj" fmla="val 11765"/>
            </a:avLst>
          </a:prstGeom>
          <a:solidFill>
            <a:srgbClr val="1E293B"/>
          </a:solidFill>
          <a:ln w="19050">
            <a:solidFill>
              <a:srgbClr val="06B6D4"/>
            </a:solidFill>
            <a:prstDash val="solid"/>
          </a:ln>
        </p:spPr>
        <p:txBody>
          <a:bodyPr/>
          <a:lstStyle/>
          <a:p>
            <a:endParaRPr lang="en-IN"/>
          </a:p>
        </p:txBody>
      </p:sp>
      <p:sp>
        <p:nvSpPr>
          <p:cNvPr id="12" name="Text 10"/>
          <p:cNvSpPr/>
          <p:nvPr/>
        </p:nvSpPr>
        <p:spPr>
          <a:xfrm>
            <a:off x="2011680" y="1664208"/>
            <a:ext cx="1554480" cy="320040"/>
          </a:xfrm>
          <a:prstGeom prst="rect">
            <a:avLst/>
          </a:prstGeom>
          <a:noFill/>
          <a:ln/>
        </p:spPr>
        <p:txBody>
          <a:bodyPr wrap="square" rtlCol="0" anchor="ctr"/>
          <a:lstStyle/>
          <a:p>
            <a:pPr marL="0" indent="0" algn="ctr">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13" name="Text 11"/>
          <p:cNvSpPr/>
          <p:nvPr/>
        </p:nvSpPr>
        <p:spPr>
          <a:xfrm>
            <a:off x="2011680" y="1993392"/>
            <a:ext cx="1554480" cy="365760"/>
          </a:xfrm>
          <a:prstGeom prst="rect">
            <a:avLst/>
          </a:prstGeom>
          <a:noFill/>
          <a:ln/>
        </p:spPr>
        <p:txBody>
          <a:bodyPr wrap="square" rtlCol="0" anchor="ctr"/>
          <a:lstStyle/>
          <a:p>
            <a:pPr marL="0" indent="0" algn="ctr">
              <a:buNone/>
            </a:pPr>
            <a:r>
              <a:rPr lang="en-US" sz="950" b="1" dirty="0">
                <a:solidFill>
                  <a:srgbClr val="06B6D4"/>
                </a:solidFill>
                <a:latin typeface="Calibri" pitchFamily="34" charset="0"/>
                <a:ea typeface="Calibri" pitchFamily="34" charset="-122"/>
                <a:cs typeface="Calibri" pitchFamily="34" charset="-120"/>
              </a:rPr>
              <a:t>Doc Loader</a:t>
            </a:r>
            <a:endParaRPr lang="en-US" sz="950" dirty="0"/>
          </a:p>
        </p:txBody>
      </p:sp>
      <p:sp>
        <p:nvSpPr>
          <p:cNvPr id="14" name="Shape 12"/>
          <p:cNvSpPr/>
          <p:nvPr/>
        </p:nvSpPr>
        <p:spPr>
          <a:xfrm>
            <a:off x="3566160" y="2029968"/>
            <a:ext cx="182880" cy="0"/>
          </a:xfrm>
          <a:prstGeom prst="line">
            <a:avLst/>
          </a:prstGeom>
          <a:noFill/>
          <a:ln w="19050">
            <a:solidFill>
              <a:srgbClr val="94A3B8"/>
            </a:solidFill>
            <a:prstDash val="solid"/>
          </a:ln>
        </p:spPr>
        <p:txBody>
          <a:bodyPr/>
          <a:lstStyle/>
          <a:p>
            <a:endParaRPr lang="en-IN"/>
          </a:p>
        </p:txBody>
      </p:sp>
      <p:sp>
        <p:nvSpPr>
          <p:cNvPr id="15" name="Shape 13"/>
          <p:cNvSpPr/>
          <p:nvPr/>
        </p:nvSpPr>
        <p:spPr>
          <a:xfrm>
            <a:off x="3749040" y="1645920"/>
            <a:ext cx="1554480" cy="777240"/>
          </a:xfrm>
          <a:prstGeom prst="roundRect">
            <a:avLst>
              <a:gd name="adj" fmla="val 11765"/>
            </a:avLst>
          </a:prstGeom>
          <a:solidFill>
            <a:srgbClr val="1E293B"/>
          </a:solidFill>
          <a:ln w="19050">
            <a:solidFill>
              <a:srgbClr val="8B5CF6"/>
            </a:solidFill>
            <a:prstDash val="solid"/>
          </a:ln>
        </p:spPr>
        <p:txBody>
          <a:bodyPr/>
          <a:lstStyle/>
          <a:p>
            <a:endParaRPr lang="en-IN"/>
          </a:p>
        </p:txBody>
      </p:sp>
      <p:sp>
        <p:nvSpPr>
          <p:cNvPr id="16" name="Text 14"/>
          <p:cNvSpPr/>
          <p:nvPr/>
        </p:nvSpPr>
        <p:spPr>
          <a:xfrm>
            <a:off x="3749040" y="1664208"/>
            <a:ext cx="1554480" cy="320040"/>
          </a:xfrm>
          <a:prstGeom prst="rect">
            <a:avLst/>
          </a:prstGeom>
          <a:noFill/>
          <a:ln/>
        </p:spPr>
        <p:txBody>
          <a:bodyPr wrap="square" rtlCol="0" anchor="ctr"/>
          <a:lstStyle/>
          <a:p>
            <a:pPr marL="0" indent="0" algn="ctr">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17" name="Text 15"/>
          <p:cNvSpPr/>
          <p:nvPr/>
        </p:nvSpPr>
        <p:spPr>
          <a:xfrm>
            <a:off x="3749040" y="1993392"/>
            <a:ext cx="1554480" cy="365760"/>
          </a:xfrm>
          <a:prstGeom prst="rect">
            <a:avLst/>
          </a:prstGeom>
          <a:noFill/>
          <a:ln/>
        </p:spPr>
        <p:txBody>
          <a:bodyPr wrap="square" rtlCol="0" anchor="ctr"/>
          <a:lstStyle/>
          <a:p>
            <a:pPr marL="0" indent="0" algn="ctr">
              <a:buNone/>
            </a:pPr>
            <a:r>
              <a:rPr lang="en-US" sz="950" b="1" dirty="0">
                <a:solidFill>
                  <a:srgbClr val="8B5CF6"/>
                </a:solidFill>
                <a:latin typeface="Calibri" pitchFamily="34" charset="0"/>
                <a:ea typeface="Calibri" pitchFamily="34" charset="-122"/>
                <a:cs typeface="Calibri" pitchFamily="34" charset="-120"/>
              </a:rPr>
              <a:t>Text Splitter</a:t>
            </a:r>
            <a:endParaRPr lang="en-US" sz="950" dirty="0"/>
          </a:p>
        </p:txBody>
      </p:sp>
      <p:sp>
        <p:nvSpPr>
          <p:cNvPr id="18" name="Shape 16"/>
          <p:cNvSpPr/>
          <p:nvPr/>
        </p:nvSpPr>
        <p:spPr>
          <a:xfrm>
            <a:off x="5303520" y="2029968"/>
            <a:ext cx="182880" cy="0"/>
          </a:xfrm>
          <a:prstGeom prst="line">
            <a:avLst/>
          </a:prstGeom>
          <a:noFill/>
          <a:ln w="19050">
            <a:solidFill>
              <a:srgbClr val="94A3B8"/>
            </a:solidFill>
            <a:prstDash val="solid"/>
          </a:ln>
        </p:spPr>
        <p:txBody>
          <a:bodyPr/>
          <a:lstStyle/>
          <a:p>
            <a:endParaRPr lang="en-IN"/>
          </a:p>
        </p:txBody>
      </p:sp>
      <p:sp>
        <p:nvSpPr>
          <p:cNvPr id="19" name="Shape 17"/>
          <p:cNvSpPr/>
          <p:nvPr/>
        </p:nvSpPr>
        <p:spPr>
          <a:xfrm>
            <a:off x="5486400" y="1645920"/>
            <a:ext cx="1554480" cy="777240"/>
          </a:xfrm>
          <a:prstGeom prst="roundRect">
            <a:avLst>
              <a:gd name="adj" fmla="val 11765"/>
            </a:avLst>
          </a:prstGeom>
          <a:solidFill>
            <a:srgbClr val="1E293B"/>
          </a:solidFill>
          <a:ln w="19050">
            <a:solidFill>
              <a:srgbClr val="10B981"/>
            </a:solidFill>
            <a:prstDash val="solid"/>
          </a:ln>
        </p:spPr>
        <p:txBody>
          <a:bodyPr/>
          <a:lstStyle/>
          <a:p>
            <a:endParaRPr lang="en-IN"/>
          </a:p>
        </p:txBody>
      </p:sp>
      <p:sp>
        <p:nvSpPr>
          <p:cNvPr id="20" name="Text 18"/>
          <p:cNvSpPr/>
          <p:nvPr/>
        </p:nvSpPr>
        <p:spPr>
          <a:xfrm>
            <a:off x="5486400" y="1664208"/>
            <a:ext cx="1554480" cy="320040"/>
          </a:xfrm>
          <a:prstGeom prst="rect">
            <a:avLst/>
          </a:prstGeom>
          <a:noFill/>
          <a:ln/>
        </p:spPr>
        <p:txBody>
          <a:bodyPr wrap="square" rtlCol="0" anchor="ctr"/>
          <a:lstStyle/>
          <a:p>
            <a:pPr marL="0" indent="0" algn="ctr">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21" name="Text 19"/>
          <p:cNvSpPr/>
          <p:nvPr/>
        </p:nvSpPr>
        <p:spPr>
          <a:xfrm>
            <a:off x="5486400" y="1993392"/>
            <a:ext cx="1554480" cy="365760"/>
          </a:xfrm>
          <a:prstGeom prst="rect">
            <a:avLst/>
          </a:prstGeom>
          <a:noFill/>
          <a:ln/>
        </p:spPr>
        <p:txBody>
          <a:bodyPr wrap="square" rtlCol="0" anchor="ctr"/>
          <a:lstStyle/>
          <a:p>
            <a:pPr marL="0" indent="0" algn="ctr">
              <a:buNone/>
            </a:pPr>
            <a:r>
              <a:rPr lang="en-US" sz="950" b="1" dirty="0">
                <a:solidFill>
                  <a:srgbClr val="10B981"/>
                </a:solidFill>
                <a:latin typeface="Calibri" pitchFamily="34" charset="0"/>
                <a:ea typeface="Calibri" pitchFamily="34" charset="-122"/>
                <a:cs typeface="Calibri" pitchFamily="34" charset="-120"/>
              </a:rPr>
              <a:t>Embeddings</a:t>
            </a:r>
            <a:endParaRPr lang="en-US" sz="950" dirty="0"/>
          </a:p>
        </p:txBody>
      </p:sp>
      <p:sp>
        <p:nvSpPr>
          <p:cNvPr id="22" name="Shape 20"/>
          <p:cNvSpPr/>
          <p:nvPr/>
        </p:nvSpPr>
        <p:spPr>
          <a:xfrm>
            <a:off x="7040880" y="2029968"/>
            <a:ext cx="182880" cy="0"/>
          </a:xfrm>
          <a:prstGeom prst="line">
            <a:avLst/>
          </a:prstGeom>
          <a:noFill/>
          <a:ln w="19050">
            <a:solidFill>
              <a:srgbClr val="94A3B8"/>
            </a:solidFill>
            <a:prstDash val="solid"/>
          </a:ln>
        </p:spPr>
        <p:txBody>
          <a:bodyPr/>
          <a:lstStyle/>
          <a:p>
            <a:endParaRPr lang="en-IN"/>
          </a:p>
        </p:txBody>
      </p:sp>
      <p:sp>
        <p:nvSpPr>
          <p:cNvPr id="23" name="Shape 21"/>
          <p:cNvSpPr/>
          <p:nvPr/>
        </p:nvSpPr>
        <p:spPr>
          <a:xfrm>
            <a:off x="7223760" y="1645920"/>
            <a:ext cx="1554480" cy="777240"/>
          </a:xfrm>
          <a:prstGeom prst="roundRect">
            <a:avLst>
              <a:gd name="adj" fmla="val 11765"/>
            </a:avLst>
          </a:prstGeom>
          <a:solidFill>
            <a:srgbClr val="1E293B"/>
          </a:solidFill>
          <a:ln w="19050">
            <a:solidFill>
              <a:srgbClr val="EF4444"/>
            </a:solidFill>
            <a:prstDash val="solid"/>
          </a:ln>
        </p:spPr>
        <p:txBody>
          <a:bodyPr/>
          <a:lstStyle/>
          <a:p>
            <a:endParaRPr lang="en-IN"/>
          </a:p>
        </p:txBody>
      </p:sp>
      <p:sp>
        <p:nvSpPr>
          <p:cNvPr id="24" name="Text 22"/>
          <p:cNvSpPr/>
          <p:nvPr/>
        </p:nvSpPr>
        <p:spPr>
          <a:xfrm>
            <a:off x="7223760" y="1664208"/>
            <a:ext cx="1554480" cy="320040"/>
          </a:xfrm>
          <a:prstGeom prst="rect">
            <a:avLst/>
          </a:prstGeom>
          <a:noFill/>
          <a:ln/>
        </p:spPr>
        <p:txBody>
          <a:bodyPr wrap="square" rtlCol="0" anchor="ctr"/>
          <a:lstStyle/>
          <a:p>
            <a:pPr marL="0" indent="0" algn="ctr">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25" name="Text 23"/>
          <p:cNvSpPr/>
          <p:nvPr/>
        </p:nvSpPr>
        <p:spPr>
          <a:xfrm>
            <a:off x="7223760" y="1993392"/>
            <a:ext cx="1554480" cy="365760"/>
          </a:xfrm>
          <a:prstGeom prst="rect">
            <a:avLst/>
          </a:prstGeom>
          <a:noFill/>
          <a:ln/>
        </p:spPr>
        <p:txBody>
          <a:bodyPr wrap="square" rtlCol="0" anchor="ctr"/>
          <a:lstStyle/>
          <a:p>
            <a:pPr marL="0" indent="0" algn="ctr">
              <a:buNone/>
            </a:pPr>
            <a:r>
              <a:rPr lang="en-US" sz="950" b="1" dirty="0">
                <a:solidFill>
                  <a:srgbClr val="EF4444"/>
                </a:solidFill>
                <a:latin typeface="Calibri" pitchFamily="34" charset="0"/>
                <a:ea typeface="Calibri" pitchFamily="34" charset="-122"/>
                <a:cs typeface="Calibri" pitchFamily="34" charset="-120"/>
              </a:rPr>
              <a:t>Vector DB</a:t>
            </a:r>
            <a:endParaRPr lang="en-US" sz="950" dirty="0"/>
          </a:p>
        </p:txBody>
      </p:sp>
      <p:sp>
        <p:nvSpPr>
          <p:cNvPr id="26" name="Text 24"/>
          <p:cNvSpPr/>
          <p:nvPr/>
        </p:nvSpPr>
        <p:spPr>
          <a:xfrm>
            <a:off x="274320" y="2560320"/>
            <a:ext cx="8229600" cy="274320"/>
          </a:xfrm>
          <a:prstGeom prst="rect">
            <a:avLst/>
          </a:prstGeom>
          <a:noFill/>
          <a:ln/>
        </p:spPr>
        <p:txBody>
          <a:bodyPr wrap="square" rtlCol="0" anchor="ctr"/>
          <a:lstStyle/>
          <a:p>
            <a:pPr marL="0" indent="0">
              <a:buNone/>
            </a:pPr>
            <a:r>
              <a:rPr lang="en-US" sz="1100" b="1" i="1" dirty="0">
                <a:solidFill>
                  <a:srgbClr val="94A3B8"/>
                </a:solidFill>
                <a:latin typeface="Calibri" pitchFamily="34" charset="0"/>
                <a:ea typeface="Calibri" pitchFamily="34" charset="-122"/>
                <a:cs typeface="Calibri" pitchFamily="34" charset="-120"/>
              </a:rPr>
              <a:t>RETRIEVAL + GENERATION</a:t>
            </a:r>
            <a:endParaRPr lang="en-US" sz="1100" dirty="0"/>
          </a:p>
        </p:txBody>
      </p:sp>
      <p:sp>
        <p:nvSpPr>
          <p:cNvPr id="27" name="Shape 25"/>
          <p:cNvSpPr/>
          <p:nvPr/>
        </p:nvSpPr>
        <p:spPr>
          <a:xfrm>
            <a:off x="274320" y="2880360"/>
            <a:ext cx="1554480" cy="777240"/>
          </a:xfrm>
          <a:prstGeom prst="roundRect">
            <a:avLst>
              <a:gd name="adj" fmla="val 11765"/>
            </a:avLst>
          </a:prstGeom>
          <a:solidFill>
            <a:srgbClr val="1E293B"/>
          </a:solidFill>
          <a:ln w="19050">
            <a:solidFill>
              <a:srgbClr val="06B6D4"/>
            </a:solidFill>
            <a:prstDash val="solid"/>
          </a:ln>
        </p:spPr>
        <p:txBody>
          <a:bodyPr/>
          <a:lstStyle/>
          <a:p>
            <a:endParaRPr lang="en-IN"/>
          </a:p>
        </p:txBody>
      </p:sp>
      <p:sp>
        <p:nvSpPr>
          <p:cNvPr id="28" name="Text 26"/>
          <p:cNvSpPr/>
          <p:nvPr/>
        </p:nvSpPr>
        <p:spPr>
          <a:xfrm>
            <a:off x="274320" y="2898648"/>
            <a:ext cx="1554480" cy="320040"/>
          </a:xfrm>
          <a:prstGeom prst="rect">
            <a:avLst/>
          </a:prstGeom>
          <a:noFill/>
          <a:ln/>
        </p:spPr>
        <p:txBody>
          <a:bodyPr wrap="square" rtlCol="0" anchor="ctr"/>
          <a:lstStyle/>
          <a:p>
            <a:pPr marL="0" indent="0" algn="ctr">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29" name="Text 27"/>
          <p:cNvSpPr/>
          <p:nvPr/>
        </p:nvSpPr>
        <p:spPr>
          <a:xfrm>
            <a:off x="274320" y="3227832"/>
            <a:ext cx="1554480" cy="365760"/>
          </a:xfrm>
          <a:prstGeom prst="rect">
            <a:avLst/>
          </a:prstGeom>
          <a:noFill/>
          <a:ln/>
        </p:spPr>
        <p:txBody>
          <a:bodyPr wrap="square" rtlCol="0" anchor="ctr"/>
          <a:lstStyle/>
          <a:p>
            <a:pPr marL="0" indent="0" algn="ctr">
              <a:buNone/>
            </a:pPr>
            <a:r>
              <a:rPr lang="en-US" sz="950" b="1" dirty="0">
                <a:solidFill>
                  <a:srgbClr val="06B6D4"/>
                </a:solidFill>
                <a:latin typeface="Calibri" pitchFamily="34" charset="0"/>
                <a:ea typeface="Calibri" pitchFamily="34" charset="-122"/>
                <a:cs typeface="Calibri" pitchFamily="34" charset="-120"/>
              </a:rPr>
              <a:t>User Query</a:t>
            </a:r>
            <a:endParaRPr lang="en-US" sz="950" dirty="0"/>
          </a:p>
        </p:txBody>
      </p:sp>
      <p:sp>
        <p:nvSpPr>
          <p:cNvPr id="30" name="Shape 28"/>
          <p:cNvSpPr/>
          <p:nvPr/>
        </p:nvSpPr>
        <p:spPr>
          <a:xfrm>
            <a:off x="1828800" y="3264408"/>
            <a:ext cx="182880" cy="0"/>
          </a:xfrm>
          <a:prstGeom prst="line">
            <a:avLst/>
          </a:prstGeom>
          <a:noFill/>
          <a:ln w="19050">
            <a:solidFill>
              <a:srgbClr val="94A3B8"/>
            </a:solidFill>
            <a:prstDash val="solid"/>
          </a:ln>
        </p:spPr>
        <p:txBody>
          <a:bodyPr/>
          <a:lstStyle/>
          <a:p>
            <a:endParaRPr lang="en-IN"/>
          </a:p>
        </p:txBody>
      </p:sp>
      <p:sp>
        <p:nvSpPr>
          <p:cNvPr id="31" name="Shape 29"/>
          <p:cNvSpPr/>
          <p:nvPr/>
        </p:nvSpPr>
        <p:spPr>
          <a:xfrm>
            <a:off x="2011680" y="2880360"/>
            <a:ext cx="1554480" cy="777240"/>
          </a:xfrm>
          <a:prstGeom prst="roundRect">
            <a:avLst>
              <a:gd name="adj" fmla="val 11765"/>
            </a:avLst>
          </a:prstGeom>
          <a:solidFill>
            <a:srgbClr val="1E293B"/>
          </a:solidFill>
          <a:ln w="19050">
            <a:solidFill>
              <a:srgbClr val="10B981"/>
            </a:solidFill>
            <a:prstDash val="solid"/>
          </a:ln>
        </p:spPr>
        <p:txBody>
          <a:bodyPr/>
          <a:lstStyle/>
          <a:p>
            <a:endParaRPr lang="en-IN"/>
          </a:p>
        </p:txBody>
      </p:sp>
      <p:sp>
        <p:nvSpPr>
          <p:cNvPr id="32" name="Text 30"/>
          <p:cNvSpPr/>
          <p:nvPr/>
        </p:nvSpPr>
        <p:spPr>
          <a:xfrm>
            <a:off x="2011680" y="2898648"/>
            <a:ext cx="1554480" cy="320040"/>
          </a:xfrm>
          <a:prstGeom prst="rect">
            <a:avLst/>
          </a:prstGeom>
          <a:noFill/>
          <a:ln/>
        </p:spPr>
        <p:txBody>
          <a:bodyPr wrap="square" rtlCol="0" anchor="ctr"/>
          <a:lstStyle/>
          <a:p>
            <a:pPr marL="0" indent="0" algn="ctr">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33" name="Text 31"/>
          <p:cNvSpPr/>
          <p:nvPr/>
        </p:nvSpPr>
        <p:spPr>
          <a:xfrm>
            <a:off x="2011680" y="3227832"/>
            <a:ext cx="1554480" cy="365760"/>
          </a:xfrm>
          <a:prstGeom prst="rect">
            <a:avLst/>
          </a:prstGeom>
          <a:noFill/>
          <a:ln/>
        </p:spPr>
        <p:txBody>
          <a:bodyPr wrap="square" rtlCol="0" anchor="ctr"/>
          <a:lstStyle/>
          <a:p>
            <a:pPr marL="0" indent="0" algn="ctr">
              <a:buNone/>
            </a:pPr>
            <a:r>
              <a:rPr lang="en-US" sz="950" b="1" dirty="0">
                <a:solidFill>
                  <a:srgbClr val="10B981"/>
                </a:solidFill>
                <a:latin typeface="Calibri" pitchFamily="34" charset="0"/>
                <a:ea typeface="Calibri" pitchFamily="34" charset="-122"/>
                <a:cs typeface="Calibri" pitchFamily="34" charset="-120"/>
              </a:rPr>
              <a:t>Embeddings</a:t>
            </a:r>
            <a:endParaRPr lang="en-US" sz="950" dirty="0"/>
          </a:p>
        </p:txBody>
      </p:sp>
      <p:sp>
        <p:nvSpPr>
          <p:cNvPr id="34" name="Shape 32"/>
          <p:cNvSpPr/>
          <p:nvPr/>
        </p:nvSpPr>
        <p:spPr>
          <a:xfrm>
            <a:off x="3566160" y="3264408"/>
            <a:ext cx="182880" cy="0"/>
          </a:xfrm>
          <a:prstGeom prst="line">
            <a:avLst/>
          </a:prstGeom>
          <a:noFill/>
          <a:ln w="19050">
            <a:solidFill>
              <a:srgbClr val="94A3B8"/>
            </a:solidFill>
            <a:prstDash val="solid"/>
          </a:ln>
        </p:spPr>
        <p:txBody>
          <a:bodyPr/>
          <a:lstStyle/>
          <a:p>
            <a:endParaRPr lang="en-IN"/>
          </a:p>
        </p:txBody>
      </p:sp>
      <p:sp>
        <p:nvSpPr>
          <p:cNvPr id="35" name="Shape 33"/>
          <p:cNvSpPr/>
          <p:nvPr/>
        </p:nvSpPr>
        <p:spPr>
          <a:xfrm>
            <a:off x="3749040" y="2880360"/>
            <a:ext cx="1554480" cy="777240"/>
          </a:xfrm>
          <a:prstGeom prst="roundRect">
            <a:avLst>
              <a:gd name="adj" fmla="val 11765"/>
            </a:avLst>
          </a:prstGeom>
          <a:solidFill>
            <a:srgbClr val="1E293B"/>
          </a:solidFill>
          <a:ln w="19050">
            <a:solidFill>
              <a:srgbClr val="8B5CF6"/>
            </a:solidFill>
            <a:prstDash val="solid"/>
          </a:ln>
        </p:spPr>
        <p:txBody>
          <a:bodyPr/>
          <a:lstStyle/>
          <a:p>
            <a:endParaRPr lang="en-IN"/>
          </a:p>
        </p:txBody>
      </p:sp>
      <p:sp>
        <p:nvSpPr>
          <p:cNvPr id="36" name="Text 34"/>
          <p:cNvSpPr/>
          <p:nvPr/>
        </p:nvSpPr>
        <p:spPr>
          <a:xfrm>
            <a:off x="3749040" y="2898648"/>
            <a:ext cx="1554480" cy="320040"/>
          </a:xfrm>
          <a:prstGeom prst="rect">
            <a:avLst/>
          </a:prstGeom>
          <a:noFill/>
          <a:ln/>
        </p:spPr>
        <p:txBody>
          <a:bodyPr wrap="square" rtlCol="0" anchor="ctr"/>
          <a:lstStyle/>
          <a:p>
            <a:pPr marL="0" indent="0" algn="ctr">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37" name="Text 35"/>
          <p:cNvSpPr/>
          <p:nvPr/>
        </p:nvSpPr>
        <p:spPr>
          <a:xfrm>
            <a:off x="3749040" y="3227832"/>
            <a:ext cx="1554480" cy="365760"/>
          </a:xfrm>
          <a:prstGeom prst="rect">
            <a:avLst/>
          </a:prstGeom>
          <a:noFill/>
          <a:ln/>
        </p:spPr>
        <p:txBody>
          <a:bodyPr wrap="square" rtlCol="0" anchor="ctr"/>
          <a:lstStyle/>
          <a:p>
            <a:pPr marL="0" indent="0" algn="ctr">
              <a:buNone/>
            </a:pPr>
            <a:r>
              <a:rPr lang="en-US" sz="950" b="1" dirty="0">
                <a:solidFill>
                  <a:srgbClr val="8B5CF6"/>
                </a:solidFill>
                <a:latin typeface="Calibri" pitchFamily="34" charset="0"/>
                <a:ea typeface="Calibri" pitchFamily="34" charset="-122"/>
                <a:cs typeface="Calibri" pitchFamily="34" charset="-120"/>
              </a:rPr>
              <a:t>Retriever</a:t>
            </a:r>
            <a:endParaRPr lang="en-US" sz="950" dirty="0"/>
          </a:p>
        </p:txBody>
      </p:sp>
      <p:sp>
        <p:nvSpPr>
          <p:cNvPr id="38" name="Shape 36"/>
          <p:cNvSpPr/>
          <p:nvPr/>
        </p:nvSpPr>
        <p:spPr>
          <a:xfrm>
            <a:off x="5303520" y="3264408"/>
            <a:ext cx="182880" cy="0"/>
          </a:xfrm>
          <a:prstGeom prst="line">
            <a:avLst/>
          </a:prstGeom>
          <a:noFill/>
          <a:ln w="19050">
            <a:solidFill>
              <a:srgbClr val="94A3B8"/>
            </a:solidFill>
            <a:prstDash val="solid"/>
          </a:ln>
        </p:spPr>
        <p:txBody>
          <a:bodyPr/>
          <a:lstStyle/>
          <a:p>
            <a:endParaRPr lang="en-IN"/>
          </a:p>
        </p:txBody>
      </p:sp>
      <p:sp>
        <p:nvSpPr>
          <p:cNvPr id="39" name="Shape 37"/>
          <p:cNvSpPr/>
          <p:nvPr/>
        </p:nvSpPr>
        <p:spPr>
          <a:xfrm>
            <a:off x="5486400" y="2880360"/>
            <a:ext cx="1554480" cy="777240"/>
          </a:xfrm>
          <a:prstGeom prst="roundRect">
            <a:avLst>
              <a:gd name="adj" fmla="val 11765"/>
            </a:avLst>
          </a:prstGeom>
          <a:solidFill>
            <a:srgbClr val="1E293B"/>
          </a:solidFill>
          <a:ln w="19050">
            <a:solidFill>
              <a:srgbClr val="F59E0B"/>
            </a:solidFill>
            <a:prstDash val="solid"/>
          </a:ln>
        </p:spPr>
        <p:txBody>
          <a:bodyPr/>
          <a:lstStyle/>
          <a:p>
            <a:endParaRPr lang="en-IN"/>
          </a:p>
        </p:txBody>
      </p:sp>
      <p:sp>
        <p:nvSpPr>
          <p:cNvPr id="40" name="Text 38"/>
          <p:cNvSpPr/>
          <p:nvPr/>
        </p:nvSpPr>
        <p:spPr>
          <a:xfrm>
            <a:off x="5486400" y="2898648"/>
            <a:ext cx="1554480" cy="320040"/>
          </a:xfrm>
          <a:prstGeom prst="rect">
            <a:avLst/>
          </a:prstGeom>
          <a:noFill/>
          <a:ln/>
        </p:spPr>
        <p:txBody>
          <a:bodyPr wrap="square" rtlCol="0" anchor="ctr"/>
          <a:lstStyle/>
          <a:p>
            <a:pPr marL="0" indent="0" algn="ctr">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41" name="Text 39"/>
          <p:cNvSpPr/>
          <p:nvPr/>
        </p:nvSpPr>
        <p:spPr>
          <a:xfrm>
            <a:off x="5486400" y="3227832"/>
            <a:ext cx="1554480" cy="365760"/>
          </a:xfrm>
          <a:prstGeom prst="rect">
            <a:avLst/>
          </a:prstGeom>
          <a:noFill/>
          <a:ln/>
        </p:spPr>
        <p:txBody>
          <a:bodyPr wrap="square" rtlCol="0" anchor="ctr"/>
          <a:lstStyle/>
          <a:p>
            <a:pPr marL="0" indent="0" algn="ctr">
              <a:buNone/>
            </a:pPr>
            <a:r>
              <a:rPr lang="en-US" sz="950" b="1" dirty="0">
                <a:solidFill>
                  <a:srgbClr val="F59E0B"/>
                </a:solidFill>
                <a:latin typeface="Calibri" pitchFamily="34" charset="0"/>
                <a:ea typeface="Calibri" pitchFamily="34" charset="-122"/>
                <a:cs typeface="Calibri" pitchFamily="34" charset="-120"/>
              </a:rPr>
              <a:t>LLM</a:t>
            </a:r>
            <a:endParaRPr lang="en-US" sz="950" dirty="0"/>
          </a:p>
        </p:txBody>
      </p:sp>
      <p:sp>
        <p:nvSpPr>
          <p:cNvPr id="42" name="Shape 40"/>
          <p:cNvSpPr/>
          <p:nvPr/>
        </p:nvSpPr>
        <p:spPr>
          <a:xfrm>
            <a:off x="7040880" y="3264408"/>
            <a:ext cx="182880" cy="0"/>
          </a:xfrm>
          <a:prstGeom prst="line">
            <a:avLst/>
          </a:prstGeom>
          <a:noFill/>
          <a:ln w="19050">
            <a:solidFill>
              <a:srgbClr val="94A3B8"/>
            </a:solidFill>
            <a:prstDash val="solid"/>
          </a:ln>
        </p:spPr>
        <p:txBody>
          <a:bodyPr/>
          <a:lstStyle/>
          <a:p>
            <a:endParaRPr lang="en-IN"/>
          </a:p>
        </p:txBody>
      </p:sp>
      <p:sp>
        <p:nvSpPr>
          <p:cNvPr id="43" name="Shape 41"/>
          <p:cNvSpPr/>
          <p:nvPr/>
        </p:nvSpPr>
        <p:spPr>
          <a:xfrm>
            <a:off x="7223760" y="2880360"/>
            <a:ext cx="1554480" cy="777240"/>
          </a:xfrm>
          <a:prstGeom prst="roundRect">
            <a:avLst>
              <a:gd name="adj" fmla="val 11765"/>
            </a:avLst>
          </a:prstGeom>
          <a:solidFill>
            <a:srgbClr val="1E293B"/>
          </a:solidFill>
          <a:ln w="19050">
            <a:solidFill>
              <a:srgbClr val="EF4444"/>
            </a:solidFill>
            <a:prstDash val="solid"/>
          </a:ln>
        </p:spPr>
        <p:txBody>
          <a:bodyPr/>
          <a:lstStyle/>
          <a:p>
            <a:endParaRPr lang="en-IN"/>
          </a:p>
        </p:txBody>
      </p:sp>
      <p:sp>
        <p:nvSpPr>
          <p:cNvPr id="44" name="Text 42"/>
          <p:cNvSpPr/>
          <p:nvPr/>
        </p:nvSpPr>
        <p:spPr>
          <a:xfrm>
            <a:off x="7223760" y="2898648"/>
            <a:ext cx="1554480" cy="320040"/>
          </a:xfrm>
          <a:prstGeom prst="rect">
            <a:avLst/>
          </a:prstGeom>
          <a:noFill/>
          <a:ln/>
        </p:spPr>
        <p:txBody>
          <a:bodyPr wrap="square" rtlCol="0" anchor="ctr"/>
          <a:lstStyle/>
          <a:p>
            <a:pPr marL="0" indent="0" algn="ctr">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45" name="Text 43"/>
          <p:cNvSpPr/>
          <p:nvPr/>
        </p:nvSpPr>
        <p:spPr>
          <a:xfrm>
            <a:off x="7223760" y="3227832"/>
            <a:ext cx="1554480" cy="365760"/>
          </a:xfrm>
          <a:prstGeom prst="rect">
            <a:avLst/>
          </a:prstGeom>
          <a:noFill/>
          <a:ln/>
        </p:spPr>
        <p:txBody>
          <a:bodyPr wrap="square" rtlCol="0" anchor="ctr"/>
          <a:lstStyle/>
          <a:p>
            <a:pPr marL="0" indent="0" algn="ctr">
              <a:buNone/>
            </a:pPr>
            <a:r>
              <a:rPr lang="en-US" sz="950" b="1" dirty="0">
                <a:solidFill>
                  <a:srgbClr val="EF4444"/>
                </a:solidFill>
                <a:latin typeface="Calibri" pitchFamily="34" charset="0"/>
                <a:ea typeface="Calibri" pitchFamily="34" charset="-122"/>
                <a:cs typeface="Calibri" pitchFamily="34" charset="-120"/>
              </a:rPr>
              <a:t>Response</a:t>
            </a:r>
            <a:endParaRPr lang="en-US" sz="950" dirty="0"/>
          </a:p>
        </p:txBody>
      </p:sp>
      <p:sp>
        <p:nvSpPr>
          <p:cNvPr id="46" name="Shape 44"/>
          <p:cNvSpPr/>
          <p:nvPr/>
        </p:nvSpPr>
        <p:spPr>
          <a:xfrm>
            <a:off x="8366760" y="2029968"/>
            <a:ext cx="0" cy="850392"/>
          </a:xfrm>
          <a:prstGeom prst="line">
            <a:avLst/>
          </a:prstGeom>
          <a:noFill/>
          <a:ln w="19050">
            <a:solidFill>
              <a:srgbClr val="EF4444"/>
            </a:solidFill>
            <a:prstDash val="dash"/>
          </a:ln>
        </p:spPr>
        <p:txBody>
          <a:bodyPr/>
          <a:lstStyle/>
          <a:p>
            <a:endParaRPr lang="en-IN"/>
          </a:p>
        </p:txBody>
      </p:sp>
      <p:sp>
        <p:nvSpPr>
          <p:cNvPr id="47" name="Text 45"/>
          <p:cNvSpPr/>
          <p:nvPr/>
        </p:nvSpPr>
        <p:spPr>
          <a:xfrm>
            <a:off x="7772400" y="2468880"/>
            <a:ext cx="1280160" cy="365760"/>
          </a:xfrm>
          <a:prstGeom prst="rect">
            <a:avLst/>
          </a:prstGeom>
          <a:noFill/>
          <a:ln/>
        </p:spPr>
        <p:txBody>
          <a:bodyPr wrap="square" rtlCol="0" anchor="ctr"/>
          <a:lstStyle/>
          <a:p>
            <a:pPr marL="0" indent="0" algn="ctr">
              <a:buNone/>
            </a:pPr>
            <a:r>
              <a:rPr lang="en-US" sz="800" i="1" dirty="0">
                <a:solidFill>
                  <a:srgbClr val="EF4444"/>
                </a:solidFill>
                <a:latin typeface="Calibri" pitchFamily="34" charset="0"/>
                <a:ea typeface="Calibri" pitchFamily="34" charset="-122"/>
                <a:cs typeface="Calibri" pitchFamily="34" charset="-120"/>
              </a:rPr>
              <a:t>↕ Vector DB used for both</a:t>
            </a:r>
            <a:endParaRPr lang="en-US" sz="800" dirty="0"/>
          </a:p>
        </p:txBody>
      </p:sp>
      <p:sp>
        <p:nvSpPr>
          <p:cNvPr id="48" name="Shape 46"/>
          <p:cNvSpPr/>
          <p:nvPr/>
        </p:nvSpPr>
        <p:spPr>
          <a:xfrm>
            <a:off x="274320" y="3794760"/>
            <a:ext cx="8595360" cy="1143000"/>
          </a:xfrm>
          <a:prstGeom prst="roundRect">
            <a:avLst>
              <a:gd name="adj" fmla="val 8000"/>
            </a:avLst>
          </a:prstGeom>
          <a:solidFill>
            <a:srgbClr val="1E293B"/>
          </a:solidFill>
          <a:ln w="12700">
            <a:solidFill>
              <a:srgbClr val="10B981"/>
            </a:solidFill>
            <a:prstDash val="solid"/>
          </a:ln>
        </p:spPr>
        <p:txBody>
          <a:bodyPr/>
          <a:lstStyle/>
          <a:p>
            <a:endParaRPr lang="en-IN"/>
          </a:p>
        </p:txBody>
      </p:sp>
      <p:sp>
        <p:nvSpPr>
          <p:cNvPr id="49" name="Text 47"/>
          <p:cNvSpPr/>
          <p:nvPr/>
        </p:nvSpPr>
        <p:spPr>
          <a:xfrm>
            <a:off x="457200" y="3858768"/>
            <a:ext cx="1828800" cy="347472"/>
          </a:xfrm>
          <a:prstGeom prst="rect">
            <a:avLst/>
          </a:prstGeom>
          <a:noFill/>
          <a:ln/>
        </p:spPr>
        <p:txBody>
          <a:bodyPr wrap="square" rtlCol="0" anchor="ctr"/>
          <a:lstStyle/>
          <a:p>
            <a:pPr marL="0" indent="0">
              <a:buNone/>
            </a:pPr>
            <a:r>
              <a:rPr lang="en-US" sz="1200" b="1" dirty="0">
                <a:solidFill>
                  <a:srgbClr val="10B981"/>
                </a:solidFill>
                <a:latin typeface="Calibri" pitchFamily="34" charset="0"/>
                <a:ea typeface="Calibri" pitchFamily="34" charset="-122"/>
                <a:cs typeface="Calibri" pitchFamily="34" charset="-120"/>
              </a:rPr>
              <a:t>Why RAG?</a:t>
            </a:r>
            <a:endParaRPr lang="en-US" sz="1200" dirty="0"/>
          </a:p>
        </p:txBody>
      </p:sp>
      <p:sp>
        <p:nvSpPr>
          <p:cNvPr id="50" name="Text 48"/>
          <p:cNvSpPr/>
          <p:nvPr/>
        </p:nvSpPr>
        <p:spPr>
          <a:xfrm>
            <a:off x="457200" y="4251960"/>
            <a:ext cx="4114800" cy="347472"/>
          </a:xfrm>
          <a:prstGeom prst="rect">
            <a:avLst/>
          </a:prstGeom>
          <a:noFill/>
          <a:ln/>
        </p:spPr>
        <p:txBody>
          <a:bodyPr wrap="square" rtlCol="0" anchor="ctr"/>
          <a:lstStyle/>
          <a:p>
            <a:pPr marL="0" indent="0">
              <a:buNone/>
            </a:pPr>
            <a:r>
              <a:rPr lang="en-US" sz="1050" dirty="0">
                <a:solidFill>
                  <a:srgbClr val="CBD5E1"/>
                </a:solidFill>
                <a:latin typeface="Calibri" pitchFamily="34" charset="0"/>
                <a:ea typeface="Calibri" pitchFamily="34" charset="-122"/>
                <a:cs typeface="Calibri" pitchFamily="34" charset="-120"/>
              </a:rPr>
              <a:t>✓ No knowledge cutoff — use live docs</a:t>
            </a:r>
            <a:endParaRPr lang="en-US" sz="1050" dirty="0"/>
          </a:p>
        </p:txBody>
      </p:sp>
      <p:sp>
        <p:nvSpPr>
          <p:cNvPr id="51" name="Text 49"/>
          <p:cNvSpPr/>
          <p:nvPr/>
        </p:nvSpPr>
        <p:spPr>
          <a:xfrm>
            <a:off x="4754880" y="4251960"/>
            <a:ext cx="4114800" cy="347472"/>
          </a:xfrm>
          <a:prstGeom prst="rect">
            <a:avLst/>
          </a:prstGeom>
          <a:noFill/>
          <a:ln/>
        </p:spPr>
        <p:txBody>
          <a:bodyPr wrap="square" rtlCol="0" anchor="ctr"/>
          <a:lstStyle/>
          <a:p>
            <a:pPr marL="0" indent="0">
              <a:buNone/>
            </a:pPr>
            <a:r>
              <a:rPr lang="en-US" sz="1050" dirty="0">
                <a:solidFill>
                  <a:srgbClr val="CBD5E1"/>
                </a:solidFill>
                <a:latin typeface="Calibri" pitchFamily="34" charset="0"/>
                <a:ea typeface="Calibri" pitchFamily="34" charset="-122"/>
                <a:cs typeface="Calibri" pitchFamily="34" charset="-120"/>
              </a:rPr>
              <a:t>✓ Reduces hallucinations</a:t>
            </a:r>
            <a:endParaRPr lang="en-US" sz="1050" dirty="0"/>
          </a:p>
        </p:txBody>
      </p:sp>
      <p:sp>
        <p:nvSpPr>
          <p:cNvPr id="52" name="Text 50"/>
          <p:cNvSpPr/>
          <p:nvPr/>
        </p:nvSpPr>
        <p:spPr>
          <a:xfrm>
            <a:off x="457200" y="4636008"/>
            <a:ext cx="4114800" cy="347472"/>
          </a:xfrm>
          <a:prstGeom prst="rect">
            <a:avLst/>
          </a:prstGeom>
          <a:noFill/>
          <a:ln/>
        </p:spPr>
        <p:txBody>
          <a:bodyPr wrap="square" rtlCol="0" anchor="ctr"/>
          <a:lstStyle/>
          <a:p>
            <a:pPr marL="0" indent="0">
              <a:buNone/>
            </a:pPr>
            <a:r>
              <a:rPr lang="en-US" sz="1050" dirty="0">
                <a:solidFill>
                  <a:srgbClr val="CBD5E1"/>
                </a:solidFill>
                <a:latin typeface="Calibri" pitchFamily="34" charset="0"/>
                <a:ea typeface="Calibri" pitchFamily="34" charset="-122"/>
                <a:cs typeface="Calibri" pitchFamily="34" charset="-120"/>
              </a:rPr>
              <a:t>✓ Cite sources with context</a:t>
            </a:r>
            <a:endParaRPr lang="en-US" sz="1050" dirty="0"/>
          </a:p>
        </p:txBody>
      </p:sp>
      <p:sp>
        <p:nvSpPr>
          <p:cNvPr id="53" name="Text 51"/>
          <p:cNvSpPr/>
          <p:nvPr/>
        </p:nvSpPr>
        <p:spPr>
          <a:xfrm>
            <a:off x="4754880" y="4636008"/>
            <a:ext cx="4114800" cy="347472"/>
          </a:xfrm>
          <a:prstGeom prst="rect">
            <a:avLst/>
          </a:prstGeom>
          <a:noFill/>
          <a:ln/>
        </p:spPr>
        <p:txBody>
          <a:bodyPr wrap="square" rtlCol="0" anchor="ctr"/>
          <a:lstStyle/>
          <a:p>
            <a:pPr marL="0" indent="0">
              <a:buNone/>
            </a:pPr>
            <a:r>
              <a:rPr lang="en-US" sz="1050" dirty="0">
                <a:solidFill>
                  <a:srgbClr val="CBD5E1"/>
                </a:solidFill>
                <a:latin typeface="Calibri" pitchFamily="34" charset="0"/>
                <a:ea typeface="Calibri" pitchFamily="34" charset="-122"/>
                <a:cs typeface="Calibri" pitchFamily="34" charset="-120"/>
              </a:rPr>
              <a:t>✓ No need to retrain the model</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59E0B"/>
          </a:solidFill>
          <a:ln w="12700">
            <a:solidFill>
              <a:srgbClr val="F59E0B"/>
            </a:solidFill>
            <a:prstDash val="solid"/>
          </a:ln>
        </p:spPr>
        <p:txBody>
          <a:bodyPr/>
          <a:lstStyle/>
          <a:p>
            <a:endParaRPr lang="en-IN"/>
          </a:p>
        </p:txBody>
      </p:sp>
      <p:sp>
        <p:nvSpPr>
          <p:cNvPr id="3" name="Text 1"/>
          <p:cNvSpPr/>
          <p:nvPr/>
        </p:nvSpPr>
        <p:spPr>
          <a:xfrm>
            <a:off x="365760" y="109728"/>
            <a:ext cx="8229600" cy="50292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Embeddings &amp; Vector Stores</a:t>
            </a:r>
            <a:endParaRPr lang="en-US" sz="2800" dirty="0"/>
          </a:p>
        </p:txBody>
      </p:sp>
      <p:sp>
        <p:nvSpPr>
          <p:cNvPr id="4" name="Shape 2"/>
          <p:cNvSpPr/>
          <p:nvPr/>
        </p:nvSpPr>
        <p:spPr>
          <a:xfrm>
            <a:off x="274320" y="713232"/>
            <a:ext cx="4114800" cy="4206240"/>
          </a:xfrm>
          <a:prstGeom prst="roundRect">
            <a:avLst>
              <a:gd name="adj" fmla="val 2667"/>
            </a:avLst>
          </a:prstGeom>
          <a:solidFill>
            <a:srgbClr val="1E293B"/>
          </a:solidFill>
          <a:ln w="12700">
            <a:solidFill>
              <a:srgbClr val="F59E0B"/>
            </a:solidFill>
            <a:prstDash val="solid"/>
          </a:ln>
        </p:spPr>
        <p:txBody>
          <a:bodyPr/>
          <a:lstStyle/>
          <a:p>
            <a:endParaRPr lang="en-IN"/>
          </a:p>
        </p:txBody>
      </p:sp>
      <p:sp>
        <p:nvSpPr>
          <p:cNvPr id="5" name="Text 3"/>
          <p:cNvSpPr/>
          <p:nvPr/>
        </p:nvSpPr>
        <p:spPr>
          <a:xfrm>
            <a:off x="411480" y="822960"/>
            <a:ext cx="3840480" cy="365760"/>
          </a:xfrm>
          <a:prstGeom prst="rect">
            <a:avLst/>
          </a:prstGeom>
          <a:noFill/>
          <a:ln/>
        </p:spPr>
        <p:txBody>
          <a:bodyPr wrap="square" rtlCol="0" anchor="ctr"/>
          <a:lstStyle/>
          <a:p>
            <a:pPr marL="0" indent="0">
              <a:buNone/>
            </a:pPr>
            <a:r>
              <a:rPr lang="en-US" sz="1400" b="1" dirty="0">
                <a:solidFill>
                  <a:srgbClr val="F59E0B"/>
                </a:solidFill>
                <a:latin typeface="Calibri" pitchFamily="34" charset="0"/>
                <a:ea typeface="Calibri" pitchFamily="34" charset="-122"/>
                <a:cs typeface="Calibri" pitchFamily="34" charset="-120"/>
              </a:rPr>
              <a:t>What are Embeddings?</a:t>
            </a:r>
            <a:endParaRPr lang="en-US" sz="1400" dirty="0"/>
          </a:p>
        </p:txBody>
      </p:sp>
      <p:sp>
        <p:nvSpPr>
          <p:cNvPr id="6" name="Text 4"/>
          <p:cNvSpPr/>
          <p:nvPr/>
        </p:nvSpPr>
        <p:spPr>
          <a:xfrm>
            <a:off x="411480" y="1234440"/>
            <a:ext cx="3840480" cy="548640"/>
          </a:xfrm>
          <a:prstGeom prst="rect">
            <a:avLst/>
          </a:prstGeom>
          <a:noFill/>
          <a:ln/>
        </p:spPr>
        <p:txBody>
          <a:bodyPr wrap="square" rtlCol="0" anchor="ctr"/>
          <a:lstStyle/>
          <a:p>
            <a:pPr marL="0" indent="0">
              <a:buNone/>
            </a:pPr>
            <a:r>
              <a:rPr lang="en-US" sz="1050" dirty="0">
                <a:solidFill>
                  <a:srgbClr val="CBD5E1"/>
                </a:solidFill>
                <a:latin typeface="Calibri" pitchFamily="34" charset="0"/>
                <a:ea typeface="Calibri" pitchFamily="34" charset="-122"/>
                <a:cs typeface="Calibri" pitchFamily="34" charset="-120"/>
              </a:rPr>
              <a:t>Embeddings convert text into numerical vectors that capture semantic meaning. Similar sentences → similar vectors.</a:t>
            </a:r>
            <a:endParaRPr lang="en-US" sz="1050" dirty="0"/>
          </a:p>
        </p:txBody>
      </p:sp>
      <p:sp>
        <p:nvSpPr>
          <p:cNvPr id="7" name="Shape 5"/>
          <p:cNvSpPr/>
          <p:nvPr/>
        </p:nvSpPr>
        <p:spPr>
          <a:xfrm>
            <a:off x="411480" y="1874520"/>
            <a:ext cx="3840480" cy="749808"/>
          </a:xfrm>
          <a:prstGeom prst="roundRect">
            <a:avLst>
              <a:gd name="adj" fmla="val 8537"/>
            </a:avLst>
          </a:prstGeom>
          <a:solidFill>
            <a:srgbClr val="0F172A"/>
          </a:solidFill>
          <a:ln w="9525">
            <a:solidFill>
              <a:srgbClr val="06B6D4"/>
            </a:solidFill>
            <a:prstDash val="solid"/>
          </a:ln>
        </p:spPr>
        <p:txBody>
          <a:bodyPr/>
          <a:lstStyle/>
          <a:p>
            <a:endParaRPr lang="en-IN"/>
          </a:p>
        </p:txBody>
      </p:sp>
      <p:sp>
        <p:nvSpPr>
          <p:cNvPr id="8" name="Text 6"/>
          <p:cNvSpPr/>
          <p:nvPr/>
        </p:nvSpPr>
        <p:spPr>
          <a:xfrm>
            <a:off x="548640" y="1920240"/>
            <a:ext cx="3566160" cy="274320"/>
          </a:xfrm>
          <a:prstGeom prst="rect">
            <a:avLst/>
          </a:prstGeom>
          <a:noFill/>
          <a:ln/>
        </p:spPr>
        <p:txBody>
          <a:bodyPr wrap="square" rtlCol="0" anchor="ctr"/>
          <a:lstStyle/>
          <a:p>
            <a:pPr marL="0" indent="0">
              <a:buNone/>
            </a:pPr>
            <a:r>
              <a:rPr lang="en-US" sz="1000" b="1" i="1" dirty="0">
                <a:solidFill>
                  <a:srgbClr val="06B6D4"/>
                </a:solidFill>
                <a:latin typeface="Calibri" pitchFamily="34" charset="0"/>
                <a:ea typeface="Calibri" pitchFamily="34" charset="-122"/>
                <a:cs typeface="Calibri" pitchFamily="34" charset="-120"/>
              </a:rPr>
              <a:t>"Cat sleeps on sofa"</a:t>
            </a:r>
            <a:endParaRPr lang="en-US" sz="1000" dirty="0"/>
          </a:p>
        </p:txBody>
      </p:sp>
      <p:sp>
        <p:nvSpPr>
          <p:cNvPr id="9" name="Text 7"/>
          <p:cNvSpPr/>
          <p:nvPr/>
        </p:nvSpPr>
        <p:spPr>
          <a:xfrm>
            <a:off x="548640" y="2194560"/>
            <a:ext cx="3566160" cy="274320"/>
          </a:xfrm>
          <a:prstGeom prst="rect">
            <a:avLst/>
          </a:prstGeom>
          <a:noFill/>
          <a:ln/>
        </p:spPr>
        <p:txBody>
          <a:bodyPr wrap="square" rtlCol="0" anchor="ctr"/>
          <a:lstStyle/>
          <a:p>
            <a:pPr marL="0" indent="0">
              <a:buNone/>
            </a:pPr>
            <a:r>
              <a:rPr lang="en-US" sz="900" dirty="0">
                <a:solidFill>
                  <a:srgbClr val="94A3B8"/>
                </a:solidFill>
                <a:latin typeface="Calibri" pitchFamily="34" charset="0"/>
                <a:ea typeface="Calibri" pitchFamily="34" charset="-122"/>
                <a:cs typeface="Calibri" pitchFamily="34" charset="-120"/>
              </a:rPr>
              <a:t>→ [0.82, 0.15, -0.34, ...]</a:t>
            </a:r>
            <a:endParaRPr lang="en-US" sz="900" dirty="0"/>
          </a:p>
        </p:txBody>
      </p:sp>
      <p:sp>
        <p:nvSpPr>
          <p:cNvPr id="10" name="Shape 8"/>
          <p:cNvSpPr/>
          <p:nvPr/>
        </p:nvSpPr>
        <p:spPr>
          <a:xfrm>
            <a:off x="411480" y="2770632"/>
            <a:ext cx="3840480" cy="749808"/>
          </a:xfrm>
          <a:prstGeom prst="roundRect">
            <a:avLst>
              <a:gd name="adj" fmla="val 8537"/>
            </a:avLst>
          </a:prstGeom>
          <a:solidFill>
            <a:srgbClr val="0F172A"/>
          </a:solidFill>
          <a:ln w="9525">
            <a:solidFill>
              <a:srgbClr val="10B981"/>
            </a:solidFill>
            <a:prstDash val="solid"/>
          </a:ln>
        </p:spPr>
        <p:txBody>
          <a:bodyPr/>
          <a:lstStyle/>
          <a:p>
            <a:endParaRPr lang="en-IN"/>
          </a:p>
        </p:txBody>
      </p:sp>
      <p:sp>
        <p:nvSpPr>
          <p:cNvPr id="11" name="Text 9"/>
          <p:cNvSpPr/>
          <p:nvPr/>
        </p:nvSpPr>
        <p:spPr>
          <a:xfrm>
            <a:off x="548640" y="2816352"/>
            <a:ext cx="3566160" cy="274320"/>
          </a:xfrm>
          <a:prstGeom prst="rect">
            <a:avLst/>
          </a:prstGeom>
          <a:noFill/>
          <a:ln/>
        </p:spPr>
        <p:txBody>
          <a:bodyPr wrap="square" rtlCol="0" anchor="ctr"/>
          <a:lstStyle/>
          <a:p>
            <a:pPr marL="0" indent="0">
              <a:buNone/>
            </a:pPr>
            <a:r>
              <a:rPr lang="en-US" sz="1000" b="1" i="1" dirty="0">
                <a:solidFill>
                  <a:srgbClr val="10B981"/>
                </a:solidFill>
                <a:latin typeface="Calibri" pitchFamily="34" charset="0"/>
                <a:ea typeface="Calibri" pitchFamily="34" charset="-122"/>
                <a:cs typeface="Calibri" pitchFamily="34" charset="-120"/>
              </a:rPr>
              <a:t>"Kitten rests on couch"</a:t>
            </a:r>
            <a:endParaRPr lang="en-US" sz="1000" dirty="0"/>
          </a:p>
        </p:txBody>
      </p:sp>
      <p:sp>
        <p:nvSpPr>
          <p:cNvPr id="12" name="Text 10"/>
          <p:cNvSpPr/>
          <p:nvPr/>
        </p:nvSpPr>
        <p:spPr>
          <a:xfrm>
            <a:off x="548640" y="3090672"/>
            <a:ext cx="3566160" cy="274320"/>
          </a:xfrm>
          <a:prstGeom prst="rect">
            <a:avLst/>
          </a:prstGeom>
          <a:noFill/>
          <a:ln/>
        </p:spPr>
        <p:txBody>
          <a:bodyPr wrap="square" rtlCol="0" anchor="ctr"/>
          <a:lstStyle/>
          <a:p>
            <a:pPr marL="0" indent="0">
              <a:buNone/>
            </a:pPr>
            <a:r>
              <a:rPr lang="en-US" sz="900" dirty="0">
                <a:solidFill>
                  <a:srgbClr val="94A3B8"/>
                </a:solidFill>
                <a:latin typeface="Calibri" pitchFamily="34" charset="0"/>
                <a:ea typeface="Calibri" pitchFamily="34" charset="-122"/>
                <a:cs typeface="Calibri" pitchFamily="34" charset="-120"/>
              </a:rPr>
              <a:t>→ [0.79, 0.17, -0.31, ...]</a:t>
            </a:r>
            <a:endParaRPr lang="en-US" sz="900" dirty="0"/>
          </a:p>
        </p:txBody>
      </p:sp>
      <p:sp>
        <p:nvSpPr>
          <p:cNvPr id="13" name="Shape 11"/>
          <p:cNvSpPr/>
          <p:nvPr/>
        </p:nvSpPr>
        <p:spPr>
          <a:xfrm>
            <a:off x="411480" y="3666744"/>
            <a:ext cx="3840480" cy="749808"/>
          </a:xfrm>
          <a:prstGeom prst="roundRect">
            <a:avLst>
              <a:gd name="adj" fmla="val 8537"/>
            </a:avLst>
          </a:prstGeom>
          <a:solidFill>
            <a:srgbClr val="0F172A"/>
          </a:solidFill>
          <a:ln w="9525">
            <a:solidFill>
              <a:srgbClr val="EF4444"/>
            </a:solidFill>
            <a:prstDash val="solid"/>
          </a:ln>
        </p:spPr>
        <p:txBody>
          <a:bodyPr/>
          <a:lstStyle/>
          <a:p>
            <a:endParaRPr lang="en-IN"/>
          </a:p>
        </p:txBody>
      </p:sp>
      <p:sp>
        <p:nvSpPr>
          <p:cNvPr id="14" name="Text 12"/>
          <p:cNvSpPr/>
          <p:nvPr/>
        </p:nvSpPr>
        <p:spPr>
          <a:xfrm>
            <a:off x="548640" y="3712464"/>
            <a:ext cx="3566160" cy="274320"/>
          </a:xfrm>
          <a:prstGeom prst="rect">
            <a:avLst/>
          </a:prstGeom>
          <a:noFill/>
          <a:ln/>
        </p:spPr>
        <p:txBody>
          <a:bodyPr wrap="square" rtlCol="0" anchor="ctr"/>
          <a:lstStyle/>
          <a:p>
            <a:pPr marL="0" indent="0">
              <a:buNone/>
            </a:pPr>
            <a:r>
              <a:rPr lang="en-US" sz="1000" b="1" i="1" dirty="0">
                <a:solidFill>
                  <a:srgbClr val="EF4444"/>
                </a:solidFill>
                <a:latin typeface="Calibri" pitchFamily="34" charset="0"/>
                <a:ea typeface="Calibri" pitchFamily="34" charset="-122"/>
                <a:cs typeface="Calibri" pitchFamily="34" charset="-120"/>
              </a:rPr>
              <a:t>"Stock market crash"</a:t>
            </a:r>
            <a:endParaRPr lang="en-US" sz="1000" dirty="0"/>
          </a:p>
        </p:txBody>
      </p:sp>
      <p:sp>
        <p:nvSpPr>
          <p:cNvPr id="15" name="Text 13"/>
          <p:cNvSpPr/>
          <p:nvPr/>
        </p:nvSpPr>
        <p:spPr>
          <a:xfrm>
            <a:off x="548640" y="3986784"/>
            <a:ext cx="3566160" cy="274320"/>
          </a:xfrm>
          <a:prstGeom prst="rect">
            <a:avLst/>
          </a:prstGeom>
          <a:noFill/>
          <a:ln/>
        </p:spPr>
        <p:txBody>
          <a:bodyPr wrap="square" rtlCol="0" anchor="ctr"/>
          <a:lstStyle/>
          <a:p>
            <a:pPr marL="0" indent="0">
              <a:buNone/>
            </a:pPr>
            <a:r>
              <a:rPr lang="en-US" sz="900" dirty="0">
                <a:solidFill>
                  <a:srgbClr val="94A3B8"/>
                </a:solidFill>
                <a:latin typeface="Calibri" pitchFamily="34" charset="0"/>
                <a:ea typeface="Calibri" pitchFamily="34" charset="-122"/>
                <a:cs typeface="Calibri" pitchFamily="34" charset="-120"/>
              </a:rPr>
              <a:t>→ [-0.42, 0.91, 0.12, ...]</a:t>
            </a:r>
            <a:endParaRPr lang="en-US" sz="900" dirty="0"/>
          </a:p>
        </p:txBody>
      </p:sp>
      <p:sp>
        <p:nvSpPr>
          <p:cNvPr id="16" name="Text 14"/>
          <p:cNvSpPr/>
          <p:nvPr/>
        </p:nvSpPr>
        <p:spPr>
          <a:xfrm>
            <a:off x="411480" y="4553712"/>
            <a:ext cx="3840480" cy="274320"/>
          </a:xfrm>
          <a:prstGeom prst="rect">
            <a:avLst/>
          </a:prstGeom>
          <a:noFill/>
          <a:ln/>
        </p:spPr>
        <p:txBody>
          <a:bodyPr wrap="square" rtlCol="0" anchor="ctr"/>
          <a:lstStyle/>
          <a:p>
            <a:pPr marL="0" indent="0">
              <a:buNone/>
            </a:pPr>
            <a:r>
              <a:rPr lang="en-US" sz="900" i="1" dirty="0">
                <a:solidFill>
                  <a:srgbClr val="10B981"/>
                </a:solidFill>
                <a:latin typeface="Calibri" pitchFamily="34" charset="0"/>
                <a:ea typeface="Calibri" pitchFamily="34" charset="-122"/>
                <a:cs typeface="Calibri" pitchFamily="34" charset="-120"/>
              </a:rPr>
              <a:t>↕ High similarity (0.97 cosine)  ↕ Low similarity with stock</a:t>
            </a:r>
            <a:endParaRPr lang="en-US" sz="900" dirty="0"/>
          </a:p>
        </p:txBody>
      </p:sp>
      <p:sp>
        <p:nvSpPr>
          <p:cNvPr id="17" name="Shape 15"/>
          <p:cNvSpPr/>
          <p:nvPr/>
        </p:nvSpPr>
        <p:spPr>
          <a:xfrm>
            <a:off x="4663440" y="713232"/>
            <a:ext cx="4206240" cy="2057400"/>
          </a:xfrm>
          <a:prstGeom prst="roundRect">
            <a:avLst>
              <a:gd name="adj" fmla="val 5333"/>
            </a:avLst>
          </a:prstGeom>
          <a:solidFill>
            <a:srgbClr val="1E293B"/>
          </a:solidFill>
          <a:ln w="19050">
            <a:solidFill>
              <a:srgbClr val="8B5CF6"/>
            </a:solidFill>
            <a:prstDash val="solid"/>
          </a:ln>
        </p:spPr>
        <p:txBody>
          <a:bodyPr/>
          <a:lstStyle/>
          <a:p>
            <a:endParaRPr lang="en-IN"/>
          </a:p>
        </p:txBody>
      </p:sp>
      <p:sp>
        <p:nvSpPr>
          <p:cNvPr id="18" name="Text 16"/>
          <p:cNvSpPr/>
          <p:nvPr/>
        </p:nvSpPr>
        <p:spPr>
          <a:xfrm>
            <a:off x="4800600" y="804672"/>
            <a:ext cx="2286000" cy="365760"/>
          </a:xfrm>
          <a:prstGeom prst="rect">
            <a:avLst/>
          </a:prstGeom>
          <a:noFill/>
          <a:ln/>
        </p:spPr>
        <p:txBody>
          <a:bodyPr wrap="square" rtlCol="0" anchor="ctr"/>
          <a:lstStyle/>
          <a:p>
            <a:pPr marL="0" indent="0">
              <a:buNone/>
            </a:pPr>
            <a:r>
              <a:rPr lang="en-US" sz="1600" b="1" dirty="0">
                <a:solidFill>
                  <a:srgbClr val="8B5CF6"/>
                </a:solidFill>
                <a:latin typeface="Calibri" pitchFamily="34" charset="0"/>
                <a:ea typeface="Calibri" pitchFamily="34" charset="-122"/>
                <a:cs typeface="Calibri" pitchFamily="34" charset="-120"/>
              </a:rPr>
              <a:t>FAISS</a:t>
            </a:r>
            <a:endParaRPr lang="en-US" sz="1600" dirty="0"/>
          </a:p>
        </p:txBody>
      </p:sp>
      <p:sp>
        <p:nvSpPr>
          <p:cNvPr id="19" name="Text 17"/>
          <p:cNvSpPr/>
          <p:nvPr/>
        </p:nvSpPr>
        <p:spPr>
          <a:xfrm>
            <a:off x="7132320" y="822960"/>
            <a:ext cx="1645920" cy="329184"/>
          </a:xfrm>
          <a:prstGeom prst="rect">
            <a:avLst/>
          </a:prstGeom>
          <a:noFill/>
          <a:ln/>
        </p:spPr>
        <p:txBody>
          <a:bodyPr wrap="square" rtlCol="0" anchor="ctr"/>
          <a:lstStyle/>
          <a:p>
            <a:pPr marL="0" indent="0" algn="r">
              <a:buNone/>
            </a:pPr>
            <a:r>
              <a:rPr lang="en-US" sz="1000" i="1" dirty="0">
                <a:solidFill>
                  <a:srgbClr val="94A3B8"/>
                </a:solidFill>
                <a:latin typeface="Calibri" pitchFamily="34" charset="0"/>
                <a:ea typeface="Calibri" pitchFamily="34" charset="-122"/>
                <a:cs typeface="Calibri" pitchFamily="34" charset="-120"/>
              </a:rPr>
              <a:t>by Meta</a:t>
            </a:r>
            <a:endParaRPr lang="en-US" sz="1000" dirty="0"/>
          </a:p>
        </p:txBody>
      </p:sp>
      <p:sp>
        <p:nvSpPr>
          <p:cNvPr id="20" name="Text 18"/>
          <p:cNvSpPr/>
          <p:nvPr/>
        </p:nvSpPr>
        <p:spPr>
          <a:xfrm>
            <a:off x="4800600" y="1243584"/>
            <a:ext cx="3931920" cy="274320"/>
          </a:xfrm>
          <a:prstGeom prst="rect">
            <a:avLst/>
          </a:prstGeom>
          <a:noFill/>
          <a:ln/>
        </p:spPr>
        <p:txBody>
          <a:bodyPr wrap="square" rtlCol="0" anchor="ctr"/>
          <a:lstStyle/>
          <a:p>
            <a:pPr marL="0" indent="0">
              <a:buNone/>
            </a:pPr>
            <a:r>
              <a:rPr lang="en-US" sz="1000" dirty="0">
                <a:solidFill>
                  <a:srgbClr val="CBD5E1"/>
                </a:solidFill>
                <a:latin typeface="Calibri" pitchFamily="34" charset="0"/>
                <a:ea typeface="Calibri" pitchFamily="34" charset="-122"/>
                <a:cs typeface="Calibri" pitchFamily="34" charset="-120"/>
              </a:rPr>
              <a:t>▸  In-memory vector store</a:t>
            </a:r>
            <a:endParaRPr lang="en-US" sz="1000" dirty="0"/>
          </a:p>
        </p:txBody>
      </p:sp>
      <p:sp>
        <p:nvSpPr>
          <p:cNvPr id="21" name="Text 19"/>
          <p:cNvSpPr/>
          <p:nvPr/>
        </p:nvSpPr>
        <p:spPr>
          <a:xfrm>
            <a:off x="4800600" y="1536192"/>
            <a:ext cx="3931920" cy="274320"/>
          </a:xfrm>
          <a:prstGeom prst="rect">
            <a:avLst/>
          </a:prstGeom>
          <a:noFill/>
          <a:ln/>
        </p:spPr>
        <p:txBody>
          <a:bodyPr wrap="square" rtlCol="0" anchor="ctr"/>
          <a:lstStyle/>
          <a:p>
            <a:pPr marL="0" indent="0">
              <a:buNone/>
            </a:pPr>
            <a:r>
              <a:rPr lang="en-US" sz="1000" dirty="0">
                <a:solidFill>
                  <a:srgbClr val="CBD5E1"/>
                </a:solidFill>
                <a:latin typeface="Calibri" pitchFamily="34" charset="0"/>
                <a:ea typeface="Calibri" pitchFamily="34" charset="-122"/>
                <a:cs typeface="Calibri" pitchFamily="34" charset="-120"/>
              </a:rPr>
              <a:t>▸  Extremely fast similarity search</a:t>
            </a:r>
            <a:endParaRPr lang="en-US" sz="1000" dirty="0"/>
          </a:p>
        </p:txBody>
      </p:sp>
      <p:sp>
        <p:nvSpPr>
          <p:cNvPr id="22" name="Text 20"/>
          <p:cNvSpPr/>
          <p:nvPr/>
        </p:nvSpPr>
        <p:spPr>
          <a:xfrm>
            <a:off x="4800600" y="1828800"/>
            <a:ext cx="3931920" cy="274320"/>
          </a:xfrm>
          <a:prstGeom prst="rect">
            <a:avLst/>
          </a:prstGeom>
          <a:noFill/>
          <a:ln/>
        </p:spPr>
        <p:txBody>
          <a:bodyPr wrap="square" rtlCol="0" anchor="ctr"/>
          <a:lstStyle/>
          <a:p>
            <a:pPr marL="0" indent="0">
              <a:buNone/>
            </a:pPr>
            <a:r>
              <a:rPr lang="en-US" sz="1000" dirty="0">
                <a:solidFill>
                  <a:srgbClr val="CBD5E1"/>
                </a:solidFill>
                <a:latin typeface="Calibri" pitchFamily="34" charset="0"/>
                <a:ea typeface="Calibri" pitchFamily="34" charset="-122"/>
                <a:cs typeface="Calibri" pitchFamily="34" charset="-120"/>
              </a:rPr>
              <a:t>▸  Best for prototyping &amp; research</a:t>
            </a:r>
            <a:endParaRPr lang="en-US" sz="1000" dirty="0"/>
          </a:p>
        </p:txBody>
      </p:sp>
      <p:sp>
        <p:nvSpPr>
          <p:cNvPr id="23" name="Text 21"/>
          <p:cNvSpPr/>
          <p:nvPr/>
        </p:nvSpPr>
        <p:spPr>
          <a:xfrm>
            <a:off x="4800600" y="2121408"/>
            <a:ext cx="3931920" cy="274320"/>
          </a:xfrm>
          <a:prstGeom prst="rect">
            <a:avLst/>
          </a:prstGeom>
          <a:noFill/>
          <a:ln/>
        </p:spPr>
        <p:txBody>
          <a:bodyPr wrap="square" rtlCol="0" anchor="ctr"/>
          <a:lstStyle/>
          <a:p>
            <a:pPr marL="0" indent="0">
              <a:buNone/>
            </a:pPr>
            <a:r>
              <a:rPr lang="en-US" sz="1000" dirty="0">
                <a:solidFill>
                  <a:srgbClr val="CBD5E1"/>
                </a:solidFill>
                <a:latin typeface="Calibri" pitchFamily="34" charset="0"/>
                <a:ea typeface="Calibri" pitchFamily="34" charset="-122"/>
                <a:cs typeface="Calibri" pitchFamily="34" charset="-120"/>
              </a:rPr>
              <a:t>▸  No persistence by default</a:t>
            </a:r>
            <a:endParaRPr lang="en-US" sz="1000" dirty="0"/>
          </a:p>
        </p:txBody>
      </p:sp>
      <p:sp>
        <p:nvSpPr>
          <p:cNvPr id="24" name="Text 22"/>
          <p:cNvSpPr/>
          <p:nvPr/>
        </p:nvSpPr>
        <p:spPr>
          <a:xfrm>
            <a:off x="4800600" y="2414016"/>
            <a:ext cx="3931920" cy="274320"/>
          </a:xfrm>
          <a:prstGeom prst="rect">
            <a:avLst/>
          </a:prstGeom>
          <a:noFill/>
          <a:ln/>
        </p:spPr>
        <p:txBody>
          <a:bodyPr wrap="square" rtlCol="0" anchor="ctr"/>
          <a:lstStyle/>
          <a:p>
            <a:pPr marL="0" indent="0">
              <a:buNone/>
            </a:pPr>
            <a:r>
              <a:rPr lang="en-US" sz="1000" dirty="0">
                <a:solidFill>
                  <a:srgbClr val="CBD5E1"/>
                </a:solidFill>
                <a:latin typeface="Calibri" pitchFamily="34" charset="0"/>
                <a:ea typeface="Calibri" pitchFamily="34" charset="-122"/>
                <a:cs typeface="Calibri" pitchFamily="34" charset="-120"/>
              </a:rPr>
              <a:t>▸  Use: quick RAG prototypes</a:t>
            </a:r>
            <a:endParaRPr lang="en-US" sz="1000" dirty="0"/>
          </a:p>
        </p:txBody>
      </p:sp>
      <p:sp>
        <p:nvSpPr>
          <p:cNvPr id="25" name="Shape 23"/>
          <p:cNvSpPr/>
          <p:nvPr/>
        </p:nvSpPr>
        <p:spPr>
          <a:xfrm>
            <a:off x="4663440" y="2953512"/>
            <a:ext cx="4206240" cy="2057400"/>
          </a:xfrm>
          <a:prstGeom prst="roundRect">
            <a:avLst>
              <a:gd name="adj" fmla="val 5333"/>
            </a:avLst>
          </a:prstGeom>
          <a:solidFill>
            <a:srgbClr val="1E293B"/>
          </a:solidFill>
          <a:ln w="19050">
            <a:solidFill>
              <a:srgbClr val="10B981"/>
            </a:solidFill>
            <a:prstDash val="solid"/>
          </a:ln>
        </p:spPr>
        <p:txBody>
          <a:bodyPr/>
          <a:lstStyle/>
          <a:p>
            <a:endParaRPr lang="en-IN"/>
          </a:p>
        </p:txBody>
      </p:sp>
      <p:sp>
        <p:nvSpPr>
          <p:cNvPr id="26" name="Text 24"/>
          <p:cNvSpPr/>
          <p:nvPr/>
        </p:nvSpPr>
        <p:spPr>
          <a:xfrm>
            <a:off x="4800600" y="3044952"/>
            <a:ext cx="2286000" cy="365760"/>
          </a:xfrm>
          <a:prstGeom prst="rect">
            <a:avLst/>
          </a:prstGeom>
          <a:noFill/>
          <a:ln/>
        </p:spPr>
        <p:txBody>
          <a:bodyPr wrap="square" rtlCol="0" anchor="ctr"/>
          <a:lstStyle/>
          <a:p>
            <a:pPr marL="0" indent="0">
              <a:buNone/>
            </a:pPr>
            <a:r>
              <a:rPr lang="en-US" sz="1600" b="1" dirty="0">
                <a:solidFill>
                  <a:srgbClr val="10B981"/>
                </a:solidFill>
                <a:latin typeface="Calibri" pitchFamily="34" charset="0"/>
                <a:ea typeface="Calibri" pitchFamily="34" charset="-122"/>
                <a:cs typeface="Calibri" pitchFamily="34" charset="-120"/>
              </a:rPr>
              <a:t>ChromaDB</a:t>
            </a:r>
            <a:endParaRPr lang="en-US" sz="1600" dirty="0"/>
          </a:p>
        </p:txBody>
      </p:sp>
      <p:sp>
        <p:nvSpPr>
          <p:cNvPr id="27" name="Text 25"/>
          <p:cNvSpPr/>
          <p:nvPr/>
        </p:nvSpPr>
        <p:spPr>
          <a:xfrm>
            <a:off x="7132320" y="3063240"/>
            <a:ext cx="1645920" cy="329184"/>
          </a:xfrm>
          <a:prstGeom prst="rect">
            <a:avLst/>
          </a:prstGeom>
          <a:noFill/>
          <a:ln/>
        </p:spPr>
        <p:txBody>
          <a:bodyPr wrap="square" rtlCol="0" anchor="ctr"/>
          <a:lstStyle/>
          <a:p>
            <a:pPr marL="0" indent="0" algn="r">
              <a:buNone/>
            </a:pPr>
            <a:r>
              <a:rPr lang="en-US" sz="1000" i="1" dirty="0">
                <a:solidFill>
                  <a:srgbClr val="94A3B8"/>
                </a:solidFill>
                <a:latin typeface="Calibri" pitchFamily="34" charset="0"/>
                <a:ea typeface="Calibri" pitchFamily="34" charset="-122"/>
                <a:cs typeface="Calibri" pitchFamily="34" charset="-120"/>
              </a:rPr>
              <a:t>Open Source</a:t>
            </a:r>
            <a:endParaRPr lang="en-US" sz="1000" dirty="0"/>
          </a:p>
        </p:txBody>
      </p:sp>
      <p:sp>
        <p:nvSpPr>
          <p:cNvPr id="28" name="Text 26"/>
          <p:cNvSpPr/>
          <p:nvPr/>
        </p:nvSpPr>
        <p:spPr>
          <a:xfrm>
            <a:off x="4800600" y="3483864"/>
            <a:ext cx="3931920" cy="274320"/>
          </a:xfrm>
          <a:prstGeom prst="rect">
            <a:avLst/>
          </a:prstGeom>
          <a:noFill/>
          <a:ln/>
        </p:spPr>
        <p:txBody>
          <a:bodyPr wrap="square" rtlCol="0" anchor="ctr"/>
          <a:lstStyle/>
          <a:p>
            <a:pPr marL="0" indent="0">
              <a:buNone/>
            </a:pPr>
            <a:r>
              <a:rPr lang="en-US" sz="1000" dirty="0">
                <a:solidFill>
                  <a:srgbClr val="CBD5E1"/>
                </a:solidFill>
                <a:latin typeface="Calibri" pitchFamily="34" charset="0"/>
                <a:ea typeface="Calibri" pitchFamily="34" charset="-122"/>
                <a:cs typeface="Calibri" pitchFamily="34" charset="-120"/>
              </a:rPr>
              <a:t>▸  Full-featured vector DB</a:t>
            </a:r>
            <a:endParaRPr lang="en-US" sz="1000" dirty="0"/>
          </a:p>
        </p:txBody>
      </p:sp>
      <p:sp>
        <p:nvSpPr>
          <p:cNvPr id="29" name="Text 27"/>
          <p:cNvSpPr/>
          <p:nvPr/>
        </p:nvSpPr>
        <p:spPr>
          <a:xfrm>
            <a:off x="4800600" y="3776472"/>
            <a:ext cx="3931920" cy="274320"/>
          </a:xfrm>
          <a:prstGeom prst="rect">
            <a:avLst/>
          </a:prstGeom>
          <a:noFill/>
          <a:ln/>
        </p:spPr>
        <p:txBody>
          <a:bodyPr wrap="square" rtlCol="0" anchor="ctr"/>
          <a:lstStyle/>
          <a:p>
            <a:pPr marL="0" indent="0">
              <a:buNone/>
            </a:pPr>
            <a:r>
              <a:rPr lang="en-US" sz="1000" dirty="0">
                <a:solidFill>
                  <a:srgbClr val="CBD5E1"/>
                </a:solidFill>
                <a:latin typeface="Calibri" pitchFamily="34" charset="0"/>
                <a:ea typeface="Calibri" pitchFamily="34" charset="-122"/>
                <a:cs typeface="Calibri" pitchFamily="34" charset="-120"/>
              </a:rPr>
              <a:t>▸  Metadata filtering support</a:t>
            </a:r>
            <a:endParaRPr lang="en-US" sz="1000" dirty="0"/>
          </a:p>
        </p:txBody>
      </p:sp>
      <p:sp>
        <p:nvSpPr>
          <p:cNvPr id="30" name="Text 28"/>
          <p:cNvSpPr/>
          <p:nvPr/>
        </p:nvSpPr>
        <p:spPr>
          <a:xfrm>
            <a:off x="4800600" y="4069080"/>
            <a:ext cx="3931920" cy="274320"/>
          </a:xfrm>
          <a:prstGeom prst="rect">
            <a:avLst/>
          </a:prstGeom>
          <a:noFill/>
          <a:ln/>
        </p:spPr>
        <p:txBody>
          <a:bodyPr wrap="square" rtlCol="0" anchor="ctr"/>
          <a:lstStyle/>
          <a:p>
            <a:pPr marL="0" indent="0">
              <a:buNone/>
            </a:pPr>
            <a:r>
              <a:rPr lang="en-US" sz="1000" dirty="0">
                <a:solidFill>
                  <a:srgbClr val="CBD5E1"/>
                </a:solidFill>
                <a:latin typeface="Calibri" pitchFamily="34" charset="0"/>
                <a:ea typeface="Calibri" pitchFamily="34" charset="-122"/>
                <a:cs typeface="Calibri" pitchFamily="34" charset="-120"/>
              </a:rPr>
              <a:t>▸  Persistent storage built-in</a:t>
            </a:r>
            <a:endParaRPr lang="en-US" sz="1000" dirty="0"/>
          </a:p>
        </p:txBody>
      </p:sp>
      <p:sp>
        <p:nvSpPr>
          <p:cNvPr id="31" name="Text 29"/>
          <p:cNvSpPr/>
          <p:nvPr/>
        </p:nvSpPr>
        <p:spPr>
          <a:xfrm>
            <a:off x="4800600" y="4361688"/>
            <a:ext cx="3931920" cy="274320"/>
          </a:xfrm>
          <a:prstGeom prst="rect">
            <a:avLst/>
          </a:prstGeom>
          <a:noFill/>
          <a:ln/>
        </p:spPr>
        <p:txBody>
          <a:bodyPr wrap="square" rtlCol="0" anchor="ctr"/>
          <a:lstStyle/>
          <a:p>
            <a:pPr marL="0" indent="0">
              <a:buNone/>
            </a:pPr>
            <a:r>
              <a:rPr lang="en-US" sz="1000" dirty="0">
                <a:solidFill>
                  <a:srgbClr val="CBD5E1"/>
                </a:solidFill>
                <a:latin typeface="Calibri" pitchFamily="34" charset="0"/>
                <a:ea typeface="Calibri" pitchFamily="34" charset="-122"/>
                <a:cs typeface="Calibri" pitchFamily="34" charset="-120"/>
              </a:rPr>
              <a:t>▸  Easy LangChain integration</a:t>
            </a:r>
            <a:endParaRPr lang="en-US" sz="1000" dirty="0"/>
          </a:p>
        </p:txBody>
      </p:sp>
      <p:sp>
        <p:nvSpPr>
          <p:cNvPr id="32" name="Text 30"/>
          <p:cNvSpPr/>
          <p:nvPr/>
        </p:nvSpPr>
        <p:spPr>
          <a:xfrm>
            <a:off x="4800600" y="4654296"/>
            <a:ext cx="3931920" cy="274320"/>
          </a:xfrm>
          <a:prstGeom prst="rect">
            <a:avLst/>
          </a:prstGeom>
          <a:noFill/>
          <a:ln/>
        </p:spPr>
        <p:txBody>
          <a:bodyPr wrap="square" rtlCol="0" anchor="ctr"/>
          <a:lstStyle/>
          <a:p>
            <a:pPr marL="0" indent="0">
              <a:buNone/>
            </a:pPr>
            <a:r>
              <a:rPr lang="en-US" sz="1000" dirty="0">
                <a:solidFill>
                  <a:srgbClr val="CBD5E1"/>
                </a:solidFill>
                <a:latin typeface="Calibri" pitchFamily="34" charset="0"/>
                <a:ea typeface="Calibri" pitchFamily="34" charset="-122"/>
                <a:cs typeface="Calibri" pitchFamily="34" charset="-120"/>
              </a:rPr>
              <a:t>▸  Use: production RAG apps</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6B6D4"/>
          </a:solidFill>
          <a:ln w="12700">
            <a:solidFill>
              <a:srgbClr val="06B6D4"/>
            </a:solidFill>
            <a:prstDash val="solid"/>
          </a:ln>
        </p:spPr>
        <p:txBody>
          <a:bodyPr/>
          <a:lstStyle/>
          <a:p>
            <a:endParaRPr lang="en-IN"/>
          </a:p>
        </p:txBody>
      </p:sp>
      <p:sp>
        <p:nvSpPr>
          <p:cNvPr id="3" name="Text 1"/>
          <p:cNvSpPr/>
          <p:nvPr/>
        </p:nvSpPr>
        <p:spPr>
          <a:xfrm>
            <a:off x="365760" y="109728"/>
            <a:ext cx="8229600" cy="50292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Document Loaders &amp; Text Splitting</a:t>
            </a:r>
            <a:endParaRPr lang="en-US" sz="2800" dirty="0"/>
          </a:p>
        </p:txBody>
      </p:sp>
      <p:sp>
        <p:nvSpPr>
          <p:cNvPr id="4" name="Shape 2"/>
          <p:cNvSpPr/>
          <p:nvPr/>
        </p:nvSpPr>
        <p:spPr>
          <a:xfrm>
            <a:off x="274320" y="713232"/>
            <a:ext cx="4023360" cy="2286000"/>
          </a:xfrm>
          <a:prstGeom prst="roundRect">
            <a:avLst>
              <a:gd name="adj" fmla="val 4800"/>
            </a:avLst>
          </a:prstGeom>
          <a:solidFill>
            <a:srgbClr val="1E293B"/>
          </a:solidFill>
          <a:ln w="12700">
            <a:solidFill>
              <a:srgbClr val="06B6D4"/>
            </a:solidFill>
            <a:prstDash val="solid"/>
          </a:ln>
        </p:spPr>
        <p:txBody>
          <a:bodyPr/>
          <a:lstStyle/>
          <a:p>
            <a:endParaRPr lang="en-IN"/>
          </a:p>
        </p:txBody>
      </p:sp>
      <p:sp>
        <p:nvSpPr>
          <p:cNvPr id="5" name="Text 3"/>
          <p:cNvSpPr/>
          <p:nvPr/>
        </p:nvSpPr>
        <p:spPr>
          <a:xfrm>
            <a:off x="411480" y="822960"/>
            <a:ext cx="3749040" cy="365760"/>
          </a:xfrm>
          <a:prstGeom prst="rect">
            <a:avLst/>
          </a:prstGeom>
          <a:noFill/>
          <a:ln/>
        </p:spPr>
        <p:txBody>
          <a:bodyPr wrap="square" rtlCol="0" anchor="ctr"/>
          <a:lstStyle/>
          <a:p>
            <a:pPr marL="0" indent="0">
              <a:buNone/>
            </a:pPr>
            <a:r>
              <a:rPr lang="en-US" sz="1400" b="1" dirty="0">
                <a:solidFill>
                  <a:srgbClr val="06B6D4"/>
                </a:solidFill>
                <a:latin typeface="Calibri" pitchFamily="34" charset="0"/>
                <a:ea typeface="Calibri" pitchFamily="34" charset="-122"/>
                <a:cs typeface="Calibri" pitchFamily="34" charset="-120"/>
              </a:rPr>
              <a:t>Document Loaders</a:t>
            </a:r>
            <a:endParaRPr lang="en-US" sz="1400" dirty="0"/>
          </a:p>
        </p:txBody>
      </p:sp>
      <p:sp>
        <p:nvSpPr>
          <p:cNvPr id="6" name="Text 4"/>
          <p:cNvSpPr/>
          <p:nvPr/>
        </p:nvSpPr>
        <p:spPr>
          <a:xfrm>
            <a:off x="411480" y="1188720"/>
            <a:ext cx="3749040" cy="256032"/>
          </a:xfrm>
          <a:prstGeom prst="rect">
            <a:avLst/>
          </a:prstGeom>
          <a:noFill/>
          <a:ln/>
        </p:spPr>
        <p:txBody>
          <a:bodyPr wrap="square" rtlCol="0" anchor="ctr"/>
          <a:lstStyle/>
          <a:p>
            <a:pPr marL="0" indent="0">
              <a:buNone/>
            </a:pPr>
            <a:r>
              <a:rPr lang="en-US" sz="1000" i="1" dirty="0">
                <a:solidFill>
                  <a:srgbClr val="94A3B8"/>
                </a:solidFill>
                <a:latin typeface="Calibri" pitchFamily="34" charset="0"/>
                <a:ea typeface="Calibri" pitchFamily="34" charset="-122"/>
                <a:cs typeface="Calibri" pitchFamily="34" charset="-120"/>
              </a:rPr>
              <a:t>Load different file types into LangChain</a:t>
            </a:r>
            <a:endParaRPr lang="en-US" sz="1000" dirty="0"/>
          </a:p>
        </p:txBody>
      </p:sp>
      <p:sp>
        <p:nvSpPr>
          <p:cNvPr id="7" name="Shape 5"/>
          <p:cNvSpPr/>
          <p:nvPr/>
        </p:nvSpPr>
        <p:spPr>
          <a:xfrm>
            <a:off x="411480" y="1554480"/>
            <a:ext cx="1828800" cy="566928"/>
          </a:xfrm>
          <a:prstGeom prst="roundRect">
            <a:avLst>
              <a:gd name="adj" fmla="val 11290"/>
            </a:avLst>
          </a:prstGeom>
          <a:solidFill>
            <a:srgbClr val="0F172A"/>
          </a:solidFill>
          <a:ln w="9525">
            <a:solidFill>
              <a:srgbClr val="F59E0B"/>
            </a:solidFill>
            <a:prstDash val="solid"/>
          </a:ln>
        </p:spPr>
        <p:txBody>
          <a:bodyPr/>
          <a:lstStyle/>
          <a:p>
            <a:endParaRPr lang="en-IN"/>
          </a:p>
        </p:txBody>
      </p:sp>
      <p:sp>
        <p:nvSpPr>
          <p:cNvPr id="8" name="Text 6"/>
          <p:cNvSpPr/>
          <p:nvPr/>
        </p:nvSpPr>
        <p:spPr>
          <a:xfrm>
            <a:off x="411480" y="1600200"/>
            <a:ext cx="1828800" cy="256032"/>
          </a:xfrm>
          <a:prstGeom prst="rect">
            <a:avLst/>
          </a:prstGeom>
          <a:noFill/>
          <a:ln/>
        </p:spPr>
        <p:txBody>
          <a:bodyPr wrap="square" rtlCol="0" anchor="ctr"/>
          <a:lstStyle/>
          <a:p>
            <a:pPr marL="0" indent="0" algn="ctr">
              <a:buNone/>
            </a:pPr>
            <a:r>
              <a:rPr lang="en-US" sz="1000" b="1" dirty="0">
                <a:solidFill>
                  <a:srgbClr val="F59E0B"/>
                </a:solidFill>
                <a:latin typeface="Calibri" pitchFamily="34" charset="0"/>
                <a:ea typeface="Calibri" pitchFamily="34" charset="-122"/>
                <a:cs typeface="Calibri" pitchFamily="34" charset="-120"/>
              </a:rPr>
              <a:t>📄 PDF Loader</a:t>
            </a:r>
            <a:endParaRPr lang="en-US" sz="1000" dirty="0"/>
          </a:p>
        </p:txBody>
      </p:sp>
      <p:sp>
        <p:nvSpPr>
          <p:cNvPr id="9" name="Text 7"/>
          <p:cNvSpPr/>
          <p:nvPr/>
        </p:nvSpPr>
        <p:spPr>
          <a:xfrm>
            <a:off x="411480" y="1847088"/>
            <a:ext cx="1828800" cy="201168"/>
          </a:xfrm>
          <a:prstGeom prst="rect">
            <a:avLst/>
          </a:prstGeom>
          <a:noFill/>
          <a:ln/>
        </p:spPr>
        <p:txBody>
          <a:bodyPr wrap="square" rtlCol="0" anchor="ctr"/>
          <a:lstStyle/>
          <a:p>
            <a:pPr marL="0" indent="0" algn="ctr">
              <a:buNone/>
            </a:pPr>
            <a:r>
              <a:rPr lang="en-US" sz="850" i="1" dirty="0">
                <a:solidFill>
                  <a:srgbClr val="94A3B8"/>
                </a:solidFill>
                <a:latin typeface="Calibri" pitchFamily="34" charset="0"/>
                <a:ea typeface="Calibri" pitchFamily="34" charset="-122"/>
                <a:cs typeface="Calibri" pitchFamily="34" charset="-120"/>
              </a:rPr>
              <a:t>PyPDFLoader</a:t>
            </a:r>
            <a:endParaRPr lang="en-US" sz="850" dirty="0"/>
          </a:p>
        </p:txBody>
      </p:sp>
      <p:sp>
        <p:nvSpPr>
          <p:cNvPr id="10" name="Shape 8"/>
          <p:cNvSpPr/>
          <p:nvPr/>
        </p:nvSpPr>
        <p:spPr>
          <a:xfrm>
            <a:off x="2331720" y="1554480"/>
            <a:ext cx="1828800" cy="566928"/>
          </a:xfrm>
          <a:prstGeom prst="roundRect">
            <a:avLst>
              <a:gd name="adj" fmla="val 11290"/>
            </a:avLst>
          </a:prstGeom>
          <a:solidFill>
            <a:srgbClr val="0F172A"/>
          </a:solidFill>
          <a:ln w="9525">
            <a:solidFill>
              <a:srgbClr val="10B981"/>
            </a:solidFill>
            <a:prstDash val="solid"/>
          </a:ln>
        </p:spPr>
        <p:txBody>
          <a:bodyPr/>
          <a:lstStyle/>
          <a:p>
            <a:endParaRPr lang="en-IN"/>
          </a:p>
        </p:txBody>
      </p:sp>
      <p:sp>
        <p:nvSpPr>
          <p:cNvPr id="11" name="Text 9"/>
          <p:cNvSpPr/>
          <p:nvPr/>
        </p:nvSpPr>
        <p:spPr>
          <a:xfrm>
            <a:off x="2331720" y="1600200"/>
            <a:ext cx="1828800" cy="256032"/>
          </a:xfrm>
          <a:prstGeom prst="rect">
            <a:avLst/>
          </a:prstGeom>
          <a:noFill/>
          <a:ln/>
        </p:spPr>
        <p:txBody>
          <a:bodyPr wrap="square" rtlCol="0" anchor="ctr"/>
          <a:lstStyle/>
          <a:p>
            <a:pPr marL="0" indent="0" algn="ctr">
              <a:buNone/>
            </a:pPr>
            <a:r>
              <a:rPr lang="en-US" sz="1000" b="1" dirty="0">
                <a:solidFill>
                  <a:srgbClr val="10B981"/>
                </a:solidFill>
                <a:latin typeface="Calibri" pitchFamily="34" charset="0"/>
                <a:ea typeface="Calibri" pitchFamily="34" charset="-122"/>
                <a:cs typeface="Calibri" pitchFamily="34" charset="-120"/>
              </a:rPr>
              <a:t>📊 CSV Loader</a:t>
            </a:r>
            <a:endParaRPr lang="en-US" sz="1000" dirty="0"/>
          </a:p>
        </p:txBody>
      </p:sp>
      <p:sp>
        <p:nvSpPr>
          <p:cNvPr id="12" name="Text 10"/>
          <p:cNvSpPr/>
          <p:nvPr/>
        </p:nvSpPr>
        <p:spPr>
          <a:xfrm>
            <a:off x="2331720" y="1847088"/>
            <a:ext cx="1828800" cy="201168"/>
          </a:xfrm>
          <a:prstGeom prst="rect">
            <a:avLst/>
          </a:prstGeom>
          <a:noFill/>
          <a:ln/>
        </p:spPr>
        <p:txBody>
          <a:bodyPr wrap="square" rtlCol="0" anchor="ctr"/>
          <a:lstStyle/>
          <a:p>
            <a:pPr marL="0" indent="0" algn="ctr">
              <a:buNone/>
            </a:pPr>
            <a:r>
              <a:rPr lang="en-US" sz="850" i="1" dirty="0">
                <a:solidFill>
                  <a:srgbClr val="94A3B8"/>
                </a:solidFill>
                <a:latin typeface="Calibri" pitchFamily="34" charset="0"/>
                <a:ea typeface="Calibri" pitchFamily="34" charset="-122"/>
                <a:cs typeface="Calibri" pitchFamily="34" charset="-120"/>
              </a:rPr>
              <a:t>CSVLoader</a:t>
            </a:r>
            <a:endParaRPr lang="en-US" sz="850" dirty="0"/>
          </a:p>
        </p:txBody>
      </p:sp>
      <p:sp>
        <p:nvSpPr>
          <p:cNvPr id="13" name="Shape 11"/>
          <p:cNvSpPr/>
          <p:nvPr/>
        </p:nvSpPr>
        <p:spPr>
          <a:xfrm>
            <a:off x="411480" y="2212848"/>
            <a:ext cx="1828800" cy="566928"/>
          </a:xfrm>
          <a:prstGeom prst="roundRect">
            <a:avLst>
              <a:gd name="adj" fmla="val 11290"/>
            </a:avLst>
          </a:prstGeom>
          <a:solidFill>
            <a:srgbClr val="0F172A"/>
          </a:solidFill>
          <a:ln w="9525">
            <a:solidFill>
              <a:srgbClr val="8B5CF6"/>
            </a:solidFill>
            <a:prstDash val="solid"/>
          </a:ln>
        </p:spPr>
        <p:txBody>
          <a:bodyPr/>
          <a:lstStyle/>
          <a:p>
            <a:endParaRPr lang="en-IN"/>
          </a:p>
        </p:txBody>
      </p:sp>
      <p:sp>
        <p:nvSpPr>
          <p:cNvPr id="14" name="Text 12"/>
          <p:cNvSpPr/>
          <p:nvPr/>
        </p:nvSpPr>
        <p:spPr>
          <a:xfrm>
            <a:off x="411480" y="2258568"/>
            <a:ext cx="1828800" cy="256032"/>
          </a:xfrm>
          <a:prstGeom prst="rect">
            <a:avLst/>
          </a:prstGeom>
          <a:noFill/>
          <a:ln/>
        </p:spPr>
        <p:txBody>
          <a:bodyPr wrap="square" rtlCol="0" anchor="ctr"/>
          <a:lstStyle/>
          <a:p>
            <a:pPr marL="0" indent="0" algn="ctr">
              <a:buNone/>
            </a:pPr>
            <a:r>
              <a:rPr lang="en-US" sz="1000" b="1" dirty="0">
                <a:solidFill>
                  <a:srgbClr val="8B5CF6"/>
                </a:solidFill>
                <a:latin typeface="Calibri" pitchFamily="34" charset="0"/>
                <a:ea typeface="Calibri" pitchFamily="34" charset="-122"/>
                <a:cs typeface="Calibri" pitchFamily="34" charset="-120"/>
              </a:rPr>
              <a:t>📝 Word Loader</a:t>
            </a:r>
            <a:endParaRPr lang="en-US" sz="1000" dirty="0"/>
          </a:p>
        </p:txBody>
      </p:sp>
      <p:sp>
        <p:nvSpPr>
          <p:cNvPr id="15" name="Text 13"/>
          <p:cNvSpPr/>
          <p:nvPr/>
        </p:nvSpPr>
        <p:spPr>
          <a:xfrm>
            <a:off x="411480" y="2505456"/>
            <a:ext cx="1828800" cy="201168"/>
          </a:xfrm>
          <a:prstGeom prst="rect">
            <a:avLst/>
          </a:prstGeom>
          <a:noFill/>
          <a:ln/>
        </p:spPr>
        <p:txBody>
          <a:bodyPr wrap="square" rtlCol="0" anchor="ctr"/>
          <a:lstStyle/>
          <a:p>
            <a:pPr marL="0" indent="0" algn="ctr">
              <a:buNone/>
            </a:pPr>
            <a:r>
              <a:rPr lang="en-US" sz="850" i="1" dirty="0">
                <a:solidFill>
                  <a:srgbClr val="94A3B8"/>
                </a:solidFill>
                <a:latin typeface="Calibri" pitchFamily="34" charset="0"/>
                <a:ea typeface="Calibri" pitchFamily="34" charset="-122"/>
                <a:cs typeface="Calibri" pitchFamily="34" charset="-120"/>
              </a:rPr>
              <a:t>Docx2txtLoader</a:t>
            </a:r>
            <a:endParaRPr lang="en-US" sz="850" dirty="0"/>
          </a:p>
        </p:txBody>
      </p:sp>
      <p:sp>
        <p:nvSpPr>
          <p:cNvPr id="16" name="Shape 14"/>
          <p:cNvSpPr/>
          <p:nvPr/>
        </p:nvSpPr>
        <p:spPr>
          <a:xfrm>
            <a:off x="2331720" y="2212848"/>
            <a:ext cx="1828800" cy="566928"/>
          </a:xfrm>
          <a:prstGeom prst="roundRect">
            <a:avLst>
              <a:gd name="adj" fmla="val 11290"/>
            </a:avLst>
          </a:prstGeom>
          <a:solidFill>
            <a:srgbClr val="0F172A"/>
          </a:solidFill>
          <a:ln w="9525">
            <a:solidFill>
              <a:srgbClr val="06B6D4"/>
            </a:solidFill>
            <a:prstDash val="solid"/>
          </a:ln>
        </p:spPr>
        <p:txBody>
          <a:bodyPr/>
          <a:lstStyle/>
          <a:p>
            <a:endParaRPr lang="en-IN"/>
          </a:p>
        </p:txBody>
      </p:sp>
      <p:sp>
        <p:nvSpPr>
          <p:cNvPr id="17" name="Text 15"/>
          <p:cNvSpPr/>
          <p:nvPr/>
        </p:nvSpPr>
        <p:spPr>
          <a:xfrm>
            <a:off x="2331720" y="2258568"/>
            <a:ext cx="1828800" cy="256032"/>
          </a:xfrm>
          <a:prstGeom prst="rect">
            <a:avLst/>
          </a:prstGeom>
          <a:noFill/>
          <a:ln/>
        </p:spPr>
        <p:txBody>
          <a:bodyPr wrap="square" rtlCol="0" anchor="ctr"/>
          <a:lstStyle/>
          <a:p>
            <a:pPr marL="0" indent="0" algn="ctr">
              <a:buNone/>
            </a:pPr>
            <a:r>
              <a:rPr lang="en-US" sz="1000" b="1" dirty="0">
                <a:solidFill>
                  <a:srgbClr val="06B6D4"/>
                </a:solidFill>
                <a:latin typeface="Calibri" pitchFamily="34" charset="0"/>
                <a:ea typeface="Calibri" pitchFamily="34" charset="-122"/>
                <a:cs typeface="Calibri" pitchFamily="34" charset="-120"/>
              </a:rPr>
              <a:t>🌐 Web Loader</a:t>
            </a:r>
            <a:endParaRPr lang="en-US" sz="1000" dirty="0"/>
          </a:p>
        </p:txBody>
      </p:sp>
      <p:sp>
        <p:nvSpPr>
          <p:cNvPr id="18" name="Text 16"/>
          <p:cNvSpPr/>
          <p:nvPr/>
        </p:nvSpPr>
        <p:spPr>
          <a:xfrm>
            <a:off x="2331720" y="2505456"/>
            <a:ext cx="1828800" cy="201168"/>
          </a:xfrm>
          <a:prstGeom prst="rect">
            <a:avLst/>
          </a:prstGeom>
          <a:noFill/>
          <a:ln/>
        </p:spPr>
        <p:txBody>
          <a:bodyPr wrap="square" rtlCol="0" anchor="ctr"/>
          <a:lstStyle/>
          <a:p>
            <a:pPr marL="0" indent="0" algn="ctr">
              <a:buNone/>
            </a:pPr>
            <a:r>
              <a:rPr lang="en-US" sz="850" i="1" dirty="0">
                <a:solidFill>
                  <a:srgbClr val="94A3B8"/>
                </a:solidFill>
                <a:latin typeface="Calibri" pitchFamily="34" charset="0"/>
                <a:ea typeface="Calibri" pitchFamily="34" charset="-122"/>
                <a:cs typeface="Calibri" pitchFamily="34" charset="-120"/>
              </a:rPr>
              <a:t>WebBaseLoader</a:t>
            </a:r>
            <a:endParaRPr lang="en-US" sz="850" dirty="0"/>
          </a:p>
        </p:txBody>
      </p:sp>
      <p:sp>
        <p:nvSpPr>
          <p:cNvPr id="19" name="Shape 17"/>
          <p:cNvSpPr/>
          <p:nvPr/>
        </p:nvSpPr>
        <p:spPr>
          <a:xfrm>
            <a:off x="4572000" y="713232"/>
            <a:ext cx="4297680" cy="2286000"/>
          </a:xfrm>
          <a:prstGeom prst="roundRect">
            <a:avLst>
              <a:gd name="adj" fmla="val 4800"/>
            </a:avLst>
          </a:prstGeom>
          <a:solidFill>
            <a:srgbClr val="1E293B"/>
          </a:solidFill>
          <a:ln w="12700">
            <a:solidFill>
              <a:srgbClr val="10B981"/>
            </a:solidFill>
            <a:prstDash val="solid"/>
          </a:ln>
        </p:spPr>
        <p:txBody>
          <a:bodyPr/>
          <a:lstStyle/>
          <a:p>
            <a:endParaRPr lang="en-IN"/>
          </a:p>
        </p:txBody>
      </p:sp>
      <p:sp>
        <p:nvSpPr>
          <p:cNvPr id="20" name="Text 18"/>
          <p:cNvSpPr/>
          <p:nvPr/>
        </p:nvSpPr>
        <p:spPr>
          <a:xfrm>
            <a:off x="4709160" y="822960"/>
            <a:ext cx="4023360" cy="365760"/>
          </a:xfrm>
          <a:prstGeom prst="rect">
            <a:avLst/>
          </a:prstGeom>
          <a:noFill/>
          <a:ln/>
        </p:spPr>
        <p:txBody>
          <a:bodyPr wrap="square" rtlCol="0" anchor="ctr"/>
          <a:lstStyle/>
          <a:p>
            <a:pPr marL="0" indent="0">
              <a:buNone/>
            </a:pPr>
            <a:r>
              <a:rPr lang="en-US" sz="1300" b="1" dirty="0">
                <a:solidFill>
                  <a:srgbClr val="10B981"/>
                </a:solidFill>
                <a:latin typeface="Calibri" pitchFamily="34" charset="0"/>
                <a:ea typeface="Calibri" pitchFamily="34" charset="-122"/>
                <a:cs typeface="Calibri" pitchFamily="34" charset="-120"/>
              </a:rPr>
              <a:t>Recursive Character Text Splitter</a:t>
            </a:r>
            <a:endParaRPr lang="en-US" sz="1300" dirty="0"/>
          </a:p>
        </p:txBody>
      </p:sp>
      <p:sp>
        <p:nvSpPr>
          <p:cNvPr id="21" name="Shape 19"/>
          <p:cNvSpPr/>
          <p:nvPr/>
        </p:nvSpPr>
        <p:spPr>
          <a:xfrm>
            <a:off x="4709160" y="1234440"/>
            <a:ext cx="4023360" cy="365760"/>
          </a:xfrm>
          <a:prstGeom prst="roundRect">
            <a:avLst>
              <a:gd name="adj" fmla="val 15000"/>
            </a:avLst>
          </a:prstGeom>
          <a:solidFill>
            <a:srgbClr val="082830"/>
          </a:solidFill>
          <a:ln w="6350">
            <a:solidFill>
              <a:srgbClr val="10B981"/>
            </a:solidFill>
            <a:prstDash val="solid"/>
          </a:ln>
        </p:spPr>
        <p:txBody>
          <a:bodyPr/>
          <a:lstStyle/>
          <a:p>
            <a:endParaRPr lang="en-IN"/>
          </a:p>
        </p:txBody>
      </p:sp>
      <p:sp>
        <p:nvSpPr>
          <p:cNvPr id="22" name="Text 20"/>
          <p:cNvSpPr/>
          <p:nvPr/>
        </p:nvSpPr>
        <p:spPr>
          <a:xfrm>
            <a:off x="4709160" y="1234440"/>
            <a:ext cx="4023360" cy="365760"/>
          </a:xfrm>
          <a:prstGeom prst="rect">
            <a:avLst/>
          </a:prstGeom>
          <a:noFill/>
          <a:ln/>
        </p:spPr>
        <p:txBody>
          <a:bodyPr wrap="square" rtlCol="0" anchor="ctr"/>
          <a:lstStyle/>
          <a:p>
            <a:pPr marL="0" indent="0" algn="ctr">
              <a:buNone/>
            </a:pPr>
            <a:r>
              <a:rPr lang="en-US" sz="1000" dirty="0">
                <a:solidFill>
                  <a:srgbClr val="10B981"/>
                </a:solidFill>
                <a:latin typeface="Calibri" pitchFamily="34" charset="0"/>
                <a:ea typeface="Calibri" pitchFamily="34" charset="-122"/>
                <a:cs typeface="Calibri" pitchFamily="34" charset="-120"/>
              </a:rPr>
              <a:t>Chunk Size: 1000 chars  |  Overlap: 200 chars</a:t>
            </a:r>
            <a:endParaRPr lang="en-US" sz="1000" dirty="0"/>
          </a:p>
        </p:txBody>
      </p:sp>
      <p:sp>
        <p:nvSpPr>
          <p:cNvPr id="23" name="Shape 21"/>
          <p:cNvSpPr/>
          <p:nvPr/>
        </p:nvSpPr>
        <p:spPr>
          <a:xfrm>
            <a:off x="4709160" y="1691640"/>
            <a:ext cx="4023360" cy="329184"/>
          </a:xfrm>
          <a:prstGeom prst="roundRect">
            <a:avLst>
              <a:gd name="adj" fmla="val 13889"/>
            </a:avLst>
          </a:prstGeom>
          <a:solidFill>
            <a:srgbClr val="1A3A5A"/>
          </a:solidFill>
          <a:ln w="6350">
            <a:solidFill>
              <a:srgbClr val="06B6D4"/>
            </a:solidFill>
            <a:prstDash val="solid"/>
          </a:ln>
        </p:spPr>
        <p:txBody>
          <a:bodyPr/>
          <a:lstStyle/>
          <a:p>
            <a:endParaRPr lang="en-IN"/>
          </a:p>
        </p:txBody>
      </p:sp>
      <p:sp>
        <p:nvSpPr>
          <p:cNvPr id="24" name="Text 22"/>
          <p:cNvSpPr/>
          <p:nvPr/>
        </p:nvSpPr>
        <p:spPr>
          <a:xfrm>
            <a:off x="4709160" y="1691640"/>
            <a:ext cx="4023360" cy="329184"/>
          </a:xfrm>
          <a:prstGeom prst="rect">
            <a:avLst/>
          </a:prstGeom>
          <a:noFill/>
          <a:ln/>
        </p:spPr>
        <p:txBody>
          <a:bodyPr wrap="square" rtlCol="0" anchor="ctr"/>
          <a:lstStyle/>
          <a:p>
            <a:pPr marL="0" indent="0" algn="ctr">
              <a:buNone/>
            </a:pPr>
            <a:r>
              <a:rPr lang="en-US" sz="950" dirty="0">
                <a:solidFill>
                  <a:srgbClr val="06B6D4"/>
                </a:solidFill>
                <a:latin typeface="Calibri" pitchFamily="34" charset="0"/>
                <a:ea typeface="Calibri" pitchFamily="34" charset="-122"/>
                <a:cs typeface="Calibri" pitchFamily="34" charset="-120"/>
              </a:rPr>
              <a:t>Full Document (e.g. 5000 chars)</a:t>
            </a:r>
            <a:endParaRPr lang="en-US" sz="950" dirty="0"/>
          </a:p>
        </p:txBody>
      </p:sp>
      <p:sp>
        <p:nvSpPr>
          <p:cNvPr id="25" name="Shape 23"/>
          <p:cNvSpPr/>
          <p:nvPr/>
        </p:nvSpPr>
        <p:spPr>
          <a:xfrm>
            <a:off x="4709160" y="2121408"/>
            <a:ext cx="1188720" cy="658368"/>
          </a:xfrm>
          <a:prstGeom prst="roundRect">
            <a:avLst>
              <a:gd name="adj" fmla="val 8333"/>
            </a:avLst>
          </a:prstGeom>
          <a:solidFill>
            <a:srgbClr val="0F172A"/>
          </a:solidFill>
          <a:ln w="9525">
            <a:solidFill>
              <a:srgbClr val="10B981"/>
            </a:solidFill>
            <a:prstDash val="solid"/>
          </a:ln>
        </p:spPr>
        <p:txBody>
          <a:bodyPr/>
          <a:lstStyle/>
          <a:p>
            <a:endParaRPr lang="en-IN"/>
          </a:p>
        </p:txBody>
      </p:sp>
      <p:sp>
        <p:nvSpPr>
          <p:cNvPr id="26" name="Text 24"/>
          <p:cNvSpPr/>
          <p:nvPr/>
        </p:nvSpPr>
        <p:spPr>
          <a:xfrm>
            <a:off x="4709160" y="2194560"/>
            <a:ext cx="1188720" cy="274320"/>
          </a:xfrm>
          <a:prstGeom prst="rect">
            <a:avLst/>
          </a:prstGeom>
          <a:noFill/>
          <a:ln/>
        </p:spPr>
        <p:txBody>
          <a:bodyPr wrap="square" rtlCol="0" anchor="ctr"/>
          <a:lstStyle/>
          <a:p>
            <a:pPr marL="0" indent="0" algn="ctr">
              <a:buNone/>
            </a:pPr>
            <a:r>
              <a:rPr lang="en-US" sz="950" b="1" dirty="0">
                <a:solidFill>
                  <a:srgbClr val="10B981"/>
                </a:solidFill>
                <a:latin typeface="Calibri" pitchFamily="34" charset="0"/>
                <a:ea typeface="Calibri" pitchFamily="34" charset="-122"/>
                <a:cs typeface="Calibri" pitchFamily="34" charset="-120"/>
              </a:rPr>
              <a:t>Chunk 1</a:t>
            </a:r>
            <a:endParaRPr lang="en-US" sz="950" dirty="0"/>
          </a:p>
        </p:txBody>
      </p:sp>
      <p:sp>
        <p:nvSpPr>
          <p:cNvPr id="27" name="Text 25"/>
          <p:cNvSpPr/>
          <p:nvPr/>
        </p:nvSpPr>
        <p:spPr>
          <a:xfrm>
            <a:off x="4709160" y="2468880"/>
            <a:ext cx="1188720" cy="237744"/>
          </a:xfrm>
          <a:prstGeom prst="rect">
            <a:avLst/>
          </a:prstGeom>
          <a:noFill/>
          <a:ln/>
        </p:spPr>
        <p:txBody>
          <a:bodyPr wrap="square" rtlCol="0" anchor="ctr"/>
          <a:lstStyle/>
          <a:p>
            <a:pPr marL="0" indent="0" algn="ctr">
              <a:buNone/>
            </a:pPr>
            <a:r>
              <a:rPr lang="en-US" sz="850" dirty="0">
                <a:solidFill>
                  <a:srgbClr val="94A3B8"/>
                </a:solidFill>
                <a:latin typeface="Calibri" pitchFamily="34" charset="0"/>
                <a:ea typeface="Calibri" pitchFamily="34" charset="-122"/>
                <a:cs typeface="Calibri" pitchFamily="34" charset="-120"/>
              </a:rPr>
              <a:t>1000 chars</a:t>
            </a:r>
            <a:endParaRPr lang="en-US" sz="850" dirty="0"/>
          </a:p>
        </p:txBody>
      </p:sp>
      <p:sp>
        <p:nvSpPr>
          <p:cNvPr id="28" name="Shape 26"/>
          <p:cNvSpPr/>
          <p:nvPr/>
        </p:nvSpPr>
        <p:spPr>
          <a:xfrm>
            <a:off x="6035040" y="2121408"/>
            <a:ext cx="1188720" cy="658368"/>
          </a:xfrm>
          <a:prstGeom prst="roundRect">
            <a:avLst>
              <a:gd name="adj" fmla="val 8333"/>
            </a:avLst>
          </a:prstGeom>
          <a:solidFill>
            <a:srgbClr val="0F172A"/>
          </a:solidFill>
          <a:ln w="9525">
            <a:solidFill>
              <a:srgbClr val="10B981"/>
            </a:solidFill>
            <a:prstDash val="solid"/>
          </a:ln>
        </p:spPr>
        <p:txBody>
          <a:bodyPr/>
          <a:lstStyle/>
          <a:p>
            <a:endParaRPr lang="en-IN"/>
          </a:p>
        </p:txBody>
      </p:sp>
      <p:sp>
        <p:nvSpPr>
          <p:cNvPr id="29" name="Text 27"/>
          <p:cNvSpPr/>
          <p:nvPr/>
        </p:nvSpPr>
        <p:spPr>
          <a:xfrm>
            <a:off x="6035040" y="2194560"/>
            <a:ext cx="1188720" cy="274320"/>
          </a:xfrm>
          <a:prstGeom prst="rect">
            <a:avLst/>
          </a:prstGeom>
          <a:noFill/>
          <a:ln/>
        </p:spPr>
        <p:txBody>
          <a:bodyPr wrap="square" rtlCol="0" anchor="ctr"/>
          <a:lstStyle/>
          <a:p>
            <a:pPr marL="0" indent="0" algn="ctr">
              <a:buNone/>
            </a:pPr>
            <a:r>
              <a:rPr lang="en-US" sz="950" b="1" dirty="0">
                <a:solidFill>
                  <a:srgbClr val="10B981"/>
                </a:solidFill>
                <a:latin typeface="Calibri" pitchFamily="34" charset="0"/>
                <a:ea typeface="Calibri" pitchFamily="34" charset="-122"/>
                <a:cs typeface="Calibri" pitchFamily="34" charset="-120"/>
              </a:rPr>
              <a:t>Chunk 2</a:t>
            </a:r>
            <a:endParaRPr lang="en-US" sz="950" dirty="0"/>
          </a:p>
        </p:txBody>
      </p:sp>
      <p:sp>
        <p:nvSpPr>
          <p:cNvPr id="30" name="Text 28"/>
          <p:cNvSpPr/>
          <p:nvPr/>
        </p:nvSpPr>
        <p:spPr>
          <a:xfrm>
            <a:off x="6035040" y="2468880"/>
            <a:ext cx="1188720" cy="237744"/>
          </a:xfrm>
          <a:prstGeom prst="rect">
            <a:avLst/>
          </a:prstGeom>
          <a:noFill/>
          <a:ln/>
        </p:spPr>
        <p:txBody>
          <a:bodyPr wrap="square" rtlCol="0" anchor="ctr"/>
          <a:lstStyle/>
          <a:p>
            <a:pPr marL="0" indent="0" algn="ctr">
              <a:buNone/>
            </a:pPr>
            <a:r>
              <a:rPr lang="en-US" sz="850" dirty="0">
                <a:solidFill>
                  <a:srgbClr val="94A3B8"/>
                </a:solidFill>
                <a:latin typeface="Calibri" pitchFamily="34" charset="0"/>
                <a:ea typeface="Calibri" pitchFamily="34" charset="-122"/>
                <a:cs typeface="Calibri" pitchFamily="34" charset="-120"/>
              </a:rPr>
              <a:t>1000 chars</a:t>
            </a:r>
            <a:endParaRPr lang="en-US" sz="850" dirty="0"/>
          </a:p>
        </p:txBody>
      </p:sp>
      <p:sp>
        <p:nvSpPr>
          <p:cNvPr id="31" name="Shape 29"/>
          <p:cNvSpPr/>
          <p:nvPr/>
        </p:nvSpPr>
        <p:spPr>
          <a:xfrm>
            <a:off x="7360920" y="2121408"/>
            <a:ext cx="1188720" cy="658368"/>
          </a:xfrm>
          <a:prstGeom prst="roundRect">
            <a:avLst>
              <a:gd name="adj" fmla="val 8333"/>
            </a:avLst>
          </a:prstGeom>
          <a:solidFill>
            <a:srgbClr val="0F172A"/>
          </a:solidFill>
          <a:ln w="9525">
            <a:solidFill>
              <a:srgbClr val="10B981"/>
            </a:solidFill>
            <a:prstDash val="solid"/>
          </a:ln>
        </p:spPr>
        <p:txBody>
          <a:bodyPr/>
          <a:lstStyle/>
          <a:p>
            <a:endParaRPr lang="en-IN"/>
          </a:p>
        </p:txBody>
      </p:sp>
      <p:sp>
        <p:nvSpPr>
          <p:cNvPr id="32" name="Text 30"/>
          <p:cNvSpPr/>
          <p:nvPr/>
        </p:nvSpPr>
        <p:spPr>
          <a:xfrm>
            <a:off x="7360920" y="2194560"/>
            <a:ext cx="1188720" cy="274320"/>
          </a:xfrm>
          <a:prstGeom prst="rect">
            <a:avLst/>
          </a:prstGeom>
          <a:noFill/>
          <a:ln/>
        </p:spPr>
        <p:txBody>
          <a:bodyPr wrap="square" rtlCol="0" anchor="ctr"/>
          <a:lstStyle/>
          <a:p>
            <a:pPr marL="0" indent="0" algn="ctr">
              <a:buNone/>
            </a:pPr>
            <a:r>
              <a:rPr lang="en-US" sz="950" b="1" dirty="0">
                <a:solidFill>
                  <a:srgbClr val="10B981"/>
                </a:solidFill>
                <a:latin typeface="Calibri" pitchFamily="34" charset="0"/>
                <a:ea typeface="Calibri" pitchFamily="34" charset="-122"/>
                <a:cs typeface="Calibri" pitchFamily="34" charset="-120"/>
              </a:rPr>
              <a:t>Chunk 3</a:t>
            </a:r>
            <a:endParaRPr lang="en-US" sz="950" dirty="0"/>
          </a:p>
        </p:txBody>
      </p:sp>
      <p:sp>
        <p:nvSpPr>
          <p:cNvPr id="33" name="Text 31"/>
          <p:cNvSpPr/>
          <p:nvPr/>
        </p:nvSpPr>
        <p:spPr>
          <a:xfrm>
            <a:off x="7360920" y="2468880"/>
            <a:ext cx="1188720" cy="237744"/>
          </a:xfrm>
          <a:prstGeom prst="rect">
            <a:avLst/>
          </a:prstGeom>
          <a:noFill/>
          <a:ln/>
        </p:spPr>
        <p:txBody>
          <a:bodyPr wrap="square" rtlCol="0" anchor="ctr"/>
          <a:lstStyle/>
          <a:p>
            <a:pPr marL="0" indent="0" algn="ctr">
              <a:buNone/>
            </a:pPr>
            <a:r>
              <a:rPr lang="en-US" sz="850" dirty="0">
                <a:solidFill>
                  <a:srgbClr val="94A3B8"/>
                </a:solidFill>
                <a:latin typeface="Calibri" pitchFamily="34" charset="0"/>
                <a:ea typeface="Calibri" pitchFamily="34" charset="-122"/>
                <a:cs typeface="Calibri" pitchFamily="34" charset="-120"/>
              </a:rPr>
              <a:t>1000 chars</a:t>
            </a:r>
            <a:endParaRPr lang="en-US" sz="850" dirty="0"/>
          </a:p>
        </p:txBody>
      </p:sp>
      <p:sp>
        <p:nvSpPr>
          <p:cNvPr id="34" name="Text 32"/>
          <p:cNvSpPr/>
          <p:nvPr/>
        </p:nvSpPr>
        <p:spPr>
          <a:xfrm>
            <a:off x="5760720" y="2423160"/>
            <a:ext cx="2286000" cy="274320"/>
          </a:xfrm>
          <a:prstGeom prst="rect">
            <a:avLst/>
          </a:prstGeom>
          <a:noFill/>
          <a:ln/>
        </p:spPr>
        <p:txBody>
          <a:bodyPr wrap="square" rtlCol="0" anchor="ctr"/>
          <a:lstStyle/>
          <a:p>
            <a:pPr marL="0" indent="0" algn="ctr">
              <a:buNone/>
            </a:pPr>
            <a:r>
              <a:rPr lang="en-US" sz="850" i="1" dirty="0">
                <a:solidFill>
                  <a:srgbClr val="F59E0B"/>
                </a:solidFill>
                <a:latin typeface="Calibri" pitchFamily="34" charset="0"/>
                <a:ea typeface="Calibri" pitchFamily="34" charset="-122"/>
                <a:cs typeface="Calibri" pitchFamily="34" charset="-120"/>
              </a:rPr>
              <a:t>←200→  overlap preserves context</a:t>
            </a:r>
            <a:endParaRPr lang="en-US" sz="850" dirty="0"/>
          </a:p>
        </p:txBody>
      </p:sp>
      <p:sp>
        <p:nvSpPr>
          <p:cNvPr id="35" name="Shape 33"/>
          <p:cNvSpPr/>
          <p:nvPr/>
        </p:nvSpPr>
        <p:spPr>
          <a:xfrm>
            <a:off x="274320" y="3108960"/>
            <a:ext cx="8595360" cy="1810512"/>
          </a:xfrm>
          <a:prstGeom prst="roundRect">
            <a:avLst>
              <a:gd name="adj" fmla="val 6061"/>
            </a:avLst>
          </a:prstGeom>
          <a:solidFill>
            <a:srgbClr val="1E293B"/>
          </a:solidFill>
          <a:ln w="12700">
            <a:solidFill>
              <a:srgbClr val="F59E0B"/>
            </a:solidFill>
            <a:prstDash val="solid"/>
          </a:ln>
        </p:spPr>
        <p:txBody>
          <a:bodyPr/>
          <a:lstStyle/>
          <a:p>
            <a:endParaRPr lang="en-IN"/>
          </a:p>
        </p:txBody>
      </p:sp>
      <p:sp>
        <p:nvSpPr>
          <p:cNvPr id="36" name="Text 34"/>
          <p:cNvSpPr/>
          <p:nvPr/>
        </p:nvSpPr>
        <p:spPr>
          <a:xfrm>
            <a:off x="457200" y="3200400"/>
            <a:ext cx="3657600" cy="347472"/>
          </a:xfrm>
          <a:prstGeom prst="rect">
            <a:avLst/>
          </a:prstGeom>
          <a:noFill/>
          <a:ln/>
        </p:spPr>
        <p:txBody>
          <a:bodyPr wrap="square" rtlCol="0" anchor="ctr"/>
          <a:lstStyle/>
          <a:p>
            <a:pPr marL="0" indent="0">
              <a:buNone/>
            </a:pPr>
            <a:r>
              <a:rPr lang="en-US" sz="1400" b="1" dirty="0">
                <a:solidFill>
                  <a:srgbClr val="F59E0B"/>
                </a:solidFill>
                <a:latin typeface="Calibri" pitchFamily="34" charset="0"/>
                <a:ea typeface="Calibri" pitchFamily="34" charset="-122"/>
                <a:cs typeface="Calibri" pitchFamily="34" charset="-120"/>
              </a:rPr>
              <a:t>Why Chunking is Critical</a:t>
            </a:r>
            <a:endParaRPr lang="en-US" sz="1400" dirty="0"/>
          </a:p>
        </p:txBody>
      </p:sp>
      <p:sp>
        <p:nvSpPr>
          <p:cNvPr id="37" name="Text 35"/>
          <p:cNvSpPr/>
          <p:nvPr/>
        </p:nvSpPr>
        <p:spPr>
          <a:xfrm>
            <a:off x="457200" y="3611880"/>
            <a:ext cx="4114800" cy="347472"/>
          </a:xfrm>
          <a:prstGeom prst="rect">
            <a:avLst/>
          </a:prstGeom>
          <a:noFill/>
          <a:ln/>
        </p:spPr>
        <p:txBody>
          <a:bodyPr wrap="square" rtlCol="0" anchor="ctr"/>
          <a:lstStyle/>
          <a:p>
            <a:pPr marL="0" indent="0">
              <a:buNone/>
            </a:pPr>
            <a:r>
              <a:rPr lang="en-US" sz="1050" dirty="0">
                <a:solidFill>
                  <a:srgbClr val="CBD5E1"/>
                </a:solidFill>
                <a:latin typeface="Calibri" pitchFamily="34" charset="0"/>
                <a:ea typeface="Calibri" pitchFamily="34" charset="-122"/>
                <a:cs typeface="Calibri" pitchFamily="34" charset="-120"/>
              </a:rPr>
              <a:t>▸  LLMs have limited context windows (e.g. 128K tokens)</a:t>
            </a:r>
            <a:endParaRPr lang="en-US" sz="1050" dirty="0"/>
          </a:p>
        </p:txBody>
      </p:sp>
      <p:sp>
        <p:nvSpPr>
          <p:cNvPr id="38" name="Text 36"/>
          <p:cNvSpPr/>
          <p:nvPr/>
        </p:nvSpPr>
        <p:spPr>
          <a:xfrm>
            <a:off x="4754880" y="3611880"/>
            <a:ext cx="4114800" cy="347472"/>
          </a:xfrm>
          <a:prstGeom prst="rect">
            <a:avLst/>
          </a:prstGeom>
          <a:noFill/>
          <a:ln/>
        </p:spPr>
        <p:txBody>
          <a:bodyPr wrap="square" rtlCol="0" anchor="ctr"/>
          <a:lstStyle/>
          <a:p>
            <a:pPr marL="0" indent="0">
              <a:buNone/>
            </a:pPr>
            <a:r>
              <a:rPr lang="en-US" sz="1050" dirty="0">
                <a:solidFill>
                  <a:srgbClr val="CBD5E1"/>
                </a:solidFill>
                <a:latin typeface="Calibri" pitchFamily="34" charset="0"/>
                <a:ea typeface="Calibri" pitchFamily="34" charset="-122"/>
                <a:cs typeface="Calibri" pitchFamily="34" charset="-120"/>
              </a:rPr>
              <a:t>▸  Smaller chunks = more precise retrieval</a:t>
            </a:r>
            <a:endParaRPr lang="en-US" sz="1050" dirty="0"/>
          </a:p>
        </p:txBody>
      </p:sp>
      <p:sp>
        <p:nvSpPr>
          <p:cNvPr id="39" name="Text 37"/>
          <p:cNvSpPr/>
          <p:nvPr/>
        </p:nvSpPr>
        <p:spPr>
          <a:xfrm>
            <a:off x="457200" y="3995928"/>
            <a:ext cx="4114800" cy="347472"/>
          </a:xfrm>
          <a:prstGeom prst="rect">
            <a:avLst/>
          </a:prstGeom>
          <a:noFill/>
          <a:ln/>
        </p:spPr>
        <p:txBody>
          <a:bodyPr wrap="square" rtlCol="0" anchor="ctr"/>
          <a:lstStyle/>
          <a:p>
            <a:pPr marL="0" indent="0">
              <a:buNone/>
            </a:pPr>
            <a:r>
              <a:rPr lang="en-US" sz="1050" dirty="0">
                <a:solidFill>
                  <a:srgbClr val="CBD5E1"/>
                </a:solidFill>
                <a:latin typeface="Calibri" pitchFamily="34" charset="0"/>
                <a:ea typeface="Calibri" pitchFamily="34" charset="-122"/>
                <a:cs typeface="Calibri" pitchFamily="34" charset="-120"/>
              </a:rPr>
              <a:t>▸  Overlap prevents losing meaning at boundaries</a:t>
            </a:r>
            <a:endParaRPr lang="en-US" sz="1050" dirty="0"/>
          </a:p>
        </p:txBody>
      </p:sp>
      <p:sp>
        <p:nvSpPr>
          <p:cNvPr id="40" name="Text 38"/>
          <p:cNvSpPr/>
          <p:nvPr/>
        </p:nvSpPr>
        <p:spPr>
          <a:xfrm>
            <a:off x="4754880" y="3995928"/>
            <a:ext cx="4114800" cy="347472"/>
          </a:xfrm>
          <a:prstGeom prst="rect">
            <a:avLst/>
          </a:prstGeom>
          <a:noFill/>
          <a:ln/>
        </p:spPr>
        <p:txBody>
          <a:bodyPr wrap="square" rtlCol="0" anchor="ctr"/>
          <a:lstStyle/>
          <a:p>
            <a:pPr marL="0" indent="0">
              <a:buNone/>
            </a:pPr>
            <a:r>
              <a:rPr lang="en-US" sz="1050" dirty="0">
                <a:solidFill>
                  <a:srgbClr val="CBD5E1"/>
                </a:solidFill>
                <a:latin typeface="Calibri" pitchFamily="34" charset="0"/>
                <a:ea typeface="Calibri" pitchFamily="34" charset="-122"/>
                <a:cs typeface="Calibri" pitchFamily="34" charset="-120"/>
              </a:rPr>
              <a:t>▸  Better vector quality from focused text</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0B981"/>
          </a:solidFill>
          <a:ln w="12700">
            <a:solidFill>
              <a:srgbClr val="10B981"/>
            </a:solidFill>
            <a:prstDash val="solid"/>
          </a:ln>
        </p:spPr>
        <p:txBody>
          <a:bodyPr/>
          <a:lstStyle/>
          <a:p>
            <a:endParaRPr lang="en-IN"/>
          </a:p>
        </p:txBody>
      </p:sp>
      <p:sp>
        <p:nvSpPr>
          <p:cNvPr id="3" name="Text 1"/>
          <p:cNvSpPr/>
          <p:nvPr/>
        </p:nvSpPr>
        <p:spPr>
          <a:xfrm>
            <a:off x="365760" y="109728"/>
            <a:ext cx="8229600" cy="50292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LangChain Framework</a:t>
            </a:r>
            <a:endParaRPr lang="en-US" sz="2800" dirty="0"/>
          </a:p>
        </p:txBody>
      </p:sp>
      <p:sp>
        <p:nvSpPr>
          <p:cNvPr id="4" name="Text 2"/>
          <p:cNvSpPr/>
          <p:nvPr/>
        </p:nvSpPr>
        <p:spPr>
          <a:xfrm>
            <a:off x="365760" y="594360"/>
            <a:ext cx="8229600" cy="256032"/>
          </a:xfrm>
          <a:prstGeom prst="rect">
            <a:avLst/>
          </a:prstGeom>
          <a:noFill/>
          <a:ln/>
        </p:spPr>
        <p:txBody>
          <a:bodyPr wrap="square" rtlCol="0" anchor="ctr"/>
          <a:lstStyle/>
          <a:p>
            <a:pPr marL="0" indent="0">
              <a:buNone/>
            </a:pPr>
            <a:r>
              <a:rPr lang="en-US" sz="1200" i="1" dirty="0">
                <a:solidFill>
                  <a:srgbClr val="10B981"/>
                </a:solidFill>
                <a:latin typeface="Calibri" pitchFamily="34" charset="0"/>
                <a:ea typeface="Calibri" pitchFamily="34" charset="-122"/>
                <a:cs typeface="Calibri" pitchFamily="34" charset="-120"/>
              </a:rPr>
              <a:t>The most popular framework for building LLM-powered applications and agents</a:t>
            </a:r>
            <a:endParaRPr lang="en-US" sz="1200" dirty="0"/>
          </a:p>
        </p:txBody>
      </p:sp>
      <p:sp>
        <p:nvSpPr>
          <p:cNvPr id="5" name="Shape 3"/>
          <p:cNvSpPr/>
          <p:nvPr/>
        </p:nvSpPr>
        <p:spPr>
          <a:xfrm>
            <a:off x="274320" y="960120"/>
            <a:ext cx="1993392" cy="1691640"/>
          </a:xfrm>
          <a:prstGeom prst="roundRect">
            <a:avLst>
              <a:gd name="adj" fmla="val 6486"/>
            </a:avLst>
          </a:prstGeom>
          <a:solidFill>
            <a:srgbClr val="1E293B"/>
          </a:solidFill>
          <a:ln w="19050">
            <a:solidFill>
              <a:srgbClr val="F59E0B"/>
            </a:solidFill>
            <a:prstDash val="solid"/>
          </a:ln>
        </p:spPr>
        <p:txBody>
          <a:bodyPr/>
          <a:lstStyle/>
          <a:p>
            <a:endParaRPr lang="en-IN"/>
          </a:p>
        </p:txBody>
      </p:sp>
      <p:sp>
        <p:nvSpPr>
          <p:cNvPr id="6" name="Text 4"/>
          <p:cNvSpPr/>
          <p:nvPr/>
        </p:nvSpPr>
        <p:spPr>
          <a:xfrm>
            <a:off x="274320" y="1097280"/>
            <a:ext cx="1993392" cy="457200"/>
          </a:xfrm>
          <a:prstGeom prst="rect">
            <a:avLst/>
          </a:prstGeom>
          <a:noFill/>
          <a:ln/>
        </p:spPr>
        <p:txBody>
          <a:bodyPr wrap="square" rtlCol="0" anchor="ctr"/>
          <a:lstStyle/>
          <a:p>
            <a:pPr marL="0" indent="0" algn="ctr">
              <a:buNone/>
            </a:pPr>
            <a:r>
              <a:rPr lang="en-US" sz="2400" dirty="0">
                <a:solidFill>
                  <a:srgbClr val="000000"/>
                </a:solidFill>
                <a:latin typeface="Calibri" pitchFamily="34" charset="0"/>
                <a:ea typeface="Calibri" pitchFamily="34" charset="-122"/>
                <a:cs typeface="Calibri" pitchFamily="34" charset="-120"/>
              </a:rPr>
              <a:t>📄</a:t>
            </a:r>
            <a:endParaRPr lang="en-US" sz="2400" dirty="0"/>
          </a:p>
        </p:txBody>
      </p:sp>
      <p:sp>
        <p:nvSpPr>
          <p:cNvPr id="7" name="Text 5"/>
          <p:cNvSpPr/>
          <p:nvPr/>
        </p:nvSpPr>
        <p:spPr>
          <a:xfrm>
            <a:off x="274320" y="1554480"/>
            <a:ext cx="1993392" cy="365760"/>
          </a:xfrm>
          <a:prstGeom prst="rect">
            <a:avLst/>
          </a:prstGeom>
          <a:noFill/>
          <a:ln/>
        </p:spPr>
        <p:txBody>
          <a:bodyPr wrap="square" rtlCol="0" anchor="ctr"/>
          <a:lstStyle/>
          <a:p>
            <a:pPr marL="0" indent="0" algn="ctr">
              <a:buNone/>
            </a:pPr>
            <a:r>
              <a:rPr lang="en-US" sz="1100" b="1" dirty="0">
                <a:solidFill>
                  <a:srgbClr val="F59E0B"/>
                </a:solidFill>
                <a:latin typeface="Calibri" pitchFamily="34" charset="0"/>
                <a:ea typeface="Calibri" pitchFamily="34" charset="-122"/>
                <a:cs typeface="Calibri" pitchFamily="34" charset="-120"/>
              </a:rPr>
              <a:t>Document Loaders</a:t>
            </a:r>
            <a:endParaRPr lang="en-US" sz="1100" dirty="0"/>
          </a:p>
        </p:txBody>
      </p:sp>
      <p:sp>
        <p:nvSpPr>
          <p:cNvPr id="8" name="Text 6"/>
          <p:cNvSpPr/>
          <p:nvPr/>
        </p:nvSpPr>
        <p:spPr>
          <a:xfrm>
            <a:off x="365760" y="1965960"/>
            <a:ext cx="1828800" cy="566928"/>
          </a:xfrm>
          <a:prstGeom prst="rect">
            <a:avLst/>
          </a:prstGeom>
          <a:noFill/>
          <a:ln/>
        </p:spPr>
        <p:txBody>
          <a:bodyPr wrap="square" rtlCol="0" anchor="ctr"/>
          <a:lstStyle/>
          <a:p>
            <a:pPr marL="0" indent="0" algn="ctr">
              <a:buNone/>
            </a:pPr>
            <a:r>
              <a:rPr lang="en-US" sz="900" dirty="0">
                <a:solidFill>
                  <a:srgbClr val="CBD5E1"/>
                </a:solidFill>
                <a:latin typeface="Calibri" pitchFamily="34" charset="0"/>
                <a:ea typeface="Calibri" pitchFamily="34" charset="-122"/>
                <a:cs typeface="Calibri" pitchFamily="34" charset="-120"/>
              </a:rPr>
              <a:t>Load PDFs, CSVs, Web pages, Word docs</a:t>
            </a:r>
            <a:endParaRPr lang="en-US" sz="900" dirty="0"/>
          </a:p>
        </p:txBody>
      </p:sp>
      <p:sp>
        <p:nvSpPr>
          <p:cNvPr id="9" name="Shape 7"/>
          <p:cNvSpPr/>
          <p:nvPr/>
        </p:nvSpPr>
        <p:spPr>
          <a:xfrm>
            <a:off x="2450592" y="960120"/>
            <a:ext cx="1993392" cy="1691640"/>
          </a:xfrm>
          <a:prstGeom prst="roundRect">
            <a:avLst>
              <a:gd name="adj" fmla="val 6486"/>
            </a:avLst>
          </a:prstGeom>
          <a:solidFill>
            <a:srgbClr val="1E293B"/>
          </a:solidFill>
          <a:ln w="19050">
            <a:solidFill>
              <a:srgbClr val="06B6D4"/>
            </a:solidFill>
            <a:prstDash val="solid"/>
          </a:ln>
        </p:spPr>
        <p:txBody>
          <a:bodyPr/>
          <a:lstStyle/>
          <a:p>
            <a:endParaRPr lang="en-IN"/>
          </a:p>
        </p:txBody>
      </p:sp>
      <p:sp>
        <p:nvSpPr>
          <p:cNvPr id="10" name="Text 8"/>
          <p:cNvSpPr/>
          <p:nvPr/>
        </p:nvSpPr>
        <p:spPr>
          <a:xfrm>
            <a:off x="2450592" y="1097280"/>
            <a:ext cx="1993392" cy="457200"/>
          </a:xfrm>
          <a:prstGeom prst="rect">
            <a:avLst/>
          </a:prstGeom>
          <a:noFill/>
          <a:ln/>
        </p:spPr>
        <p:txBody>
          <a:bodyPr wrap="square" rtlCol="0" anchor="ctr"/>
          <a:lstStyle/>
          <a:p>
            <a:pPr marL="0" indent="0" algn="ctr">
              <a:buNone/>
            </a:pPr>
            <a:r>
              <a:rPr lang="en-US" sz="2400" dirty="0">
                <a:solidFill>
                  <a:srgbClr val="000000"/>
                </a:solidFill>
                <a:latin typeface="Calibri" pitchFamily="34" charset="0"/>
                <a:ea typeface="Calibri" pitchFamily="34" charset="-122"/>
                <a:cs typeface="Calibri" pitchFamily="34" charset="-120"/>
              </a:rPr>
              <a:t>✂️</a:t>
            </a:r>
            <a:endParaRPr lang="en-US" sz="2400" dirty="0"/>
          </a:p>
        </p:txBody>
      </p:sp>
      <p:sp>
        <p:nvSpPr>
          <p:cNvPr id="11" name="Text 9"/>
          <p:cNvSpPr/>
          <p:nvPr/>
        </p:nvSpPr>
        <p:spPr>
          <a:xfrm>
            <a:off x="2450592" y="1554480"/>
            <a:ext cx="1993392" cy="365760"/>
          </a:xfrm>
          <a:prstGeom prst="rect">
            <a:avLst/>
          </a:prstGeom>
          <a:noFill/>
          <a:ln/>
        </p:spPr>
        <p:txBody>
          <a:bodyPr wrap="square" rtlCol="0" anchor="ctr"/>
          <a:lstStyle/>
          <a:p>
            <a:pPr marL="0" indent="0" algn="ctr">
              <a:buNone/>
            </a:pPr>
            <a:r>
              <a:rPr lang="en-US" sz="1100" b="1" dirty="0">
                <a:solidFill>
                  <a:srgbClr val="06B6D4"/>
                </a:solidFill>
                <a:latin typeface="Calibri" pitchFamily="34" charset="0"/>
                <a:ea typeface="Calibri" pitchFamily="34" charset="-122"/>
                <a:cs typeface="Calibri" pitchFamily="34" charset="-120"/>
              </a:rPr>
              <a:t>Text Splitters</a:t>
            </a:r>
            <a:endParaRPr lang="en-US" sz="1100" dirty="0"/>
          </a:p>
        </p:txBody>
      </p:sp>
      <p:sp>
        <p:nvSpPr>
          <p:cNvPr id="12" name="Text 10"/>
          <p:cNvSpPr/>
          <p:nvPr/>
        </p:nvSpPr>
        <p:spPr>
          <a:xfrm>
            <a:off x="2542032" y="1965960"/>
            <a:ext cx="1828800" cy="566928"/>
          </a:xfrm>
          <a:prstGeom prst="rect">
            <a:avLst/>
          </a:prstGeom>
          <a:noFill/>
          <a:ln/>
        </p:spPr>
        <p:txBody>
          <a:bodyPr wrap="square" rtlCol="0" anchor="ctr"/>
          <a:lstStyle/>
          <a:p>
            <a:pPr marL="0" indent="0" algn="ctr">
              <a:buNone/>
            </a:pPr>
            <a:r>
              <a:rPr lang="en-US" sz="900" dirty="0">
                <a:solidFill>
                  <a:srgbClr val="CBD5E1"/>
                </a:solidFill>
                <a:latin typeface="Calibri" pitchFamily="34" charset="0"/>
                <a:ea typeface="Calibri" pitchFamily="34" charset="-122"/>
                <a:cs typeface="Calibri" pitchFamily="34" charset="-120"/>
              </a:rPr>
              <a:t>Chunk documents into manageable pieces</a:t>
            </a:r>
            <a:endParaRPr lang="en-US" sz="900" dirty="0"/>
          </a:p>
        </p:txBody>
      </p:sp>
      <p:sp>
        <p:nvSpPr>
          <p:cNvPr id="13" name="Shape 11"/>
          <p:cNvSpPr/>
          <p:nvPr/>
        </p:nvSpPr>
        <p:spPr>
          <a:xfrm>
            <a:off x="4626864" y="960120"/>
            <a:ext cx="1993392" cy="1691640"/>
          </a:xfrm>
          <a:prstGeom prst="roundRect">
            <a:avLst>
              <a:gd name="adj" fmla="val 6486"/>
            </a:avLst>
          </a:prstGeom>
          <a:solidFill>
            <a:srgbClr val="1E293B"/>
          </a:solidFill>
          <a:ln w="19050">
            <a:solidFill>
              <a:srgbClr val="8B5CF6"/>
            </a:solidFill>
            <a:prstDash val="solid"/>
          </a:ln>
        </p:spPr>
        <p:txBody>
          <a:bodyPr/>
          <a:lstStyle/>
          <a:p>
            <a:endParaRPr lang="en-IN"/>
          </a:p>
        </p:txBody>
      </p:sp>
      <p:sp>
        <p:nvSpPr>
          <p:cNvPr id="14" name="Text 12"/>
          <p:cNvSpPr/>
          <p:nvPr/>
        </p:nvSpPr>
        <p:spPr>
          <a:xfrm>
            <a:off x="4626864" y="1097280"/>
            <a:ext cx="1993392" cy="457200"/>
          </a:xfrm>
          <a:prstGeom prst="rect">
            <a:avLst/>
          </a:prstGeom>
          <a:noFill/>
          <a:ln/>
        </p:spPr>
        <p:txBody>
          <a:bodyPr wrap="square" rtlCol="0" anchor="ctr"/>
          <a:lstStyle/>
          <a:p>
            <a:pPr marL="0" indent="0" algn="ctr">
              <a:buNone/>
            </a:pPr>
            <a:r>
              <a:rPr lang="en-US" sz="2400" dirty="0">
                <a:solidFill>
                  <a:srgbClr val="000000"/>
                </a:solidFill>
                <a:latin typeface="Calibri" pitchFamily="34" charset="0"/>
                <a:ea typeface="Calibri" pitchFamily="34" charset="-122"/>
                <a:cs typeface="Calibri" pitchFamily="34" charset="-120"/>
              </a:rPr>
              <a:t>🔢</a:t>
            </a:r>
            <a:endParaRPr lang="en-US" sz="2400" dirty="0"/>
          </a:p>
        </p:txBody>
      </p:sp>
      <p:sp>
        <p:nvSpPr>
          <p:cNvPr id="15" name="Text 13"/>
          <p:cNvSpPr/>
          <p:nvPr/>
        </p:nvSpPr>
        <p:spPr>
          <a:xfrm>
            <a:off x="4626864" y="1554480"/>
            <a:ext cx="1993392" cy="365760"/>
          </a:xfrm>
          <a:prstGeom prst="rect">
            <a:avLst/>
          </a:prstGeom>
          <a:noFill/>
          <a:ln/>
        </p:spPr>
        <p:txBody>
          <a:bodyPr wrap="square" rtlCol="0" anchor="ctr"/>
          <a:lstStyle/>
          <a:p>
            <a:pPr marL="0" indent="0" algn="ctr">
              <a:buNone/>
            </a:pPr>
            <a:r>
              <a:rPr lang="en-US" sz="1100" b="1" dirty="0">
                <a:solidFill>
                  <a:srgbClr val="8B5CF6"/>
                </a:solidFill>
                <a:latin typeface="Calibri" pitchFamily="34" charset="0"/>
                <a:ea typeface="Calibri" pitchFamily="34" charset="-122"/>
                <a:cs typeface="Calibri" pitchFamily="34" charset="-120"/>
              </a:rPr>
              <a:t>Embeddings</a:t>
            </a:r>
            <a:endParaRPr lang="en-US" sz="1100" dirty="0"/>
          </a:p>
        </p:txBody>
      </p:sp>
      <p:sp>
        <p:nvSpPr>
          <p:cNvPr id="16" name="Text 14"/>
          <p:cNvSpPr/>
          <p:nvPr/>
        </p:nvSpPr>
        <p:spPr>
          <a:xfrm>
            <a:off x="4718304" y="1965960"/>
            <a:ext cx="1828800" cy="566928"/>
          </a:xfrm>
          <a:prstGeom prst="rect">
            <a:avLst/>
          </a:prstGeom>
          <a:noFill/>
          <a:ln/>
        </p:spPr>
        <p:txBody>
          <a:bodyPr wrap="square" rtlCol="0" anchor="ctr"/>
          <a:lstStyle/>
          <a:p>
            <a:pPr marL="0" indent="0" algn="ctr">
              <a:buNone/>
            </a:pPr>
            <a:r>
              <a:rPr lang="en-US" sz="900" dirty="0">
                <a:solidFill>
                  <a:srgbClr val="CBD5E1"/>
                </a:solidFill>
                <a:latin typeface="Calibri" pitchFamily="34" charset="0"/>
                <a:ea typeface="Calibri" pitchFamily="34" charset="-122"/>
                <a:cs typeface="Calibri" pitchFamily="34" charset="-120"/>
              </a:rPr>
              <a:t>Convert text to semantic vectors</a:t>
            </a:r>
            <a:endParaRPr lang="en-US" sz="900" dirty="0"/>
          </a:p>
        </p:txBody>
      </p:sp>
      <p:sp>
        <p:nvSpPr>
          <p:cNvPr id="17" name="Shape 15"/>
          <p:cNvSpPr/>
          <p:nvPr/>
        </p:nvSpPr>
        <p:spPr>
          <a:xfrm>
            <a:off x="6803136" y="960120"/>
            <a:ext cx="1993392" cy="1691640"/>
          </a:xfrm>
          <a:prstGeom prst="roundRect">
            <a:avLst>
              <a:gd name="adj" fmla="val 6486"/>
            </a:avLst>
          </a:prstGeom>
          <a:solidFill>
            <a:srgbClr val="1E293B"/>
          </a:solidFill>
          <a:ln w="19050">
            <a:solidFill>
              <a:srgbClr val="10B981"/>
            </a:solidFill>
            <a:prstDash val="solid"/>
          </a:ln>
        </p:spPr>
        <p:txBody>
          <a:bodyPr/>
          <a:lstStyle/>
          <a:p>
            <a:endParaRPr lang="en-IN"/>
          </a:p>
        </p:txBody>
      </p:sp>
      <p:sp>
        <p:nvSpPr>
          <p:cNvPr id="18" name="Text 16"/>
          <p:cNvSpPr/>
          <p:nvPr/>
        </p:nvSpPr>
        <p:spPr>
          <a:xfrm>
            <a:off x="6803136" y="1097280"/>
            <a:ext cx="1993392" cy="457200"/>
          </a:xfrm>
          <a:prstGeom prst="rect">
            <a:avLst/>
          </a:prstGeom>
          <a:noFill/>
          <a:ln/>
        </p:spPr>
        <p:txBody>
          <a:bodyPr wrap="square" rtlCol="0" anchor="ctr"/>
          <a:lstStyle/>
          <a:p>
            <a:pPr marL="0" indent="0" algn="ctr">
              <a:buNone/>
            </a:pPr>
            <a:r>
              <a:rPr lang="en-US" sz="2400" dirty="0">
                <a:solidFill>
                  <a:srgbClr val="000000"/>
                </a:solidFill>
                <a:latin typeface="Calibri" pitchFamily="34" charset="0"/>
                <a:ea typeface="Calibri" pitchFamily="34" charset="-122"/>
                <a:cs typeface="Calibri" pitchFamily="34" charset="-120"/>
              </a:rPr>
              <a:t>🗄</a:t>
            </a:r>
            <a:endParaRPr lang="en-US" sz="2400" dirty="0"/>
          </a:p>
        </p:txBody>
      </p:sp>
      <p:sp>
        <p:nvSpPr>
          <p:cNvPr id="19" name="Text 17"/>
          <p:cNvSpPr/>
          <p:nvPr/>
        </p:nvSpPr>
        <p:spPr>
          <a:xfrm>
            <a:off x="6803136" y="1554480"/>
            <a:ext cx="1993392" cy="365760"/>
          </a:xfrm>
          <a:prstGeom prst="rect">
            <a:avLst/>
          </a:prstGeom>
          <a:noFill/>
          <a:ln/>
        </p:spPr>
        <p:txBody>
          <a:bodyPr wrap="square" rtlCol="0" anchor="ctr"/>
          <a:lstStyle/>
          <a:p>
            <a:pPr marL="0" indent="0" algn="ctr">
              <a:buNone/>
            </a:pPr>
            <a:r>
              <a:rPr lang="en-US" sz="1100" b="1" dirty="0">
                <a:solidFill>
                  <a:srgbClr val="10B981"/>
                </a:solidFill>
                <a:latin typeface="Calibri" pitchFamily="34" charset="0"/>
                <a:ea typeface="Calibri" pitchFamily="34" charset="-122"/>
                <a:cs typeface="Calibri" pitchFamily="34" charset="-120"/>
              </a:rPr>
              <a:t>Vector Stores</a:t>
            </a:r>
            <a:endParaRPr lang="en-US" sz="1100" dirty="0"/>
          </a:p>
        </p:txBody>
      </p:sp>
      <p:sp>
        <p:nvSpPr>
          <p:cNvPr id="20" name="Text 18"/>
          <p:cNvSpPr/>
          <p:nvPr/>
        </p:nvSpPr>
        <p:spPr>
          <a:xfrm>
            <a:off x="6894576" y="1965960"/>
            <a:ext cx="1828800" cy="566928"/>
          </a:xfrm>
          <a:prstGeom prst="rect">
            <a:avLst/>
          </a:prstGeom>
          <a:noFill/>
          <a:ln/>
        </p:spPr>
        <p:txBody>
          <a:bodyPr wrap="square" rtlCol="0" anchor="ctr"/>
          <a:lstStyle/>
          <a:p>
            <a:pPr marL="0" indent="0" algn="ctr">
              <a:buNone/>
            </a:pPr>
            <a:r>
              <a:rPr lang="en-US" sz="900" dirty="0">
                <a:solidFill>
                  <a:srgbClr val="CBD5E1"/>
                </a:solidFill>
                <a:latin typeface="Calibri" pitchFamily="34" charset="0"/>
                <a:ea typeface="Calibri" pitchFamily="34" charset="-122"/>
                <a:cs typeface="Calibri" pitchFamily="34" charset="-120"/>
              </a:rPr>
              <a:t>FAISS, ChromaDB, Pinecone storage</a:t>
            </a:r>
            <a:endParaRPr lang="en-US" sz="900" dirty="0"/>
          </a:p>
        </p:txBody>
      </p:sp>
      <p:sp>
        <p:nvSpPr>
          <p:cNvPr id="21" name="Shape 19"/>
          <p:cNvSpPr/>
          <p:nvPr/>
        </p:nvSpPr>
        <p:spPr>
          <a:xfrm>
            <a:off x="274320" y="2834640"/>
            <a:ext cx="1993392" cy="1691640"/>
          </a:xfrm>
          <a:prstGeom prst="roundRect">
            <a:avLst>
              <a:gd name="adj" fmla="val 6486"/>
            </a:avLst>
          </a:prstGeom>
          <a:solidFill>
            <a:srgbClr val="1E293B"/>
          </a:solidFill>
          <a:ln w="19050">
            <a:solidFill>
              <a:srgbClr val="EF4444"/>
            </a:solidFill>
            <a:prstDash val="solid"/>
          </a:ln>
        </p:spPr>
        <p:txBody>
          <a:bodyPr/>
          <a:lstStyle/>
          <a:p>
            <a:endParaRPr lang="en-IN"/>
          </a:p>
        </p:txBody>
      </p:sp>
      <p:sp>
        <p:nvSpPr>
          <p:cNvPr id="22" name="Text 20"/>
          <p:cNvSpPr/>
          <p:nvPr/>
        </p:nvSpPr>
        <p:spPr>
          <a:xfrm>
            <a:off x="274320" y="2971800"/>
            <a:ext cx="1993392" cy="457200"/>
          </a:xfrm>
          <a:prstGeom prst="rect">
            <a:avLst/>
          </a:prstGeom>
          <a:noFill/>
          <a:ln/>
        </p:spPr>
        <p:txBody>
          <a:bodyPr wrap="square" rtlCol="0" anchor="ctr"/>
          <a:lstStyle/>
          <a:p>
            <a:pPr marL="0" indent="0" algn="ctr">
              <a:buNone/>
            </a:pPr>
            <a:r>
              <a:rPr lang="en-US" sz="2400" dirty="0">
                <a:solidFill>
                  <a:srgbClr val="000000"/>
                </a:solidFill>
                <a:latin typeface="Calibri" pitchFamily="34" charset="0"/>
                <a:ea typeface="Calibri" pitchFamily="34" charset="-122"/>
                <a:cs typeface="Calibri" pitchFamily="34" charset="-120"/>
              </a:rPr>
              <a:t>🔍</a:t>
            </a:r>
            <a:endParaRPr lang="en-US" sz="2400" dirty="0"/>
          </a:p>
        </p:txBody>
      </p:sp>
      <p:sp>
        <p:nvSpPr>
          <p:cNvPr id="23" name="Text 21"/>
          <p:cNvSpPr/>
          <p:nvPr/>
        </p:nvSpPr>
        <p:spPr>
          <a:xfrm>
            <a:off x="274320" y="3429000"/>
            <a:ext cx="1993392" cy="365760"/>
          </a:xfrm>
          <a:prstGeom prst="rect">
            <a:avLst/>
          </a:prstGeom>
          <a:noFill/>
          <a:ln/>
        </p:spPr>
        <p:txBody>
          <a:bodyPr wrap="square" rtlCol="0" anchor="ctr"/>
          <a:lstStyle/>
          <a:p>
            <a:pPr marL="0" indent="0" algn="ctr">
              <a:buNone/>
            </a:pPr>
            <a:r>
              <a:rPr lang="en-US" sz="1100" b="1" dirty="0">
                <a:solidFill>
                  <a:srgbClr val="EF4444"/>
                </a:solidFill>
                <a:latin typeface="Calibri" pitchFamily="34" charset="0"/>
                <a:ea typeface="Calibri" pitchFamily="34" charset="-122"/>
                <a:cs typeface="Calibri" pitchFamily="34" charset="-120"/>
              </a:rPr>
              <a:t>Retrievers</a:t>
            </a:r>
            <a:endParaRPr lang="en-US" sz="1100" dirty="0"/>
          </a:p>
        </p:txBody>
      </p:sp>
      <p:sp>
        <p:nvSpPr>
          <p:cNvPr id="24" name="Text 22"/>
          <p:cNvSpPr/>
          <p:nvPr/>
        </p:nvSpPr>
        <p:spPr>
          <a:xfrm>
            <a:off x="365760" y="3840480"/>
            <a:ext cx="1828800" cy="566928"/>
          </a:xfrm>
          <a:prstGeom prst="rect">
            <a:avLst/>
          </a:prstGeom>
          <a:noFill/>
          <a:ln/>
        </p:spPr>
        <p:txBody>
          <a:bodyPr wrap="square" rtlCol="0" anchor="ctr"/>
          <a:lstStyle/>
          <a:p>
            <a:pPr marL="0" indent="0" algn="ctr">
              <a:buNone/>
            </a:pPr>
            <a:r>
              <a:rPr lang="en-US" sz="900" dirty="0">
                <a:solidFill>
                  <a:srgbClr val="CBD5E1"/>
                </a:solidFill>
                <a:latin typeface="Calibri" pitchFamily="34" charset="0"/>
                <a:ea typeface="Calibri" pitchFamily="34" charset="-122"/>
                <a:cs typeface="Calibri" pitchFamily="34" charset="-120"/>
              </a:rPr>
              <a:t>Fetch relevant chunks from vector store</a:t>
            </a:r>
            <a:endParaRPr lang="en-US" sz="900" dirty="0"/>
          </a:p>
        </p:txBody>
      </p:sp>
      <p:sp>
        <p:nvSpPr>
          <p:cNvPr id="25" name="Shape 23"/>
          <p:cNvSpPr/>
          <p:nvPr/>
        </p:nvSpPr>
        <p:spPr>
          <a:xfrm>
            <a:off x="2450592" y="2834640"/>
            <a:ext cx="1993392" cy="1691640"/>
          </a:xfrm>
          <a:prstGeom prst="roundRect">
            <a:avLst>
              <a:gd name="adj" fmla="val 6486"/>
            </a:avLst>
          </a:prstGeom>
          <a:solidFill>
            <a:srgbClr val="1E293B"/>
          </a:solidFill>
          <a:ln w="19050">
            <a:solidFill>
              <a:srgbClr val="06B6D4"/>
            </a:solidFill>
            <a:prstDash val="solid"/>
          </a:ln>
        </p:spPr>
        <p:txBody>
          <a:bodyPr/>
          <a:lstStyle/>
          <a:p>
            <a:endParaRPr lang="en-IN"/>
          </a:p>
        </p:txBody>
      </p:sp>
      <p:sp>
        <p:nvSpPr>
          <p:cNvPr id="26" name="Text 24"/>
          <p:cNvSpPr/>
          <p:nvPr/>
        </p:nvSpPr>
        <p:spPr>
          <a:xfrm>
            <a:off x="2450592" y="2971800"/>
            <a:ext cx="1993392" cy="457200"/>
          </a:xfrm>
          <a:prstGeom prst="rect">
            <a:avLst/>
          </a:prstGeom>
          <a:noFill/>
          <a:ln/>
        </p:spPr>
        <p:txBody>
          <a:bodyPr wrap="square" rtlCol="0" anchor="ctr"/>
          <a:lstStyle/>
          <a:p>
            <a:pPr marL="0" indent="0" algn="ctr">
              <a:buNone/>
            </a:pPr>
            <a:r>
              <a:rPr lang="en-US" sz="2400" dirty="0">
                <a:solidFill>
                  <a:srgbClr val="000000"/>
                </a:solidFill>
                <a:latin typeface="Calibri" pitchFamily="34" charset="0"/>
                <a:ea typeface="Calibri" pitchFamily="34" charset="-122"/>
                <a:cs typeface="Calibri" pitchFamily="34" charset="-120"/>
              </a:rPr>
              <a:t>🔗</a:t>
            </a:r>
            <a:endParaRPr lang="en-US" sz="2400" dirty="0"/>
          </a:p>
        </p:txBody>
      </p:sp>
      <p:sp>
        <p:nvSpPr>
          <p:cNvPr id="27" name="Text 25"/>
          <p:cNvSpPr/>
          <p:nvPr/>
        </p:nvSpPr>
        <p:spPr>
          <a:xfrm>
            <a:off x="2450592" y="3429000"/>
            <a:ext cx="1993392" cy="365760"/>
          </a:xfrm>
          <a:prstGeom prst="rect">
            <a:avLst/>
          </a:prstGeom>
          <a:noFill/>
          <a:ln/>
        </p:spPr>
        <p:txBody>
          <a:bodyPr wrap="square" rtlCol="0" anchor="ctr"/>
          <a:lstStyle/>
          <a:p>
            <a:pPr marL="0" indent="0" algn="ctr">
              <a:buNone/>
            </a:pPr>
            <a:r>
              <a:rPr lang="en-US" sz="1100" b="1" dirty="0">
                <a:solidFill>
                  <a:srgbClr val="06B6D4"/>
                </a:solidFill>
                <a:latin typeface="Calibri" pitchFamily="34" charset="0"/>
                <a:ea typeface="Calibri" pitchFamily="34" charset="-122"/>
                <a:cs typeface="Calibri" pitchFamily="34" charset="-120"/>
              </a:rPr>
              <a:t>Chains</a:t>
            </a:r>
            <a:endParaRPr lang="en-US" sz="1100" dirty="0"/>
          </a:p>
        </p:txBody>
      </p:sp>
      <p:sp>
        <p:nvSpPr>
          <p:cNvPr id="28" name="Text 26"/>
          <p:cNvSpPr/>
          <p:nvPr/>
        </p:nvSpPr>
        <p:spPr>
          <a:xfrm>
            <a:off x="2542032" y="3840480"/>
            <a:ext cx="1828800" cy="566928"/>
          </a:xfrm>
          <a:prstGeom prst="rect">
            <a:avLst/>
          </a:prstGeom>
          <a:noFill/>
          <a:ln/>
        </p:spPr>
        <p:txBody>
          <a:bodyPr wrap="square" rtlCol="0" anchor="ctr"/>
          <a:lstStyle/>
          <a:p>
            <a:pPr marL="0" indent="0" algn="ctr">
              <a:buNone/>
            </a:pPr>
            <a:r>
              <a:rPr lang="en-US" sz="900" dirty="0">
                <a:solidFill>
                  <a:srgbClr val="CBD5E1"/>
                </a:solidFill>
                <a:latin typeface="Calibri" pitchFamily="34" charset="0"/>
                <a:ea typeface="Calibri" pitchFamily="34" charset="-122"/>
                <a:cs typeface="Calibri" pitchFamily="34" charset="-120"/>
              </a:rPr>
              <a:t>Sequence of LLM calls and operations</a:t>
            </a:r>
            <a:endParaRPr lang="en-US" sz="900" dirty="0"/>
          </a:p>
        </p:txBody>
      </p:sp>
      <p:sp>
        <p:nvSpPr>
          <p:cNvPr id="29" name="Shape 27"/>
          <p:cNvSpPr/>
          <p:nvPr/>
        </p:nvSpPr>
        <p:spPr>
          <a:xfrm>
            <a:off x="4626864" y="2834640"/>
            <a:ext cx="1993392" cy="1691640"/>
          </a:xfrm>
          <a:prstGeom prst="roundRect">
            <a:avLst>
              <a:gd name="adj" fmla="val 6486"/>
            </a:avLst>
          </a:prstGeom>
          <a:solidFill>
            <a:srgbClr val="1E293B"/>
          </a:solidFill>
          <a:ln w="19050">
            <a:solidFill>
              <a:srgbClr val="8B5CF6"/>
            </a:solidFill>
            <a:prstDash val="solid"/>
          </a:ln>
        </p:spPr>
        <p:txBody>
          <a:bodyPr/>
          <a:lstStyle/>
          <a:p>
            <a:endParaRPr lang="en-IN"/>
          </a:p>
        </p:txBody>
      </p:sp>
      <p:sp>
        <p:nvSpPr>
          <p:cNvPr id="30" name="Text 28"/>
          <p:cNvSpPr/>
          <p:nvPr/>
        </p:nvSpPr>
        <p:spPr>
          <a:xfrm>
            <a:off x="4626864" y="2971800"/>
            <a:ext cx="1993392" cy="457200"/>
          </a:xfrm>
          <a:prstGeom prst="rect">
            <a:avLst/>
          </a:prstGeom>
          <a:noFill/>
          <a:ln/>
        </p:spPr>
        <p:txBody>
          <a:bodyPr wrap="square" rtlCol="0" anchor="ctr"/>
          <a:lstStyle/>
          <a:p>
            <a:pPr marL="0" indent="0" algn="ctr">
              <a:buNone/>
            </a:pPr>
            <a:r>
              <a:rPr lang="en-US" sz="2400" dirty="0">
                <a:solidFill>
                  <a:srgbClr val="000000"/>
                </a:solidFill>
                <a:latin typeface="Calibri" pitchFamily="34" charset="0"/>
                <a:ea typeface="Calibri" pitchFamily="34" charset="-122"/>
                <a:cs typeface="Calibri" pitchFamily="34" charset="-120"/>
              </a:rPr>
              <a:t>🤖</a:t>
            </a:r>
            <a:endParaRPr lang="en-US" sz="2400" dirty="0"/>
          </a:p>
        </p:txBody>
      </p:sp>
      <p:sp>
        <p:nvSpPr>
          <p:cNvPr id="31" name="Text 29"/>
          <p:cNvSpPr/>
          <p:nvPr/>
        </p:nvSpPr>
        <p:spPr>
          <a:xfrm>
            <a:off x="4626864" y="3429000"/>
            <a:ext cx="1993392" cy="365760"/>
          </a:xfrm>
          <a:prstGeom prst="rect">
            <a:avLst/>
          </a:prstGeom>
          <a:noFill/>
          <a:ln/>
        </p:spPr>
        <p:txBody>
          <a:bodyPr wrap="square" rtlCol="0" anchor="ctr"/>
          <a:lstStyle/>
          <a:p>
            <a:pPr marL="0" indent="0" algn="ctr">
              <a:buNone/>
            </a:pPr>
            <a:r>
              <a:rPr lang="en-US" sz="1100" b="1" dirty="0">
                <a:solidFill>
                  <a:srgbClr val="8B5CF6"/>
                </a:solidFill>
                <a:latin typeface="Calibri" pitchFamily="34" charset="0"/>
                <a:ea typeface="Calibri" pitchFamily="34" charset="-122"/>
                <a:cs typeface="Calibri" pitchFamily="34" charset="-120"/>
              </a:rPr>
              <a:t>Agents</a:t>
            </a:r>
            <a:endParaRPr lang="en-US" sz="1100" dirty="0"/>
          </a:p>
        </p:txBody>
      </p:sp>
      <p:sp>
        <p:nvSpPr>
          <p:cNvPr id="32" name="Text 30"/>
          <p:cNvSpPr/>
          <p:nvPr/>
        </p:nvSpPr>
        <p:spPr>
          <a:xfrm>
            <a:off x="4718304" y="3840480"/>
            <a:ext cx="1828800" cy="566928"/>
          </a:xfrm>
          <a:prstGeom prst="rect">
            <a:avLst/>
          </a:prstGeom>
          <a:noFill/>
          <a:ln/>
        </p:spPr>
        <p:txBody>
          <a:bodyPr wrap="square" rtlCol="0" anchor="ctr"/>
          <a:lstStyle/>
          <a:p>
            <a:pPr marL="0" indent="0" algn="ctr">
              <a:buNone/>
            </a:pPr>
            <a:r>
              <a:rPr lang="en-US" sz="900" dirty="0">
                <a:solidFill>
                  <a:srgbClr val="CBD5E1"/>
                </a:solidFill>
                <a:latin typeface="Calibri" pitchFamily="34" charset="0"/>
                <a:ea typeface="Calibri" pitchFamily="34" charset="-122"/>
                <a:cs typeface="Calibri" pitchFamily="34" charset="-120"/>
              </a:rPr>
              <a:t>ReAct agents with tool calling</a:t>
            </a:r>
            <a:endParaRPr lang="en-US" sz="900" dirty="0"/>
          </a:p>
        </p:txBody>
      </p:sp>
      <p:sp>
        <p:nvSpPr>
          <p:cNvPr id="33" name="Shape 31"/>
          <p:cNvSpPr/>
          <p:nvPr/>
        </p:nvSpPr>
        <p:spPr>
          <a:xfrm>
            <a:off x="6803136" y="2834640"/>
            <a:ext cx="1993392" cy="1691640"/>
          </a:xfrm>
          <a:prstGeom prst="roundRect">
            <a:avLst>
              <a:gd name="adj" fmla="val 6486"/>
            </a:avLst>
          </a:prstGeom>
          <a:solidFill>
            <a:srgbClr val="1E293B"/>
          </a:solidFill>
          <a:ln w="19050">
            <a:solidFill>
              <a:srgbClr val="F59E0B"/>
            </a:solidFill>
            <a:prstDash val="solid"/>
          </a:ln>
        </p:spPr>
        <p:txBody>
          <a:bodyPr/>
          <a:lstStyle/>
          <a:p>
            <a:endParaRPr lang="en-IN"/>
          </a:p>
        </p:txBody>
      </p:sp>
      <p:sp>
        <p:nvSpPr>
          <p:cNvPr id="34" name="Text 32"/>
          <p:cNvSpPr/>
          <p:nvPr/>
        </p:nvSpPr>
        <p:spPr>
          <a:xfrm>
            <a:off x="6803136" y="2971800"/>
            <a:ext cx="1993392" cy="457200"/>
          </a:xfrm>
          <a:prstGeom prst="rect">
            <a:avLst/>
          </a:prstGeom>
          <a:noFill/>
          <a:ln/>
        </p:spPr>
        <p:txBody>
          <a:bodyPr wrap="square" rtlCol="0" anchor="ctr"/>
          <a:lstStyle/>
          <a:p>
            <a:pPr marL="0" indent="0" algn="ctr">
              <a:buNone/>
            </a:pPr>
            <a:r>
              <a:rPr lang="en-US" sz="2400" dirty="0">
                <a:solidFill>
                  <a:srgbClr val="000000"/>
                </a:solidFill>
                <a:latin typeface="Calibri" pitchFamily="34" charset="0"/>
                <a:ea typeface="Calibri" pitchFamily="34" charset="-122"/>
                <a:cs typeface="Calibri" pitchFamily="34" charset="-120"/>
              </a:rPr>
              <a:t>🧠</a:t>
            </a:r>
            <a:endParaRPr lang="en-US" sz="2400" dirty="0"/>
          </a:p>
        </p:txBody>
      </p:sp>
      <p:sp>
        <p:nvSpPr>
          <p:cNvPr id="35" name="Text 33"/>
          <p:cNvSpPr/>
          <p:nvPr/>
        </p:nvSpPr>
        <p:spPr>
          <a:xfrm>
            <a:off x="6803136" y="3429000"/>
            <a:ext cx="1993392" cy="365760"/>
          </a:xfrm>
          <a:prstGeom prst="rect">
            <a:avLst/>
          </a:prstGeom>
          <a:noFill/>
          <a:ln/>
        </p:spPr>
        <p:txBody>
          <a:bodyPr wrap="square" rtlCol="0" anchor="ctr"/>
          <a:lstStyle/>
          <a:p>
            <a:pPr marL="0" indent="0" algn="ctr">
              <a:buNone/>
            </a:pPr>
            <a:r>
              <a:rPr lang="en-US" sz="1100" b="1" dirty="0">
                <a:solidFill>
                  <a:srgbClr val="F59E0B"/>
                </a:solidFill>
                <a:latin typeface="Calibri" pitchFamily="34" charset="0"/>
                <a:ea typeface="Calibri" pitchFamily="34" charset="-122"/>
                <a:cs typeface="Calibri" pitchFamily="34" charset="-120"/>
              </a:rPr>
              <a:t>Memory</a:t>
            </a:r>
            <a:endParaRPr lang="en-US" sz="1100" dirty="0"/>
          </a:p>
        </p:txBody>
      </p:sp>
      <p:sp>
        <p:nvSpPr>
          <p:cNvPr id="36" name="Text 34"/>
          <p:cNvSpPr/>
          <p:nvPr/>
        </p:nvSpPr>
        <p:spPr>
          <a:xfrm>
            <a:off x="6894576" y="3840480"/>
            <a:ext cx="1828800" cy="566928"/>
          </a:xfrm>
          <a:prstGeom prst="rect">
            <a:avLst/>
          </a:prstGeom>
          <a:noFill/>
          <a:ln/>
        </p:spPr>
        <p:txBody>
          <a:bodyPr wrap="square" rtlCol="0" anchor="ctr"/>
          <a:lstStyle/>
          <a:p>
            <a:pPr marL="0" indent="0" algn="ctr">
              <a:buNone/>
            </a:pPr>
            <a:r>
              <a:rPr lang="en-US" sz="900" dirty="0">
                <a:solidFill>
                  <a:srgbClr val="CBD5E1"/>
                </a:solidFill>
                <a:latin typeface="Calibri" pitchFamily="34" charset="0"/>
                <a:ea typeface="Calibri" pitchFamily="34" charset="-122"/>
                <a:cs typeface="Calibri" pitchFamily="34" charset="-120"/>
              </a:rPr>
              <a:t>ConversationBufferMemory, VectorMemory</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8B5CF6"/>
          </a:solidFill>
          <a:ln w="12700">
            <a:solidFill>
              <a:srgbClr val="8B5CF6"/>
            </a:solidFill>
            <a:prstDash val="solid"/>
          </a:ln>
        </p:spPr>
        <p:txBody>
          <a:bodyPr/>
          <a:lstStyle/>
          <a:p>
            <a:endParaRPr lang="en-IN"/>
          </a:p>
        </p:txBody>
      </p:sp>
      <p:sp>
        <p:nvSpPr>
          <p:cNvPr id="3" name="Text 1"/>
          <p:cNvSpPr/>
          <p:nvPr/>
        </p:nvSpPr>
        <p:spPr>
          <a:xfrm>
            <a:off x="365760" y="109728"/>
            <a:ext cx="8229600" cy="502920"/>
          </a:xfrm>
          <a:prstGeom prst="rect">
            <a:avLst/>
          </a:prstGeom>
          <a:noFill/>
          <a:ln/>
        </p:spPr>
        <p:txBody>
          <a:bodyPr wrap="square" rtlCol="0" anchor="ctr"/>
          <a:lstStyle/>
          <a:p>
            <a:pPr marL="0" indent="0">
              <a:buNone/>
            </a:pPr>
            <a:r>
              <a:rPr lang="en-US" sz="2700" b="1" dirty="0">
                <a:solidFill>
                  <a:srgbClr val="FFFFFF"/>
                </a:solidFill>
                <a:latin typeface="Calibri" pitchFamily="34" charset="0"/>
                <a:ea typeface="Calibri" pitchFamily="34" charset="-122"/>
                <a:cs typeface="Calibri" pitchFamily="34" charset="-120"/>
              </a:rPr>
              <a:t>LangGraph — Stateful Agent Workflows</a:t>
            </a:r>
            <a:endParaRPr lang="en-US" sz="2700" dirty="0"/>
          </a:p>
        </p:txBody>
      </p:sp>
      <p:sp>
        <p:nvSpPr>
          <p:cNvPr id="4" name="Shape 2"/>
          <p:cNvSpPr/>
          <p:nvPr/>
        </p:nvSpPr>
        <p:spPr>
          <a:xfrm>
            <a:off x="274320" y="713232"/>
            <a:ext cx="1737360" cy="457200"/>
          </a:xfrm>
          <a:prstGeom prst="rect">
            <a:avLst/>
          </a:prstGeom>
          <a:solidFill>
            <a:srgbClr val="0EA5E9"/>
          </a:solidFill>
          <a:ln w="6350">
            <a:solidFill>
              <a:srgbClr val="0369A1"/>
            </a:solidFill>
            <a:prstDash val="solid"/>
          </a:ln>
        </p:spPr>
        <p:txBody>
          <a:bodyPr/>
          <a:lstStyle/>
          <a:p>
            <a:endParaRPr lang="en-IN"/>
          </a:p>
        </p:txBody>
      </p:sp>
      <p:sp>
        <p:nvSpPr>
          <p:cNvPr id="5" name="Text 3"/>
          <p:cNvSpPr/>
          <p:nvPr/>
        </p:nvSpPr>
        <p:spPr>
          <a:xfrm>
            <a:off x="365760" y="713232"/>
            <a:ext cx="1554480" cy="45720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Aspect</a:t>
            </a:r>
            <a:endParaRPr lang="en-US" sz="1200" dirty="0"/>
          </a:p>
        </p:txBody>
      </p:sp>
      <p:sp>
        <p:nvSpPr>
          <p:cNvPr id="6" name="Shape 4"/>
          <p:cNvSpPr/>
          <p:nvPr/>
        </p:nvSpPr>
        <p:spPr>
          <a:xfrm>
            <a:off x="2286000" y="713232"/>
            <a:ext cx="2560320" cy="457200"/>
          </a:xfrm>
          <a:prstGeom prst="rect">
            <a:avLst/>
          </a:prstGeom>
          <a:solidFill>
            <a:srgbClr val="0EA5E9"/>
          </a:solidFill>
          <a:ln w="6350">
            <a:solidFill>
              <a:srgbClr val="0369A1"/>
            </a:solidFill>
            <a:prstDash val="solid"/>
          </a:ln>
        </p:spPr>
        <p:txBody>
          <a:bodyPr/>
          <a:lstStyle/>
          <a:p>
            <a:endParaRPr lang="en-IN"/>
          </a:p>
        </p:txBody>
      </p:sp>
      <p:sp>
        <p:nvSpPr>
          <p:cNvPr id="7" name="Text 5"/>
          <p:cNvSpPr/>
          <p:nvPr/>
        </p:nvSpPr>
        <p:spPr>
          <a:xfrm>
            <a:off x="2377440" y="713232"/>
            <a:ext cx="2377440" cy="45720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LangChain</a:t>
            </a:r>
            <a:endParaRPr lang="en-US" sz="1200" dirty="0"/>
          </a:p>
        </p:txBody>
      </p:sp>
      <p:sp>
        <p:nvSpPr>
          <p:cNvPr id="8" name="Shape 6"/>
          <p:cNvSpPr/>
          <p:nvPr/>
        </p:nvSpPr>
        <p:spPr>
          <a:xfrm>
            <a:off x="5029200" y="713232"/>
            <a:ext cx="3931920" cy="457200"/>
          </a:xfrm>
          <a:prstGeom prst="rect">
            <a:avLst/>
          </a:prstGeom>
          <a:solidFill>
            <a:srgbClr val="0EA5E9"/>
          </a:solidFill>
          <a:ln w="6350">
            <a:solidFill>
              <a:srgbClr val="0369A1"/>
            </a:solidFill>
            <a:prstDash val="solid"/>
          </a:ln>
        </p:spPr>
        <p:txBody>
          <a:bodyPr/>
          <a:lstStyle/>
          <a:p>
            <a:endParaRPr lang="en-IN"/>
          </a:p>
        </p:txBody>
      </p:sp>
      <p:sp>
        <p:nvSpPr>
          <p:cNvPr id="9" name="Text 7"/>
          <p:cNvSpPr/>
          <p:nvPr/>
        </p:nvSpPr>
        <p:spPr>
          <a:xfrm>
            <a:off x="5120640" y="713232"/>
            <a:ext cx="3749040" cy="45720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LangGraph</a:t>
            </a:r>
            <a:endParaRPr lang="en-US" sz="1200" dirty="0"/>
          </a:p>
        </p:txBody>
      </p:sp>
      <p:sp>
        <p:nvSpPr>
          <p:cNvPr id="10" name="Shape 8"/>
          <p:cNvSpPr/>
          <p:nvPr/>
        </p:nvSpPr>
        <p:spPr>
          <a:xfrm>
            <a:off x="274320" y="1188720"/>
            <a:ext cx="1737360" cy="457200"/>
          </a:xfrm>
          <a:prstGeom prst="rect">
            <a:avLst/>
          </a:prstGeom>
          <a:solidFill>
            <a:srgbClr val="172032"/>
          </a:solidFill>
          <a:ln w="6350">
            <a:solidFill>
              <a:srgbClr val="0369A1"/>
            </a:solidFill>
            <a:prstDash val="solid"/>
          </a:ln>
        </p:spPr>
        <p:txBody>
          <a:bodyPr/>
          <a:lstStyle/>
          <a:p>
            <a:endParaRPr lang="en-IN"/>
          </a:p>
        </p:txBody>
      </p:sp>
      <p:sp>
        <p:nvSpPr>
          <p:cNvPr id="11" name="Text 9"/>
          <p:cNvSpPr/>
          <p:nvPr/>
        </p:nvSpPr>
        <p:spPr>
          <a:xfrm>
            <a:off x="365760" y="1188720"/>
            <a:ext cx="1554480" cy="457200"/>
          </a:xfrm>
          <a:prstGeom prst="rect">
            <a:avLst/>
          </a:prstGeom>
          <a:noFill/>
          <a:ln/>
        </p:spPr>
        <p:txBody>
          <a:bodyPr wrap="square" rtlCol="0" anchor="ctr"/>
          <a:lstStyle/>
          <a:p>
            <a:pPr marL="0" indent="0">
              <a:buNone/>
            </a:pPr>
            <a:r>
              <a:rPr lang="en-US" sz="1100" b="1" dirty="0">
                <a:solidFill>
                  <a:srgbClr val="F59E0B"/>
                </a:solidFill>
                <a:latin typeface="Calibri" pitchFamily="34" charset="0"/>
                <a:ea typeface="Calibri" pitchFamily="34" charset="-122"/>
                <a:cs typeface="Calibri" pitchFamily="34" charset="-120"/>
              </a:rPr>
              <a:t>Type</a:t>
            </a:r>
            <a:endParaRPr lang="en-US" sz="1100" dirty="0"/>
          </a:p>
        </p:txBody>
      </p:sp>
      <p:sp>
        <p:nvSpPr>
          <p:cNvPr id="12" name="Shape 10"/>
          <p:cNvSpPr/>
          <p:nvPr/>
        </p:nvSpPr>
        <p:spPr>
          <a:xfrm>
            <a:off x="2286000" y="1188720"/>
            <a:ext cx="2560320" cy="457200"/>
          </a:xfrm>
          <a:prstGeom prst="rect">
            <a:avLst/>
          </a:prstGeom>
          <a:solidFill>
            <a:srgbClr val="172032"/>
          </a:solidFill>
          <a:ln w="6350">
            <a:solidFill>
              <a:srgbClr val="0369A1"/>
            </a:solidFill>
            <a:prstDash val="solid"/>
          </a:ln>
        </p:spPr>
        <p:txBody>
          <a:bodyPr/>
          <a:lstStyle/>
          <a:p>
            <a:endParaRPr lang="en-IN"/>
          </a:p>
        </p:txBody>
      </p:sp>
      <p:sp>
        <p:nvSpPr>
          <p:cNvPr id="13" name="Text 11"/>
          <p:cNvSpPr/>
          <p:nvPr/>
        </p:nvSpPr>
        <p:spPr>
          <a:xfrm>
            <a:off x="2377440" y="1188720"/>
            <a:ext cx="2377440" cy="457200"/>
          </a:xfrm>
          <a:prstGeom prst="rect">
            <a:avLst/>
          </a:prstGeom>
          <a:noFill/>
          <a:ln/>
        </p:spPr>
        <p:txBody>
          <a:bodyPr wrap="square" rtlCol="0" anchor="ctr"/>
          <a:lstStyle/>
          <a:p>
            <a:pPr marL="0" indent="0">
              <a:buNone/>
            </a:pPr>
            <a:r>
              <a:rPr lang="en-US" sz="1100" dirty="0">
                <a:solidFill>
                  <a:srgbClr val="CBD5E1"/>
                </a:solidFill>
                <a:latin typeface="Calibri" pitchFamily="34" charset="0"/>
                <a:ea typeface="Calibri" pitchFamily="34" charset="-122"/>
                <a:cs typeface="Calibri" pitchFamily="34" charset="-120"/>
              </a:rPr>
              <a:t>Linear chains</a:t>
            </a:r>
            <a:endParaRPr lang="en-US" sz="1100" dirty="0"/>
          </a:p>
        </p:txBody>
      </p:sp>
      <p:sp>
        <p:nvSpPr>
          <p:cNvPr id="14" name="Shape 12"/>
          <p:cNvSpPr/>
          <p:nvPr/>
        </p:nvSpPr>
        <p:spPr>
          <a:xfrm>
            <a:off x="5029200" y="1188720"/>
            <a:ext cx="3931920" cy="457200"/>
          </a:xfrm>
          <a:prstGeom prst="rect">
            <a:avLst/>
          </a:prstGeom>
          <a:solidFill>
            <a:srgbClr val="172032"/>
          </a:solidFill>
          <a:ln w="6350">
            <a:solidFill>
              <a:srgbClr val="0369A1"/>
            </a:solidFill>
            <a:prstDash val="solid"/>
          </a:ln>
        </p:spPr>
        <p:txBody>
          <a:bodyPr/>
          <a:lstStyle/>
          <a:p>
            <a:endParaRPr lang="en-IN"/>
          </a:p>
        </p:txBody>
      </p:sp>
      <p:sp>
        <p:nvSpPr>
          <p:cNvPr id="15" name="Text 13"/>
          <p:cNvSpPr/>
          <p:nvPr/>
        </p:nvSpPr>
        <p:spPr>
          <a:xfrm>
            <a:off x="5120640" y="1188720"/>
            <a:ext cx="3749040" cy="457200"/>
          </a:xfrm>
          <a:prstGeom prst="rect">
            <a:avLst/>
          </a:prstGeom>
          <a:noFill/>
          <a:ln/>
        </p:spPr>
        <p:txBody>
          <a:bodyPr wrap="square" rtlCol="0" anchor="ctr"/>
          <a:lstStyle/>
          <a:p>
            <a:pPr marL="0" indent="0">
              <a:buNone/>
            </a:pPr>
            <a:r>
              <a:rPr lang="en-US" sz="1100" dirty="0">
                <a:solidFill>
                  <a:srgbClr val="06B6D4"/>
                </a:solidFill>
                <a:latin typeface="Calibri" pitchFamily="34" charset="0"/>
                <a:ea typeface="Calibri" pitchFamily="34" charset="-122"/>
                <a:cs typeface="Calibri" pitchFamily="34" charset="-120"/>
              </a:rPr>
              <a:t>Graph / DAG workflows</a:t>
            </a:r>
            <a:endParaRPr lang="en-US" sz="1100" dirty="0"/>
          </a:p>
        </p:txBody>
      </p:sp>
      <p:sp>
        <p:nvSpPr>
          <p:cNvPr id="16" name="Shape 14"/>
          <p:cNvSpPr/>
          <p:nvPr/>
        </p:nvSpPr>
        <p:spPr>
          <a:xfrm>
            <a:off x="274320" y="1664208"/>
            <a:ext cx="1737360" cy="457200"/>
          </a:xfrm>
          <a:prstGeom prst="rect">
            <a:avLst/>
          </a:prstGeom>
          <a:solidFill>
            <a:srgbClr val="1E293B"/>
          </a:solidFill>
          <a:ln w="6350">
            <a:solidFill>
              <a:srgbClr val="0369A1"/>
            </a:solidFill>
            <a:prstDash val="solid"/>
          </a:ln>
        </p:spPr>
        <p:txBody>
          <a:bodyPr/>
          <a:lstStyle/>
          <a:p>
            <a:endParaRPr lang="en-IN"/>
          </a:p>
        </p:txBody>
      </p:sp>
      <p:sp>
        <p:nvSpPr>
          <p:cNvPr id="17" name="Text 15"/>
          <p:cNvSpPr/>
          <p:nvPr/>
        </p:nvSpPr>
        <p:spPr>
          <a:xfrm>
            <a:off x="365760" y="1664208"/>
            <a:ext cx="1554480" cy="457200"/>
          </a:xfrm>
          <a:prstGeom prst="rect">
            <a:avLst/>
          </a:prstGeom>
          <a:noFill/>
          <a:ln/>
        </p:spPr>
        <p:txBody>
          <a:bodyPr wrap="square" rtlCol="0" anchor="ctr"/>
          <a:lstStyle/>
          <a:p>
            <a:pPr marL="0" indent="0">
              <a:buNone/>
            </a:pPr>
            <a:r>
              <a:rPr lang="en-US" sz="1100" b="1" dirty="0">
                <a:solidFill>
                  <a:srgbClr val="F59E0B"/>
                </a:solidFill>
                <a:latin typeface="Calibri" pitchFamily="34" charset="0"/>
                <a:ea typeface="Calibri" pitchFamily="34" charset="-122"/>
                <a:cs typeface="Calibri" pitchFamily="34" charset="-120"/>
              </a:rPr>
              <a:t>State</a:t>
            </a:r>
            <a:endParaRPr lang="en-US" sz="1100" dirty="0"/>
          </a:p>
        </p:txBody>
      </p:sp>
      <p:sp>
        <p:nvSpPr>
          <p:cNvPr id="18" name="Shape 16"/>
          <p:cNvSpPr/>
          <p:nvPr/>
        </p:nvSpPr>
        <p:spPr>
          <a:xfrm>
            <a:off x="2286000" y="1664208"/>
            <a:ext cx="2560320" cy="457200"/>
          </a:xfrm>
          <a:prstGeom prst="rect">
            <a:avLst/>
          </a:prstGeom>
          <a:solidFill>
            <a:srgbClr val="1E293B"/>
          </a:solidFill>
          <a:ln w="6350">
            <a:solidFill>
              <a:srgbClr val="0369A1"/>
            </a:solidFill>
            <a:prstDash val="solid"/>
          </a:ln>
        </p:spPr>
        <p:txBody>
          <a:bodyPr/>
          <a:lstStyle/>
          <a:p>
            <a:endParaRPr lang="en-IN"/>
          </a:p>
        </p:txBody>
      </p:sp>
      <p:sp>
        <p:nvSpPr>
          <p:cNvPr id="19" name="Text 17"/>
          <p:cNvSpPr/>
          <p:nvPr/>
        </p:nvSpPr>
        <p:spPr>
          <a:xfrm>
            <a:off x="2377440" y="1664208"/>
            <a:ext cx="2377440" cy="457200"/>
          </a:xfrm>
          <a:prstGeom prst="rect">
            <a:avLst/>
          </a:prstGeom>
          <a:noFill/>
          <a:ln/>
        </p:spPr>
        <p:txBody>
          <a:bodyPr wrap="square" rtlCol="0" anchor="ctr"/>
          <a:lstStyle/>
          <a:p>
            <a:pPr marL="0" indent="0">
              <a:buNone/>
            </a:pPr>
            <a:r>
              <a:rPr lang="en-US" sz="1100" dirty="0">
                <a:solidFill>
                  <a:srgbClr val="CBD5E1"/>
                </a:solidFill>
                <a:latin typeface="Calibri" pitchFamily="34" charset="0"/>
                <a:ea typeface="Calibri" pitchFamily="34" charset="-122"/>
                <a:cs typeface="Calibri" pitchFamily="34" charset="-120"/>
              </a:rPr>
              <a:t>Stateless</a:t>
            </a:r>
            <a:endParaRPr lang="en-US" sz="1100" dirty="0"/>
          </a:p>
        </p:txBody>
      </p:sp>
      <p:sp>
        <p:nvSpPr>
          <p:cNvPr id="20" name="Shape 18"/>
          <p:cNvSpPr/>
          <p:nvPr/>
        </p:nvSpPr>
        <p:spPr>
          <a:xfrm>
            <a:off x="5029200" y="1664208"/>
            <a:ext cx="3931920" cy="457200"/>
          </a:xfrm>
          <a:prstGeom prst="rect">
            <a:avLst/>
          </a:prstGeom>
          <a:solidFill>
            <a:srgbClr val="1E293B"/>
          </a:solidFill>
          <a:ln w="6350">
            <a:solidFill>
              <a:srgbClr val="0369A1"/>
            </a:solidFill>
            <a:prstDash val="solid"/>
          </a:ln>
        </p:spPr>
        <p:txBody>
          <a:bodyPr/>
          <a:lstStyle/>
          <a:p>
            <a:endParaRPr lang="en-IN"/>
          </a:p>
        </p:txBody>
      </p:sp>
      <p:sp>
        <p:nvSpPr>
          <p:cNvPr id="21" name="Text 19"/>
          <p:cNvSpPr/>
          <p:nvPr/>
        </p:nvSpPr>
        <p:spPr>
          <a:xfrm>
            <a:off x="5120640" y="1664208"/>
            <a:ext cx="3749040" cy="457200"/>
          </a:xfrm>
          <a:prstGeom prst="rect">
            <a:avLst/>
          </a:prstGeom>
          <a:noFill/>
          <a:ln/>
        </p:spPr>
        <p:txBody>
          <a:bodyPr wrap="square" rtlCol="0" anchor="ctr"/>
          <a:lstStyle/>
          <a:p>
            <a:pPr marL="0" indent="0">
              <a:buNone/>
            </a:pPr>
            <a:r>
              <a:rPr lang="en-US" sz="1100" dirty="0">
                <a:solidFill>
                  <a:srgbClr val="06B6D4"/>
                </a:solidFill>
                <a:latin typeface="Calibri" pitchFamily="34" charset="0"/>
                <a:ea typeface="Calibri" pitchFamily="34" charset="-122"/>
                <a:cs typeface="Calibri" pitchFamily="34" charset="-120"/>
              </a:rPr>
              <a:t>Stateful (checkpointing)</a:t>
            </a:r>
            <a:endParaRPr lang="en-US" sz="1100" dirty="0"/>
          </a:p>
        </p:txBody>
      </p:sp>
      <p:sp>
        <p:nvSpPr>
          <p:cNvPr id="22" name="Shape 20"/>
          <p:cNvSpPr/>
          <p:nvPr/>
        </p:nvSpPr>
        <p:spPr>
          <a:xfrm>
            <a:off x="274320" y="2139696"/>
            <a:ext cx="1737360" cy="457200"/>
          </a:xfrm>
          <a:prstGeom prst="rect">
            <a:avLst/>
          </a:prstGeom>
          <a:solidFill>
            <a:srgbClr val="172032"/>
          </a:solidFill>
          <a:ln w="6350">
            <a:solidFill>
              <a:srgbClr val="0369A1"/>
            </a:solidFill>
            <a:prstDash val="solid"/>
          </a:ln>
        </p:spPr>
        <p:txBody>
          <a:bodyPr/>
          <a:lstStyle/>
          <a:p>
            <a:endParaRPr lang="en-IN"/>
          </a:p>
        </p:txBody>
      </p:sp>
      <p:sp>
        <p:nvSpPr>
          <p:cNvPr id="23" name="Text 21"/>
          <p:cNvSpPr/>
          <p:nvPr/>
        </p:nvSpPr>
        <p:spPr>
          <a:xfrm>
            <a:off x="365760" y="2139696"/>
            <a:ext cx="1554480" cy="457200"/>
          </a:xfrm>
          <a:prstGeom prst="rect">
            <a:avLst/>
          </a:prstGeom>
          <a:noFill/>
          <a:ln/>
        </p:spPr>
        <p:txBody>
          <a:bodyPr wrap="square" rtlCol="0" anchor="ctr"/>
          <a:lstStyle/>
          <a:p>
            <a:pPr marL="0" indent="0">
              <a:buNone/>
            </a:pPr>
            <a:r>
              <a:rPr lang="en-US" sz="1100" b="1" dirty="0">
                <a:solidFill>
                  <a:srgbClr val="F59E0B"/>
                </a:solidFill>
                <a:latin typeface="Calibri" pitchFamily="34" charset="0"/>
                <a:ea typeface="Calibri" pitchFamily="34" charset="-122"/>
                <a:cs typeface="Calibri" pitchFamily="34" charset="-120"/>
              </a:rPr>
              <a:t>Flow</a:t>
            </a:r>
            <a:endParaRPr lang="en-US" sz="1100" dirty="0"/>
          </a:p>
        </p:txBody>
      </p:sp>
      <p:sp>
        <p:nvSpPr>
          <p:cNvPr id="24" name="Shape 22"/>
          <p:cNvSpPr/>
          <p:nvPr/>
        </p:nvSpPr>
        <p:spPr>
          <a:xfrm>
            <a:off x="2286000" y="2139696"/>
            <a:ext cx="2560320" cy="457200"/>
          </a:xfrm>
          <a:prstGeom prst="rect">
            <a:avLst/>
          </a:prstGeom>
          <a:solidFill>
            <a:srgbClr val="172032"/>
          </a:solidFill>
          <a:ln w="6350">
            <a:solidFill>
              <a:srgbClr val="0369A1"/>
            </a:solidFill>
            <a:prstDash val="solid"/>
          </a:ln>
        </p:spPr>
        <p:txBody>
          <a:bodyPr/>
          <a:lstStyle/>
          <a:p>
            <a:endParaRPr lang="en-IN"/>
          </a:p>
        </p:txBody>
      </p:sp>
      <p:sp>
        <p:nvSpPr>
          <p:cNvPr id="25" name="Text 23"/>
          <p:cNvSpPr/>
          <p:nvPr/>
        </p:nvSpPr>
        <p:spPr>
          <a:xfrm>
            <a:off x="2377440" y="2139696"/>
            <a:ext cx="2377440" cy="457200"/>
          </a:xfrm>
          <a:prstGeom prst="rect">
            <a:avLst/>
          </a:prstGeom>
          <a:noFill/>
          <a:ln/>
        </p:spPr>
        <p:txBody>
          <a:bodyPr wrap="square" rtlCol="0" anchor="ctr"/>
          <a:lstStyle/>
          <a:p>
            <a:pPr marL="0" indent="0">
              <a:buNone/>
            </a:pPr>
            <a:r>
              <a:rPr lang="en-US" sz="1100" dirty="0">
                <a:solidFill>
                  <a:srgbClr val="CBD5E1"/>
                </a:solidFill>
                <a:latin typeface="Calibri" pitchFamily="34" charset="0"/>
                <a:ea typeface="Calibri" pitchFamily="34" charset="-122"/>
                <a:cs typeface="Calibri" pitchFamily="34" charset="-120"/>
              </a:rPr>
              <a:t>Sequential</a:t>
            </a:r>
            <a:endParaRPr lang="en-US" sz="1100" dirty="0"/>
          </a:p>
        </p:txBody>
      </p:sp>
      <p:sp>
        <p:nvSpPr>
          <p:cNvPr id="26" name="Shape 24"/>
          <p:cNvSpPr/>
          <p:nvPr/>
        </p:nvSpPr>
        <p:spPr>
          <a:xfrm>
            <a:off x="5029200" y="2139696"/>
            <a:ext cx="3931920" cy="457200"/>
          </a:xfrm>
          <a:prstGeom prst="rect">
            <a:avLst/>
          </a:prstGeom>
          <a:solidFill>
            <a:srgbClr val="172032"/>
          </a:solidFill>
          <a:ln w="6350">
            <a:solidFill>
              <a:srgbClr val="0369A1"/>
            </a:solidFill>
            <a:prstDash val="solid"/>
          </a:ln>
        </p:spPr>
        <p:txBody>
          <a:bodyPr/>
          <a:lstStyle/>
          <a:p>
            <a:endParaRPr lang="en-IN"/>
          </a:p>
        </p:txBody>
      </p:sp>
      <p:sp>
        <p:nvSpPr>
          <p:cNvPr id="27" name="Text 25"/>
          <p:cNvSpPr/>
          <p:nvPr/>
        </p:nvSpPr>
        <p:spPr>
          <a:xfrm>
            <a:off x="5120640" y="2139696"/>
            <a:ext cx="3749040" cy="457200"/>
          </a:xfrm>
          <a:prstGeom prst="rect">
            <a:avLst/>
          </a:prstGeom>
          <a:noFill/>
          <a:ln/>
        </p:spPr>
        <p:txBody>
          <a:bodyPr wrap="square" rtlCol="0" anchor="ctr"/>
          <a:lstStyle/>
          <a:p>
            <a:pPr marL="0" indent="0">
              <a:buNone/>
            </a:pPr>
            <a:r>
              <a:rPr lang="en-US" sz="1100" dirty="0">
                <a:solidFill>
                  <a:srgbClr val="06B6D4"/>
                </a:solidFill>
                <a:latin typeface="Calibri" pitchFamily="34" charset="0"/>
                <a:ea typeface="Calibri" pitchFamily="34" charset="-122"/>
                <a:cs typeface="Calibri" pitchFamily="34" charset="-120"/>
              </a:rPr>
              <a:t>Conditional branches</a:t>
            </a:r>
            <a:endParaRPr lang="en-US" sz="1100" dirty="0"/>
          </a:p>
        </p:txBody>
      </p:sp>
      <p:sp>
        <p:nvSpPr>
          <p:cNvPr id="28" name="Shape 26"/>
          <p:cNvSpPr/>
          <p:nvPr/>
        </p:nvSpPr>
        <p:spPr>
          <a:xfrm>
            <a:off x="274320" y="2615184"/>
            <a:ext cx="1737360" cy="457200"/>
          </a:xfrm>
          <a:prstGeom prst="rect">
            <a:avLst/>
          </a:prstGeom>
          <a:solidFill>
            <a:srgbClr val="1E293B"/>
          </a:solidFill>
          <a:ln w="6350">
            <a:solidFill>
              <a:srgbClr val="0369A1"/>
            </a:solidFill>
            <a:prstDash val="solid"/>
          </a:ln>
        </p:spPr>
        <p:txBody>
          <a:bodyPr/>
          <a:lstStyle/>
          <a:p>
            <a:endParaRPr lang="en-IN"/>
          </a:p>
        </p:txBody>
      </p:sp>
      <p:sp>
        <p:nvSpPr>
          <p:cNvPr id="29" name="Text 27"/>
          <p:cNvSpPr/>
          <p:nvPr/>
        </p:nvSpPr>
        <p:spPr>
          <a:xfrm>
            <a:off x="365760" y="2615184"/>
            <a:ext cx="1554480" cy="457200"/>
          </a:xfrm>
          <a:prstGeom prst="rect">
            <a:avLst/>
          </a:prstGeom>
          <a:noFill/>
          <a:ln/>
        </p:spPr>
        <p:txBody>
          <a:bodyPr wrap="square" rtlCol="0" anchor="ctr"/>
          <a:lstStyle/>
          <a:p>
            <a:pPr marL="0" indent="0">
              <a:buNone/>
            </a:pPr>
            <a:r>
              <a:rPr lang="en-US" sz="1100" b="1" dirty="0">
                <a:solidFill>
                  <a:srgbClr val="F59E0B"/>
                </a:solidFill>
                <a:latin typeface="Calibri" pitchFamily="34" charset="0"/>
                <a:ea typeface="Calibri" pitchFamily="34" charset="-122"/>
                <a:cs typeface="Calibri" pitchFamily="34" charset="-120"/>
              </a:rPr>
              <a:t>Multi-Agent</a:t>
            </a:r>
            <a:endParaRPr lang="en-US" sz="1100" dirty="0"/>
          </a:p>
        </p:txBody>
      </p:sp>
      <p:sp>
        <p:nvSpPr>
          <p:cNvPr id="30" name="Shape 28"/>
          <p:cNvSpPr/>
          <p:nvPr/>
        </p:nvSpPr>
        <p:spPr>
          <a:xfrm>
            <a:off x="2286000" y="2615184"/>
            <a:ext cx="2560320" cy="457200"/>
          </a:xfrm>
          <a:prstGeom prst="rect">
            <a:avLst/>
          </a:prstGeom>
          <a:solidFill>
            <a:srgbClr val="1E293B"/>
          </a:solidFill>
          <a:ln w="6350">
            <a:solidFill>
              <a:srgbClr val="0369A1"/>
            </a:solidFill>
            <a:prstDash val="solid"/>
          </a:ln>
        </p:spPr>
        <p:txBody>
          <a:bodyPr/>
          <a:lstStyle/>
          <a:p>
            <a:endParaRPr lang="en-IN"/>
          </a:p>
        </p:txBody>
      </p:sp>
      <p:sp>
        <p:nvSpPr>
          <p:cNvPr id="31" name="Text 29"/>
          <p:cNvSpPr/>
          <p:nvPr/>
        </p:nvSpPr>
        <p:spPr>
          <a:xfrm>
            <a:off x="2377440" y="2615184"/>
            <a:ext cx="2377440" cy="457200"/>
          </a:xfrm>
          <a:prstGeom prst="rect">
            <a:avLst/>
          </a:prstGeom>
          <a:noFill/>
          <a:ln/>
        </p:spPr>
        <p:txBody>
          <a:bodyPr wrap="square" rtlCol="0" anchor="ctr"/>
          <a:lstStyle/>
          <a:p>
            <a:pPr marL="0" indent="0">
              <a:buNone/>
            </a:pPr>
            <a:r>
              <a:rPr lang="en-US" sz="1100" dirty="0">
                <a:solidFill>
                  <a:srgbClr val="CBD5E1"/>
                </a:solidFill>
                <a:latin typeface="Calibri" pitchFamily="34" charset="0"/>
                <a:ea typeface="Calibri" pitchFamily="34" charset="-122"/>
                <a:cs typeface="Calibri" pitchFamily="34" charset="-120"/>
              </a:rPr>
              <a:t>Limited</a:t>
            </a:r>
            <a:endParaRPr lang="en-US" sz="1100" dirty="0"/>
          </a:p>
        </p:txBody>
      </p:sp>
      <p:sp>
        <p:nvSpPr>
          <p:cNvPr id="32" name="Shape 30"/>
          <p:cNvSpPr/>
          <p:nvPr/>
        </p:nvSpPr>
        <p:spPr>
          <a:xfrm>
            <a:off x="5029200" y="2615184"/>
            <a:ext cx="3931920" cy="457200"/>
          </a:xfrm>
          <a:prstGeom prst="rect">
            <a:avLst/>
          </a:prstGeom>
          <a:solidFill>
            <a:srgbClr val="1E293B"/>
          </a:solidFill>
          <a:ln w="6350">
            <a:solidFill>
              <a:srgbClr val="0369A1"/>
            </a:solidFill>
            <a:prstDash val="solid"/>
          </a:ln>
        </p:spPr>
        <p:txBody>
          <a:bodyPr/>
          <a:lstStyle/>
          <a:p>
            <a:endParaRPr lang="en-IN"/>
          </a:p>
        </p:txBody>
      </p:sp>
      <p:sp>
        <p:nvSpPr>
          <p:cNvPr id="33" name="Text 31"/>
          <p:cNvSpPr/>
          <p:nvPr/>
        </p:nvSpPr>
        <p:spPr>
          <a:xfrm>
            <a:off x="5120640" y="2615184"/>
            <a:ext cx="3749040" cy="457200"/>
          </a:xfrm>
          <a:prstGeom prst="rect">
            <a:avLst/>
          </a:prstGeom>
          <a:noFill/>
          <a:ln/>
        </p:spPr>
        <p:txBody>
          <a:bodyPr wrap="square" rtlCol="0" anchor="ctr"/>
          <a:lstStyle/>
          <a:p>
            <a:pPr marL="0" indent="0">
              <a:buNone/>
            </a:pPr>
            <a:r>
              <a:rPr lang="en-US" sz="1100" dirty="0">
                <a:solidFill>
                  <a:srgbClr val="06B6D4"/>
                </a:solidFill>
                <a:latin typeface="Calibri" pitchFamily="34" charset="0"/>
                <a:ea typeface="Calibri" pitchFamily="34" charset="-122"/>
                <a:cs typeface="Calibri" pitchFamily="34" charset="-120"/>
              </a:rPr>
              <a:t>First-class support</a:t>
            </a:r>
            <a:endParaRPr lang="en-US" sz="1100" dirty="0"/>
          </a:p>
        </p:txBody>
      </p:sp>
      <p:sp>
        <p:nvSpPr>
          <p:cNvPr id="34" name="Shape 32"/>
          <p:cNvSpPr/>
          <p:nvPr/>
        </p:nvSpPr>
        <p:spPr>
          <a:xfrm>
            <a:off x="274320" y="3090672"/>
            <a:ext cx="1737360" cy="457200"/>
          </a:xfrm>
          <a:prstGeom prst="rect">
            <a:avLst/>
          </a:prstGeom>
          <a:solidFill>
            <a:srgbClr val="172032"/>
          </a:solidFill>
          <a:ln w="6350">
            <a:solidFill>
              <a:srgbClr val="0369A1"/>
            </a:solidFill>
            <a:prstDash val="solid"/>
          </a:ln>
        </p:spPr>
        <p:txBody>
          <a:bodyPr/>
          <a:lstStyle/>
          <a:p>
            <a:endParaRPr lang="en-IN"/>
          </a:p>
        </p:txBody>
      </p:sp>
      <p:sp>
        <p:nvSpPr>
          <p:cNvPr id="35" name="Text 33"/>
          <p:cNvSpPr/>
          <p:nvPr/>
        </p:nvSpPr>
        <p:spPr>
          <a:xfrm>
            <a:off x="365760" y="3090672"/>
            <a:ext cx="1554480" cy="457200"/>
          </a:xfrm>
          <a:prstGeom prst="rect">
            <a:avLst/>
          </a:prstGeom>
          <a:noFill/>
          <a:ln/>
        </p:spPr>
        <p:txBody>
          <a:bodyPr wrap="square" rtlCol="0" anchor="ctr"/>
          <a:lstStyle/>
          <a:p>
            <a:pPr marL="0" indent="0">
              <a:buNone/>
            </a:pPr>
            <a:r>
              <a:rPr lang="en-US" sz="1100" b="1" dirty="0">
                <a:solidFill>
                  <a:srgbClr val="F59E0B"/>
                </a:solidFill>
                <a:latin typeface="Calibri" pitchFamily="34" charset="0"/>
                <a:ea typeface="Calibri" pitchFamily="34" charset="-122"/>
                <a:cs typeface="Calibri" pitchFamily="34" charset="-120"/>
              </a:rPr>
              <a:t>Cycles</a:t>
            </a:r>
            <a:endParaRPr lang="en-US" sz="1100" dirty="0"/>
          </a:p>
        </p:txBody>
      </p:sp>
      <p:sp>
        <p:nvSpPr>
          <p:cNvPr id="36" name="Shape 34"/>
          <p:cNvSpPr/>
          <p:nvPr/>
        </p:nvSpPr>
        <p:spPr>
          <a:xfrm>
            <a:off x="2286000" y="3090672"/>
            <a:ext cx="2560320" cy="457200"/>
          </a:xfrm>
          <a:prstGeom prst="rect">
            <a:avLst/>
          </a:prstGeom>
          <a:solidFill>
            <a:srgbClr val="172032"/>
          </a:solidFill>
          <a:ln w="6350">
            <a:solidFill>
              <a:srgbClr val="0369A1"/>
            </a:solidFill>
            <a:prstDash val="solid"/>
          </a:ln>
        </p:spPr>
        <p:txBody>
          <a:bodyPr/>
          <a:lstStyle/>
          <a:p>
            <a:endParaRPr lang="en-IN"/>
          </a:p>
        </p:txBody>
      </p:sp>
      <p:sp>
        <p:nvSpPr>
          <p:cNvPr id="37" name="Text 35"/>
          <p:cNvSpPr/>
          <p:nvPr/>
        </p:nvSpPr>
        <p:spPr>
          <a:xfrm>
            <a:off x="2377440" y="3090672"/>
            <a:ext cx="2377440" cy="457200"/>
          </a:xfrm>
          <a:prstGeom prst="rect">
            <a:avLst/>
          </a:prstGeom>
          <a:noFill/>
          <a:ln/>
        </p:spPr>
        <p:txBody>
          <a:bodyPr wrap="square" rtlCol="0" anchor="ctr"/>
          <a:lstStyle/>
          <a:p>
            <a:pPr marL="0" indent="0">
              <a:buNone/>
            </a:pPr>
            <a:r>
              <a:rPr lang="en-US" sz="1100" dirty="0">
                <a:solidFill>
                  <a:srgbClr val="CBD5E1"/>
                </a:solidFill>
                <a:latin typeface="Calibri" pitchFamily="34" charset="0"/>
                <a:ea typeface="Calibri" pitchFamily="34" charset="-122"/>
                <a:cs typeface="Calibri" pitchFamily="34" charset="-120"/>
              </a:rPr>
              <a:t>Not supported</a:t>
            </a:r>
            <a:endParaRPr lang="en-US" sz="1100" dirty="0"/>
          </a:p>
        </p:txBody>
      </p:sp>
      <p:sp>
        <p:nvSpPr>
          <p:cNvPr id="38" name="Shape 36"/>
          <p:cNvSpPr/>
          <p:nvPr/>
        </p:nvSpPr>
        <p:spPr>
          <a:xfrm>
            <a:off x="5029200" y="3090672"/>
            <a:ext cx="3931920" cy="457200"/>
          </a:xfrm>
          <a:prstGeom prst="rect">
            <a:avLst/>
          </a:prstGeom>
          <a:solidFill>
            <a:srgbClr val="172032"/>
          </a:solidFill>
          <a:ln w="6350">
            <a:solidFill>
              <a:srgbClr val="0369A1"/>
            </a:solidFill>
            <a:prstDash val="solid"/>
          </a:ln>
        </p:spPr>
        <p:txBody>
          <a:bodyPr/>
          <a:lstStyle/>
          <a:p>
            <a:endParaRPr lang="en-IN"/>
          </a:p>
        </p:txBody>
      </p:sp>
      <p:sp>
        <p:nvSpPr>
          <p:cNvPr id="39" name="Text 37"/>
          <p:cNvSpPr/>
          <p:nvPr/>
        </p:nvSpPr>
        <p:spPr>
          <a:xfrm>
            <a:off x="5120640" y="3090672"/>
            <a:ext cx="3749040" cy="457200"/>
          </a:xfrm>
          <a:prstGeom prst="rect">
            <a:avLst/>
          </a:prstGeom>
          <a:noFill/>
          <a:ln/>
        </p:spPr>
        <p:txBody>
          <a:bodyPr wrap="square" rtlCol="0" anchor="ctr"/>
          <a:lstStyle/>
          <a:p>
            <a:pPr marL="0" indent="0">
              <a:buNone/>
            </a:pPr>
            <a:r>
              <a:rPr lang="en-US" sz="1100" dirty="0">
                <a:solidFill>
                  <a:srgbClr val="06B6D4"/>
                </a:solidFill>
                <a:latin typeface="Calibri" pitchFamily="34" charset="0"/>
                <a:ea typeface="Calibri" pitchFamily="34" charset="-122"/>
                <a:cs typeface="Calibri" pitchFamily="34" charset="-120"/>
              </a:rPr>
              <a:t>Supports loops / cycles</a:t>
            </a:r>
            <a:endParaRPr lang="en-US" sz="1100" dirty="0"/>
          </a:p>
        </p:txBody>
      </p:sp>
      <p:sp>
        <p:nvSpPr>
          <p:cNvPr id="40" name="Shape 38"/>
          <p:cNvSpPr/>
          <p:nvPr/>
        </p:nvSpPr>
        <p:spPr>
          <a:xfrm>
            <a:off x="274320" y="3566160"/>
            <a:ext cx="1737360" cy="457200"/>
          </a:xfrm>
          <a:prstGeom prst="rect">
            <a:avLst/>
          </a:prstGeom>
          <a:solidFill>
            <a:srgbClr val="1E293B"/>
          </a:solidFill>
          <a:ln w="6350">
            <a:solidFill>
              <a:srgbClr val="0369A1"/>
            </a:solidFill>
            <a:prstDash val="solid"/>
          </a:ln>
        </p:spPr>
        <p:txBody>
          <a:bodyPr/>
          <a:lstStyle/>
          <a:p>
            <a:endParaRPr lang="en-IN"/>
          </a:p>
        </p:txBody>
      </p:sp>
      <p:sp>
        <p:nvSpPr>
          <p:cNvPr id="41" name="Text 39"/>
          <p:cNvSpPr/>
          <p:nvPr/>
        </p:nvSpPr>
        <p:spPr>
          <a:xfrm>
            <a:off x="365760" y="3566160"/>
            <a:ext cx="1554480" cy="457200"/>
          </a:xfrm>
          <a:prstGeom prst="rect">
            <a:avLst/>
          </a:prstGeom>
          <a:noFill/>
          <a:ln/>
        </p:spPr>
        <p:txBody>
          <a:bodyPr wrap="square" rtlCol="0" anchor="ctr"/>
          <a:lstStyle/>
          <a:p>
            <a:pPr marL="0" indent="0">
              <a:buNone/>
            </a:pPr>
            <a:r>
              <a:rPr lang="en-US" sz="1100" b="1" dirty="0">
                <a:solidFill>
                  <a:srgbClr val="F59E0B"/>
                </a:solidFill>
                <a:latin typeface="Calibri" pitchFamily="34" charset="0"/>
                <a:ea typeface="Calibri" pitchFamily="34" charset="-122"/>
                <a:cs typeface="Calibri" pitchFamily="34" charset="-120"/>
              </a:rPr>
              <a:t>Best For</a:t>
            </a:r>
            <a:endParaRPr lang="en-US" sz="1100" dirty="0"/>
          </a:p>
        </p:txBody>
      </p:sp>
      <p:sp>
        <p:nvSpPr>
          <p:cNvPr id="42" name="Shape 40"/>
          <p:cNvSpPr/>
          <p:nvPr/>
        </p:nvSpPr>
        <p:spPr>
          <a:xfrm>
            <a:off x="2286000" y="3566160"/>
            <a:ext cx="2560320" cy="457200"/>
          </a:xfrm>
          <a:prstGeom prst="rect">
            <a:avLst/>
          </a:prstGeom>
          <a:solidFill>
            <a:srgbClr val="1E293B"/>
          </a:solidFill>
          <a:ln w="6350">
            <a:solidFill>
              <a:srgbClr val="0369A1"/>
            </a:solidFill>
            <a:prstDash val="solid"/>
          </a:ln>
        </p:spPr>
        <p:txBody>
          <a:bodyPr/>
          <a:lstStyle/>
          <a:p>
            <a:endParaRPr lang="en-IN"/>
          </a:p>
        </p:txBody>
      </p:sp>
      <p:sp>
        <p:nvSpPr>
          <p:cNvPr id="43" name="Text 41"/>
          <p:cNvSpPr/>
          <p:nvPr/>
        </p:nvSpPr>
        <p:spPr>
          <a:xfrm>
            <a:off x="2377440" y="3566160"/>
            <a:ext cx="2377440" cy="457200"/>
          </a:xfrm>
          <a:prstGeom prst="rect">
            <a:avLst/>
          </a:prstGeom>
          <a:noFill/>
          <a:ln/>
        </p:spPr>
        <p:txBody>
          <a:bodyPr wrap="square" rtlCol="0" anchor="ctr"/>
          <a:lstStyle/>
          <a:p>
            <a:pPr marL="0" indent="0">
              <a:buNone/>
            </a:pPr>
            <a:r>
              <a:rPr lang="en-US" sz="1100" dirty="0">
                <a:solidFill>
                  <a:srgbClr val="CBD5E1"/>
                </a:solidFill>
                <a:latin typeface="Calibri" pitchFamily="34" charset="0"/>
                <a:ea typeface="Calibri" pitchFamily="34" charset="-122"/>
                <a:cs typeface="Calibri" pitchFamily="34" charset="-120"/>
              </a:rPr>
              <a:t>Simple pipelines</a:t>
            </a:r>
            <a:endParaRPr lang="en-US" sz="1100" dirty="0"/>
          </a:p>
        </p:txBody>
      </p:sp>
      <p:sp>
        <p:nvSpPr>
          <p:cNvPr id="44" name="Shape 42"/>
          <p:cNvSpPr/>
          <p:nvPr/>
        </p:nvSpPr>
        <p:spPr>
          <a:xfrm>
            <a:off x="5029200" y="3566160"/>
            <a:ext cx="3931920" cy="457200"/>
          </a:xfrm>
          <a:prstGeom prst="rect">
            <a:avLst/>
          </a:prstGeom>
          <a:solidFill>
            <a:srgbClr val="1E293B"/>
          </a:solidFill>
          <a:ln w="6350">
            <a:solidFill>
              <a:srgbClr val="0369A1"/>
            </a:solidFill>
            <a:prstDash val="solid"/>
          </a:ln>
        </p:spPr>
        <p:txBody>
          <a:bodyPr/>
          <a:lstStyle/>
          <a:p>
            <a:endParaRPr lang="en-IN"/>
          </a:p>
        </p:txBody>
      </p:sp>
      <p:sp>
        <p:nvSpPr>
          <p:cNvPr id="45" name="Text 43"/>
          <p:cNvSpPr/>
          <p:nvPr/>
        </p:nvSpPr>
        <p:spPr>
          <a:xfrm>
            <a:off x="5120640" y="3566160"/>
            <a:ext cx="3749040" cy="457200"/>
          </a:xfrm>
          <a:prstGeom prst="rect">
            <a:avLst/>
          </a:prstGeom>
          <a:noFill/>
          <a:ln/>
        </p:spPr>
        <p:txBody>
          <a:bodyPr wrap="square" rtlCol="0" anchor="ctr"/>
          <a:lstStyle/>
          <a:p>
            <a:pPr marL="0" indent="0">
              <a:buNone/>
            </a:pPr>
            <a:r>
              <a:rPr lang="en-US" sz="1100" dirty="0">
                <a:solidFill>
                  <a:srgbClr val="06B6D4"/>
                </a:solidFill>
                <a:latin typeface="Calibri" pitchFamily="34" charset="0"/>
                <a:ea typeface="Calibri" pitchFamily="34" charset="-122"/>
                <a:cs typeface="Calibri" pitchFamily="34" charset="-120"/>
              </a:rPr>
              <a:t>Complex agent workflows</a:t>
            </a:r>
            <a:endParaRPr lang="en-US" sz="1100" dirty="0"/>
          </a:p>
        </p:txBody>
      </p:sp>
      <p:sp>
        <p:nvSpPr>
          <p:cNvPr id="46" name="Shape 44"/>
          <p:cNvSpPr/>
          <p:nvPr/>
        </p:nvSpPr>
        <p:spPr>
          <a:xfrm>
            <a:off x="274320" y="4096512"/>
            <a:ext cx="8595360" cy="914400"/>
          </a:xfrm>
          <a:prstGeom prst="roundRect">
            <a:avLst>
              <a:gd name="adj" fmla="val 10000"/>
            </a:avLst>
          </a:prstGeom>
          <a:solidFill>
            <a:srgbClr val="1E293B"/>
          </a:solidFill>
          <a:ln w="12700">
            <a:solidFill>
              <a:srgbClr val="8B5CF6"/>
            </a:solidFill>
            <a:prstDash val="solid"/>
          </a:ln>
        </p:spPr>
        <p:txBody>
          <a:bodyPr/>
          <a:lstStyle/>
          <a:p>
            <a:endParaRPr lang="en-IN"/>
          </a:p>
        </p:txBody>
      </p:sp>
      <p:sp>
        <p:nvSpPr>
          <p:cNvPr id="47" name="Text 45"/>
          <p:cNvSpPr/>
          <p:nvPr/>
        </p:nvSpPr>
        <p:spPr>
          <a:xfrm>
            <a:off x="457200" y="4169664"/>
            <a:ext cx="2286000" cy="320040"/>
          </a:xfrm>
          <a:prstGeom prst="rect">
            <a:avLst/>
          </a:prstGeom>
          <a:noFill/>
          <a:ln/>
        </p:spPr>
        <p:txBody>
          <a:bodyPr wrap="square" rtlCol="0" anchor="ctr"/>
          <a:lstStyle/>
          <a:p>
            <a:pPr marL="0" indent="0">
              <a:buNone/>
            </a:pPr>
            <a:r>
              <a:rPr lang="en-US" sz="1200" b="1" dirty="0">
                <a:solidFill>
                  <a:srgbClr val="8B5CF6"/>
                </a:solidFill>
                <a:latin typeface="Calibri" pitchFamily="34" charset="0"/>
                <a:ea typeface="Calibri" pitchFamily="34" charset="-122"/>
                <a:cs typeface="Calibri" pitchFamily="34" charset="-120"/>
              </a:rPr>
              <a:t>LangGraph Key Concepts:</a:t>
            </a:r>
            <a:endParaRPr lang="en-US" sz="1200" dirty="0"/>
          </a:p>
        </p:txBody>
      </p:sp>
      <p:sp>
        <p:nvSpPr>
          <p:cNvPr id="48" name="Text 46"/>
          <p:cNvSpPr/>
          <p:nvPr/>
        </p:nvSpPr>
        <p:spPr>
          <a:xfrm>
            <a:off x="457200" y="4526280"/>
            <a:ext cx="4114800" cy="329184"/>
          </a:xfrm>
          <a:prstGeom prst="rect">
            <a:avLst/>
          </a:prstGeom>
          <a:noFill/>
          <a:ln/>
        </p:spPr>
        <p:txBody>
          <a:bodyPr wrap="square" rtlCol="0" anchor="ctr"/>
          <a:lstStyle/>
          <a:p>
            <a:pPr marL="0" indent="0">
              <a:buNone/>
            </a:pPr>
            <a:r>
              <a:rPr lang="en-US" sz="1000" dirty="0">
                <a:solidFill>
                  <a:srgbClr val="CBD5E1"/>
                </a:solidFill>
                <a:latin typeface="Calibri" pitchFamily="34" charset="0"/>
                <a:ea typeface="Calibri" pitchFamily="34" charset="-122"/>
                <a:cs typeface="Calibri" pitchFamily="34" charset="-120"/>
              </a:rPr>
              <a:t>▸  State — typed dict shared across nodes</a:t>
            </a:r>
            <a:endParaRPr lang="en-US" sz="1000" dirty="0"/>
          </a:p>
        </p:txBody>
      </p:sp>
      <p:sp>
        <p:nvSpPr>
          <p:cNvPr id="49" name="Text 47"/>
          <p:cNvSpPr/>
          <p:nvPr/>
        </p:nvSpPr>
        <p:spPr>
          <a:xfrm>
            <a:off x="4754880" y="4526280"/>
            <a:ext cx="4114800" cy="329184"/>
          </a:xfrm>
          <a:prstGeom prst="rect">
            <a:avLst/>
          </a:prstGeom>
          <a:noFill/>
          <a:ln/>
        </p:spPr>
        <p:txBody>
          <a:bodyPr wrap="square" rtlCol="0" anchor="ctr"/>
          <a:lstStyle/>
          <a:p>
            <a:pPr marL="0" indent="0">
              <a:buNone/>
            </a:pPr>
            <a:r>
              <a:rPr lang="en-US" sz="1000" dirty="0">
                <a:solidFill>
                  <a:srgbClr val="CBD5E1"/>
                </a:solidFill>
                <a:latin typeface="Calibri" pitchFamily="34" charset="0"/>
                <a:ea typeface="Calibri" pitchFamily="34" charset="-122"/>
                <a:cs typeface="Calibri" pitchFamily="34" charset="-120"/>
              </a:rPr>
              <a:t>▸  Nodes — agent/tool/function steps</a:t>
            </a:r>
            <a:endParaRPr lang="en-US" sz="1000" dirty="0"/>
          </a:p>
        </p:txBody>
      </p:sp>
      <p:sp>
        <p:nvSpPr>
          <p:cNvPr id="50" name="Text 48"/>
          <p:cNvSpPr/>
          <p:nvPr/>
        </p:nvSpPr>
        <p:spPr>
          <a:xfrm>
            <a:off x="457200" y="4526280"/>
            <a:ext cx="4114800" cy="329184"/>
          </a:xfrm>
          <a:prstGeom prst="rect">
            <a:avLst/>
          </a:prstGeom>
          <a:noFill/>
          <a:ln/>
        </p:spPr>
        <p:txBody>
          <a:bodyPr wrap="square" rtlCol="0" anchor="ctr"/>
          <a:lstStyle/>
          <a:p>
            <a:pPr marL="0" indent="0">
              <a:buNone/>
            </a:pPr>
            <a:r>
              <a:rPr lang="en-US" sz="1000" dirty="0">
                <a:solidFill>
                  <a:srgbClr val="CBD5E1"/>
                </a:solidFill>
                <a:latin typeface="Calibri" pitchFamily="34" charset="0"/>
                <a:ea typeface="Calibri" pitchFamily="34" charset="-122"/>
                <a:cs typeface="Calibri" pitchFamily="34" charset="-120"/>
              </a:rPr>
              <a:t>▸  Edges — conditional routing between nodes</a:t>
            </a:r>
            <a:endParaRPr lang="en-US" sz="1000" dirty="0"/>
          </a:p>
        </p:txBody>
      </p:sp>
      <p:sp>
        <p:nvSpPr>
          <p:cNvPr id="51" name="Text 49"/>
          <p:cNvSpPr/>
          <p:nvPr/>
        </p:nvSpPr>
        <p:spPr>
          <a:xfrm>
            <a:off x="4754880" y="4526280"/>
            <a:ext cx="4114800" cy="329184"/>
          </a:xfrm>
          <a:prstGeom prst="rect">
            <a:avLst/>
          </a:prstGeom>
          <a:noFill/>
          <a:ln/>
        </p:spPr>
        <p:txBody>
          <a:bodyPr wrap="square" rtlCol="0" anchor="ctr"/>
          <a:lstStyle/>
          <a:p>
            <a:pPr marL="0" indent="0">
              <a:buNone/>
            </a:pPr>
            <a:r>
              <a:rPr lang="en-US" sz="1000" dirty="0">
                <a:solidFill>
                  <a:srgbClr val="CBD5E1"/>
                </a:solidFill>
                <a:latin typeface="Calibri" pitchFamily="34" charset="0"/>
                <a:ea typeface="Calibri" pitchFamily="34" charset="-122"/>
                <a:cs typeface="Calibri" pitchFamily="34" charset="-120"/>
              </a:rPr>
              <a:t>▸  Checkpoints — resume from any state</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F4444"/>
          </a:solidFill>
          <a:ln w="12700">
            <a:solidFill>
              <a:srgbClr val="EF4444"/>
            </a:solidFill>
            <a:prstDash val="solid"/>
          </a:ln>
        </p:spPr>
        <p:txBody>
          <a:bodyPr/>
          <a:lstStyle/>
          <a:p>
            <a:endParaRPr lang="en-IN"/>
          </a:p>
        </p:txBody>
      </p:sp>
      <p:sp>
        <p:nvSpPr>
          <p:cNvPr id="3" name="Text 1"/>
          <p:cNvSpPr/>
          <p:nvPr/>
        </p:nvSpPr>
        <p:spPr>
          <a:xfrm>
            <a:off x="365760" y="109728"/>
            <a:ext cx="8229600" cy="50292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Agent Memory</a:t>
            </a:r>
            <a:endParaRPr lang="en-US" sz="2800" dirty="0"/>
          </a:p>
        </p:txBody>
      </p:sp>
      <p:sp>
        <p:nvSpPr>
          <p:cNvPr id="4" name="Text 2"/>
          <p:cNvSpPr/>
          <p:nvPr/>
        </p:nvSpPr>
        <p:spPr>
          <a:xfrm>
            <a:off x="365760" y="594360"/>
            <a:ext cx="8229600" cy="256032"/>
          </a:xfrm>
          <a:prstGeom prst="rect">
            <a:avLst/>
          </a:prstGeom>
          <a:noFill/>
          <a:ln/>
        </p:spPr>
        <p:txBody>
          <a:bodyPr wrap="square" rtlCol="0" anchor="ctr"/>
          <a:lstStyle/>
          <a:p>
            <a:pPr marL="0" indent="0">
              <a:buNone/>
            </a:pPr>
            <a:r>
              <a:rPr lang="en-US" sz="1300" i="1" dirty="0">
                <a:solidFill>
                  <a:srgbClr val="EF4444"/>
                </a:solidFill>
                <a:latin typeface="Calibri" pitchFamily="34" charset="0"/>
                <a:ea typeface="Calibri" pitchFamily="34" charset="-122"/>
                <a:cs typeface="Calibri" pitchFamily="34" charset="-120"/>
              </a:rPr>
              <a:t>How agents remember context across interactions</a:t>
            </a:r>
            <a:endParaRPr lang="en-US" sz="1300" dirty="0"/>
          </a:p>
        </p:txBody>
      </p:sp>
      <p:sp>
        <p:nvSpPr>
          <p:cNvPr id="5" name="Shape 3"/>
          <p:cNvSpPr/>
          <p:nvPr/>
        </p:nvSpPr>
        <p:spPr>
          <a:xfrm>
            <a:off x="274320" y="960120"/>
            <a:ext cx="4114800" cy="1719072"/>
          </a:xfrm>
          <a:prstGeom prst="roundRect">
            <a:avLst>
              <a:gd name="adj" fmla="val 6383"/>
            </a:avLst>
          </a:prstGeom>
          <a:solidFill>
            <a:srgbClr val="1E293B"/>
          </a:solidFill>
          <a:ln w="19050">
            <a:solidFill>
              <a:srgbClr val="06B6D4"/>
            </a:solidFill>
            <a:prstDash val="solid"/>
          </a:ln>
        </p:spPr>
        <p:txBody>
          <a:bodyPr/>
          <a:lstStyle/>
          <a:p>
            <a:endParaRPr lang="en-IN"/>
          </a:p>
        </p:txBody>
      </p:sp>
      <p:sp>
        <p:nvSpPr>
          <p:cNvPr id="6" name="Text 4"/>
          <p:cNvSpPr/>
          <p:nvPr/>
        </p:nvSpPr>
        <p:spPr>
          <a:xfrm>
            <a:off x="411480" y="1051560"/>
            <a:ext cx="3840480" cy="384048"/>
          </a:xfrm>
          <a:prstGeom prst="rect">
            <a:avLst/>
          </a:prstGeom>
          <a:noFill/>
          <a:ln/>
        </p:spPr>
        <p:txBody>
          <a:bodyPr wrap="square" rtlCol="0" anchor="ctr"/>
          <a:lstStyle/>
          <a:p>
            <a:pPr marL="0" indent="0">
              <a:buNone/>
            </a:pPr>
            <a:r>
              <a:rPr lang="en-US" sz="1300" b="1" dirty="0">
                <a:solidFill>
                  <a:srgbClr val="06B6D4"/>
                </a:solidFill>
                <a:latin typeface="Calibri" pitchFamily="34" charset="0"/>
                <a:ea typeface="Calibri" pitchFamily="34" charset="-122"/>
                <a:cs typeface="Calibri" pitchFamily="34" charset="-120"/>
              </a:rPr>
              <a:t>⚡  Short-Term Memory</a:t>
            </a:r>
            <a:endParaRPr lang="en-US" sz="1300" dirty="0"/>
          </a:p>
        </p:txBody>
      </p:sp>
      <p:sp>
        <p:nvSpPr>
          <p:cNvPr id="7" name="Text 5"/>
          <p:cNvSpPr/>
          <p:nvPr/>
        </p:nvSpPr>
        <p:spPr>
          <a:xfrm>
            <a:off x="411480" y="1435608"/>
            <a:ext cx="3840480" cy="228600"/>
          </a:xfrm>
          <a:prstGeom prst="rect">
            <a:avLst/>
          </a:prstGeom>
          <a:noFill/>
          <a:ln/>
        </p:spPr>
        <p:txBody>
          <a:bodyPr wrap="square" rtlCol="0" anchor="ctr"/>
          <a:lstStyle/>
          <a:p>
            <a:pPr marL="0" indent="0">
              <a:buNone/>
            </a:pPr>
            <a:r>
              <a:rPr lang="en-US" sz="1000" i="1" dirty="0">
                <a:solidFill>
                  <a:srgbClr val="94A3B8"/>
                </a:solidFill>
                <a:latin typeface="Calibri" pitchFamily="34" charset="0"/>
                <a:ea typeface="Calibri" pitchFamily="34" charset="-122"/>
                <a:cs typeface="Calibri" pitchFamily="34" charset="-120"/>
              </a:rPr>
              <a:t>In-context storage</a:t>
            </a:r>
            <a:endParaRPr lang="en-US" sz="1000" dirty="0"/>
          </a:p>
        </p:txBody>
      </p:sp>
      <p:sp>
        <p:nvSpPr>
          <p:cNvPr id="8" name="Text 6"/>
          <p:cNvSpPr/>
          <p:nvPr/>
        </p:nvSpPr>
        <p:spPr>
          <a:xfrm>
            <a:off x="411480" y="1709928"/>
            <a:ext cx="3840480" cy="868680"/>
          </a:xfrm>
          <a:prstGeom prst="rect">
            <a:avLst/>
          </a:prstGeom>
          <a:noFill/>
          <a:ln/>
        </p:spPr>
        <p:txBody>
          <a:bodyPr wrap="square" rtlCol="0" anchor="ctr"/>
          <a:lstStyle/>
          <a:p>
            <a:pPr marL="0" indent="0">
              <a:buNone/>
            </a:pPr>
            <a:r>
              <a:rPr lang="en-US" sz="950" dirty="0">
                <a:solidFill>
                  <a:srgbClr val="CBD5E1"/>
                </a:solidFill>
                <a:latin typeface="Calibri" pitchFamily="34" charset="0"/>
                <a:ea typeface="Calibri" pitchFamily="34" charset="-122"/>
                <a:cs typeface="Calibri" pitchFamily="34" charset="-120"/>
              </a:rPr>
              <a:t>Conversation history in current session. Stored in LLM context window. Cleared when session ends. Example: ConversationBufferMemory in LangChain.</a:t>
            </a:r>
            <a:endParaRPr lang="en-US" sz="950" dirty="0"/>
          </a:p>
        </p:txBody>
      </p:sp>
      <p:sp>
        <p:nvSpPr>
          <p:cNvPr id="9" name="Shape 7"/>
          <p:cNvSpPr/>
          <p:nvPr/>
        </p:nvSpPr>
        <p:spPr>
          <a:xfrm>
            <a:off x="4754880" y="960120"/>
            <a:ext cx="4114800" cy="1719072"/>
          </a:xfrm>
          <a:prstGeom prst="roundRect">
            <a:avLst>
              <a:gd name="adj" fmla="val 6383"/>
            </a:avLst>
          </a:prstGeom>
          <a:solidFill>
            <a:srgbClr val="1E293B"/>
          </a:solidFill>
          <a:ln w="19050">
            <a:solidFill>
              <a:srgbClr val="10B981"/>
            </a:solidFill>
            <a:prstDash val="solid"/>
          </a:ln>
        </p:spPr>
        <p:txBody>
          <a:bodyPr/>
          <a:lstStyle/>
          <a:p>
            <a:endParaRPr lang="en-IN"/>
          </a:p>
        </p:txBody>
      </p:sp>
      <p:sp>
        <p:nvSpPr>
          <p:cNvPr id="10" name="Text 8"/>
          <p:cNvSpPr/>
          <p:nvPr/>
        </p:nvSpPr>
        <p:spPr>
          <a:xfrm>
            <a:off x="4892040" y="1051560"/>
            <a:ext cx="3840480" cy="384048"/>
          </a:xfrm>
          <a:prstGeom prst="rect">
            <a:avLst/>
          </a:prstGeom>
          <a:noFill/>
          <a:ln/>
        </p:spPr>
        <p:txBody>
          <a:bodyPr wrap="square" rtlCol="0" anchor="ctr"/>
          <a:lstStyle/>
          <a:p>
            <a:pPr marL="0" indent="0">
              <a:buNone/>
            </a:pPr>
            <a:r>
              <a:rPr lang="en-US" sz="1300" b="1" dirty="0">
                <a:solidFill>
                  <a:srgbClr val="10B981"/>
                </a:solidFill>
                <a:latin typeface="Calibri" pitchFamily="34" charset="0"/>
                <a:ea typeface="Calibri" pitchFamily="34" charset="-122"/>
                <a:cs typeface="Calibri" pitchFamily="34" charset="-120"/>
              </a:rPr>
              <a:t>💾  Long-Term Memory</a:t>
            </a:r>
            <a:endParaRPr lang="en-US" sz="1300" dirty="0"/>
          </a:p>
        </p:txBody>
      </p:sp>
      <p:sp>
        <p:nvSpPr>
          <p:cNvPr id="11" name="Text 9"/>
          <p:cNvSpPr/>
          <p:nvPr/>
        </p:nvSpPr>
        <p:spPr>
          <a:xfrm>
            <a:off x="4892040" y="1435608"/>
            <a:ext cx="3840480" cy="228600"/>
          </a:xfrm>
          <a:prstGeom prst="rect">
            <a:avLst/>
          </a:prstGeom>
          <a:noFill/>
          <a:ln/>
        </p:spPr>
        <p:txBody>
          <a:bodyPr wrap="square" rtlCol="0" anchor="ctr"/>
          <a:lstStyle/>
          <a:p>
            <a:pPr marL="0" indent="0">
              <a:buNone/>
            </a:pPr>
            <a:r>
              <a:rPr lang="en-US" sz="1000" i="1" dirty="0">
                <a:solidFill>
                  <a:srgbClr val="94A3B8"/>
                </a:solidFill>
                <a:latin typeface="Calibri" pitchFamily="34" charset="0"/>
                <a:ea typeface="Calibri" pitchFamily="34" charset="-122"/>
                <a:cs typeface="Calibri" pitchFamily="34" charset="-120"/>
              </a:rPr>
              <a:t>Persistent storage</a:t>
            </a:r>
            <a:endParaRPr lang="en-US" sz="1000" dirty="0"/>
          </a:p>
        </p:txBody>
      </p:sp>
      <p:sp>
        <p:nvSpPr>
          <p:cNvPr id="12" name="Text 10"/>
          <p:cNvSpPr/>
          <p:nvPr/>
        </p:nvSpPr>
        <p:spPr>
          <a:xfrm>
            <a:off x="4892040" y="1709928"/>
            <a:ext cx="3840480" cy="868680"/>
          </a:xfrm>
          <a:prstGeom prst="rect">
            <a:avLst/>
          </a:prstGeom>
          <a:noFill/>
          <a:ln/>
        </p:spPr>
        <p:txBody>
          <a:bodyPr wrap="square" rtlCol="0" anchor="ctr"/>
          <a:lstStyle/>
          <a:p>
            <a:pPr marL="0" indent="0">
              <a:buNone/>
            </a:pPr>
            <a:r>
              <a:rPr lang="en-US" sz="950" dirty="0">
                <a:solidFill>
                  <a:srgbClr val="CBD5E1"/>
                </a:solidFill>
                <a:latin typeface="Calibri" pitchFamily="34" charset="0"/>
                <a:ea typeface="Calibri" pitchFamily="34" charset="-122"/>
                <a:cs typeface="Calibri" pitchFamily="34" charset="-120"/>
              </a:rPr>
              <a:t>User preferences, past interactions. Stored in databases (Redis, DynamoDB). Persists across sessions. Example: summarized conversation history.</a:t>
            </a:r>
            <a:endParaRPr lang="en-US" sz="950" dirty="0"/>
          </a:p>
        </p:txBody>
      </p:sp>
      <p:sp>
        <p:nvSpPr>
          <p:cNvPr id="13" name="Shape 11"/>
          <p:cNvSpPr/>
          <p:nvPr/>
        </p:nvSpPr>
        <p:spPr>
          <a:xfrm>
            <a:off x="274320" y="2834640"/>
            <a:ext cx="4114800" cy="1719072"/>
          </a:xfrm>
          <a:prstGeom prst="roundRect">
            <a:avLst>
              <a:gd name="adj" fmla="val 6383"/>
            </a:avLst>
          </a:prstGeom>
          <a:solidFill>
            <a:srgbClr val="1E293B"/>
          </a:solidFill>
          <a:ln w="19050">
            <a:solidFill>
              <a:srgbClr val="8B5CF6"/>
            </a:solidFill>
            <a:prstDash val="solid"/>
          </a:ln>
        </p:spPr>
        <p:txBody>
          <a:bodyPr/>
          <a:lstStyle/>
          <a:p>
            <a:endParaRPr lang="en-IN"/>
          </a:p>
        </p:txBody>
      </p:sp>
      <p:sp>
        <p:nvSpPr>
          <p:cNvPr id="14" name="Text 12"/>
          <p:cNvSpPr/>
          <p:nvPr/>
        </p:nvSpPr>
        <p:spPr>
          <a:xfrm>
            <a:off x="411480" y="2926080"/>
            <a:ext cx="3840480" cy="384048"/>
          </a:xfrm>
          <a:prstGeom prst="rect">
            <a:avLst/>
          </a:prstGeom>
          <a:noFill/>
          <a:ln/>
        </p:spPr>
        <p:txBody>
          <a:bodyPr wrap="square" rtlCol="0" anchor="ctr"/>
          <a:lstStyle/>
          <a:p>
            <a:pPr marL="0" indent="0">
              <a:buNone/>
            </a:pPr>
            <a:r>
              <a:rPr lang="en-US" sz="1300" b="1" dirty="0">
                <a:solidFill>
                  <a:srgbClr val="8B5CF6"/>
                </a:solidFill>
                <a:latin typeface="Calibri" pitchFamily="34" charset="0"/>
                <a:ea typeface="Calibri" pitchFamily="34" charset="-122"/>
                <a:cs typeface="Calibri" pitchFamily="34" charset="-120"/>
              </a:rPr>
              <a:t>🔍  Semantic / Vector Memory</a:t>
            </a:r>
            <a:endParaRPr lang="en-US" sz="1300" dirty="0"/>
          </a:p>
        </p:txBody>
      </p:sp>
      <p:sp>
        <p:nvSpPr>
          <p:cNvPr id="15" name="Text 13"/>
          <p:cNvSpPr/>
          <p:nvPr/>
        </p:nvSpPr>
        <p:spPr>
          <a:xfrm>
            <a:off x="411480" y="3310128"/>
            <a:ext cx="3840480" cy="228600"/>
          </a:xfrm>
          <a:prstGeom prst="rect">
            <a:avLst/>
          </a:prstGeom>
          <a:noFill/>
          <a:ln/>
        </p:spPr>
        <p:txBody>
          <a:bodyPr wrap="square" rtlCol="0" anchor="ctr"/>
          <a:lstStyle/>
          <a:p>
            <a:pPr marL="0" indent="0">
              <a:buNone/>
            </a:pPr>
            <a:r>
              <a:rPr lang="en-US" sz="1000" i="1" dirty="0">
                <a:solidFill>
                  <a:srgbClr val="94A3B8"/>
                </a:solidFill>
                <a:latin typeface="Calibri" pitchFamily="34" charset="0"/>
                <a:ea typeface="Calibri" pitchFamily="34" charset="-122"/>
                <a:cs typeface="Calibri" pitchFamily="34" charset="-120"/>
              </a:rPr>
              <a:t>Embeddings-based</a:t>
            </a:r>
            <a:endParaRPr lang="en-US" sz="1000" dirty="0"/>
          </a:p>
        </p:txBody>
      </p:sp>
      <p:sp>
        <p:nvSpPr>
          <p:cNvPr id="16" name="Text 14"/>
          <p:cNvSpPr/>
          <p:nvPr/>
        </p:nvSpPr>
        <p:spPr>
          <a:xfrm>
            <a:off x="411480" y="3584448"/>
            <a:ext cx="3840480" cy="868680"/>
          </a:xfrm>
          <a:prstGeom prst="rect">
            <a:avLst/>
          </a:prstGeom>
          <a:noFill/>
          <a:ln/>
        </p:spPr>
        <p:txBody>
          <a:bodyPr wrap="square" rtlCol="0" anchor="ctr"/>
          <a:lstStyle/>
          <a:p>
            <a:pPr marL="0" indent="0">
              <a:buNone/>
            </a:pPr>
            <a:r>
              <a:rPr lang="en-US" sz="950" dirty="0">
                <a:solidFill>
                  <a:srgbClr val="CBD5E1"/>
                </a:solidFill>
                <a:latin typeface="Calibri" pitchFamily="34" charset="0"/>
                <a:ea typeface="Calibri" pitchFamily="34" charset="-122"/>
                <a:cs typeface="Calibri" pitchFamily="34" charset="-120"/>
              </a:rPr>
              <a:t>Past messages stored as embeddings. Retrieves relevant memories by similarity. Used when context window is too small. Example: VectorStoreRetrieverMemory.</a:t>
            </a:r>
            <a:endParaRPr lang="en-US" sz="950" dirty="0"/>
          </a:p>
        </p:txBody>
      </p:sp>
      <p:sp>
        <p:nvSpPr>
          <p:cNvPr id="17" name="Shape 15"/>
          <p:cNvSpPr/>
          <p:nvPr/>
        </p:nvSpPr>
        <p:spPr>
          <a:xfrm>
            <a:off x="4754880" y="2834640"/>
            <a:ext cx="4114800" cy="1719072"/>
          </a:xfrm>
          <a:prstGeom prst="roundRect">
            <a:avLst>
              <a:gd name="adj" fmla="val 6383"/>
            </a:avLst>
          </a:prstGeom>
          <a:solidFill>
            <a:srgbClr val="1E293B"/>
          </a:solidFill>
          <a:ln w="19050">
            <a:solidFill>
              <a:srgbClr val="F59E0B"/>
            </a:solidFill>
            <a:prstDash val="solid"/>
          </a:ln>
        </p:spPr>
        <p:txBody>
          <a:bodyPr/>
          <a:lstStyle/>
          <a:p>
            <a:endParaRPr lang="en-IN"/>
          </a:p>
        </p:txBody>
      </p:sp>
      <p:sp>
        <p:nvSpPr>
          <p:cNvPr id="18" name="Text 16"/>
          <p:cNvSpPr/>
          <p:nvPr/>
        </p:nvSpPr>
        <p:spPr>
          <a:xfrm>
            <a:off x="4892040" y="2926080"/>
            <a:ext cx="3840480" cy="384048"/>
          </a:xfrm>
          <a:prstGeom prst="rect">
            <a:avLst/>
          </a:prstGeom>
          <a:noFill/>
          <a:ln/>
        </p:spPr>
        <p:txBody>
          <a:bodyPr wrap="square" rtlCol="0" anchor="ctr"/>
          <a:lstStyle/>
          <a:p>
            <a:pPr marL="0" indent="0">
              <a:buNone/>
            </a:pPr>
            <a:r>
              <a:rPr lang="en-US" sz="1300" b="1" dirty="0">
                <a:solidFill>
                  <a:srgbClr val="F59E0B"/>
                </a:solidFill>
                <a:latin typeface="Calibri" pitchFamily="34" charset="0"/>
                <a:ea typeface="Calibri" pitchFamily="34" charset="-122"/>
                <a:cs typeface="Calibri" pitchFamily="34" charset="-120"/>
              </a:rPr>
              <a:t>📚  Episodic Memory</a:t>
            </a:r>
            <a:endParaRPr lang="en-US" sz="1300" dirty="0"/>
          </a:p>
        </p:txBody>
      </p:sp>
      <p:sp>
        <p:nvSpPr>
          <p:cNvPr id="19" name="Text 17"/>
          <p:cNvSpPr/>
          <p:nvPr/>
        </p:nvSpPr>
        <p:spPr>
          <a:xfrm>
            <a:off x="4892040" y="3310128"/>
            <a:ext cx="3840480" cy="228600"/>
          </a:xfrm>
          <a:prstGeom prst="rect">
            <a:avLst/>
          </a:prstGeom>
          <a:noFill/>
          <a:ln/>
        </p:spPr>
        <p:txBody>
          <a:bodyPr wrap="square" rtlCol="0" anchor="ctr"/>
          <a:lstStyle/>
          <a:p>
            <a:pPr marL="0" indent="0">
              <a:buNone/>
            </a:pPr>
            <a:r>
              <a:rPr lang="en-US" sz="1000" i="1" dirty="0">
                <a:solidFill>
                  <a:srgbClr val="94A3B8"/>
                </a:solidFill>
                <a:latin typeface="Calibri" pitchFamily="34" charset="0"/>
                <a:ea typeface="Calibri" pitchFamily="34" charset="-122"/>
                <a:cs typeface="Calibri" pitchFamily="34" charset="-120"/>
              </a:rPr>
              <a:t>Task &amp; event history</a:t>
            </a:r>
            <a:endParaRPr lang="en-US" sz="1000" dirty="0"/>
          </a:p>
        </p:txBody>
      </p:sp>
      <p:sp>
        <p:nvSpPr>
          <p:cNvPr id="20" name="Text 18"/>
          <p:cNvSpPr/>
          <p:nvPr/>
        </p:nvSpPr>
        <p:spPr>
          <a:xfrm>
            <a:off x="4892040" y="3584448"/>
            <a:ext cx="3840480" cy="868680"/>
          </a:xfrm>
          <a:prstGeom prst="rect">
            <a:avLst/>
          </a:prstGeom>
          <a:noFill/>
          <a:ln/>
        </p:spPr>
        <p:txBody>
          <a:bodyPr wrap="square" rtlCol="0" anchor="ctr"/>
          <a:lstStyle/>
          <a:p>
            <a:pPr marL="0" indent="0">
              <a:buNone/>
            </a:pPr>
            <a:r>
              <a:rPr lang="en-US" sz="950" dirty="0">
                <a:solidFill>
                  <a:srgbClr val="CBD5E1"/>
                </a:solidFill>
                <a:latin typeface="Calibri" pitchFamily="34" charset="0"/>
                <a:ea typeface="Calibri" pitchFamily="34" charset="-122"/>
                <a:cs typeface="Calibri" pitchFamily="34" charset="-120"/>
              </a:rPr>
              <a:t>Stores sequences of past actions and outcomes. Helps agent learn from past mistakes. Used in multi-agent and long-horizon tasks.</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6B6D4"/>
          </a:solidFill>
          <a:ln w="12700">
            <a:solidFill>
              <a:srgbClr val="06B6D4"/>
            </a:solidFill>
            <a:prstDash val="solid"/>
          </a:ln>
        </p:spPr>
        <p:txBody>
          <a:bodyPr/>
          <a:lstStyle/>
          <a:p>
            <a:endParaRPr lang="en-IN"/>
          </a:p>
        </p:txBody>
      </p:sp>
      <p:sp>
        <p:nvSpPr>
          <p:cNvPr id="3" name="Text 1"/>
          <p:cNvSpPr/>
          <p:nvPr/>
        </p:nvSpPr>
        <p:spPr>
          <a:xfrm>
            <a:off x="365760" y="109728"/>
            <a:ext cx="8229600" cy="50292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Multi-Agent Systems</a:t>
            </a:r>
            <a:endParaRPr lang="en-US" sz="2800" dirty="0"/>
          </a:p>
        </p:txBody>
      </p:sp>
      <p:sp>
        <p:nvSpPr>
          <p:cNvPr id="4" name="Text 2"/>
          <p:cNvSpPr/>
          <p:nvPr/>
        </p:nvSpPr>
        <p:spPr>
          <a:xfrm>
            <a:off x="365760" y="594360"/>
            <a:ext cx="8229600" cy="256032"/>
          </a:xfrm>
          <a:prstGeom prst="rect">
            <a:avLst/>
          </a:prstGeom>
          <a:noFill/>
          <a:ln/>
        </p:spPr>
        <p:txBody>
          <a:bodyPr wrap="square" rtlCol="0" anchor="ctr"/>
          <a:lstStyle/>
          <a:p>
            <a:pPr marL="0" indent="0">
              <a:buNone/>
            </a:pPr>
            <a:r>
              <a:rPr lang="en-US" sz="1200" i="1" dirty="0">
                <a:solidFill>
                  <a:srgbClr val="06B6D4"/>
                </a:solidFill>
                <a:latin typeface="Calibri" pitchFamily="34" charset="0"/>
                <a:ea typeface="Calibri" pitchFamily="34" charset="-122"/>
                <a:cs typeface="Calibri" pitchFamily="34" charset="-120"/>
              </a:rPr>
              <a:t>Multiple specialized agents working together to solve complex problems</a:t>
            </a:r>
            <a:endParaRPr lang="en-US" sz="1200" dirty="0"/>
          </a:p>
        </p:txBody>
      </p:sp>
      <p:sp>
        <p:nvSpPr>
          <p:cNvPr id="5" name="Shape 3"/>
          <p:cNvSpPr/>
          <p:nvPr/>
        </p:nvSpPr>
        <p:spPr>
          <a:xfrm>
            <a:off x="3383280" y="2011680"/>
            <a:ext cx="2377440" cy="1005840"/>
          </a:xfrm>
          <a:prstGeom prst="ellipse">
            <a:avLst/>
          </a:prstGeom>
          <a:solidFill>
            <a:srgbClr val="06B6D4"/>
          </a:solidFill>
          <a:ln w="12700">
            <a:solidFill>
              <a:srgbClr val="06B6D4"/>
            </a:solidFill>
            <a:prstDash val="solid"/>
          </a:ln>
        </p:spPr>
        <p:txBody>
          <a:bodyPr/>
          <a:lstStyle/>
          <a:p>
            <a:endParaRPr lang="en-IN"/>
          </a:p>
        </p:txBody>
      </p:sp>
      <p:sp>
        <p:nvSpPr>
          <p:cNvPr id="6" name="Text 4"/>
          <p:cNvSpPr/>
          <p:nvPr/>
        </p:nvSpPr>
        <p:spPr>
          <a:xfrm>
            <a:off x="3383280" y="2011680"/>
            <a:ext cx="2377440" cy="1005840"/>
          </a:xfrm>
          <a:prstGeom prst="rect">
            <a:avLst/>
          </a:prstGeom>
          <a:noFill/>
          <a:ln/>
        </p:spPr>
        <p:txBody>
          <a:bodyPr wrap="square" lIns="0" tIns="0" rIns="0" bIns="0" rtlCol="0" anchor="ctr"/>
          <a:lstStyle/>
          <a:p>
            <a:pPr marL="0" indent="0" algn="ctr">
              <a:buNone/>
            </a:pPr>
            <a:r>
              <a:rPr lang="en-US" sz="1200" b="1" dirty="0">
                <a:solidFill>
                  <a:srgbClr val="0F172A"/>
                </a:solidFill>
                <a:latin typeface="Calibri" pitchFamily="34" charset="0"/>
                <a:ea typeface="Calibri" pitchFamily="34" charset="-122"/>
                <a:cs typeface="Calibri" pitchFamily="34" charset="-120"/>
              </a:rPr>
              <a:t>🎯 COORDINATOR</a:t>
            </a:r>
            <a:endParaRPr lang="en-US" sz="1200" dirty="0"/>
          </a:p>
          <a:p>
            <a:pPr marL="0" indent="0" algn="ctr">
              <a:buNone/>
            </a:pPr>
            <a:r>
              <a:rPr lang="en-US" sz="1200" b="1" dirty="0">
                <a:solidFill>
                  <a:srgbClr val="0F172A"/>
                </a:solidFill>
                <a:latin typeface="Calibri" pitchFamily="34" charset="0"/>
                <a:ea typeface="Calibri" pitchFamily="34" charset="-122"/>
                <a:cs typeface="Calibri" pitchFamily="34" charset="-120"/>
              </a:rPr>
              <a:t>AGENT</a:t>
            </a:r>
            <a:endParaRPr lang="en-US" sz="1200" dirty="0"/>
          </a:p>
        </p:txBody>
      </p:sp>
      <p:sp>
        <p:nvSpPr>
          <p:cNvPr id="7" name="Shape 5"/>
          <p:cNvSpPr/>
          <p:nvPr/>
        </p:nvSpPr>
        <p:spPr>
          <a:xfrm>
            <a:off x="365760" y="1097280"/>
            <a:ext cx="2011680" cy="914400"/>
          </a:xfrm>
          <a:prstGeom prst="roundRect">
            <a:avLst>
              <a:gd name="adj" fmla="val 12000"/>
            </a:avLst>
          </a:prstGeom>
          <a:solidFill>
            <a:srgbClr val="1E293B"/>
          </a:solidFill>
          <a:ln w="19050">
            <a:solidFill>
              <a:srgbClr val="8B5CF6"/>
            </a:solidFill>
            <a:prstDash val="solid"/>
          </a:ln>
        </p:spPr>
        <p:txBody>
          <a:bodyPr/>
          <a:lstStyle/>
          <a:p>
            <a:endParaRPr lang="en-IN"/>
          </a:p>
        </p:txBody>
      </p:sp>
      <p:sp>
        <p:nvSpPr>
          <p:cNvPr id="8" name="Text 6"/>
          <p:cNvSpPr/>
          <p:nvPr/>
        </p:nvSpPr>
        <p:spPr>
          <a:xfrm>
            <a:off x="365760" y="1234440"/>
            <a:ext cx="2011680" cy="640080"/>
          </a:xfrm>
          <a:prstGeom prst="rect">
            <a:avLst/>
          </a:prstGeom>
          <a:noFill/>
          <a:ln/>
        </p:spPr>
        <p:txBody>
          <a:bodyPr wrap="square" rtlCol="0" anchor="ctr"/>
          <a:lstStyle/>
          <a:p>
            <a:pPr marL="0" indent="0" algn="ctr">
              <a:buNone/>
            </a:pPr>
            <a:r>
              <a:rPr lang="en-US" sz="1150" b="1" dirty="0">
                <a:solidFill>
                  <a:srgbClr val="8B5CF6"/>
                </a:solidFill>
                <a:latin typeface="Calibri" pitchFamily="34" charset="0"/>
                <a:ea typeface="Calibri" pitchFamily="34" charset="-122"/>
                <a:cs typeface="Calibri" pitchFamily="34" charset="-120"/>
              </a:rPr>
              <a:t>🔬 Research</a:t>
            </a:r>
            <a:endParaRPr lang="en-US" sz="1150" dirty="0"/>
          </a:p>
          <a:p>
            <a:pPr marL="0" indent="0" algn="ctr">
              <a:buNone/>
            </a:pPr>
            <a:r>
              <a:rPr lang="en-US" sz="1150" b="1" dirty="0">
                <a:solidFill>
                  <a:srgbClr val="8B5CF6"/>
                </a:solidFill>
                <a:latin typeface="Calibri" pitchFamily="34" charset="0"/>
                <a:ea typeface="Calibri" pitchFamily="34" charset="-122"/>
                <a:cs typeface="Calibri" pitchFamily="34" charset="-120"/>
              </a:rPr>
              <a:t>Agent</a:t>
            </a:r>
            <a:endParaRPr lang="en-US" sz="1150" dirty="0"/>
          </a:p>
        </p:txBody>
      </p:sp>
      <p:sp>
        <p:nvSpPr>
          <p:cNvPr id="9" name="Shape 7"/>
          <p:cNvSpPr/>
          <p:nvPr/>
        </p:nvSpPr>
        <p:spPr>
          <a:xfrm>
            <a:off x="2377440" y="1554480"/>
            <a:ext cx="1005840" cy="0"/>
          </a:xfrm>
          <a:prstGeom prst="line">
            <a:avLst/>
          </a:prstGeom>
          <a:noFill/>
          <a:ln w="12700">
            <a:solidFill>
              <a:srgbClr val="8B5CF6"/>
            </a:solidFill>
            <a:prstDash val="sysDot"/>
          </a:ln>
        </p:spPr>
        <p:txBody>
          <a:bodyPr/>
          <a:lstStyle/>
          <a:p>
            <a:endParaRPr lang="en-IN"/>
          </a:p>
        </p:txBody>
      </p:sp>
      <p:sp>
        <p:nvSpPr>
          <p:cNvPr id="10" name="Shape 8"/>
          <p:cNvSpPr/>
          <p:nvPr/>
        </p:nvSpPr>
        <p:spPr>
          <a:xfrm>
            <a:off x="365760" y="2926080"/>
            <a:ext cx="2011680" cy="914400"/>
          </a:xfrm>
          <a:prstGeom prst="roundRect">
            <a:avLst>
              <a:gd name="adj" fmla="val 12000"/>
            </a:avLst>
          </a:prstGeom>
          <a:solidFill>
            <a:srgbClr val="1E293B"/>
          </a:solidFill>
          <a:ln w="19050">
            <a:solidFill>
              <a:srgbClr val="10B981"/>
            </a:solidFill>
            <a:prstDash val="solid"/>
          </a:ln>
        </p:spPr>
        <p:txBody>
          <a:bodyPr/>
          <a:lstStyle/>
          <a:p>
            <a:endParaRPr lang="en-IN"/>
          </a:p>
        </p:txBody>
      </p:sp>
      <p:sp>
        <p:nvSpPr>
          <p:cNvPr id="11" name="Text 9"/>
          <p:cNvSpPr/>
          <p:nvPr/>
        </p:nvSpPr>
        <p:spPr>
          <a:xfrm>
            <a:off x="365760" y="3063240"/>
            <a:ext cx="2011680" cy="640080"/>
          </a:xfrm>
          <a:prstGeom prst="rect">
            <a:avLst/>
          </a:prstGeom>
          <a:noFill/>
          <a:ln/>
        </p:spPr>
        <p:txBody>
          <a:bodyPr wrap="square" rtlCol="0" anchor="ctr"/>
          <a:lstStyle/>
          <a:p>
            <a:pPr marL="0" indent="0" algn="ctr">
              <a:buNone/>
            </a:pPr>
            <a:r>
              <a:rPr lang="en-US" sz="1150" b="1" dirty="0">
                <a:solidFill>
                  <a:srgbClr val="10B981"/>
                </a:solidFill>
                <a:latin typeface="Calibri" pitchFamily="34" charset="0"/>
                <a:ea typeface="Calibri" pitchFamily="34" charset="-122"/>
                <a:cs typeface="Calibri" pitchFamily="34" charset="-120"/>
              </a:rPr>
              <a:t>📋 Planner</a:t>
            </a:r>
            <a:endParaRPr lang="en-US" sz="1150" dirty="0"/>
          </a:p>
          <a:p>
            <a:pPr marL="0" indent="0" algn="ctr">
              <a:buNone/>
            </a:pPr>
            <a:r>
              <a:rPr lang="en-US" sz="1150" b="1" dirty="0">
                <a:solidFill>
                  <a:srgbClr val="10B981"/>
                </a:solidFill>
                <a:latin typeface="Calibri" pitchFamily="34" charset="0"/>
                <a:ea typeface="Calibri" pitchFamily="34" charset="-122"/>
                <a:cs typeface="Calibri" pitchFamily="34" charset="-120"/>
              </a:rPr>
              <a:t>Agent</a:t>
            </a:r>
            <a:endParaRPr lang="en-US" sz="1150" dirty="0"/>
          </a:p>
        </p:txBody>
      </p:sp>
      <p:sp>
        <p:nvSpPr>
          <p:cNvPr id="12" name="Shape 10"/>
          <p:cNvSpPr/>
          <p:nvPr/>
        </p:nvSpPr>
        <p:spPr>
          <a:xfrm>
            <a:off x="2377440" y="2514600"/>
            <a:ext cx="1005840" cy="0"/>
          </a:xfrm>
          <a:prstGeom prst="line">
            <a:avLst/>
          </a:prstGeom>
          <a:noFill/>
          <a:ln w="12700">
            <a:solidFill>
              <a:srgbClr val="10B981"/>
            </a:solidFill>
            <a:prstDash val="sysDot"/>
          </a:ln>
        </p:spPr>
        <p:txBody>
          <a:bodyPr/>
          <a:lstStyle/>
          <a:p>
            <a:endParaRPr lang="en-IN"/>
          </a:p>
        </p:txBody>
      </p:sp>
      <p:sp>
        <p:nvSpPr>
          <p:cNvPr id="13" name="Shape 11"/>
          <p:cNvSpPr/>
          <p:nvPr/>
        </p:nvSpPr>
        <p:spPr>
          <a:xfrm>
            <a:off x="6583680" y="1097280"/>
            <a:ext cx="2011680" cy="914400"/>
          </a:xfrm>
          <a:prstGeom prst="roundRect">
            <a:avLst>
              <a:gd name="adj" fmla="val 12000"/>
            </a:avLst>
          </a:prstGeom>
          <a:solidFill>
            <a:srgbClr val="1E293B"/>
          </a:solidFill>
          <a:ln w="19050">
            <a:solidFill>
              <a:srgbClr val="F59E0B"/>
            </a:solidFill>
            <a:prstDash val="solid"/>
          </a:ln>
        </p:spPr>
        <p:txBody>
          <a:bodyPr/>
          <a:lstStyle/>
          <a:p>
            <a:endParaRPr lang="en-IN"/>
          </a:p>
        </p:txBody>
      </p:sp>
      <p:sp>
        <p:nvSpPr>
          <p:cNvPr id="14" name="Text 12"/>
          <p:cNvSpPr/>
          <p:nvPr/>
        </p:nvSpPr>
        <p:spPr>
          <a:xfrm>
            <a:off x="6583680" y="1234440"/>
            <a:ext cx="2011680" cy="640080"/>
          </a:xfrm>
          <a:prstGeom prst="rect">
            <a:avLst/>
          </a:prstGeom>
          <a:noFill/>
          <a:ln/>
        </p:spPr>
        <p:txBody>
          <a:bodyPr wrap="square" rtlCol="0" anchor="ctr"/>
          <a:lstStyle/>
          <a:p>
            <a:pPr marL="0" indent="0" algn="ctr">
              <a:buNone/>
            </a:pPr>
            <a:r>
              <a:rPr lang="en-US" sz="1150" b="1" dirty="0">
                <a:solidFill>
                  <a:srgbClr val="F59E0B"/>
                </a:solidFill>
                <a:latin typeface="Calibri" pitchFamily="34" charset="0"/>
                <a:ea typeface="Calibri" pitchFamily="34" charset="-122"/>
                <a:cs typeface="Calibri" pitchFamily="34" charset="-120"/>
              </a:rPr>
              <a:t>✍️ Writer</a:t>
            </a:r>
            <a:endParaRPr lang="en-US" sz="1150" dirty="0"/>
          </a:p>
          <a:p>
            <a:pPr marL="0" indent="0" algn="ctr">
              <a:buNone/>
            </a:pPr>
            <a:r>
              <a:rPr lang="en-US" sz="1150" b="1" dirty="0">
                <a:solidFill>
                  <a:srgbClr val="F59E0B"/>
                </a:solidFill>
                <a:latin typeface="Calibri" pitchFamily="34" charset="0"/>
                <a:ea typeface="Calibri" pitchFamily="34" charset="-122"/>
                <a:cs typeface="Calibri" pitchFamily="34" charset="-120"/>
              </a:rPr>
              <a:t>Agent</a:t>
            </a:r>
            <a:endParaRPr lang="en-US" sz="1150" dirty="0"/>
          </a:p>
        </p:txBody>
      </p:sp>
      <p:sp>
        <p:nvSpPr>
          <p:cNvPr id="15" name="Shape 13"/>
          <p:cNvSpPr/>
          <p:nvPr/>
        </p:nvSpPr>
        <p:spPr>
          <a:xfrm>
            <a:off x="5760720" y="1554480"/>
            <a:ext cx="822960" cy="0"/>
          </a:xfrm>
          <a:prstGeom prst="line">
            <a:avLst/>
          </a:prstGeom>
          <a:noFill/>
          <a:ln w="12700">
            <a:solidFill>
              <a:srgbClr val="F59E0B"/>
            </a:solidFill>
            <a:prstDash val="sysDot"/>
          </a:ln>
        </p:spPr>
        <p:txBody>
          <a:bodyPr/>
          <a:lstStyle/>
          <a:p>
            <a:endParaRPr lang="en-IN"/>
          </a:p>
        </p:txBody>
      </p:sp>
      <p:sp>
        <p:nvSpPr>
          <p:cNvPr id="16" name="Shape 14"/>
          <p:cNvSpPr/>
          <p:nvPr/>
        </p:nvSpPr>
        <p:spPr>
          <a:xfrm>
            <a:off x="6583680" y="2926080"/>
            <a:ext cx="2011680" cy="914400"/>
          </a:xfrm>
          <a:prstGeom prst="roundRect">
            <a:avLst>
              <a:gd name="adj" fmla="val 12000"/>
            </a:avLst>
          </a:prstGeom>
          <a:solidFill>
            <a:srgbClr val="1E293B"/>
          </a:solidFill>
          <a:ln w="19050">
            <a:solidFill>
              <a:srgbClr val="EF4444"/>
            </a:solidFill>
            <a:prstDash val="solid"/>
          </a:ln>
        </p:spPr>
        <p:txBody>
          <a:bodyPr/>
          <a:lstStyle/>
          <a:p>
            <a:endParaRPr lang="en-IN"/>
          </a:p>
        </p:txBody>
      </p:sp>
      <p:sp>
        <p:nvSpPr>
          <p:cNvPr id="17" name="Text 15"/>
          <p:cNvSpPr/>
          <p:nvPr/>
        </p:nvSpPr>
        <p:spPr>
          <a:xfrm>
            <a:off x="6583680" y="3063240"/>
            <a:ext cx="2011680" cy="640080"/>
          </a:xfrm>
          <a:prstGeom prst="rect">
            <a:avLst/>
          </a:prstGeom>
          <a:noFill/>
          <a:ln/>
        </p:spPr>
        <p:txBody>
          <a:bodyPr wrap="square" rtlCol="0" anchor="ctr"/>
          <a:lstStyle/>
          <a:p>
            <a:pPr marL="0" indent="0" algn="ctr">
              <a:buNone/>
            </a:pPr>
            <a:r>
              <a:rPr lang="en-US" sz="1150" b="1" dirty="0">
                <a:solidFill>
                  <a:srgbClr val="EF4444"/>
                </a:solidFill>
                <a:latin typeface="Calibri" pitchFamily="34" charset="0"/>
                <a:ea typeface="Calibri" pitchFamily="34" charset="-122"/>
                <a:cs typeface="Calibri" pitchFamily="34" charset="-120"/>
              </a:rPr>
              <a:t>⚙️ Execution</a:t>
            </a:r>
            <a:endParaRPr lang="en-US" sz="1150" dirty="0"/>
          </a:p>
          <a:p>
            <a:pPr marL="0" indent="0" algn="ctr">
              <a:buNone/>
            </a:pPr>
            <a:r>
              <a:rPr lang="en-US" sz="1150" b="1" dirty="0">
                <a:solidFill>
                  <a:srgbClr val="EF4444"/>
                </a:solidFill>
                <a:latin typeface="Calibri" pitchFamily="34" charset="0"/>
                <a:ea typeface="Calibri" pitchFamily="34" charset="-122"/>
                <a:cs typeface="Calibri" pitchFamily="34" charset="-120"/>
              </a:rPr>
              <a:t>Agent</a:t>
            </a:r>
            <a:endParaRPr lang="en-US" sz="1150" dirty="0"/>
          </a:p>
        </p:txBody>
      </p:sp>
      <p:sp>
        <p:nvSpPr>
          <p:cNvPr id="18" name="Shape 16"/>
          <p:cNvSpPr/>
          <p:nvPr/>
        </p:nvSpPr>
        <p:spPr>
          <a:xfrm>
            <a:off x="5760720" y="2514600"/>
            <a:ext cx="822960" cy="0"/>
          </a:xfrm>
          <a:prstGeom prst="line">
            <a:avLst/>
          </a:prstGeom>
          <a:noFill/>
          <a:ln w="12700">
            <a:solidFill>
              <a:srgbClr val="EF4444"/>
            </a:solidFill>
            <a:prstDash val="sysDot"/>
          </a:ln>
        </p:spPr>
        <p:txBody>
          <a:bodyPr/>
          <a:lstStyle/>
          <a:p>
            <a:endParaRPr lang="en-IN"/>
          </a:p>
        </p:txBody>
      </p:sp>
      <p:sp>
        <p:nvSpPr>
          <p:cNvPr id="19" name="Shape 17"/>
          <p:cNvSpPr/>
          <p:nvPr/>
        </p:nvSpPr>
        <p:spPr>
          <a:xfrm>
            <a:off x="274320" y="4160520"/>
            <a:ext cx="8595360" cy="868680"/>
          </a:xfrm>
          <a:prstGeom prst="roundRect">
            <a:avLst>
              <a:gd name="adj" fmla="val 10526"/>
            </a:avLst>
          </a:prstGeom>
          <a:solidFill>
            <a:srgbClr val="1E293B"/>
          </a:solidFill>
          <a:ln w="12700">
            <a:solidFill>
              <a:srgbClr val="10B981"/>
            </a:solidFill>
            <a:prstDash val="solid"/>
          </a:ln>
        </p:spPr>
        <p:txBody>
          <a:bodyPr/>
          <a:lstStyle/>
          <a:p>
            <a:endParaRPr lang="en-IN"/>
          </a:p>
        </p:txBody>
      </p:sp>
      <p:sp>
        <p:nvSpPr>
          <p:cNvPr id="20" name="Text 18"/>
          <p:cNvSpPr/>
          <p:nvPr/>
        </p:nvSpPr>
        <p:spPr>
          <a:xfrm>
            <a:off x="457200" y="4233672"/>
            <a:ext cx="3657600" cy="310896"/>
          </a:xfrm>
          <a:prstGeom prst="rect">
            <a:avLst/>
          </a:prstGeom>
          <a:noFill/>
          <a:ln/>
        </p:spPr>
        <p:txBody>
          <a:bodyPr wrap="square" rtlCol="0" anchor="ctr"/>
          <a:lstStyle/>
          <a:p>
            <a:pPr marL="0" indent="0">
              <a:buNone/>
            </a:pPr>
            <a:r>
              <a:rPr lang="en-US" sz="1200" b="1" dirty="0">
                <a:solidFill>
                  <a:srgbClr val="10B981"/>
                </a:solidFill>
                <a:latin typeface="Calibri" pitchFamily="34" charset="0"/>
                <a:ea typeface="Calibri" pitchFamily="34" charset="-122"/>
                <a:cs typeface="Calibri" pitchFamily="34" charset="-120"/>
              </a:rPr>
              <a:t>Real-World Example: AI Research Assistant</a:t>
            </a:r>
            <a:endParaRPr lang="en-US" sz="1200" dirty="0"/>
          </a:p>
        </p:txBody>
      </p:sp>
      <p:sp>
        <p:nvSpPr>
          <p:cNvPr id="21" name="Text 19"/>
          <p:cNvSpPr/>
          <p:nvPr/>
        </p:nvSpPr>
        <p:spPr>
          <a:xfrm>
            <a:off x="457200" y="4544568"/>
            <a:ext cx="8229600" cy="420624"/>
          </a:xfrm>
          <a:prstGeom prst="rect">
            <a:avLst/>
          </a:prstGeom>
          <a:noFill/>
          <a:ln/>
        </p:spPr>
        <p:txBody>
          <a:bodyPr wrap="square" rtlCol="0" anchor="ctr"/>
          <a:lstStyle/>
          <a:p>
            <a:pPr marL="0" indent="0">
              <a:buNone/>
            </a:pPr>
            <a:r>
              <a:rPr lang="en-US" sz="950" dirty="0">
                <a:solidFill>
                  <a:srgbClr val="CBD5E1"/>
                </a:solidFill>
                <a:latin typeface="Calibri" pitchFamily="34" charset="0"/>
                <a:ea typeface="Calibri" pitchFamily="34" charset="-122"/>
                <a:cs typeface="Calibri" pitchFamily="34" charset="-120"/>
              </a:rPr>
              <a:t>User: Write a detailed report on EV market trends</a:t>
            </a:r>
            <a:endParaRPr lang="en-US" sz="950" dirty="0"/>
          </a:p>
          <a:p>
            <a:pPr marL="0" indent="0">
              <a:buNone/>
            </a:pPr>
            <a:r>
              <a:rPr lang="en-US" sz="950" dirty="0">
                <a:solidFill>
                  <a:srgbClr val="CBD5E1"/>
                </a:solidFill>
                <a:latin typeface="Calibri" pitchFamily="34" charset="0"/>
                <a:ea typeface="Calibri" pitchFamily="34" charset="-122"/>
                <a:cs typeface="Calibri" pitchFamily="34" charset="-120"/>
              </a:rPr>
              <a:t>→ Research Agent searches web → Writer Agent drafts → Planner Agent structures → Execution Agent emails final report</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59E0B"/>
          </a:solidFill>
          <a:ln w="12700">
            <a:solidFill>
              <a:srgbClr val="F59E0B"/>
            </a:solidFill>
            <a:prstDash val="solid"/>
          </a:ln>
        </p:spPr>
        <p:txBody>
          <a:bodyPr/>
          <a:lstStyle/>
          <a:p>
            <a:endParaRPr lang="en-IN"/>
          </a:p>
        </p:txBody>
      </p:sp>
      <p:sp>
        <p:nvSpPr>
          <p:cNvPr id="3" name="Text 1"/>
          <p:cNvSpPr/>
          <p:nvPr/>
        </p:nvSpPr>
        <p:spPr>
          <a:xfrm>
            <a:off x="365760" y="109728"/>
            <a:ext cx="8229600" cy="50292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Agentic AI — End-to-End Architecture</a:t>
            </a:r>
            <a:endParaRPr lang="en-US" sz="2600" dirty="0"/>
          </a:p>
        </p:txBody>
      </p:sp>
      <p:sp>
        <p:nvSpPr>
          <p:cNvPr id="4" name="Shape 2"/>
          <p:cNvSpPr/>
          <p:nvPr/>
        </p:nvSpPr>
        <p:spPr>
          <a:xfrm>
            <a:off x="1371600" y="713232"/>
            <a:ext cx="6400800" cy="530352"/>
          </a:xfrm>
          <a:prstGeom prst="roundRect">
            <a:avLst>
              <a:gd name="adj" fmla="val 13793"/>
            </a:avLst>
          </a:prstGeom>
          <a:solidFill>
            <a:srgbClr val="1E293B"/>
          </a:solidFill>
          <a:ln w="19050">
            <a:solidFill>
              <a:srgbClr val="06B6D4"/>
            </a:solidFill>
            <a:prstDash val="solid"/>
          </a:ln>
        </p:spPr>
        <p:txBody>
          <a:bodyPr/>
          <a:lstStyle/>
          <a:p>
            <a:endParaRPr lang="en-IN"/>
          </a:p>
        </p:txBody>
      </p:sp>
      <p:sp>
        <p:nvSpPr>
          <p:cNvPr id="5" name="Text 3"/>
          <p:cNvSpPr/>
          <p:nvPr/>
        </p:nvSpPr>
        <p:spPr>
          <a:xfrm>
            <a:off x="1508760" y="786384"/>
            <a:ext cx="3200400" cy="347472"/>
          </a:xfrm>
          <a:prstGeom prst="rect">
            <a:avLst/>
          </a:prstGeom>
          <a:noFill/>
          <a:ln/>
        </p:spPr>
        <p:txBody>
          <a:bodyPr wrap="square" rtlCol="0" anchor="ctr"/>
          <a:lstStyle/>
          <a:p>
            <a:pPr marL="0" indent="0">
              <a:buNone/>
            </a:pPr>
            <a:r>
              <a:rPr lang="en-US" sz="1200" b="1" dirty="0">
                <a:solidFill>
                  <a:srgbClr val="06B6D4"/>
                </a:solidFill>
                <a:latin typeface="Calibri" pitchFamily="34" charset="0"/>
                <a:ea typeface="Calibri" pitchFamily="34" charset="-122"/>
                <a:cs typeface="Calibri" pitchFamily="34" charset="-120"/>
              </a:rPr>
              <a:t>👤 USER</a:t>
            </a:r>
            <a:endParaRPr lang="en-US" sz="1200" dirty="0"/>
          </a:p>
        </p:txBody>
      </p:sp>
      <p:sp>
        <p:nvSpPr>
          <p:cNvPr id="6" name="Text 4"/>
          <p:cNvSpPr/>
          <p:nvPr/>
        </p:nvSpPr>
        <p:spPr>
          <a:xfrm>
            <a:off x="4754880" y="804672"/>
            <a:ext cx="2834640" cy="347472"/>
          </a:xfrm>
          <a:prstGeom prst="rect">
            <a:avLst/>
          </a:prstGeom>
          <a:noFill/>
          <a:ln/>
        </p:spPr>
        <p:txBody>
          <a:bodyPr wrap="square" rtlCol="0" anchor="ctr"/>
          <a:lstStyle/>
          <a:p>
            <a:pPr marL="0" indent="0" algn="r">
              <a:buNone/>
            </a:pPr>
            <a:r>
              <a:rPr lang="en-US" sz="1000" i="1" dirty="0">
                <a:solidFill>
                  <a:srgbClr val="94A3B8"/>
                </a:solidFill>
                <a:latin typeface="Calibri" pitchFamily="34" charset="0"/>
                <a:ea typeface="Calibri" pitchFamily="34" charset="-122"/>
                <a:cs typeface="Calibri" pitchFamily="34" charset="-120"/>
              </a:rPr>
              <a:t>Natural language request</a:t>
            </a:r>
            <a:endParaRPr lang="en-US" sz="1000" dirty="0"/>
          </a:p>
        </p:txBody>
      </p:sp>
      <p:sp>
        <p:nvSpPr>
          <p:cNvPr id="7" name="Shape 5"/>
          <p:cNvSpPr/>
          <p:nvPr/>
        </p:nvSpPr>
        <p:spPr>
          <a:xfrm>
            <a:off x="4572000" y="1243584"/>
            <a:ext cx="0" cy="109728"/>
          </a:xfrm>
          <a:prstGeom prst="line">
            <a:avLst/>
          </a:prstGeom>
          <a:noFill/>
          <a:ln w="19050">
            <a:solidFill>
              <a:srgbClr val="06B6D4"/>
            </a:solidFill>
            <a:prstDash val="solid"/>
          </a:ln>
        </p:spPr>
        <p:txBody>
          <a:bodyPr/>
          <a:lstStyle/>
          <a:p>
            <a:endParaRPr lang="en-IN"/>
          </a:p>
        </p:txBody>
      </p:sp>
      <p:sp>
        <p:nvSpPr>
          <p:cNvPr id="8" name="Shape 6"/>
          <p:cNvSpPr/>
          <p:nvPr/>
        </p:nvSpPr>
        <p:spPr>
          <a:xfrm>
            <a:off x="1371600" y="1325880"/>
            <a:ext cx="6400800" cy="530352"/>
          </a:xfrm>
          <a:prstGeom prst="roundRect">
            <a:avLst>
              <a:gd name="adj" fmla="val 13793"/>
            </a:avLst>
          </a:prstGeom>
          <a:solidFill>
            <a:srgbClr val="162030"/>
          </a:solidFill>
          <a:ln w="19050">
            <a:solidFill>
              <a:srgbClr val="8B5CF6"/>
            </a:solidFill>
            <a:prstDash val="solid"/>
          </a:ln>
        </p:spPr>
        <p:txBody>
          <a:bodyPr/>
          <a:lstStyle/>
          <a:p>
            <a:endParaRPr lang="en-IN"/>
          </a:p>
        </p:txBody>
      </p:sp>
      <p:sp>
        <p:nvSpPr>
          <p:cNvPr id="9" name="Text 7"/>
          <p:cNvSpPr/>
          <p:nvPr/>
        </p:nvSpPr>
        <p:spPr>
          <a:xfrm>
            <a:off x="1508760" y="1399032"/>
            <a:ext cx="3200400" cy="347472"/>
          </a:xfrm>
          <a:prstGeom prst="rect">
            <a:avLst/>
          </a:prstGeom>
          <a:noFill/>
          <a:ln/>
        </p:spPr>
        <p:txBody>
          <a:bodyPr wrap="square" rtlCol="0" anchor="ctr"/>
          <a:lstStyle/>
          <a:p>
            <a:pPr marL="0" indent="0">
              <a:buNone/>
            </a:pPr>
            <a:r>
              <a:rPr lang="en-US" sz="1200" b="1" dirty="0">
                <a:solidFill>
                  <a:srgbClr val="8B5CF6"/>
                </a:solidFill>
                <a:latin typeface="Calibri" pitchFamily="34" charset="0"/>
                <a:ea typeface="Calibri" pitchFamily="34" charset="-122"/>
                <a:cs typeface="Calibri" pitchFamily="34" charset="-120"/>
              </a:rPr>
              <a:t>🤖 AGENT CORE</a:t>
            </a:r>
            <a:endParaRPr lang="en-US" sz="1200" dirty="0"/>
          </a:p>
        </p:txBody>
      </p:sp>
      <p:sp>
        <p:nvSpPr>
          <p:cNvPr id="10" name="Text 8"/>
          <p:cNvSpPr/>
          <p:nvPr/>
        </p:nvSpPr>
        <p:spPr>
          <a:xfrm>
            <a:off x="4754880" y="1417320"/>
            <a:ext cx="2834640" cy="347472"/>
          </a:xfrm>
          <a:prstGeom prst="rect">
            <a:avLst/>
          </a:prstGeom>
          <a:noFill/>
          <a:ln/>
        </p:spPr>
        <p:txBody>
          <a:bodyPr wrap="square" rtlCol="0" anchor="ctr"/>
          <a:lstStyle/>
          <a:p>
            <a:pPr marL="0" indent="0" algn="r">
              <a:buNone/>
            </a:pPr>
            <a:r>
              <a:rPr lang="en-US" sz="1000" i="1" dirty="0">
                <a:solidFill>
                  <a:srgbClr val="94A3B8"/>
                </a:solidFill>
                <a:latin typeface="Calibri" pitchFamily="34" charset="0"/>
                <a:ea typeface="Calibri" pitchFamily="34" charset="-122"/>
                <a:cs typeface="Calibri" pitchFamily="34" charset="-120"/>
              </a:rPr>
              <a:t>Orchestration &amp; ReAct loop</a:t>
            </a:r>
            <a:endParaRPr lang="en-US" sz="1000" dirty="0"/>
          </a:p>
        </p:txBody>
      </p:sp>
      <p:sp>
        <p:nvSpPr>
          <p:cNvPr id="11" name="Shape 9"/>
          <p:cNvSpPr/>
          <p:nvPr/>
        </p:nvSpPr>
        <p:spPr>
          <a:xfrm>
            <a:off x="4572000" y="1856232"/>
            <a:ext cx="0" cy="109728"/>
          </a:xfrm>
          <a:prstGeom prst="line">
            <a:avLst/>
          </a:prstGeom>
          <a:noFill/>
          <a:ln w="19050">
            <a:solidFill>
              <a:srgbClr val="8B5CF6"/>
            </a:solidFill>
            <a:prstDash val="solid"/>
          </a:ln>
        </p:spPr>
        <p:txBody>
          <a:bodyPr/>
          <a:lstStyle/>
          <a:p>
            <a:endParaRPr lang="en-IN"/>
          </a:p>
        </p:txBody>
      </p:sp>
      <p:sp>
        <p:nvSpPr>
          <p:cNvPr id="12" name="Shape 10"/>
          <p:cNvSpPr/>
          <p:nvPr/>
        </p:nvSpPr>
        <p:spPr>
          <a:xfrm>
            <a:off x="1371600" y="1938528"/>
            <a:ext cx="6400800" cy="530352"/>
          </a:xfrm>
          <a:prstGeom prst="roundRect">
            <a:avLst>
              <a:gd name="adj" fmla="val 13793"/>
            </a:avLst>
          </a:prstGeom>
          <a:solidFill>
            <a:srgbClr val="1E293B"/>
          </a:solidFill>
          <a:ln w="19050">
            <a:solidFill>
              <a:srgbClr val="10B981"/>
            </a:solidFill>
            <a:prstDash val="solid"/>
          </a:ln>
        </p:spPr>
        <p:txBody>
          <a:bodyPr/>
          <a:lstStyle/>
          <a:p>
            <a:endParaRPr lang="en-IN"/>
          </a:p>
        </p:txBody>
      </p:sp>
      <p:sp>
        <p:nvSpPr>
          <p:cNvPr id="13" name="Text 11"/>
          <p:cNvSpPr/>
          <p:nvPr/>
        </p:nvSpPr>
        <p:spPr>
          <a:xfrm>
            <a:off x="1508760" y="2011680"/>
            <a:ext cx="3200400" cy="347472"/>
          </a:xfrm>
          <a:prstGeom prst="rect">
            <a:avLst/>
          </a:prstGeom>
          <a:noFill/>
          <a:ln/>
        </p:spPr>
        <p:txBody>
          <a:bodyPr wrap="square" rtlCol="0" anchor="ctr"/>
          <a:lstStyle/>
          <a:p>
            <a:pPr marL="0" indent="0">
              <a:buNone/>
            </a:pPr>
            <a:r>
              <a:rPr lang="en-US" sz="1200" b="1" dirty="0">
                <a:solidFill>
                  <a:srgbClr val="10B981"/>
                </a:solidFill>
                <a:latin typeface="Calibri" pitchFamily="34" charset="0"/>
                <a:ea typeface="Calibri" pitchFamily="34" charset="-122"/>
                <a:cs typeface="Calibri" pitchFamily="34" charset="-120"/>
              </a:rPr>
              <a:t>📋 PLANNER</a:t>
            </a:r>
            <a:endParaRPr lang="en-US" sz="1200" dirty="0"/>
          </a:p>
        </p:txBody>
      </p:sp>
      <p:sp>
        <p:nvSpPr>
          <p:cNvPr id="14" name="Text 12"/>
          <p:cNvSpPr/>
          <p:nvPr/>
        </p:nvSpPr>
        <p:spPr>
          <a:xfrm>
            <a:off x="4754880" y="2029968"/>
            <a:ext cx="2834640" cy="347472"/>
          </a:xfrm>
          <a:prstGeom prst="rect">
            <a:avLst/>
          </a:prstGeom>
          <a:noFill/>
          <a:ln/>
        </p:spPr>
        <p:txBody>
          <a:bodyPr wrap="square" rtlCol="0" anchor="ctr"/>
          <a:lstStyle/>
          <a:p>
            <a:pPr marL="0" indent="0" algn="r">
              <a:buNone/>
            </a:pPr>
            <a:r>
              <a:rPr lang="en-US" sz="1000" i="1" dirty="0">
                <a:solidFill>
                  <a:srgbClr val="94A3B8"/>
                </a:solidFill>
                <a:latin typeface="Calibri" pitchFamily="34" charset="0"/>
                <a:ea typeface="Calibri" pitchFamily="34" charset="-122"/>
                <a:cs typeface="Calibri" pitchFamily="34" charset="-120"/>
              </a:rPr>
              <a:t>Break into sub-tasks</a:t>
            </a:r>
            <a:endParaRPr lang="en-US" sz="1000" dirty="0"/>
          </a:p>
        </p:txBody>
      </p:sp>
      <p:sp>
        <p:nvSpPr>
          <p:cNvPr id="15" name="Shape 13"/>
          <p:cNvSpPr/>
          <p:nvPr/>
        </p:nvSpPr>
        <p:spPr>
          <a:xfrm>
            <a:off x="4572000" y="2468880"/>
            <a:ext cx="0" cy="109728"/>
          </a:xfrm>
          <a:prstGeom prst="line">
            <a:avLst/>
          </a:prstGeom>
          <a:noFill/>
          <a:ln w="19050">
            <a:solidFill>
              <a:srgbClr val="10B981"/>
            </a:solidFill>
            <a:prstDash val="solid"/>
          </a:ln>
        </p:spPr>
        <p:txBody>
          <a:bodyPr/>
          <a:lstStyle/>
          <a:p>
            <a:endParaRPr lang="en-IN"/>
          </a:p>
        </p:txBody>
      </p:sp>
      <p:sp>
        <p:nvSpPr>
          <p:cNvPr id="16" name="Shape 14"/>
          <p:cNvSpPr/>
          <p:nvPr/>
        </p:nvSpPr>
        <p:spPr>
          <a:xfrm>
            <a:off x="1371600" y="2551176"/>
            <a:ext cx="6400800" cy="530352"/>
          </a:xfrm>
          <a:prstGeom prst="roundRect">
            <a:avLst>
              <a:gd name="adj" fmla="val 13793"/>
            </a:avLst>
          </a:prstGeom>
          <a:solidFill>
            <a:srgbClr val="162030"/>
          </a:solidFill>
          <a:ln w="19050">
            <a:solidFill>
              <a:srgbClr val="F59E0B"/>
            </a:solidFill>
            <a:prstDash val="solid"/>
          </a:ln>
        </p:spPr>
        <p:txBody>
          <a:bodyPr/>
          <a:lstStyle/>
          <a:p>
            <a:endParaRPr lang="en-IN"/>
          </a:p>
        </p:txBody>
      </p:sp>
      <p:sp>
        <p:nvSpPr>
          <p:cNvPr id="17" name="Text 15"/>
          <p:cNvSpPr/>
          <p:nvPr/>
        </p:nvSpPr>
        <p:spPr>
          <a:xfrm>
            <a:off x="1508760" y="2624328"/>
            <a:ext cx="3200400" cy="347472"/>
          </a:xfrm>
          <a:prstGeom prst="rect">
            <a:avLst/>
          </a:prstGeom>
          <a:noFill/>
          <a:ln/>
        </p:spPr>
        <p:txBody>
          <a:bodyPr wrap="square" rtlCol="0" anchor="ctr"/>
          <a:lstStyle/>
          <a:p>
            <a:pPr marL="0" indent="0">
              <a:buNone/>
            </a:pPr>
            <a:r>
              <a:rPr lang="en-US" sz="1200" b="1" dirty="0">
                <a:solidFill>
                  <a:srgbClr val="F59E0B"/>
                </a:solidFill>
                <a:latin typeface="Calibri" pitchFamily="34" charset="0"/>
                <a:ea typeface="Calibri" pitchFamily="34" charset="-122"/>
                <a:cs typeface="Calibri" pitchFamily="34" charset="-120"/>
              </a:rPr>
              <a:t>🛠 TOOLS &amp; MCP</a:t>
            </a:r>
            <a:endParaRPr lang="en-US" sz="1200" dirty="0"/>
          </a:p>
        </p:txBody>
      </p:sp>
      <p:sp>
        <p:nvSpPr>
          <p:cNvPr id="18" name="Text 16"/>
          <p:cNvSpPr/>
          <p:nvPr/>
        </p:nvSpPr>
        <p:spPr>
          <a:xfrm>
            <a:off x="4754880" y="2642616"/>
            <a:ext cx="2834640" cy="347472"/>
          </a:xfrm>
          <a:prstGeom prst="rect">
            <a:avLst/>
          </a:prstGeom>
          <a:noFill/>
          <a:ln/>
        </p:spPr>
        <p:txBody>
          <a:bodyPr wrap="square" rtlCol="0" anchor="ctr"/>
          <a:lstStyle/>
          <a:p>
            <a:pPr marL="0" indent="0" algn="r">
              <a:buNone/>
            </a:pPr>
            <a:r>
              <a:rPr lang="en-US" sz="1000" i="1" dirty="0">
                <a:solidFill>
                  <a:srgbClr val="94A3B8"/>
                </a:solidFill>
                <a:latin typeface="Calibri" pitchFamily="34" charset="0"/>
                <a:ea typeface="Calibri" pitchFamily="34" charset="-122"/>
                <a:cs typeface="Calibri" pitchFamily="34" charset="-120"/>
              </a:rPr>
              <a:t>APIs, Search, Code, DB</a:t>
            </a:r>
            <a:endParaRPr lang="en-US" sz="1000" dirty="0"/>
          </a:p>
        </p:txBody>
      </p:sp>
      <p:sp>
        <p:nvSpPr>
          <p:cNvPr id="19" name="Shape 17"/>
          <p:cNvSpPr/>
          <p:nvPr/>
        </p:nvSpPr>
        <p:spPr>
          <a:xfrm>
            <a:off x="4572000" y="3081528"/>
            <a:ext cx="0" cy="109728"/>
          </a:xfrm>
          <a:prstGeom prst="line">
            <a:avLst/>
          </a:prstGeom>
          <a:noFill/>
          <a:ln w="19050">
            <a:solidFill>
              <a:srgbClr val="F59E0B"/>
            </a:solidFill>
            <a:prstDash val="solid"/>
          </a:ln>
        </p:spPr>
        <p:txBody>
          <a:bodyPr/>
          <a:lstStyle/>
          <a:p>
            <a:endParaRPr lang="en-IN"/>
          </a:p>
        </p:txBody>
      </p:sp>
      <p:sp>
        <p:nvSpPr>
          <p:cNvPr id="20" name="Shape 18"/>
          <p:cNvSpPr/>
          <p:nvPr/>
        </p:nvSpPr>
        <p:spPr>
          <a:xfrm>
            <a:off x="1371600" y="3163824"/>
            <a:ext cx="6400800" cy="530352"/>
          </a:xfrm>
          <a:prstGeom prst="roundRect">
            <a:avLst>
              <a:gd name="adj" fmla="val 13793"/>
            </a:avLst>
          </a:prstGeom>
          <a:solidFill>
            <a:srgbClr val="1E293B"/>
          </a:solidFill>
          <a:ln w="19050">
            <a:solidFill>
              <a:srgbClr val="EF4444"/>
            </a:solidFill>
            <a:prstDash val="solid"/>
          </a:ln>
        </p:spPr>
        <p:txBody>
          <a:bodyPr/>
          <a:lstStyle/>
          <a:p>
            <a:endParaRPr lang="en-IN"/>
          </a:p>
        </p:txBody>
      </p:sp>
      <p:sp>
        <p:nvSpPr>
          <p:cNvPr id="21" name="Text 19"/>
          <p:cNvSpPr/>
          <p:nvPr/>
        </p:nvSpPr>
        <p:spPr>
          <a:xfrm>
            <a:off x="1508760" y="3236976"/>
            <a:ext cx="3200400" cy="347472"/>
          </a:xfrm>
          <a:prstGeom prst="rect">
            <a:avLst/>
          </a:prstGeom>
          <a:noFill/>
          <a:ln/>
        </p:spPr>
        <p:txBody>
          <a:bodyPr wrap="square" rtlCol="0" anchor="ctr"/>
          <a:lstStyle/>
          <a:p>
            <a:pPr marL="0" indent="0">
              <a:buNone/>
            </a:pPr>
            <a:r>
              <a:rPr lang="en-US" sz="1200" b="1" dirty="0">
                <a:solidFill>
                  <a:srgbClr val="EF4444"/>
                </a:solidFill>
                <a:latin typeface="Calibri" pitchFamily="34" charset="0"/>
                <a:ea typeface="Calibri" pitchFamily="34" charset="-122"/>
                <a:cs typeface="Calibri" pitchFamily="34" charset="-120"/>
              </a:rPr>
              <a:t>🧠 MEMORY</a:t>
            </a:r>
            <a:endParaRPr lang="en-US" sz="1200" dirty="0"/>
          </a:p>
        </p:txBody>
      </p:sp>
      <p:sp>
        <p:nvSpPr>
          <p:cNvPr id="22" name="Text 20"/>
          <p:cNvSpPr/>
          <p:nvPr/>
        </p:nvSpPr>
        <p:spPr>
          <a:xfrm>
            <a:off x="4754880" y="3255264"/>
            <a:ext cx="2834640" cy="347472"/>
          </a:xfrm>
          <a:prstGeom prst="rect">
            <a:avLst/>
          </a:prstGeom>
          <a:noFill/>
          <a:ln/>
        </p:spPr>
        <p:txBody>
          <a:bodyPr wrap="square" rtlCol="0" anchor="ctr"/>
          <a:lstStyle/>
          <a:p>
            <a:pPr marL="0" indent="0" algn="r">
              <a:buNone/>
            </a:pPr>
            <a:r>
              <a:rPr lang="en-US" sz="1000" i="1" dirty="0">
                <a:solidFill>
                  <a:srgbClr val="94A3B8"/>
                </a:solidFill>
                <a:latin typeface="Calibri" pitchFamily="34" charset="0"/>
                <a:ea typeface="Calibri" pitchFamily="34" charset="-122"/>
                <a:cs typeface="Calibri" pitchFamily="34" charset="-120"/>
              </a:rPr>
              <a:t>Short-term + Long-term + Vector</a:t>
            </a:r>
            <a:endParaRPr lang="en-US" sz="1000" dirty="0"/>
          </a:p>
        </p:txBody>
      </p:sp>
      <p:sp>
        <p:nvSpPr>
          <p:cNvPr id="23" name="Shape 21"/>
          <p:cNvSpPr/>
          <p:nvPr/>
        </p:nvSpPr>
        <p:spPr>
          <a:xfrm>
            <a:off x="4572000" y="3694176"/>
            <a:ext cx="0" cy="109728"/>
          </a:xfrm>
          <a:prstGeom prst="line">
            <a:avLst/>
          </a:prstGeom>
          <a:noFill/>
          <a:ln w="19050">
            <a:solidFill>
              <a:srgbClr val="EF4444"/>
            </a:solidFill>
            <a:prstDash val="solid"/>
          </a:ln>
        </p:spPr>
        <p:txBody>
          <a:bodyPr/>
          <a:lstStyle/>
          <a:p>
            <a:endParaRPr lang="en-IN"/>
          </a:p>
        </p:txBody>
      </p:sp>
      <p:sp>
        <p:nvSpPr>
          <p:cNvPr id="24" name="Shape 22"/>
          <p:cNvSpPr/>
          <p:nvPr/>
        </p:nvSpPr>
        <p:spPr>
          <a:xfrm>
            <a:off x="1371600" y="3776472"/>
            <a:ext cx="6400800" cy="530352"/>
          </a:xfrm>
          <a:prstGeom prst="roundRect">
            <a:avLst>
              <a:gd name="adj" fmla="val 13793"/>
            </a:avLst>
          </a:prstGeom>
          <a:solidFill>
            <a:srgbClr val="162030"/>
          </a:solidFill>
          <a:ln w="19050">
            <a:solidFill>
              <a:srgbClr val="10B981"/>
            </a:solidFill>
            <a:prstDash val="solid"/>
          </a:ln>
        </p:spPr>
        <p:txBody>
          <a:bodyPr/>
          <a:lstStyle/>
          <a:p>
            <a:endParaRPr lang="en-IN"/>
          </a:p>
        </p:txBody>
      </p:sp>
      <p:sp>
        <p:nvSpPr>
          <p:cNvPr id="25" name="Text 23"/>
          <p:cNvSpPr/>
          <p:nvPr/>
        </p:nvSpPr>
        <p:spPr>
          <a:xfrm>
            <a:off x="1508760" y="3849624"/>
            <a:ext cx="3200400" cy="347472"/>
          </a:xfrm>
          <a:prstGeom prst="rect">
            <a:avLst/>
          </a:prstGeom>
          <a:noFill/>
          <a:ln/>
        </p:spPr>
        <p:txBody>
          <a:bodyPr wrap="square" rtlCol="0" anchor="ctr"/>
          <a:lstStyle/>
          <a:p>
            <a:pPr marL="0" indent="0">
              <a:buNone/>
            </a:pPr>
            <a:r>
              <a:rPr lang="en-US" sz="1200" b="1" dirty="0">
                <a:solidFill>
                  <a:srgbClr val="10B981"/>
                </a:solidFill>
                <a:latin typeface="Calibri" pitchFamily="34" charset="0"/>
                <a:ea typeface="Calibri" pitchFamily="34" charset="-122"/>
                <a:cs typeface="Calibri" pitchFamily="34" charset="-120"/>
              </a:rPr>
              <a:t>📚 RAG + VECTOR DB</a:t>
            </a:r>
            <a:endParaRPr lang="en-US" sz="1200" dirty="0"/>
          </a:p>
        </p:txBody>
      </p:sp>
      <p:sp>
        <p:nvSpPr>
          <p:cNvPr id="26" name="Text 24"/>
          <p:cNvSpPr/>
          <p:nvPr/>
        </p:nvSpPr>
        <p:spPr>
          <a:xfrm>
            <a:off x="4754880" y="3867912"/>
            <a:ext cx="2834640" cy="347472"/>
          </a:xfrm>
          <a:prstGeom prst="rect">
            <a:avLst/>
          </a:prstGeom>
          <a:noFill/>
          <a:ln/>
        </p:spPr>
        <p:txBody>
          <a:bodyPr wrap="square" rtlCol="0" anchor="ctr"/>
          <a:lstStyle/>
          <a:p>
            <a:pPr marL="0" indent="0" algn="r">
              <a:buNone/>
            </a:pPr>
            <a:r>
              <a:rPr lang="en-US" sz="1000" i="1" dirty="0">
                <a:solidFill>
                  <a:srgbClr val="94A3B8"/>
                </a:solidFill>
                <a:latin typeface="Calibri" pitchFamily="34" charset="0"/>
                <a:ea typeface="Calibri" pitchFamily="34" charset="-122"/>
                <a:cs typeface="Calibri" pitchFamily="34" charset="-120"/>
              </a:rPr>
              <a:t>ChromaDB / FAISS / Pinecone</a:t>
            </a:r>
            <a:endParaRPr lang="en-US" sz="1000" dirty="0"/>
          </a:p>
        </p:txBody>
      </p:sp>
      <p:sp>
        <p:nvSpPr>
          <p:cNvPr id="27" name="Shape 25"/>
          <p:cNvSpPr/>
          <p:nvPr/>
        </p:nvSpPr>
        <p:spPr>
          <a:xfrm>
            <a:off x="4572000" y="4306824"/>
            <a:ext cx="0" cy="109728"/>
          </a:xfrm>
          <a:prstGeom prst="line">
            <a:avLst/>
          </a:prstGeom>
          <a:noFill/>
          <a:ln w="19050">
            <a:solidFill>
              <a:srgbClr val="10B981"/>
            </a:solidFill>
            <a:prstDash val="solid"/>
          </a:ln>
        </p:spPr>
        <p:txBody>
          <a:bodyPr/>
          <a:lstStyle/>
          <a:p>
            <a:endParaRPr lang="en-IN"/>
          </a:p>
        </p:txBody>
      </p:sp>
      <p:sp>
        <p:nvSpPr>
          <p:cNvPr id="28" name="Shape 26"/>
          <p:cNvSpPr/>
          <p:nvPr/>
        </p:nvSpPr>
        <p:spPr>
          <a:xfrm>
            <a:off x="1371600" y="4389120"/>
            <a:ext cx="6400800" cy="530352"/>
          </a:xfrm>
          <a:prstGeom prst="roundRect">
            <a:avLst>
              <a:gd name="adj" fmla="val 13793"/>
            </a:avLst>
          </a:prstGeom>
          <a:solidFill>
            <a:srgbClr val="1E293B"/>
          </a:solidFill>
          <a:ln w="19050">
            <a:solidFill>
              <a:srgbClr val="8B5CF6"/>
            </a:solidFill>
            <a:prstDash val="solid"/>
          </a:ln>
        </p:spPr>
        <p:txBody>
          <a:bodyPr/>
          <a:lstStyle/>
          <a:p>
            <a:endParaRPr lang="en-IN"/>
          </a:p>
        </p:txBody>
      </p:sp>
      <p:sp>
        <p:nvSpPr>
          <p:cNvPr id="29" name="Text 27"/>
          <p:cNvSpPr/>
          <p:nvPr/>
        </p:nvSpPr>
        <p:spPr>
          <a:xfrm>
            <a:off x="1508760" y="4462272"/>
            <a:ext cx="3200400" cy="347472"/>
          </a:xfrm>
          <a:prstGeom prst="rect">
            <a:avLst/>
          </a:prstGeom>
          <a:noFill/>
          <a:ln/>
        </p:spPr>
        <p:txBody>
          <a:bodyPr wrap="square" rtlCol="0" anchor="ctr"/>
          <a:lstStyle/>
          <a:p>
            <a:pPr marL="0" indent="0">
              <a:buNone/>
            </a:pPr>
            <a:r>
              <a:rPr lang="en-US" sz="1200" b="1" dirty="0">
                <a:solidFill>
                  <a:srgbClr val="8B5CF6"/>
                </a:solidFill>
                <a:latin typeface="Calibri" pitchFamily="34" charset="0"/>
                <a:ea typeface="Calibri" pitchFamily="34" charset="-122"/>
                <a:cs typeface="Calibri" pitchFamily="34" charset="-120"/>
              </a:rPr>
              <a:t>⚡ LLM (GPT/Claude/Llama)</a:t>
            </a:r>
            <a:endParaRPr lang="en-US" sz="1200" dirty="0"/>
          </a:p>
        </p:txBody>
      </p:sp>
      <p:sp>
        <p:nvSpPr>
          <p:cNvPr id="30" name="Text 28"/>
          <p:cNvSpPr/>
          <p:nvPr/>
        </p:nvSpPr>
        <p:spPr>
          <a:xfrm>
            <a:off x="4754880" y="4480560"/>
            <a:ext cx="2834640" cy="347472"/>
          </a:xfrm>
          <a:prstGeom prst="rect">
            <a:avLst/>
          </a:prstGeom>
          <a:noFill/>
          <a:ln/>
        </p:spPr>
        <p:txBody>
          <a:bodyPr wrap="square" rtlCol="0" anchor="ctr"/>
          <a:lstStyle/>
          <a:p>
            <a:pPr marL="0" indent="0" algn="r">
              <a:buNone/>
            </a:pPr>
            <a:r>
              <a:rPr lang="en-US" sz="1000" i="1" dirty="0">
                <a:solidFill>
                  <a:srgbClr val="94A3B8"/>
                </a:solidFill>
                <a:latin typeface="Calibri" pitchFamily="34" charset="0"/>
                <a:ea typeface="Calibri" pitchFamily="34" charset="-122"/>
                <a:cs typeface="Calibri" pitchFamily="34" charset="-120"/>
              </a:rPr>
              <a:t>Core reasoning engine</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59E0B"/>
          </a:solidFill>
          <a:ln w="12700">
            <a:solidFill>
              <a:srgbClr val="F59E0B"/>
            </a:solidFill>
            <a:prstDash val="solid"/>
          </a:ln>
        </p:spPr>
        <p:txBody>
          <a:bodyPr/>
          <a:lstStyle/>
          <a:p>
            <a:endParaRPr lang="en-IN"/>
          </a:p>
        </p:txBody>
      </p:sp>
      <p:sp>
        <p:nvSpPr>
          <p:cNvPr id="3" name="Text 1"/>
          <p:cNvSpPr/>
          <p:nvPr/>
        </p:nvSpPr>
        <p:spPr>
          <a:xfrm>
            <a:off x="365760" y="109728"/>
            <a:ext cx="8229600" cy="50292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Agentic AI on AWS</a:t>
            </a:r>
            <a:endParaRPr lang="en-US" sz="2800" dirty="0"/>
          </a:p>
        </p:txBody>
      </p:sp>
      <p:sp>
        <p:nvSpPr>
          <p:cNvPr id="4" name="Text 2"/>
          <p:cNvSpPr/>
          <p:nvPr/>
        </p:nvSpPr>
        <p:spPr>
          <a:xfrm>
            <a:off x="365760" y="594360"/>
            <a:ext cx="8229600" cy="256032"/>
          </a:xfrm>
          <a:prstGeom prst="rect">
            <a:avLst/>
          </a:prstGeom>
          <a:noFill/>
          <a:ln/>
        </p:spPr>
        <p:txBody>
          <a:bodyPr wrap="square" rtlCol="0" anchor="ctr"/>
          <a:lstStyle/>
          <a:p>
            <a:pPr marL="0" indent="0">
              <a:buNone/>
            </a:pPr>
            <a:r>
              <a:rPr lang="en-US" sz="1200" i="1" dirty="0">
                <a:solidFill>
                  <a:srgbClr val="F59E0B"/>
                </a:solidFill>
                <a:latin typeface="Calibri" pitchFamily="34" charset="0"/>
                <a:ea typeface="Calibri" pitchFamily="34" charset="-122"/>
                <a:cs typeface="Calibri" pitchFamily="34" charset="-120"/>
              </a:rPr>
              <a:t>Amazon Bedrock — Fully managed foundation models &amp; agent infrastructure</a:t>
            </a:r>
            <a:endParaRPr lang="en-US" sz="1200" dirty="0"/>
          </a:p>
        </p:txBody>
      </p:sp>
      <p:sp>
        <p:nvSpPr>
          <p:cNvPr id="5" name="Shape 3"/>
          <p:cNvSpPr/>
          <p:nvPr/>
        </p:nvSpPr>
        <p:spPr>
          <a:xfrm>
            <a:off x="274320" y="960120"/>
            <a:ext cx="2743200" cy="1170432"/>
          </a:xfrm>
          <a:prstGeom prst="roundRect">
            <a:avLst>
              <a:gd name="adj" fmla="val 7813"/>
            </a:avLst>
          </a:prstGeom>
          <a:solidFill>
            <a:srgbClr val="1E293B"/>
          </a:solidFill>
          <a:ln w="12700">
            <a:solidFill>
              <a:srgbClr val="F59E0B"/>
            </a:solidFill>
            <a:prstDash val="solid"/>
          </a:ln>
        </p:spPr>
        <p:txBody>
          <a:bodyPr/>
          <a:lstStyle/>
          <a:p>
            <a:endParaRPr lang="en-IN"/>
          </a:p>
        </p:txBody>
      </p:sp>
      <p:sp>
        <p:nvSpPr>
          <p:cNvPr id="6" name="Text 4"/>
          <p:cNvSpPr/>
          <p:nvPr/>
        </p:nvSpPr>
        <p:spPr>
          <a:xfrm>
            <a:off x="384048" y="1051560"/>
            <a:ext cx="2542032" cy="365760"/>
          </a:xfrm>
          <a:prstGeom prst="rect">
            <a:avLst/>
          </a:prstGeom>
          <a:noFill/>
          <a:ln/>
        </p:spPr>
        <p:txBody>
          <a:bodyPr wrap="square" rtlCol="0" anchor="ctr"/>
          <a:lstStyle/>
          <a:p>
            <a:pPr marL="0" indent="0">
              <a:buNone/>
            </a:pPr>
            <a:r>
              <a:rPr lang="en-US" sz="1150" b="1" dirty="0">
                <a:solidFill>
                  <a:srgbClr val="F59E0B"/>
                </a:solidFill>
                <a:latin typeface="Calibri" pitchFamily="34" charset="0"/>
                <a:ea typeface="Calibri" pitchFamily="34" charset="-122"/>
                <a:cs typeface="Calibri" pitchFamily="34" charset="-120"/>
              </a:rPr>
              <a:t>⚡ Amazon Bedrock</a:t>
            </a:r>
            <a:endParaRPr lang="en-US" sz="1150" dirty="0"/>
          </a:p>
        </p:txBody>
      </p:sp>
      <p:sp>
        <p:nvSpPr>
          <p:cNvPr id="7" name="Text 5"/>
          <p:cNvSpPr/>
          <p:nvPr/>
        </p:nvSpPr>
        <p:spPr>
          <a:xfrm>
            <a:off x="384048" y="1463040"/>
            <a:ext cx="2542032" cy="566928"/>
          </a:xfrm>
          <a:prstGeom prst="rect">
            <a:avLst/>
          </a:prstGeom>
          <a:noFill/>
          <a:ln/>
        </p:spPr>
        <p:txBody>
          <a:bodyPr wrap="square" rtlCol="0" anchor="ctr"/>
          <a:lstStyle/>
          <a:p>
            <a:pPr marL="0" indent="0">
              <a:buNone/>
            </a:pPr>
            <a:r>
              <a:rPr lang="en-US" sz="950" dirty="0">
                <a:solidFill>
                  <a:srgbClr val="CBD5E1"/>
                </a:solidFill>
                <a:latin typeface="Calibri" pitchFamily="34" charset="0"/>
                <a:ea typeface="Calibri" pitchFamily="34" charset="-122"/>
                <a:cs typeface="Calibri" pitchFamily="34" charset="-120"/>
              </a:rPr>
              <a:t>Foundation Models (Claude, Llama, Titan)</a:t>
            </a:r>
            <a:endParaRPr lang="en-US" sz="950" dirty="0"/>
          </a:p>
        </p:txBody>
      </p:sp>
      <p:sp>
        <p:nvSpPr>
          <p:cNvPr id="8" name="Shape 6"/>
          <p:cNvSpPr/>
          <p:nvPr/>
        </p:nvSpPr>
        <p:spPr>
          <a:xfrm>
            <a:off x="3182112" y="960120"/>
            <a:ext cx="2743200" cy="1170432"/>
          </a:xfrm>
          <a:prstGeom prst="roundRect">
            <a:avLst>
              <a:gd name="adj" fmla="val 7813"/>
            </a:avLst>
          </a:prstGeom>
          <a:solidFill>
            <a:srgbClr val="1E293B"/>
          </a:solidFill>
          <a:ln w="12700">
            <a:solidFill>
              <a:srgbClr val="06B6D4"/>
            </a:solidFill>
            <a:prstDash val="solid"/>
          </a:ln>
        </p:spPr>
        <p:txBody>
          <a:bodyPr/>
          <a:lstStyle/>
          <a:p>
            <a:endParaRPr lang="en-IN"/>
          </a:p>
        </p:txBody>
      </p:sp>
      <p:sp>
        <p:nvSpPr>
          <p:cNvPr id="9" name="Text 7"/>
          <p:cNvSpPr/>
          <p:nvPr/>
        </p:nvSpPr>
        <p:spPr>
          <a:xfrm>
            <a:off x="3291840" y="1051560"/>
            <a:ext cx="2542032" cy="365760"/>
          </a:xfrm>
          <a:prstGeom prst="rect">
            <a:avLst/>
          </a:prstGeom>
          <a:noFill/>
          <a:ln/>
        </p:spPr>
        <p:txBody>
          <a:bodyPr wrap="square" rtlCol="0" anchor="ctr"/>
          <a:lstStyle/>
          <a:p>
            <a:pPr marL="0" indent="0">
              <a:buNone/>
            </a:pPr>
            <a:r>
              <a:rPr lang="en-US" sz="1150" b="1" dirty="0">
                <a:solidFill>
                  <a:srgbClr val="06B6D4"/>
                </a:solidFill>
                <a:latin typeface="Calibri" pitchFamily="34" charset="0"/>
                <a:ea typeface="Calibri" pitchFamily="34" charset="-122"/>
                <a:cs typeface="Calibri" pitchFamily="34" charset="-120"/>
              </a:rPr>
              <a:t>🤖 Bedrock Agents</a:t>
            </a:r>
            <a:endParaRPr lang="en-US" sz="1150" dirty="0"/>
          </a:p>
        </p:txBody>
      </p:sp>
      <p:sp>
        <p:nvSpPr>
          <p:cNvPr id="10" name="Text 8"/>
          <p:cNvSpPr/>
          <p:nvPr/>
        </p:nvSpPr>
        <p:spPr>
          <a:xfrm>
            <a:off x="3291840" y="1463040"/>
            <a:ext cx="2542032" cy="566928"/>
          </a:xfrm>
          <a:prstGeom prst="rect">
            <a:avLst/>
          </a:prstGeom>
          <a:noFill/>
          <a:ln/>
        </p:spPr>
        <p:txBody>
          <a:bodyPr wrap="square" rtlCol="0" anchor="ctr"/>
          <a:lstStyle/>
          <a:p>
            <a:pPr marL="0" indent="0">
              <a:buNone/>
            </a:pPr>
            <a:r>
              <a:rPr lang="en-US" sz="950" dirty="0">
                <a:solidFill>
                  <a:srgbClr val="CBD5E1"/>
                </a:solidFill>
                <a:latin typeface="Calibri" pitchFamily="34" charset="0"/>
                <a:ea typeface="Calibri" pitchFamily="34" charset="-122"/>
                <a:cs typeface="Calibri" pitchFamily="34" charset="-120"/>
              </a:rPr>
              <a:t>Fully managed ReAct agents + tool use</a:t>
            </a:r>
            <a:endParaRPr lang="en-US" sz="950" dirty="0"/>
          </a:p>
        </p:txBody>
      </p:sp>
      <p:sp>
        <p:nvSpPr>
          <p:cNvPr id="11" name="Shape 9"/>
          <p:cNvSpPr/>
          <p:nvPr/>
        </p:nvSpPr>
        <p:spPr>
          <a:xfrm>
            <a:off x="6089904" y="960120"/>
            <a:ext cx="2743200" cy="1170432"/>
          </a:xfrm>
          <a:prstGeom prst="roundRect">
            <a:avLst>
              <a:gd name="adj" fmla="val 7813"/>
            </a:avLst>
          </a:prstGeom>
          <a:solidFill>
            <a:srgbClr val="1E293B"/>
          </a:solidFill>
          <a:ln w="12700">
            <a:solidFill>
              <a:srgbClr val="10B981"/>
            </a:solidFill>
            <a:prstDash val="solid"/>
          </a:ln>
        </p:spPr>
        <p:txBody>
          <a:bodyPr/>
          <a:lstStyle/>
          <a:p>
            <a:endParaRPr lang="en-IN"/>
          </a:p>
        </p:txBody>
      </p:sp>
      <p:sp>
        <p:nvSpPr>
          <p:cNvPr id="12" name="Text 10"/>
          <p:cNvSpPr/>
          <p:nvPr/>
        </p:nvSpPr>
        <p:spPr>
          <a:xfrm>
            <a:off x="6199632" y="1051560"/>
            <a:ext cx="2542032" cy="365760"/>
          </a:xfrm>
          <a:prstGeom prst="rect">
            <a:avLst/>
          </a:prstGeom>
          <a:noFill/>
          <a:ln/>
        </p:spPr>
        <p:txBody>
          <a:bodyPr wrap="square" rtlCol="0" anchor="ctr"/>
          <a:lstStyle/>
          <a:p>
            <a:pPr marL="0" indent="0">
              <a:buNone/>
            </a:pPr>
            <a:r>
              <a:rPr lang="en-US" sz="1150" b="1" dirty="0">
                <a:solidFill>
                  <a:srgbClr val="10B981"/>
                </a:solidFill>
                <a:latin typeface="Calibri" pitchFamily="34" charset="0"/>
                <a:ea typeface="Calibri" pitchFamily="34" charset="-122"/>
                <a:cs typeface="Calibri" pitchFamily="34" charset="-120"/>
              </a:rPr>
              <a:t>🔢 Titan Embeddings</a:t>
            </a:r>
            <a:endParaRPr lang="en-US" sz="1150" dirty="0"/>
          </a:p>
        </p:txBody>
      </p:sp>
      <p:sp>
        <p:nvSpPr>
          <p:cNvPr id="13" name="Text 11"/>
          <p:cNvSpPr/>
          <p:nvPr/>
        </p:nvSpPr>
        <p:spPr>
          <a:xfrm>
            <a:off x="6199632" y="1463040"/>
            <a:ext cx="2542032" cy="566928"/>
          </a:xfrm>
          <a:prstGeom prst="rect">
            <a:avLst/>
          </a:prstGeom>
          <a:noFill/>
          <a:ln/>
        </p:spPr>
        <p:txBody>
          <a:bodyPr wrap="square" rtlCol="0" anchor="ctr"/>
          <a:lstStyle/>
          <a:p>
            <a:pPr marL="0" indent="0">
              <a:buNone/>
            </a:pPr>
            <a:r>
              <a:rPr lang="en-US" sz="950" dirty="0">
                <a:solidFill>
                  <a:srgbClr val="CBD5E1"/>
                </a:solidFill>
                <a:latin typeface="Calibri" pitchFamily="34" charset="0"/>
                <a:ea typeface="Calibri" pitchFamily="34" charset="-122"/>
                <a:cs typeface="Calibri" pitchFamily="34" charset="-120"/>
              </a:rPr>
              <a:t>AWS embeddings for RAG workloads</a:t>
            </a:r>
            <a:endParaRPr lang="en-US" sz="950" dirty="0"/>
          </a:p>
        </p:txBody>
      </p:sp>
      <p:sp>
        <p:nvSpPr>
          <p:cNvPr id="14" name="Shape 12"/>
          <p:cNvSpPr/>
          <p:nvPr/>
        </p:nvSpPr>
        <p:spPr>
          <a:xfrm>
            <a:off x="274320" y="2258568"/>
            <a:ext cx="2743200" cy="1170432"/>
          </a:xfrm>
          <a:prstGeom prst="roundRect">
            <a:avLst>
              <a:gd name="adj" fmla="val 7813"/>
            </a:avLst>
          </a:prstGeom>
          <a:solidFill>
            <a:srgbClr val="1E293B"/>
          </a:solidFill>
          <a:ln w="12700">
            <a:solidFill>
              <a:srgbClr val="8B5CF6"/>
            </a:solidFill>
            <a:prstDash val="solid"/>
          </a:ln>
        </p:spPr>
        <p:txBody>
          <a:bodyPr/>
          <a:lstStyle/>
          <a:p>
            <a:endParaRPr lang="en-IN"/>
          </a:p>
        </p:txBody>
      </p:sp>
      <p:sp>
        <p:nvSpPr>
          <p:cNvPr id="15" name="Text 13"/>
          <p:cNvSpPr/>
          <p:nvPr/>
        </p:nvSpPr>
        <p:spPr>
          <a:xfrm>
            <a:off x="384048" y="2350008"/>
            <a:ext cx="2542032" cy="365760"/>
          </a:xfrm>
          <a:prstGeom prst="rect">
            <a:avLst/>
          </a:prstGeom>
          <a:noFill/>
          <a:ln/>
        </p:spPr>
        <p:txBody>
          <a:bodyPr wrap="square" rtlCol="0" anchor="ctr"/>
          <a:lstStyle/>
          <a:p>
            <a:pPr marL="0" indent="0">
              <a:buNone/>
            </a:pPr>
            <a:r>
              <a:rPr lang="en-US" sz="1150" b="1" dirty="0">
                <a:solidFill>
                  <a:srgbClr val="8B5CF6"/>
                </a:solidFill>
                <a:latin typeface="Calibri" pitchFamily="34" charset="0"/>
                <a:ea typeface="Calibri" pitchFamily="34" charset="-122"/>
                <a:cs typeface="Calibri" pitchFamily="34" charset="-120"/>
              </a:rPr>
              <a:t>📚 Knowledge Bases</a:t>
            </a:r>
            <a:endParaRPr lang="en-US" sz="1150" dirty="0"/>
          </a:p>
        </p:txBody>
      </p:sp>
      <p:sp>
        <p:nvSpPr>
          <p:cNvPr id="16" name="Text 14"/>
          <p:cNvSpPr/>
          <p:nvPr/>
        </p:nvSpPr>
        <p:spPr>
          <a:xfrm>
            <a:off x="384048" y="2761488"/>
            <a:ext cx="2542032" cy="566928"/>
          </a:xfrm>
          <a:prstGeom prst="rect">
            <a:avLst/>
          </a:prstGeom>
          <a:noFill/>
          <a:ln/>
        </p:spPr>
        <p:txBody>
          <a:bodyPr wrap="square" rtlCol="0" anchor="ctr"/>
          <a:lstStyle/>
          <a:p>
            <a:pPr marL="0" indent="0">
              <a:buNone/>
            </a:pPr>
            <a:r>
              <a:rPr lang="en-US" sz="950" dirty="0">
                <a:solidFill>
                  <a:srgbClr val="CBD5E1"/>
                </a:solidFill>
                <a:latin typeface="Calibri" pitchFamily="34" charset="0"/>
                <a:ea typeface="Calibri" pitchFamily="34" charset="-122"/>
                <a:cs typeface="Calibri" pitchFamily="34" charset="-120"/>
              </a:rPr>
              <a:t>Managed RAG with S3 + vector store</a:t>
            </a:r>
            <a:endParaRPr lang="en-US" sz="950" dirty="0"/>
          </a:p>
        </p:txBody>
      </p:sp>
      <p:sp>
        <p:nvSpPr>
          <p:cNvPr id="17" name="Shape 15"/>
          <p:cNvSpPr/>
          <p:nvPr/>
        </p:nvSpPr>
        <p:spPr>
          <a:xfrm>
            <a:off x="3182112" y="2258568"/>
            <a:ext cx="2743200" cy="1170432"/>
          </a:xfrm>
          <a:prstGeom prst="roundRect">
            <a:avLst>
              <a:gd name="adj" fmla="val 7813"/>
            </a:avLst>
          </a:prstGeom>
          <a:solidFill>
            <a:srgbClr val="1E293B"/>
          </a:solidFill>
          <a:ln w="12700">
            <a:solidFill>
              <a:srgbClr val="EF4444"/>
            </a:solidFill>
            <a:prstDash val="solid"/>
          </a:ln>
        </p:spPr>
        <p:txBody>
          <a:bodyPr/>
          <a:lstStyle/>
          <a:p>
            <a:endParaRPr lang="en-IN"/>
          </a:p>
        </p:txBody>
      </p:sp>
      <p:sp>
        <p:nvSpPr>
          <p:cNvPr id="18" name="Text 16"/>
          <p:cNvSpPr/>
          <p:nvPr/>
        </p:nvSpPr>
        <p:spPr>
          <a:xfrm>
            <a:off x="3291840" y="2350008"/>
            <a:ext cx="2542032" cy="365760"/>
          </a:xfrm>
          <a:prstGeom prst="rect">
            <a:avLst/>
          </a:prstGeom>
          <a:noFill/>
          <a:ln/>
        </p:spPr>
        <p:txBody>
          <a:bodyPr wrap="square" rtlCol="0" anchor="ctr"/>
          <a:lstStyle/>
          <a:p>
            <a:pPr marL="0" indent="0">
              <a:buNone/>
            </a:pPr>
            <a:r>
              <a:rPr lang="en-US" sz="1150" b="1" dirty="0">
                <a:solidFill>
                  <a:srgbClr val="EF4444"/>
                </a:solidFill>
                <a:latin typeface="Calibri" pitchFamily="34" charset="0"/>
                <a:ea typeface="Calibri" pitchFamily="34" charset="-122"/>
                <a:cs typeface="Calibri" pitchFamily="34" charset="-120"/>
              </a:rPr>
              <a:t>⚙️ AWS Lambda</a:t>
            </a:r>
            <a:endParaRPr lang="en-US" sz="1150" dirty="0"/>
          </a:p>
        </p:txBody>
      </p:sp>
      <p:sp>
        <p:nvSpPr>
          <p:cNvPr id="19" name="Text 17"/>
          <p:cNvSpPr/>
          <p:nvPr/>
        </p:nvSpPr>
        <p:spPr>
          <a:xfrm>
            <a:off x="3291840" y="2761488"/>
            <a:ext cx="2542032" cy="566928"/>
          </a:xfrm>
          <a:prstGeom prst="rect">
            <a:avLst/>
          </a:prstGeom>
          <a:noFill/>
          <a:ln/>
        </p:spPr>
        <p:txBody>
          <a:bodyPr wrap="square" rtlCol="0" anchor="ctr"/>
          <a:lstStyle/>
          <a:p>
            <a:pPr marL="0" indent="0">
              <a:buNone/>
            </a:pPr>
            <a:r>
              <a:rPr lang="en-US" sz="950" dirty="0">
                <a:solidFill>
                  <a:srgbClr val="CBD5E1"/>
                </a:solidFill>
                <a:latin typeface="Calibri" pitchFamily="34" charset="0"/>
                <a:ea typeface="Calibri" pitchFamily="34" charset="-122"/>
                <a:cs typeface="Calibri" pitchFamily="34" charset="-120"/>
              </a:rPr>
              <a:t>Serverless tool execution for agents</a:t>
            </a:r>
            <a:endParaRPr lang="en-US" sz="950" dirty="0"/>
          </a:p>
        </p:txBody>
      </p:sp>
      <p:sp>
        <p:nvSpPr>
          <p:cNvPr id="20" name="Shape 18"/>
          <p:cNvSpPr/>
          <p:nvPr/>
        </p:nvSpPr>
        <p:spPr>
          <a:xfrm>
            <a:off x="6089904" y="2258568"/>
            <a:ext cx="2743200" cy="1170432"/>
          </a:xfrm>
          <a:prstGeom prst="roundRect">
            <a:avLst>
              <a:gd name="adj" fmla="val 7813"/>
            </a:avLst>
          </a:prstGeom>
          <a:solidFill>
            <a:srgbClr val="1E293B"/>
          </a:solidFill>
          <a:ln w="12700">
            <a:solidFill>
              <a:srgbClr val="F59E0B"/>
            </a:solidFill>
            <a:prstDash val="solid"/>
          </a:ln>
        </p:spPr>
        <p:txBody>
          <a:bodyPr/>
          <a:lstStyle/>
          <a:p>
            <a:endParaRPr lang="en-IN"/>
          </a:p>
        </p:txBody>
      </p:sp>
      <p:sp>
        <p:nvSpPr>
          <p:cNvPr id="21" name="Text 19"/>
          <p:cNvSpPr/>
          <p:nvPr/>
        </p:nvSpPr>
        <p:spPr>
          <a:xfrm>
            <a:off x="6199632" y="2350008"/>
            <a:ext cx="2542032" cy="365760"/>
          </a:xfrm>
          <a:prstGeom prst="rect">
            <a:avLst/>
          </a:prstGeom>
          <a:noFill/>
          <a:ln/>
        </p:spPr>
        <p:txBody>
          <a:bodyPr wrap="square" rtlCol="0" anchor="ctr"/>
          <a:lstStyle/>
          <a:p>
            <a:pPr marL="0" indent="0">
              <a:buNone/>
            </a:pPr>
            <a:r>
              <a:rPr lang="en-US" sz="1150" b="1" dirty="0">
                <a:solidFill>
                  <a:srgbClr val="F59E0B"/>
                </a:solidFill>
                <a:latin typeface="Calibri" pitchFamily="34" charset="0"/>
                <a:ea typeface="Calibri" pitchFamily="34" charset="-122"/>
                <a:cs typeface="Calibri" pitchFamily="34" charset="-120"/>
              </a:rPr>
              <a:t>🗄 Amazon S3</a:t>
            </a:r>
            <a:endParaRPr lang="en-US" sz="1150" dirty="0"/>
          </a:p>
        </p:txBody>
      </p:sp>
      <p:sp>
        <p:nvSpPr>
          <p:cNvPr id="22" name="Text 20"/>
          <p:cNvSpPr/>
          <p:nvPr/>
        </p:nvSpPr>
        <p:spPr>
          <a:xfrm>
            <a:off x="6199632" y="2761488"/>
            <a:ext cx="2542032" cy="566928"/>
          </a:xfrm>
          <a:prstGeom prst="rect">
            <a:avLst/>
          </a:prstGeom>
          <a:noFill/>
          <a:ln/>
        </p:spPr>
        <p:txBody>
          <a:bodyPr wrap="square" rtlCol="0" anchor="ctr"/>
          <a:lstStyle/>
          <a:p>
            <a:pPr marL="0" indent="0">
              <a:buNone/>
            </a:pPr>
            <a:r>
              <a:rPr lang="en-US" sz="950" dirty="0">
                <a:solidFill>
                  <a:srgbClr val="CBD5E1"/>
                </a:solidFill>
                <a:latin typeface="Calibri" pitchFamily="34" charset="0"/>
                <a:ea typeface="Calibri" pitchFamily="34" charset="-122"/>
                <a:cs typeface="Calibri" pitchFamily="34" charset="-120"/>
              </a:rPr>
              <a:t>Document storage for RAG indexing</a:t>
            </a:r>
            <a:endParaRPr lang="en-US" sz="950" dirty="0"/>
          </a:p>
        </p:txBody>
      </p:sp>
      <p:sp>
        <p:nvSpPr>
          <p:cNvPr id="23" name="Shape 21"/>
          <p:cNvSpPr/>
          <p:nvPr/>
        </p:nvSpPr>
        <p:spPr>
          <a:xfrm>
            <a:off x="274320" y="3557016"/>
            <a:ext cx="2743200" cy="1170432"/>
          </a:xfrm>
          <a:prstGeom prst="roundRect">
            <a:avLst>
              <a:gd name="adj" fmla="val 7813"/>
            </a:avLst>
          </a:prstGeom>
          <a:solidFill>
            <a:srgbClr val="1E293B"/>
          </a:solidFill>
          <a:ln w="12700">
            <a:solidFill>
              <a:srgbClr val="06B6D4"/>
            </a:solidFill>
            <a:prstDash val="solid"/>
          </a:ln>
        </p:spPr>
        <p:txBody>
          <a:bodyPr/>
          <a:lstStyle/>
          <a:p>
            <a:endParaRPr lang="en-IN"/>
          </a:p>
        </p:txBody>
      </p:sp>
      <p:sp>
        <p:nvSpPr>
          <p:cNvPr id="24" name="Text 22"/>
          <p:cNvSpPr/>
          <p:nvPr/>
        </p:nvSpPr>
        <p:spPr>
          <a:xfrm>
            <a:off x="384048" y="3648456"/>
            <a:ext cx="2542032" cy="365760"/>
          </a:xfrm>
          <a:prstGeom prst="rect">
            <a:avLst/>
          </a:prstGeom>
          <a:noFill/>
          <a:ln/>
        </p:spPr>
        <p:txBody>
          <a:bodyPr wrap="square" rtlCol="0" anchor="ctr"/>
          <a:lstStyle/>
          <a:p>
            <a:pPr marL="0" indent="0">
              <a:buNone/>
            </a:pPr>
            <a:r>
              <a:rPr lang="en-US" sz="1150" b="1" dirty="0">
                <a:solidFill>
                  <a:srgbClr val="06B6D4"/>
                </a:solidFill>
                <a:latin typeface="Calibri" pitchFamily="34" charset="0"/>
                <a:ea typeface="Calibri" pitchFamily="34" charset="-122"/>
                <a:cs typeface="Calibri" pitchFamily="34" charset="-120"/>
              </a:rPr>
              <a:t>🔗 API Gateway</a:t>
            </a:r>
            <a:endParaRPr lang="en-US" sz="1150" dirty="0"/>
          </a:p>
        </p:txBody>
      </p:sp>
      <p:sp>
        <p:nvSpPr>
          <p:cNvPr id="25" name="Text 23"/>
          <p:cNvSpPr/>
          <p:nvPr/>
        </p:nvSpPr>
        <p:spPr>
          <a:xfrm>
            <a:off x="384048" y="4059936"/>
            <a:ext cx="2542032" cy="566928"/>
          </a:xfrm>
          <a:prstGeom prst="rect">
            <a:avLst/>
          </a:prstGeom>
          <a:noFill/>
          <a:ln/>
        </p:spPr>
        <p:txBody>
          <a:bodyPr wrap="square" rtlCol="0" anchor="ctr"/>
          <a:lstStyle/>
          <a:p>
            <a:pPr marL="0" indent="0">
              <a:buNone/>
            </a:pPr>
            <a:r>
              <a:rPr lang="en-US" sz="950" dirty="0">
                <a:solidFill>
                  <a:srgbClr val="CBD5E1"/>
                </a:solidFill>
                <a:latin typeface="Calibri" pitchFamily="34" charset="0"/>
                <a:ea typeface="Calibri" pitchFamily="34" charset="-122"/>
                <a:cs typeface="Calibri" pitchFamily="34" charset="-120"/>
              </a:rPr>
              <a:t>Expose agents as REST endpoints</a:t>
            </a:r>
            <a:endParaRPr lang="en-US" sz="950" dirty="0"/>
          </a:p>
        </p:txBody>
      </p:sp>
      <p:sp>
        <p:nvSpPr>
          <p:cNvPr id="26" name="Shape 24"/>
          <p:cNvSpPr/>
          <p:nvPr/>
        </p:nvSpPr>
        <p:spPr>
          <a:xfrm>
            <a:off x="3182112" y="3557016"/>
            <a:ext cx="2743200" cy="1170432"/>
          </a:xfrm>
          <a:prstGeom prst="roundRect">
            <a:avLst>
              <a:gd name="adj" fmla="val 7813"/>
            </a:avLst>
          </a:prstGeom>
          <a:solidFill>
            <a:srgbClr val="1E293B"/>
          </a:solidFill>
          <a:ln w="12700">
            <a:solidFill>
              <a:srgbClr val="8B5CF6"/>
            </a:solidFill>
            <a:prstDash val="solid"/>
          </a:ln>
        </p:spPr>
        <p:txBody>
          <a:bodyPr/>
          <a:lstStyle/>
          <a:p>
            <a:endParaRPr lang="en-IN"/>
          </a:p>
        </p:txBody>
      </p:sp>
      <p:sp>
        <p:nvSpPr>
          <p:cNvPr id="27" name="Text 25"/>
          <p:cNvSpPr/>
          <p:nvPr/>
        </p:nvSpPr>
        <p:spPr>
          <a:xfrm>
            <a:off x="3291840" y="3648456"/>
            <a:ext cx="2542032" cy="365760"/>
          </a:xfrm>
          <a:prstGeom prst="rect">
            <a:avLst/>
          </a:prstGeom>
          <a:noFill/>
          <a:ln/>
        </p:spPr>
        <p:txBody>
          <a:bodyPr wrap="square" rtlCol="0" anchor="ctr"/>
          <a:lstStyle/>
          <a:p>
            <a:pPr marL="0" indent="0">
              <a:buNone/>
            </a:pPr>
            <a:r>
              <a:rPr lang="en-US" sz="1150" b="1" dirty="0">
                <a:solidFill>
                  <a:srgbClr val="8B5CF6"/>
                </a:solidFill>
                <a:latin typeface="Calibri" pitchFamily="34" charset="0"/>
                <a:ea typeface="Calibri" pitchFamily="34" charset="-122"/>
                <a:cs typeface="Calibri" pitchFamily="34" charset="-120"/>
              </a:rPr>
              <a:t>💾 DynamoDB</a:t>
            </a:r>
            <a:endParaRPr lang="en-US" sz="1150" dirty="0"/>
          </a:p>
        </p:txBody>
      </p:sp>
      <p:sp>
        <p:nvSpPr>
          <p:cNvPr id="28" name="Text 26"/>
          <p:cNvSpPr/>
          <p:nvPr/>
        </p:nvSpPr>
        <p:spPr>
          <a:xfrm>
            <a:off x="3291840" y="4059936"/>
            <a:ext cx="2542032" cy="566928"/>
          </a:xfrm>
          <a:prstGeom prst="rect">
            <a:avLst/>
          </a:prstGeom>
          <a:noFill/>
          <a:ln/>
        </p:spPr>
        <p:txBody>
          <a:bodyPr wrap="square" rtlCol="0" anchor="ctr"/>
          <a:lstStyle/>
          <a:p>
            <a:pPr marL="0" indent="0">
              <a:buNone/>
            </a:pPr>
            <a:r>
              <a:rPr lang="en-US" sz="950" dirty="0">
                <a:solidFill>
                  <a:srgbClr val="CBD5E1"/>
                </a:solidFill>
                <a:latin typeface="Calibri" pitchFamily="34" charset="0"/>
                <a:ea typeface="Calibri" pitchFamily="34" charset="-122"/>
                <a:cs typeface="Calibri" pitchFamily="34" charset="-120"/>
              </a:rPr>
              <a:t>Agent memory &amp; conversation history</a:t>
            </a:r>
            <a:endParaRPr lang="en-US" sz="950" dirty="0"/>
          </a:p>
        </p:txBody>
      </p:sp>
      <p:sp>
        <p:nvSpPr>
          <p:cNvPr id="29" name="Shape 27"/>
          <p:cNvSpPr/>
          <p:nvPr/>
        </p:nvSpPr>
        <p:spPr>
          <a:xfrm>
            <a:off x="6089904" y="3557016"/>
            <a:ext cx="2743200" cy="1170432"/>
          </a:xfrm>
          <a:prstGeom prst="roundRect">
            <a:avLst>
              <a:gd name="adj" fmla="val 7813"/>
            </a:avLst>
          </a:prstGeom>
          <a:solidFill>
            <a:srgbClr val="1E293B"/>
          </a:solidFill>
          <a:ln w="12700">
            <a:solidFill>
              <a:srgbClr val="10B981"/>
            </a:solidFill>
            <a:prstDash val="solid"/>
          </a:ln>
        </p:spPr>
        <p:txBody>
          <a:bodyPr/>
          <a:lstStyle/>
          <a:p>
            <a:endParaRPr lang="en-IN"/>
          </a:p>
        </p:txBody>
      </p:sp>
      <p:sp>
        <p:nvSpPr>
          <p:cNvPr id="30" name="Text 28"/>
          <p:cNvSpPr/>
          <p:nvPr/>
        </p:nvSpPr>
        <p:spPr>
          <a:xfrm>
            <a:off x="6199632" y="3648456"/>
            <a:ext cx="2542032" cy="365760"/>
          </a:xfrm>
          <a:prstGeom prst="rect">
            <a:avLst/>
          </a:prstGeom>
          <a:noFill/>
          <a:ln/>
        </p:spPr>
        <p:txBody>
          <a:bodyPr wrap="square" rtlCol="0" anchor="ctr"/>
          <a:lstStyle/>
          <a:p>
            <a:pPr marL="0" indent="0">
              <a:buNone/>
            </a:pPr>
            <a:r>
              <a:rPr lang="en-US" sz="1150" b="1" dirty="0">
                <a:solidFill>
                  <a:srgbClr val="10B981"/>
                </a:solidFill>
                <a:latin typeface="Calibri" pitchFamily="34" charset="0"/>
                <a:ea typeface="Calibri" pitchFamily="34" charset="-122"/>
                <a:cs typeface="Calibri" pitchFamily="34" charset="-120"/>
              </a:rPr>
              <a:t>📊 CloudWatch</a:t>
            </a:r>
            <a:endParaRPr lang="en-US" sz="1150" dirty="0"/>
          </a:p>
        </p:txBody>
      </p:sp>
      <p:sp>
        <p:nvSpPr>
          <p:cNvPr id="31" name="Text 29"/>
          <p:cNvSpPr/>
          <p:nvPr/>
        </p:nvSpPr>
        <p:spPr>
          <a:xfrm>
            <a:off x="6199632" y="4059936"/>
            <a:ext cx="2542032" cy="566928"/>
          </a:xfrm>
          <a:prstGeom prst="rect">
            <a:avLst/>
          </a:prstGeom>
          <a:noFill/>
          <a:ln/>
        </p:spPr>
        <p:txBody>
          <a:bodyPr wrap="square" rtlCol="0" anchor="ctr"/>
          <a:lstStyle/>
          <a:p>
            <a:pPr marL="0" indent="0">
              <a:buNone/>
            </a:pPr>
            <a:r>
              <a:rPr lang="en-US" sz="950" dirty="0">
                <a:solidFill>
                  <a:srgbClr val="CBD5E1"/>
                </a:solidFill>
                <a:latin typeface="Calibri" pitchFamily="34" charset="0"/>
                <a:ea typeface="Calibri" pitchFamily="34" charset="-122"/>
                <a:cs typeface="Calibri" pitchFamily="34" charset="-120"/>
              </a:rPr>
              <a:t>Monitoring, logging, tracing agents</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0B981"/>
          </a:solidFill>
          <a:ln w="12700">
            <a:solidFill>
              <a:srgbClr val="10B981"/>
            </a:solidFill>
            <a:prstDash val="solid"/>
          </a:ln>
        </p:spPr>
        <p:txBody>
          <a:bodyPr/>
          <a:lstStyle/>
          <a:p>
            <a:endParaRPr lang="en-IN"/>
          </a:p>
        </p:txBody>
      </p:sp>
      <p:sp>
        <p:nvSpPr>
          <p:cNvPr id="3" name="Text 1"/>
          <p:cNvSpPr/>
          <p:nvPr/>
        </p:nvSpPr>
        <p:spPr>
          <a:xfrm>
            <a:off x="365760" y="109728"/>
            <a:ext cx="8229600" cy="50292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Use Case: EV Charging Portal</a:t>
            </a:r>
            <a:endParaRPr lang="en-US" sz="2600" dirty="0"/>
          </a:p>
        </p:txBody>
      </p:sp>
      <p:sp>
        <p:nvSpPr>
          <p:cNvPr id="4" name="Text 2"/>
          <p:cNvSpPr/>
          <p:nvPr/>
        </p:nvSpPr>
        <p:spPr>
          <a:xfrm>
            <a:off x="365760" y="594360"/>
            <a:ext cx="8229600" cy="256032"/>
          </a:xfrm>
          <a:prstGeom prst="rect">
            <a:avLst/>
          </a:prstGeom>
          <a:noFill/>
          <a:ln/>
        </p:spPr>
        <p:txBody>
          <a:bodyPr wrap="square" rtlCol="0" anchor="ctr"/>
          <a:lstStyle/>
          <a:p>
            <a:pPr marL="0" indent="0">
              <a:buNone/>
            </a:pPr>
            <a:r>
              <a:rPr lang="en-US" sz="1300" i="1" dirty="0">
                <a:solidFill>
                  <a:srgbClr val="10B981"/>
                </a:solidFill>
                <a:latin typeface="Calibri" pitchFamily="34" charset="0"/>
                <a:ea typeface="Calibri" pitchFamily="34" charset="-122"/>
                <a:cs typeface="Calibri" pitchFamily="34" charset="-120"/>
              </a:rPr>
              <a:t>Multi-Agent system for a smart EV charging platform</a:t>
            </a:r>
            <a:endParaRPr lang="en-US" sz="1300" dirty="0"/>
          </a:p>
        </p:txBody>
      </p:sp>
      <p:sp>
        <p:nvSpPr>
          <p:cNvPr id="5" name="Shape 3"/>
          <p:cNvSpPr/>
          <p:nvPr/>
        </p:nvSpPr>
        <p:spPr>
          <a:xfrm>
            <a:off x="274320" y="960120"/>
            <a:ext cx="2743200" cy="1664208"/>
          </a:xfrm>
          <a:prstGeom prst="roundRect">
            <a:avLst>
              <a:gd name="adj" fmla="val 6593"/>
            </a:avLst>
          </a:prstGeom>
          <a:solidFill>
            <a:srgbClr val="1E293B"/>
          </a:solidFill>
          <a:ln w="19050">
            <a:solidFill>
              <a:srgbClr val="06B6D4"/>
            </a:solidFill>
            <a:prstDash val="solid"/>
          </a:ln>
        </p:spPr>
        <p:txBody>
          <a:bodyPr/>
          <a:lstStyle/>
          <a:p>
            <a:endParaRPr lang="en-IN"/>
          </a:p>
        </p:txBody>
      </p:sp>
      <p:sp>
        <p:nvSpPr>
          <p:cNvPr id="6" name="Text 4"/>
          <p:cNvSpPr/>
          <p:nvPr/>
        </p:nvSpPr>
        <p:spPr>
          <a:xfrm>
            <a:off x="274320" y="1033272"/>
            <a:ext cx="2743200" cy="685800"/>
          </a:xfrm>
          <a:prstGeom prst="rect">
            <a:avLst/>
          </a:prstGeom>
          <a:noFill/>
          <a:ln/>
        </p:spPr>
        <p:txBody>
          <a:bodyPr wrap="square" rtlCol="0" anchor="ctr"/>
          <a:lstStyle/>
          <a:p>
            <a:pPr marL="0" indent="0" algn="ctr">
              <a:buNone/>
            </a:pPr>
            <a:r>
              <a:rPr lang="en-US" sz="1100" b="1" dirty="0">
                <a:solidFill>
                  <a:srgbClr val="06B6D4"/>
                </a:solidFill>
                <a:latin typeface="Calibri" pitchFamily="34" charset="0"/>
                <a:ea typeface="Calibri" pitchFamily="34" charset="-122"/>
                <a:cs typeface="Calibri" pitchFamily="34" charset="-120"/>
              </a:rPr>
              <a:t>📍</a:t>
            </a:r>
            <a:endParaRPr lang="en-US" sz="1100" dirty="0"/>
          </a:p>
          <a:p>
            <a:pPr marL="0" indent="0" algn="ctr">
              <a:buNone/>
            </a:pPr>
            <a:r>
              <a:rPr lang="en-US" sz="1100" b="1" dirty="0">
                <a:solidFill>
                  <a:srgbClr val="06B6D4"/>
                </a:solidFill>
                <a:latin typeface="Calibri" pitchFamily="34" charset="0"/>
                <a:ea typeface="Calibri" pitchFamily="34" charset="-122"/>
                <a:cs typeface="Calibri" pitchFamily="34" charset="-120"/>
              </a:rPr>
              <a:t>Charging Station</a:t>
            </a:r>
            <a:endParaRPr lang="en-US" sz="1100" dirty="0"/>
          </a:p>
          <a:p>
            <a:pPr marL="0" indent="0" algn="ctr">
              <a:buNone/>
            </a:pPr>
            <a:r>
              <a:rPr lang="en-US" sz="1100" b="1" dirty="0">
                <a:solidFill>
                  <a:srgbClr val="06B6D4"/>
                </a:solidFill>
                <a:latin typeface="Calibri" pitchFamily="34" charset="0"/>
                <a:ea typeface="Calibri" pitchFamily="34" charset="-122"/>
                <a:cs typeface="Calibri" pitchFamily="34" charset="-120"/>
              </a:rPr>
              <a:t>Recommendation</a:t>
            </a:r>
            <a:endParaRPr lang="en-US" sz="1100" dirty="0"/>
          </a:p>
        </p:txBody>
      </p:sp>
      <p:sp>
        <p:nvSpPr>
          <p:cNvPr id="7" name="Text 5"/>
          <p:cNvSpPr/>
          <p:nvPr/>
        </p:nvSpPr>
        <p:spPr>
          <a:xfrm>
            <a:off x="384048" y="1783080"/>
            <a:ext cx="2542032" cy="731520"/>
          </a:xfrm>
          <a:prstGeom prst="rect">
            <a:avLst/>
          </a:prstGeom>
          <a:noFill/>
          <a:ln/>
        </p:spPr>
        <p:txBody>
          <a:bodyPr wrap="square" rtlCol="0" anchor="ctr"/>
          <a:lstStyle/>
          <a:p>
            <a:pPr marL="0" indent="0">
              <a:buNone/>
            </a:pPr>
            <a:r>
              <a:rPr lang="en-US" sz="950" dirty="0">
                <a:solidFill>
                  <a:srgbClr val="CBD5E1"/>
                </a:solidFill>
                <a:latin typeface="Calibri" pitchFamily="34" charset="0"/>
                <a:ea typeface="Calibri" pitchFamily="34" charset="-122"/>
                <a:cs typeface="Calibri" pitchFamily="34" charset="-120"/>
              </a:rPr>
              <a:t>Finds nearest available charger using location &amp; vehicle type</a:t>
            </a:r>
            <a:endParaRPr lang="en-US" sz="950" dirty="0"/>
          </a:p>
        </p:txBody>
      </p:sp>
      <p:sp>
        <p:nvSpPr>
          <p:cNvPr id="8" name="Shape 6"/>
          <p:cNvSpPr/>
          <p:nvPr/>
        </p:nvSpPr>
        <p:spPr>
          <a:xfrm>
            <a:off x="3182112" y="960120"/>
            <a:ext cx="2743200" cy="1664208"/>
          </a:xfrm>
          <a:prstGeom prst="roundRect">
            <a:avLst>
              <a:gd name="adj" fmla="val 6593"/>
            </a:avLst>
          </a:prstGeom>
          <a:solidFill>
            <a:srgbClr val="1E293B"/>
          </a:solidFill>
          <a:ln w="19050">
            <a:solidFill>
              <a:srgbClr val="10B981"/>
            </a:solidFill>
            <a:prstDash val="solid"/>
          </a:ln>
        </p:spPr>
        <p:txBody>
          <a:bodyPr/>
          <a:lstStyle/>
          <a:p>
            <a:endParaRPr lang="en-IN"/>
          </a:p>
        </p:txBody>
      </p:sp>
      <p:sp>
        <p:nvSpPr>
          <p:cNvPr id="9" name="Text 7"/>
          <p:cNvSpPr/>
          <p:nvPr/>
        </p:nvSpPr>
        <p:spPr>
          <a:xfrm>
            <a:off x="3182112" y="1033272"/>
            <a:ext cx="2743200" cy="685800"/>
          </a:xfrm>
          <a:prstGeom prst="rect">
            <a:avLst/>
          </a:prstGeom>
          <a:noFill/>
          <a:ln/>
        </p:spPr>
        <p:txBody>
          <a:bodyPr wrap="square" rtlCol="0" anchor="ctr"/>
          <a:lstStyle/>
          <a:p>
            <a:pPr marL="0" indent="0" algn="ctr">
              <a:buNone/>
            </a:pPr>
            <a:r>
              <a:rPr lang="en-US" sz="1100" b="1" dirty="0">
                <a:solidFill>
                  <a:srgbClr val="10B981"/>
                </a:solidFill>
                <a:latin typeface="Calibri" pitchFamily="34" charset="0"/>
                <a:ea typeface="Calibri" pitchFamily="34" charset="-122"/>
                <a:cs typeface="Calibri" pitchFamily="34" charset="-120"/>
              </a:rPr>
              <a:t>📅</a:t>
            </a:r>
            <a:endParaRPr lang="en-US" sz="1100" dirty="0"/>
          </a:p>
          <a:p>
            <a:pPr marL="0" indent="0" algn="ctr">
              <a:buNone/>
            </a:pPr>
            <a:r>
              <a:rPr lang="en-US" sz="1100" b="1" dirty="0">
                <a:solidFill>
                  <a:srgbClr val="10B981"/>
                </a:solidFill>
                <a:latin typeface="Calibri" pitchFamily="34" charset="0"/>
                <a:ea typeface="Calibri" pitchFamily="34" charset="-122"/>
                <a:cs typeface="Calibri" pitchFamily="34" charset="-120"/>
              </a:rPr>
              <a:t>Slot Booking</a:t>
            </a:r>
            <a:endParaRPr lang="en-US" sz="1100" dirty="0"/>
          </a:p>
          <a:p>
            <a:pPr marL="0" indent="0" algn="ctr">
              <a:buNone/>
            </a:pPr>
            <a:r>
              <a:rPr lang="en-US" sz="1100" b="1" dirty="0">
                <a:solidFill>
                  <a:srgbClr val="10B981"/>
                </a:solidFill>
                <a:latin typeface="Calibri" pitchFamily="34" charset="0"/>
                <a:ea typeface="Calibri" pitchFamily="34" charset="-122"/>
                <a:cs typeface="Calibri" pitchFamily="34" charset="-120"/>
              </a:rPr>
              <a:t>Agent</a:t>
            </a:r>
            <a:endParaRPr lang="en-US" sz="1100" dirty="0"/>
          </a:p>
        </p:txBody>
      </p:sp>
      <p:sp>
        <p:nvSpPr>
          <p:cNvPr id="10" name="Text 8"/>
          <p:cNvSpPr/>
          <p:nvPr/>
        </p:nvSpPr>
        <p:spPr>
          <a:xfrm>
            <a:off x="3291840" y="1783080"/>
            <a:ext cx="2542032" cy="731520"/>
          </a:xfrm>
          <a:prstGeom prst="rect">
            <a:avLst/>
          </a:prstGeom>
          <a:noFill/>
          <a:ln/>
        </p:spPr>
        <p:txBody>
          <a:bodyPr wrap="square" rtlCol="0" anchor="ctr"/>
          <a:lstStyle/>
          <a:p>
            <a:pPr marL="0" indent="0">
              <a:buNone/>
            </a:pPr>
            <a:r>
              <a:rPr lang="en-US" sz="950" dirty="0">
                <a:solidFill>
                  <a:srgbClr val="CBD5E1"/>
                </a:solidFill>
                <a:latin typeface="Calibri" pitchFamily="34" charset="0"/>
                <a:ea typeface="Calibri" pitchFamily="34" charset="-122"/>
                <a:cs typeface="Calibri" pitchFamily="34" charset="-120"/>
              </a:rPr>
              <a:t>Books time slots, sends confirmation, handles rescheduling</a:t>
            </a:r>
            <a:endParaRPr lang="en-US" sz="950" dirty="0"/>
          </a:p>
        </p:txBody>
      </p:sp>
      <p:sp>
        <p:nvSpPr>
          <p:cNvPr id="11" name="Shape 9"/>
          <p:cNvSpPr/>
          <p:nvPr/>
        </p:nvSpPr>
        <p:spPr>
          <a:xfrm>
            <a:off x="6089904" y="960120"/>
            <a:ext cx="2743200" cy="1664208"/>
          </a:xfrm>
          <a:prstGeom prst="roundRect">
            <a:avLst>
              <a:gd name="adj" fmla="val 6593"/>
            </a:avLst>
          </a:prstGeom>
          <a:solidFill>
            <a:srgbClr val="1E293B"/>
          </a:solidFill>
          <a:ln w="19050">
            <a:solidFill>
              <a:srgbClr val="8B5CF6"/>
            </a:solidFill>
            <a:prstDash val="solid"/>
          </a:ln>
        </p:spPr>
        <p:txBody>
          <a:bodyPr/>
          <a:lstStyle/>
          <a:p>
            <a:endParaRPr lang="en-IN"/>
          </a:p>
        </p:txBody>
      </p:sp>
      <p:sp>
        <p:nvSpPr>
          <p:cNvPr id="12" name="Text 10"/>
          <p:cNvSpPr/>
          <p:nvPr/>
        </p:nvSpPr>
        <p:spPr>
          <a:xfrm>
            <a:off x="6089904" y="1033272"/>
            <a:ext cx="2743200" cy="685800"/>
          </a:xfrm>
          <a:prstGeom prst="rect">
            <a:avLst/>
          </a:prstGeom>
          <a:noFill/>
          <a:ln/>
        </p:spPr>
        <p:txBody>
          <a:bodyPr wrap="square" rtlCol="0" anchor="ctr"/>
          <a:lstStyle/>
          <a:p>
            <a:pPr marL="0" indent="0" algn="ctr">
              <a:buNone/>
            </a:pPr>
            <a:r>
              <a:rPr lang="en-US" sz="1100" b="1" dirty="0">
                <a:solidFill>
                  <a:srgbClr val="8B5CF6"/>
                </a:solidFill>
                <a:latin typeface="Calibri" pitchFamily="34" charset="0"/>
                <a:ea typeface="Calibri" pitchFamily="34" charset="-122"/>
                <a:cs typeface="Calibri" pitchFamily="34" charset="-120"/>
              </a:rPr>
              <a:t>🗺</a:t>
            </a:r>
            <a:endParaRPr lang="en-US" sz="1100" dirty="0"/>
          </a:p>
          <a:p>
            <a:pPr marL="0" indent="0" algn="ctr">
              <a:buNone/>
            </a:pPr>
            <a:r>
              <a:rPr lang="en-US" sz="1100" b="1" dirty="0">
                <a:solidFill>
                  <a:srgbClr val="8B5CF6"/>
                </a:solidFill>
                <a:latin typeface="Calibri" pitchFamily="34" charset="0"/>
                <a:ea typeface="Calibri" pitchFamily="34" charset="-122"/>
                <a:cs typeface="Calibri" pitchFamily="34" charset="-120"/>
              </a:rPr>
              <a:t>EV Trip</a:t>
            </a:r>
            <a:endParaRPr lang="en-US" sz="1100" dirty="0"/>
          </a:p>
          <a:p>
            <a:pPr marL="0" indent="0" algn="ctr">
              <a:buNone/>
            </a:pPr>
            <a:r>
              <a:rPr lang="en-US" sz="1100" b="1" dirty="0">
                <a:solidFill>
                  <a:srgbClr val="8B5CF6"/>
                </a:solidFill>
                <a:latin typeface="Calibri" pitchFamily="34" charset="0"/>
                <a:ea typeface="Calibri" pitchFamily="34" charset="-122"/>
                <a:cs typeface="Calibri" pitchFamily="34" charset="-120"/>
              </a:rPr>
              <a:t>Planning</a:t>
            </a:r>
            <a:endParaRPr lang="en-US" sz="1100" dirty="0"/>
          </a:p>
        </p:txBody>
      </p:sp>
      <p:sp>
        <p:nvSpPr>
          <p:cNvPr id="13" name="Text 11"/>
          <p:cNvSpPr/>
          <p:nvPr/>
        </p:nvSpPr>
        <p:spPr>
          <a:xfrm>
            <a:off x="6199632" y="1783080"/>
            <a:ext cx="2542032" cy="731520"/>
          </a:xfrm>
          <a:prstGeom prst="rect">
            <a:avLst/>
          </a:prstGeom>
          <a:noFill/>
          <a:ln/>
        </p:spPr>
        <p:txBody>
          <a:bodyPr wrap="square" rtlCol="0" anchor="ctr"/>
          <a:lstStyle/>
          <a:p>
            <a:pPr marL="0" indent="0">
              <a:buNone/>
            </a:pPr>
            <a:r>
              <a:rPr lang="en-US" sz="950" dirty="0">
                <a:solidFill>
                  <a:srgbClr val="CBD5E1"/>
                </a:solidFill>
                <a:latin typeface="Calibri" pitchFamily="34" charset="0"/>
                <a:ea typeface="Calibri" pitchFamily="34" charset="-122"/>
                <a:cs typeface="Calibri" pitchFamily="34" charset="-120"/>
              </a:rPr>
              <a:t>Plans routes with charging stops, estimates travel time</a:t>
            </a:r>
            <a:endParaRPr lang="en-US" sz="950" dirty="0"/>
          </a:p>
        </p:txBody>
      </p:sp>
      <p:sp>
        <p:nvSpPr>
          <p:cNvPr id="14" name="Shape 12"/>
          <p:cNvSpPr/>
          <p:nvPr/>
        </p:nvSpPr>
        <p:spPr>
          <a:xfrm>
            <a:off x="274320" y="2788920"/>
            <a:ext cx="2743200" cy="1664208"/>
          </a:xfrm>
          <a:prstGeom prst="roundRect">
            <a:avLst>
              <a:gd name="adj" fmla="val 6593"/>
            </a:avLst>
          </a:prstGeom>
          <a:solidFill>
            <a:srgbClr val="1E293B"/>
          </a:solidFill>
          <a:ln w="19050">
            <a:solidFill>
              <a:srgbClr val="F59E0B"/>
            </a:solidFill>
            <a:prstDash val="solid"/>
          </a:ln>
        </p:spPr>
        <p:txBody>
          <a:bodyPr/>
          <a:lstStyle/>
          <a:p>
            <a:endParaRPr lang="en-IN"/>
          </a:p>
        </p:txBody>
      </p:sp>
      <p:sp>
        <p:nvSpPr>
          <p:cNvPr id="15" name="Text 13"/>
          <p:cNvSpPr/>
          <p:nvPr/>
        </p:nvSpPr>
        <p:spPr>
          <a:xfrm>
            <a:off x="274320" y="2862072"/>
            <a:ext cx="2743200" cy="685800"/>
          </a:xfrm>
          <a:prstGeom prst="rect">
            <a:avLst/>
          </a:prstGeom>
          <a:noFill/>
          <a:ln/>
        </p:spPr>
        <p:txBody>
          <a:bodyPr wrap="square" rtlCol="0" anchor="ctr"/>
          <a:lstStyle/>
          <a:p>
            <a:pPr marL="0" indent="0" algn="ctr">
              <a:buNone/>
            </a:pPr>
            <a:r>
              <a:rPr lang="en-US" sz="1100" b="1" dirty="0">
                <a:solidFill>
                  <a:srgbClr val="F59E0B"/>
                </a:solidFill>
                <a:latin typeface="Calibri" pitchFamily="34" charset="0"/>
                <a:ea typeface="Calibri" pitchFamily="34" charset="-122"/>
                <a:cs typeface="Calibri" pitchFamily="34" charset="-120"/>
              </a:rPr>
              <a:t>🔧</a:t>
            </a:r>
            <a:endParaRPr lang="en-US" sz="1100" dirty="0"/>
          </a:p>
          <a:p>
            <a:pPr marL="0" indent="0" algn="ctr">
              <a:buNone/>
            </a:pPr>
            <a:r>
              <a:rPr lang="en-US" sz="1100" b="1" dirty="0">
                <a:solidFill>
                  <a:srgbClr val="F59E0B"/>
                </a:solidFill>
                <a:latin typeface="Calibri" pitchFamily="34" charset="0"/>
                <a:ea typeface="Calibri" pitchFamily="34" charset="-122"/>
                <a:cs typeface="Calibri" pitchFamily="34" charset="-120"/>
              </a:rPr>
              <a:t>Predictive</a:t>
            </a:r>
            <a:endParaRPr lang="en-US" sz="1100" dirty="0"/>
          </a:p>
          <a:p>
            <a:pPr marL="0" indent="0" algn="ctr">
              <a:buNone/>
            </a:pPr>
            <a:r>
              <a:rPr lang="en-US" sz="1100" b="1" dirty="0">
                <a:solidFill>
                  <a:srgbClr val="F59E0B"/>
                </a:solidFill>
                <a:latin typeface="Calibri" pitchFamily="34" charset="0"/>
                <a:ea typeface="Calibri" pitchFamily="34" charset="-122"/>
                <a:cs typeface="Calibri" pitchFamily="34" charset="-120"/>
              </a:rPr>
              <a:t>Maintenance</a:t>
            </a:r>
            <a:endParaRPr lang="en-US" sz="1100" dirty="0"/>
          </a:p>
        </p:txBody>
      </p:sp>
      <p:sp>
        <p:nvSpPr>
          <p:cNvPr id="16" name="Text 14"/>
          <p:cNvSpPr/>
          <p:nvPr/>
        </p:nvSpPr>
        <p:spPr>
          <a:xfrm>
            <a:off x="384048" y="3611880"/>
            <a:ext cx="2542032" cy="731520"/>
          </a:xfrm>
          <a:prstGeom prst="rect">
            <a:avLst/>
          </a:prstGeom>
          <a:noFill/>
          <a:ln/>
        </p:spPr>
        <p:txBody>
          <a:bodyPr wrap="square" rtlCol="0" anchor="ctr"/>
          <a:lstStyle/>
          <a:p>
            <a:pPr marL="0" indent="0">
              <a:buNone/>
            </a:pPr>
            <a:r>
              <a:rPr lang="en-US" sz="950" dirty="0">
                <a:solidFill>
                  <a:srgbClr val="CBD5E1"/>
                </a:solidFill>
                <a:latin typeface="Calibri" pitchFamily="34" charset="0"/>
                <a:ea typeface="Calibri" pitchFamily="34" charset="-122"/>
                <a:cs typeface="Calibri" pitchFamily="34" charset="-120"/>
              </a:rPr>
              <a:t>Alerts for charger faults, schedules technician visits</a:t>
            </a:r>
            <a:endParaRPr lang="en-US" sz="950" dirty="0"/>
          </a:p>
        </p:txBody>
      </p:sp>
      <p:sp>
        <p:nvSpPr>
          <p:cNvPr id="17" name="Shape 15"/>
          <p:cNvSpPr/>
          <p:nvPr/>
        </p:nvSpPr>
        <p:spPr>
          <a:xfrm>
            <a:off x="3182112" y="2788920"/>
            <a:ext cx="2743200" cy="1664208"/>
          </a:xfrm>
          <a:prstGeom prst="roundRect">
            <a:avLst>
              <a:gd name="adj" fmla="val 6593"/>
            </a:avLst>
          </a:prstGeom>
          <a:solidFill>
            <a:srgbClr val="1E293B"/>
          </a:solidFill>
          <a:ln w="19050">
            <a:solidFill>
              <a:srgbClr val="EF4444"/>
            </a:solidFill>
            <a:prstDash val="solid"/>
          </a:ln>
        </p:spPr>
        <p:txBody>
          <a:bodyPr/>
          <a:lstStyle/>
          <a:p>
            <a:endParaRPr lang="en-IN"/>
          </a:p>
        </p:txBody>
      </p:sp>
      <p:sp>
        <p:nvSpPr>
          <p:cNvPr id="18" name="Text 16"/>
          <p:cNvSpPr/>
          <p:nvPr/>
        </p:nvSpPr>
        <p:spPr>
          <a:xfrm>
            <a:off x="3182112" y="2862072"/>
            <a:ext cx="2743200" cy="685800"/>
          </a:xfrm>
          <a:prstGeom prst="rect">
            <a:avLst/>
          </a:prstGeom>
          <a:noFill/>
          <a:ln/>
        </p:spPr>
        <p:txBody>
          <a:bodyPr wrap="square" rtlCol="0" anchor="ctr"/>
          <a:lstStyle/>
          <a:p>
            <a:pPr marL="0" indent="0" algn="ctr">
              <a:buNone/>
            </a:pPr>
            <a:r>
              <a:rPr lang="en-US" sz="1100" b="1" dirty="0">
                <a:solidFill>
                  <a:srgbClr val="EF4444"/>
                </a:solidFill>
                <a:latin typeface="Calibri" pitchFamily="34" charset="0"/>
                <a:ea typeface="Calibri" pitchFamily="34" charset="-122"/>
                <a:cs typeface="Calibri" pitchFamily="34" charset="-120"/>
              </a:rPr>
              <a:t>💬</a:t>
            </a:r>
            <a:endParaRPr lang="en-US" sz="1100" dirty="0"/>
          </a:p>
          <a:p>
            <a:pPr marL="0" indent="0" algn="ctr">
              <a:buNone/>
            </a:pPr>
            <a:r>
              <a:rPr lang="en-US" sz="1100" b="1" dirty="0">
                <a:solidFill>
                  <a:srgbClr val="EF4444"/>
                </a:solidFill>
                <a:latin typeface="Calibri" pitchFamily="34" charset="0"/>
                <a:ea typeface="Calibri" pitchFamily="34" charset="-122"/>
                <a:cs typeface="Calibri" pitchFamily="34" charset="-120"/>
              </a:rPr>
              <a:t>Customer</a:t>
            </a:r>
            <a:endParaRPr lang="en-US" sz="1100" dirty="0"/>
          </a:p>
          <a:p>
            <a:pPr marL="0" indent="0" algn="ctr">
              <a:buNone/>
            </a:pPr>
            <a:r>
              <a:rPr lang="en-US" sz="1100" b="1" dirty="0">
                <a:solidFill>
                  <a:srgbClr val="EF4444"/>
                </a:solidFill>
                <a:latin typeface="Calibri" pitchFamily="34" charset="0"/>
                <a:ea typeface="Calibri" pitchFamily="34" charset="-122"/>
                <a:cs typeface="Calibri" pitchFamily="34" charset="-120"/>
              </a:rPr>
              <a:t>Support Agent</a:t>
            </a:r>
            <a:endParaRPr lang="en-US" sz="1100" dirty="0"/>
          </a:p>
        </p:txBody>
      </p:sp>
      <p:sp>
        <p:nvSpPr>
          <p:cNvPr id="19" name="Text 17"/>
          <p:cNvSpPr/>
          <p:nvPr/>
        </p:nvSpPr>
        <p:spPr>
          <a:xfrm>
            <a:off x="3291840" y="3611880"/>
            <a:ext cx="2542032" cy="731520"/>
          </a:xfrm>
          <a:prstGeom prst="rect">
            <a:avLst/>
          </a:prstGeom>
          <a:noFill/>
          <a:ln/>
        </p:spPr>
        <p:txBody>
          <a:bodyPr wrap="square" rtlCol="0" anchor="ctr"/>
          <a:lstStyle/>
          <a:p>
            <a:pPr marL="0" indent="0">
              <a:buNone/>
            </a:pPr>
            <a:r>
              <a:rPr lang="en-US" sz="950" dirty="0">
                <a:solidFill>
                  <a:srgbClr val="CBD5E1"/>
                </a:solidFill>
                <a:latin typeface="Calibri" pitchFamily="34" charset="0"/>
                <a:ea typeface="Calibri" pitchFamily="34" charset="-122"/>
                <a:cs typeface="Calibri" pitchFamily="34" charset="-120"/>
              </a:rPr>
              <a:t>Handles billing, complaints, FAQ with memory of user history</a:t>
            </a:r>
            <a:endParaRPr lang="en-US" sz="950" dirty="0"/>
          </a:p>
        </p:txBody>
      </p:sp>
      <p:sp>
        <p:nvSpPr>
          <p:cNvPr id="20" name="Shape 18"/>
          <p:cNvSpPr/>
          <p:nvPr/>
        </p:nvSpPr>
        <p:spPr>
          <a:xfrm>
            <a:off x="274320" y="4681728"/>
            <a:ext cx="8595360" cy="365760"/>
          </a:xfrm>
          <a:prstGeom prst="roundRect">
            <a:avLst>
              <a:gd name="adj" fmla="val 17500"/>
            </a:avLst>
          </a:prstGeom>
          <a:solidFill>
            <a:srgbClr val="0A1828"/>
          </a:solidFill>
          <a:ln w="12700">
            <a:solidFill>
              <a:srgbClr val="06B6D4"/>
            </a:solidFill>
            <a:prstDash val="solid"/>
          </a:ln>
        </p:spPr>
        <p:txBody>
          <a:bodyPr/>
          <a:lstStyle/>
          <a:p>
            <a:endParaRPr lang="en-IN"/>
          </a:p>
        </p:txBody>
      </p:sp>
      <p:sp>
        <p:nvSpPr>
          <p:cNvPr id="21" name="Text 19"/>
          <p:cNvSpPr/>
          <p:nvPr/>
        </p:nvSpPr>
        <p:spPr>
          <a:xfrm>
            <a:off x="457200" y="4709160"/>
            <a:ext cx="8229600" cy="310896"/>
          </a:xfrm>
          <a:prstGeom prst="rect">
            <a:avLst/>
          </a:prstGeom>
          <a:noFill/>
          <a:ln/>
        </p:spPr>
        <p:txBody>
          <a:bodyPr wrap="square" rtlCol="0" anchor="ctr"/>
          <a:lstStyle/>
          <a:p>
            <a:pPr marL="0" indent="0" algn="ctr">
              <a:buNone/>
            </a:pPr>
            <a:r>
              <a:rPr lang="en-US" sz="1000" dirty="0">
                <a:solidFill>
                  <a:srgbClr val="06B6D4"/>
                </a:solidFill>
                <a:latin typeface="Calibri" pitchFamily="34" charset="0"/>
                <a:ea typeface="Calibri" pitchFamily="34" charset="-122"/>
                <a:cs typeface="Calibri" pitchFamily="34" charset="-120"/>
              </a:rPr>
              <a:t>User → Coordinator Agent → Charging Tool → Booking Tool → Maps API → Database → Response</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7">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6B6D4"/>
          </a:solidFill>
          <a:ln w="12700">
            <a:solidFill>
              <a:srgbClr val="06B6D4"/>
            </a:solidFill>
            <a:prstDash val="solid"/>
          </a:ln>
        </p:spPr>
        <p:txBody>
          <a:bodyPr/>
          <a:lstStyle/>
          <a:p>
            <a:endParaRPr lang="en-IN"/>
          </a:p>
        </p:txBody>
      </p:sp>
      <p:sp>
        <p:nvSpPr>
          <p:cNvPr id="3" name="Text 1"/>
          <p:cNvSpPr/>
          <p:nvPr/>
        </p:nvSpPr>
        <p:spPr>
          <a:xfrm>
            <a:off x="365760" y="109728"/>
            <a:ext cx="8229600" cy="50292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Real-World Use Cases</a:t>
            </a:r>
            <a:endParaRPr lang="en-US" sz="2800" dirty="0"/>
          </a:p>
        </p:txBody>
      </p:sp>
      <p:sp>
        <p:nvSpPr>
          <p:cNvPr id="4" name="Shape 2"/>
          <p:cNvSpPr/>
          <p:nvPr/>
        </p:nvSpPr>
        <p:spPr>
          <a:xfrm>
            <a:off x="274320" y="914400"/>
            <a:ext cx="2743200" cy="1783080"/>
          </a:xfrm>
          <a:prstGeom prst="roundRect">
            <a:avLst>
              <a:gd name="adj" fmla="val 6154"/>
            </a:avLst>
          </a:prstGeom>
          <a:solidFill>
            <a:srgbClr val="1E293B"/>
          </a:solidFill>
          <a:ln w="19050">
            <a:solidFill>
              <a:srgbClr val="06B6D4"/>
            </a:solidFill>
            <a:prstDash val="solid"/>
          </a:ln>
        </p:spPr>
        <p:txBody>
          <a:bodyPr/>
          <a:lstStyle/>
          <a:p>
            <a:endParaRPr lang="en-IN"/>
          </a:p>
        </p:txBody>
      </p:sp>
      <p:sp>
        <p:nvSpPr>
          <p:cNvPr id="5" name="Text 3"/>
          <p:cNvSpPr/>
          <p:nvPr/>
        </p:nvSpPr>
        <p:spPr>
          <a:xfrm>
            <a:off x="274320" y="1005840"/>
            <a:ext cx="2743200" cy="457200"/>
          </a:xfrm>
          <a:prstGeom prst="rect">
            <a:avLst/>
          </a:prstGeom>
          <a:noFill/>
          <a:ln/>
        </p:spPr>
        <p:txBody>
          <a:bodyPr wrap="square" rtlCol="0" anchor="ctr"/>
          <a:lstStyle/>
          <a:p>
            <a:pPr marL="0" indent="0" algn="ctr">
              <a:buNone/>
            </a:pPr>
            <a:r>
              <a:rPr lang="en-US" sz="2800" dirty="0">
                <a:solidFill>
                  <a:srgbClr val="000000"/>
                </a:solidFill>
                <a:latin typeface="Calibri" pitchFamily="34" charset="0"/>
                <a:ea typeface="Calibri" pitchFamily="34" charset="-122"/>
                <a:cs typeface="Calibri" pitchFamily="34" charset="-120"/>
              </a:rPr>
              <a:t>🎧</a:t>
            </a:r>
            <a:endParaRPr lang="en-US" sz="2800" dirty="0"/>
          </a:p>
        </p:txBody>
      </p:sp>
      <p:sp>
        <p:nvSpPr>
          <p:cNvPr id="6" name="Text 4"/>
          <p:cNvSpPr/>
          <p:nvPr/>
        </p:nvSpPr>
        <p:spPr>
          <a:xfrm>
            <a:off x="274320" y="1463040"/>
            <a:ext cx="2743200" cy="347472"/>
          </a:xfrm>
          <a:prstGeom prst="rect">
            <a:avLst/>
          </a:prstGeom>
          <a:noFill/>
          <a:ln/>
        </p:spPr>
        <p:txBody>
          <a:bodyPr wrap="square" rtlCol="0" anchor="ctr"/>
          <a:lstStyle/>
          <a:p>
            <a:pPr marL="0" indent="0" algn="ctr">
              <a:buNone/>
            </a:pPr>
            <a:r>
              <a:rPr lang="en-US" sz="1300" b="1" dirty="0">
                <a:solidFill>
                  <a:srgbClr val="06B6D4"/>
                </a:solidFill>
                <a:latin typeface="Calibri" pitchFamily="34" charset="0"/>
                <a:ea typeface="Calibri" pitchFamily="34" charset="-122"/>
                <a:cs typeface="Calibri" pitchFamily="34" charset="-120"/>
              </a:rPr>
              <a:t>Customer Support</a:t>
            </a:r>
            <a:endParaRPr lang="en-US" sz="1300" dirty="0"/>
          </a:p>
        </p:txBody>
      </p:sp>
      <p:sp>
        <p:nvSpPr>
          <p:cNvPr id="7" name="Text 5"/>
          <p:cNvSpPr/>
          <p:nvPr/>
        </p:nvSpPr>
        <p:spPr>
          <a:xfrm>
            <a:off x="384048" y="1847088"/>
            <a:ext cx="2542032" cy="749808"/>
          </a:xfrm>
          <a:prstGeom prst="rect">
            <a:avLst/>
          </a:prstGeom>
          <a:noFill/>
          <a:ln/>
        </p:spPr>
        <p:txBody>
          <a:bodyPr wrap="square" rtlCol="0" anchor="ctr"/>
          <a:lstStyle/>
          <a:p>
            <a:pPr marL="0" indent="0">
              <a:buNone/>
            </a:pPr>
            <a:r>
              <a:rPr lang="en-US" sz="950" dirty="0">
                <a:solidFill>
                  <a:srgbClr val="CBD5E1"/>
                </a:solidFill>
                <a:latin typeface="Calibri" pitchFamily="34" charset="0"/>
                <a:ea typeface="Calibri" pitchFamily="34" charset="-122"/>
                <a:cs typeface="Calibri" pitchFamily="34" charset="-120"/>
              </a:rPr>
              <a:t>24/7 AI agent handles tickets, escalates when needed, accesses CRM and knowledge base. Reduces support cost by 60%.</a:t>
            </a:r>
            <a:endParaRPr lang="en-US" sz="950" dirty="0"/>
          </a:p>
        </p:txBody>
      </p:sp>
      <p:sp>
        <p:nvSpPr>
          <p:cNvPr id="8" name="Shape 6"/>
          <p:cNvSpPr/>
          <p:nvPr/>
        </p:nvSpPr>
        <p:spPr>
          <a:xfrm>
            <a:off x="3182112" y="914400"/>
            <a:ext cx="2743200" cy="1783080"/>
          </a:xfrm>
          <a:prstGeom prst="roundRect">
            <a:avLst>
              <a:gd name="adj" fmla="val 6154"/>
            </a:avLst>
          </a:prstGeom>
          <a:solidFill>
            <a:srgbClr val="1E293B"/>
          </a:solidFill>
          <a:ln w="19050">
            <a:solidFill>
              <a:srgbClr val="8B5CF6"/>
            </a:solidFill>
            <a:prstDash val="solid"/>
          </a:ln>
        </p:spPr>
        <p:txBody>
          <a:bodyPr/>
          <a:lstStyle/>
          <a:p>
            <a:endParaRPr lang="en-IN"/>
          </a:p>
        </p:txBody>
      </p:sp>
      <p:sp>
        <p:nvSpPr>
          <p:cNvPr id="9" name="Text 7"/>
          <p:cNvSpPr/>
          <p:nvPr/>
        </p:nvSpPr>
        <p:spPr>
          <a:xfrm>
            <a:off x="3182112" y="1005840"/>
            <a:ext cx="2743200" cy="457200"/>
          </a:xfrm>
          <a:prstGeom prst="rect">
            <a:avLst/>
          </a:prstGeom>
          <a:noFill/>
          <a:ln/>
        </p:spPr>
        <p:txBody>
          <a:bodyPr wrap="square" rtlCol="0" anchor="ctr"/>
          <a:lstStyle/>
          <a:p>
            <a:pPr marL="0" indent="0" algn="ctr">
              <a:buNone/>
            </a:pPr>
            <a:r>
              <a:rPr lang="en-US" sz="2800" dirty="0">
                <a:solidFill>
                  <a:srgbClr val="000000"/>
                </a:solidFill>
                <a:latin typeface="Calibri" pitchFamily="34" charset="0"/>
                <a:ea typeface="Calibri" pitchFamily="34" charset="-122"/>
                <a:cs typeface="Calibri" pitchFamily="34" charset="-120"/>
              </a:rPr>
              <a:t>👥</a:t>
            </a:r>
            <a:endParaRPr lang="en-US" sz="2800" dirty="0"/>
          </a:p>
        </p:txBody>
      </p:sp>
      <p:sp>
        <p:nvSpPr>
          <p:cNvPr id="10" name="Text 8"/>
          <p:cNvSpPr/>
          <p:nvPr/>
        </p:nvSpPr>
        <p:spPr>
          <a:xfrm>
            <a:off x="3182112" y="1463040"/>
            <a:ext cx="2743200" cy="347472"/>
          </a:xfrm>
          <a:prstGeom prst="rect">
            <a:avLst/>
          </a:prstGeom>
          <a:noFill/>
          <a:ln/>
        </p:spPr>
        <p:txBody>
          <a:bodyPr wrap="square" rtlCol="0" anchor="ctr"/>
          <a:lstStyle/>
          <a:p>
            <a:pPr marL="0" indent="0" algn="ctr">
              <a:buNone/>
            </a:pPr>
            <a:r>
              <a:rPr lang="en-US" sz="1300" b="1" dirty="0">
                <a:solidFill>
                  <a:srgbClr val="8B5CF6"/>
                </a:solidFill>
                <a:latin typeface="Calibri" pitchFamily="34" charset="0"/>
                <a:ea typeface="Calibri" pitchFamily="34" charset="-122"/>
                <a:cs typeface="Calibri" pitchFamily="34" charset="-120"/>
              </a:rPr>
              <a:t>HR Assistant</a:t>
            </a:r>
            <a:endParaRPr lang="en-US" sz="1300" dirty="0"/>
          </a:p>
        </p:txBody>
      </p:sp>
      <p:sp>
        <p:nvSpPr>
          <p:cNvPr id="11" name="Text 9"/>
          <p:cNvSpPr/>
          <p:nvPr/>
        </p:nvSpPr>
        <p:spPr>
          <a:xfrm>
            <a:off x="3291840" y="1847088"/>
            <a:ext cx="2542032" cy="749808"/>
          </a:xfrm>
          <a:prstGeom prst="rect">
            <a:avLst/>
          </a:prstGeom>
          <a:noFill/>
          <a:ln/>
        </p:spPr>
        <p:txBody>
          <a:bodyPr wrap="square" rtlCol="0" anchor="ctr"/>
          <a:lstStyle/>
          <a:p>
            <a:pPr marL="0" indent="0">
              <a:buNone/>
            </a:pPr>
            <a:r>
              <a:rPr lang="en-US" sz="950" dirty="0">
                <a:solidFill>
                  <a:srgbClr val="CBD5E1"/>
                </a:solidFill>
                <a:latin typeface="Calibri" pitchFamily="34" charset="0"/>
                <a:ea typeface="Calibri" pitchFamily="34" charset="-122"/>
                <a:cs typeface="Calibri" pitchFamily="34" charset="-120"/>
              </a:rPr>
              <a:t>Onboards employees, answers policy questions, screens resumes, schedules interviews. Integrates with HRMS.</a:t>
            </a:r>
            <a:endParaRPr lang="en-US" sz="950" dirty="0"/>
          </a:p>
        </p:txBody>
      </p:sp>
      <p:sp>
        <p:nvSpPr>
          <p:cNvPr id="12" name="Shape 10"/>
          <p:cNvSpPr/>
          <p:nvPr/>
        </p:nvSpPr>
        <p:spPr>
          <a:xfrm>
            <a:off x="6089904" y="914400"/>
            <a:ext cx="2743200" cy="1783080"/>
          </a:xfrm>
          <a:prstGeom prst="roundRect">
            <a:avLst>
              <a:gd name="adj" fmla="val 6154"/>
            </a:avLst>
          </a:prstGeom>
          <a:solidFill>
            <a:srgbClr val="1E293B"/>
          </a:solidFill>
          <a:ln w="19050">
            <a:solidFill>
              <a:srgbClr val="10B981"/>
            </a:solidFill>
            <a:prstDash val="solid"/>
          </a:ln>
        </p:spPr>
        <p:txBody>
          <a:bodyPr/>
          <a:lstStyle/>
          <a:p>
            <a:endParaRPr lang="en-IN"/>
          </a:p>
        </p:txBody>
      </p:sp>
      <p:sp>
        <p:nvSpPr>
          <p:cNvPr id="13" name="Text 11"/>
          <p:cNvSpPr/>
          <p:nvPr/>
        </p:nvSpPr>
        <p:spPr>
          <a:xfrm>
            <a:off x="6089904" y="1005840"/>
            <a:ext cx="2743200" cy="457200"/>
          </a:xfrm>
          <a:prstGeom prst="rect">
            <a:avLst/>
          </a:prstGeom>
          <a:noFill/>
          <a:ln/>
        </p:spPr>
        <p:txBody>
          <a:bodyPr wrap="square" rtlCol="0" anchor="ctr"/>
          <a:lstStyle/>
          <a:p>
            <a:pPr marL="0" indent="0" algn="ctr">
              <a:buNone/>
            </a:pPr>
            <a:r>
              <a:rPr lang="en-US" sz="2800" dirty="0">
                <a:solidFill>
                  <a:srgbClr val="000000"/>
                </a:solidFill>
                <a:latin typeface="Calibri" pitchFamily="34" charset="0"/>
                <a:ea typeface="Calibri" pitchFamily="34" charset="-122"/>
                <a:cs typeface="Calibri" pitchFamily="34" charset="-120"/>
              </a:rPr>
              <a:t>💰</a:t>
            </a:r>
            <a:endParaRPr lang="en-US" sz="2800" dirty="0"/>
          </a:p>
        </p:txBody>
      </p:sp>
      <p:sp>
        <p:nvSpPr>
          <p:cNvPr id="14" name="Text 12"/>
          <p:cNvSpPr/>
          <p:nvPr/>
        </p:nvSpPr>
        <p:spPr>
          <a:xfrm>
            <a:off x="6089904" y="1463040"/>
            <a:ext cx="2743200" cy="347472"/>
          </a:xfrm>
          <a:prstGeom prst="rect">
            <a:avLst/>
          </a:prstGeom>
          <a:noFill/>
          <a:ln/>
        </p:spPr>
        <p:txBody>
          <a:bodyPr wrap="square" rtlCol="0" anchor="ctr"/>
          <a:lstStyle/>
          <a:p>
            <a:pPr marL="0" indent="0" algn="ctr">
              <a:buNone/>
            </a:pPr>
            <a:r>
              <a:rPr lang="en-US" sz="1300" b="1" dirty="0">
                <a:solidFill>
                  <a:srgbClr val="10B981"/>
                </a:solidFill>
                <a:latin typeface="Calibri" pitchFamily="34" charset="0"/>
                <a:ea typeface="Calibri" pitchFamily="34" charset="-122"/>
                <a:cs typeface="Calibri" pitchFamily="34" charset="-120"/>
              </a:rPr>
              <a:t>Financial Advisor</a:t>
            </a:r>
            <a:endParaRPr lang="en-US" sz="1300" dirty="0"/>
          </a:p>
        </p:txBody>
      </p:sp>
      <p:sp>
        <p:nvSpPr>
          <p:cNvPr id="15" name="Text 13"/>
          <p:cNvSpPr/>
          <p:nvPr/>
        </p:nvSpPr>
        <p:spPr>
          <a:xfrm>
            <a:off x="6199632" y="1847088"/>
            <a:ext cx="2542032" cy="749808"/>
          </a:xfrm>
          <a:prstGeom prst="rect">
            <a:avLst/>
          </a:prstGeom>
          <a:noFill/>
          <a:ln/>
        </p:spPr>
        <p:txBody>
          <a:bodyPr wrap="square" rtlCol="0" anchor="ctr"/>
          <a:lstStyle/>
          <a:p>
            <a:pPr marL="0" indent="0">
              <a:buNone/>
            </a:pPr>
            <a:r>
              <a:rPr lang="en-US" sz="950" dirty="0">
                <a:solidFill>
                  <a:srgbClr val="CBD5E1"/>
                </a:solidFill>
                <a:latin typeface="Calibri" pitchFamily="34" charset="0"/>
                <a:ea typeface="Calibri" pitchFamily="34" charset="-122"/>
                <a:cs typeface="Calibri" pitchFamily="34" charset="-120"/>
              </a:rPr>
              <a:t>Analyzes portfolio, provides personalized advice, runs risk analysis. Compliant with regulatory guardrails.</a:t>
            </a:r>
            <a:endParaRPr lang="en-US" sz="950" dirty="0"/>
          </a:p>
        </p:txBody>
      </p:sp>
      <p:sp>
        <p:nvSpPr>
          <p:cNvPr id="16" name="Shape 14"/>
          <p:cNvSpPr/>
          <p:nvPr/>
        </p:nvSpPr>
        <p:spPr>
          <a:xfrm>
            <a:off x="274320" y="2852928"/>
            <a:ext cx="2743200" cy="1783080"/>
          </a:xfrm>
          <a:prstGeom prst="roundRect">
            <a:avLst>
              <a:gd name="adj" fmla="val 6154"/>
            </a:avLst>
          </a:prstGeom>
          <a:solidFill>
            <a:srgbClr val="1E293B"/>
          </a:solidFill>
          <a:ln w="19050">
            <a:solidFill>
              <a:srgbClr val="F59E0B"/>
            </a:solidFill>
            <a:prstDash val="solid"/>
          </a:ln>
        </p:spPr>
        <p:txBody>
          <a:bodyPr/>
          <a:lstStyle/>
          <a:p>
            <a:endParaRPr lang="en-IN"/>
          </a:p>
        </p:txBody>
      </p:sp>
      <p:sp>
        <p:nvSpPr>
          <p:cNvPr id="17" name="Text 15"/>
          <p:cNvSpPr/>
          <p:nvPr/>
        </p:nvSpPr>
        <p:spPr>
          <a:xfrm>
            <a:off x="274320" y="2944368"/>
            <a:ext cx="2743200" cy="457200"/>
          </a:xfrm>
          <a:prstGeom prst="rect">
            <a:avLst/>
          </a:prstGeom>
          <a:noFill/>
          <a:ln/>
        </p:spPr>
        <p:txBody>
          <a:bodyPr wrap="square" rtlCol="0" anchor="ctr"/>
          <a:lstStyle/>
          <a:p>
            <a:pPr marL="0" indent="0" algn="ctr">
              <a:buNone/>
            </a:pPr>
            <a:r>
              <a:rPr lang="en-US" sz="2800" dirty="0">
                <a:solidFill>
                  <a:srgbClr val="000000"/>
                </a:solidFill>
                <a:latin typeface="Calibri" pitchFamily="34" charset="0"/>
                <a:ea typeface="Calibri" pitchFamily="34" charset="-122"/>
                <a:cs typeface="Calibri" pitchFamily="34" charset="-120"/>
              </a:rPr>
              <a:t>🏥</a:t>
            </a:r>
            <a:endParaRPr lang="en-US" sz="2800" dirty="0"/>
          </a:p>
        </p:txBody>
      </p:sp>
      <p:sp>
        <p:nvSpPr>
          <p:cNvPr id="18" name="Text 16"/>
          <p:cNvSpPr/>
          <p:nvPr/>
        </p:nvSpPr>
        <p:spPr>
          <a:xfrm>
            <a:off x="274320" y="3401568"/>
            <a:ext cx="2743200" cy="347472"/>
          </a:xfrm>
          <a:prstGeom prst="rect">
            <a:avLst/>
          </a:prstGeom>
          <a:noFill/>
          <a:ln/>
        </p:spPr>
        <p:txBody>
          <a:bodyPr wrap="square" rtlCol="0" anchor="ctr"/>
          <a:lstStyle/>
          <a:p>
            <a:pPr marL="0" indent="0" algn="ctr">
              <a:buNone/>
            </a:pPr>
            <a:r>
              <a:rPr lang="en-US" sz="1300" b="1" dirty="0">
                <a:solidFill>
                  <a:srgbClr val="F59E0B"/>
                </a:solidFill>
                <a:latin typeface="Calibri" pitchFamily="34" charset="0"/>
                <a:ea typeface="Calibri" pitchFamily="34" charset="-122"/>
                <a:cs typeface="Calibri" pitchFamily="34" charset="-120"/>
              </a:rPr>
              <a:t>Healthcare Assistant</a:t>
            </a:r>
            <a:endParaRPr lang="en-US" sz="1300" dirty="0"/>
          </a:p>
        </p:txBody>
      </p:sp>
      <p:sp>
        <p:nvSpPr>
          <p:cNvPr id="19" name="Text 17"/>
          <p:cNvSpPr/>
          <p:nvPr/>
        </p:nvSpPr>
        <p:spPr>
          <a:xfrm>
            <a:off x="384048" y="3785616"/>
            <a:ext cx="2542032" cy="749808"/>
          </a:xfrm>
          <a:prstGeom prst="rect">
            <a:avLst/>
          </a:prstGeom>
          <a:noFill/>
          <a:ln/>
        </p:spPr>
        <p:txBody>
          <a:bodyPr wrap="square" rtlCol="0" anchor="ctr"/>
          <a:lstStyle/>
          <a:p>
            <a:pPr marL="0" indent="0">
              <a:buNone/>
            </a:pPr>
            <a:r>
              <a:rPr lang="en-US" sz="950" dirty="0">
                <a:solidFill>
                  <a:srgbClr val="CBD5E1"/>
                </a:solidFill>
                <a:latin typeface="Calibri" pitchFamily="34" charset="0"/>
                <a:ea typeface="Calibri" pitchFamily="34" charset="-122"/>
                <a:cs typeface="Calibri" pitchFamily="34" charset="-120"/>
              </a:rPr>
              <a:t>Symptom checking, appointment booking, medication reminders. Integrated with EHR systems.</a:t>
            </a:r>
            <a:endParaRPr lang="en-US" sz="950" dirty="0"/>
          </a:p>
        </p:txBody>
      </p:sp>
      <p:sp>
        <p:nvSpPr>
          <p:cNvPr id="20" name="Shape 18"/>
          <p:cNvSpPr/>
          <p:nvPr/>
        </p:nvSpPr>
        <p:spPr>
          <a:xfrm>
            <a:off x="3182112" y="2852928"/>
            <a:ext cx="2743200" cy="1783080"/>
          </a:xfrm>
          <a:prstGeom prst="roundRect">
            <a:avLst>
              <a:gd name="adj" fmla="val 6154"/>
            </a:avLst>
          </a:prstGeom>
          <a:solidFill>
            <a:srgbClr val="1E293B"/>
          </a:solidFill>
          <a:ln w="19050">
            <a:solidFill>
              <a:srgbClr val="EF4444"/>
            </a:solidFill>
            <a:prstDash val="solid"/>
          </a:ln>
        </p:spPr>
        <p:txBody>
          <a:bodyPr/>
          <a:lstStyle/>
          <a:p>
            <a:endParaRPr lang="en-IN"/>
          </a:p>
        </p:txBody>
      </p:sp>
      <p:sp>
        <p:nvSpPr>
          <p:cNvPr id="21" name="Text 19"/>
          <p:cNvSpPr/>
          <p:nvPr/>
        </p:nvSpPr>
        <p:spPr>
          <a:xfrm>
            <a:off x="3182112" y="2944368"/>
            <a:ext cx="2743200" cy="457200"/>
          </a:xfrm>
          <a:prstGeom prst="rect">
            <a:avLst/>
          </a:prstGeom>
          <a:noFill/>
          <a:ln/>
        </p:spPr>
        <p:txBody>
          <a:bodyPr wrap="square" rtlCol="0" anchor="ctr"/>
          <a:lstStyle/>
          <a:p>
            <a:pPr marL="0" indent="0" algn="ctr">
              <a:buNone/>
            </a:pPr>
            <a:r>
              <a:rPr lang="en-US" sz="2800" dirty="0">
                <a:solidFill>
                  <a:srgbClr val="000000"/>
                </a:solidFill>
                <a:latin typeface="Calibri" pitchFamily="34" charset="0"/>
                <a:ea typeface="Calibri" pitchFamily="34" charset="-122"/>
                <a:cs typeface="Calibri" pitchFamily="34" charset="-120"/>
              </a:rPr>
              <a:t>✈️</a:t>
            </a:r>
            <a:endParaRPr lang="en-US" sz="2800" dirty="0"/>
          </a:p>
        </p:txBody>
      </p:sp>
      <p:sp>
        <p:nvSpPr>
          <p:cNvPr id="22" name="Text 20"/>
          <p:cNvSpPr/>
          <p:nvPr/>
        </p:nvSpPr>
        <p:spPr>
          <a:xfrm>
            <a:off x="3182112" y="3401568"/>
            <a:ext cx="2743200" cy="347472"/>
          </a:xfrm>
          <a:prstGeom prst="rect">
            <a:avLst/>
          </a:prstGeom>
          <a:noFill/>
          <a:ln/>
        </p:spPr>
        <p:txBody>
          <a:bodyPr wrap="square" rtlCol="0" anchor="ctr"/>
          <a:lstStyle/>
          <a:p>
            <a:pPr marL="0" indent="0" algn="ctr">
              <a:buNone/>
            </a:pPr>
            <a:r>
              <a:rPr lang="en-US" sz="1300" b="1" dirty="0">
                <a:solidFill>
                  <a:srgbClr val="EF4444"/>
                </a:solidFill>
                <a:latin typeface="Calibri" pitchFamily="34" charset="0"/>
                <a:ea typeface="Calibri" pitchFamily="34" charset="-122"/>
                <a:cs typeface="Calibri" pitchFamily="34" charset="-120"/>
              </a:rPr>
              <a:t>Travel Planner</a:t>
            </a:r>
            <a:endParaRPr lang="en-US" sz="1300" dirty="0"/>
          </a:p>
        </p:txBody>
      </p:sp>
      <p:sp>
        <p:nvSpPr>
          <p:cNvPr id="23" name="Text 21"/>
          <p:cNvSpPr/>
          <p:nvPr/>
        </p:nvSpPr>
        <p:spPr>
          <a:xfrm>
            <a:off x="3291840" y="3785616"/>
            <a:ext cx="2542032" cy="749808"/>
          </a:xfrm>
          <a:prstGeom prst="rect">
            <a:avLst/>
          </a:prstGeom>
          <a:noFill/>
          <a:ln/>
        </p:spPr>
        <p:txBody>
          <a:bodyPr wrap="square" rtlCol="0" anchor="ctr"/>
          <a:lstStyle/>
          <a:p>
            <a:pPr marL="0" indent="0">
              <a:buNone/>
            </a:pPr>
            <a:r>
              <a:rPr lang="en-US" sz="950" dirty="0">
                <a:solidFill>
                  <a:srgbClr val="CBD5E1"/>
                </a:solidFill>
                <a:latin typeface="Calibri" pitchFamily="34" charset="0"/>
                <a:ea typeface="Calibri" pitchFamily="34" charset="-122"/>
                <a:cs typeface="Calibri" pitchFamily="34" charset="-120"/>
              </a:rPr>
              <a:t>Books flights, hotels, creates itineraries. Calls travel APIs, maps, weather. Full trip coordination.</a:t>
            </a:r>
            <a:endParaRPr lang="en-US" sz="950" dirty="0"/>
          </a:p>
        </p:txBody>
      </p:sp>
      <p:sp>
        <p:nvSpPr>
          <p:cNvPr id="24" name="Shape 22"/>
          <p:cNvSpPr/>
          <p:nvPr/>
        </p:nvSpPr>
        <p:spPr>
          <a:xfrm>
            <a:off x="6089904" y="2852928"/>
            <a:ext cx="2743200" cy="1783080"/>
          </a:xfrm>
          <a:prstGeom prst="roundRect">
            <a:avLst>
              <a:gd name="adj" fmla="val 6154"/>
            </a:avLst>
          </a:prstGeom>
          <a:solidFill>
            <a:srgbClr val="1E293B"/>
          </a:solidFill>
          <a:ln w="19050">
            <a:solidFill>
              <a:srgbClr val="06B6D4"/>
            </a:solidFill>
            <a:prstDash val="solid"/>
          </a:ln>
        </p:spPr>
        <p:txBody>
          <a:bodyPr/>
          <a:lstStyle/>
          <a:p>
            <a:endParaRPr lang="en-IN"/>
          </a:p>
        </p:txBody>
      </p:sp>
      <p:sp>
        <p:nvSpPr>
          <p:cNvPr id="25" name="Text 23"/>
          <p:cNvSpPr/>
          <p:nvPr/>
        </p:nvSpPr>
        <p:spPr>
          <a:xfrm>
            <a:off x="6089904" y="2944368"/>
            <a:ext cx="2743200" cy="457200"/>
          </a:xfrm>
          <a:prstGeom prst="rect">
            <a:avLst/>
          </a:prstGeom>
          <a:noFill/>
          <a:ln/>
        </p:spPr>
        <p:txBody>
          <a:bodyPr wrap="square" rtlCol="0" anchor="ctr"/>
          <a:lstStyle/>
          <a:p>
            <a:pPr marL="0" indent="0" algn="ctr">
              <a:buNone/>
            </a:pPr>
            <a:r>
              <a:rPr lang="en-US" sz="2800" dirty="0">
                <a:solidFill>
                  <a:srgbClr val="000000"/>
                </a:solidFill>
                <a:latin typeface="Calibri" pitchFamily="34" charset="0"/>
                <a:ea typeface="Calibri" pitchFamily="34" charset="-122"/>
                <a:cs typeface="Calibri" pitchFamily="34" charset="-120"/>
              </a:rPr>
              <a:t>⚙️</a:t>
            </a:r>
            <a:endParaRPr lang="en-US" sz="2800" dirty="0"/>
          </a:p>
        </p:txBody>
      </p:sp>
      <p:sp>
        <p:nvSpPr>
          <p:cNvPr id="26" name="Text 24"/>
          <p:cNvSpPr/>
          <p:nvPr/>
        </p:nvSpPr>
        <p:spPr>
          <a:xfrm>
            <a:off x="6089904" y="3401568"/>
            <a:ext cx="2743200" cy="347472"/>
          </a:xfrm>
          <a:prstGeom prst="rect">
            <a:avLst/>
          </a:prstGeom>
          <a:noFill/>
          <a:ln/>
        </p:spPr>
        <p:txBody>
          <a:bodyPr wrap="square" rtlCol="0" anchor="ctr"/>
          <a:lstStyle/>
          <a:p>
            <a:pPr marL="0" indent="0" algn="ctr">
              <a:buNone/>
            </a:pPr>
            <a:r>
              <a:rPr lang="en-US" sz="1300" b="1" dirty="0">
                <a:solidFill>
                  <a:srgbClr val="06B6D4"/>
                </a:solidFill>
                <a:latin typeface="Calibri" pitchFamily="34" charset="0"/>
                <a:ea typeface="Calibri" pitchFamily="34" charset="-122"/>
                <a:cs typeface="Calibri" pitchFamily="34" charset="-120"/>
              </a:rPr>
              <a:t>DevOps Assistant</a:t>
            </a:r>
            <a:endParaRPr lang="en-US" sz="1300" dirty="0"/>
          </a:p>
        </p:txBody>
      </p:sp>
      <p:sp>
        <p:nvSpPr>
          <p:cNvPr id="27" name="Text 25"/>
          <p:cNvSpPr/>
          <p:nvPr/>
        </p:nvSpPr>
        <p:spPr>
          <a:xfrm>
            <a:off x="6199632" y="3785616"/>
            <a:ext cx="2542032" cy="749808"/>
          </a:xfrm>
          <a:prstGeom prst="rect">
            <a:avLst/>
          </a:prstGeom>
          <a:noFill/>
          <a:ln/>
        </p:spPr>
        <p:txBody>
          <a:bodyPr wrap="square" rtlCol="0" anchor="ctr"/>
          <a:lstStyle/>
          <a:p>
            <a:pPr marL="0" indent="0">
              <a:buNone/>
            </a:pPr>
            <a:r>
              <a:rPr lang="en-US" sz="950" dirty="0">
                <a:solidFill>
                  <a:srgbClr val="CBD5E1"/>
                </a:solidFill>
                <a:latin typeface="Calibri" pitchFamily="34" charset="0"/>
                <a:ea typeface="Calibri" pitchFamily="34" charset="-122"/>
                <a:cs typeface="Calibri" pitchFamily="34" charset="-120"/>
              </a:rPr>
              <a:t>Monitors systems, auto-scales resources, diagnoses incidents, writes runbooks. Integrates with Jira, PagerDuty.</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8">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6B6D4"/>
          </a:solidFill>
          <a:ln w="12700">
            <a:solidFill>
              <a:srgbClr val="06B6D4"/>
            </a:solidFill>
            <a:prstDash val="solid"/>
          </a:ln>
        </p:spPr>
        <p:txBody>
          <a:bodyPr/>
          <a:lstStyle/>
          <a:p>
            <a:endParaRPr lang="en-IN"/>
          </a:p>
        </p:txBody>
      </p:sp>
      <p:sp>
        <p:nvSpPr>
          <p:cNvPr id="3" name="Text 1"/>
          <p:cNvSpPr/>
          <p:nvPr/>
        </p:nvSpPr>
        <p:spPr>
          <a:xfrm>
            <a:off x="365760" y="109728"/>
            <a:ext cx="8229600" cy="50292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Conclusion &amp; Future of Agentic AI</a:t>
            </a:r>
            <a:endParaRPr lang="en-US" sz="2600" dirty="0"/>
          </a:p>
        </p:txBody>
      </p:sp>
      <p:sp>
        <p:nvSpPr>
          <p:cNvPr id="4" name="Shape 2"/>
          <p:cNvSpPr/>
          <p:nvPr/>
        </p:nvSpPr>
        <p:spPr>
          <a:xfrm>
            <a:off x="274320" y="685800"/>
            <a:ext cx="4160520" cy="3200400"/>
          </a:xfrm>
          <a:prstGeom prst="roundRect">
            <a:avLst>
              <a:gd name="adj" fmla="val 3429"/>
            </a:avLst>
          </a:prstGeom>
          <a:solidFill>
            <a:srgbClr val="1E293B"/>
          </a:solidFill>
          <a:ln w="19050">
            <a:solidFill>
              <a:srgbClr val="10B981"/>
            </a:solidFill>
            <a:prstDash val="solid"/>
          </a:ln>
        </p:spPr>
        <p:txBody>
          <a:bodyPr/>
          <a:lstStyle/>
          <a:p>
            <a:endParaRPr lang="en-IN"/>
          </a:p>
        </p:txBody>
      </p:sp>
      <p:sp>
        <p:nvSpPr>
          <p:cNvPr id="5" name="Text 3"/>
          <p:cNvSpPr/>
          <p:nvPr/>
        </p:nvSpPr>
        <p:spPr>
          <a:xfrm>
            <a:off x="457200" y="804672"/>
            <a:ext cx="3840480" cy="384048"/>
          </a:xfrm>
          <a:prstGeom prst="rect">
            <a:avLst/>
          </a:prstGeom>
          <a:noFill/>
          <a:ln/>
        </p:spPr>
        <p:txBody>
          <a:bodyPr wrap="square" rtlCol="0" anchor="ctr"/>
          <a:lstStyle/>
          <a:p>
            <a:pPr marL="0" indent="0">
              <a:buNone/>
            </a:pPr>
            <a:r>
              <a:rPr lang="en-US" sz="1400" b="1" dirty="0">
                <a:solidFill>
                  <a:srgbClr val="10B981"/>
                </a:solidFill>
                <a:latin typeface="Calibri" pitchFamily="34" charset="0"/>
                <a:ea typeface="Calibri" pitchFamily="34" charset="-122"/>
                <a:cs typeface="Calibri" pitchFamily="34" charset="-120"/>
              </a:rPr>
              <a:t>✅ Key Takeaways</a:t>
            </a:r>
            <a:endParaRPr lang="en-US" sz="1400" dirty="0"/>
          </a:p>
        </p:txBody>
      </p:sp>
      <p:sp>
        <p:nvSpPr>
          <p:cNvPr id="6" name="Text 4"/>
          <p:cNvSpPr/>
          <p:nvPr/>
        </p:nvSpPr>
        <p:spPr>
          <a:xfrm>
            <a:off x="457200" y="1280160"/>
            <a:ext cx="3840480" cy="310896"/>
          </a:xfrm>
          <a:prstGeom prst="rect">
            <a:avLst/>
          </a:prstGeom>
          <a:noFill/>
          <a:ln/>
        </p:spPr>
        <p:txBody>
          <a:bodyPr wrap="square" rtlCol="0" anchor="ctr"/>
          <a:lstStyle/>
          <a:p>
            <a:pPr marL="0" indent="0">
              <a:buNone/>
            </a:pPr>
            <a:r>
              <a:rPr lang="en-US" sz="1000" dirty="0">
                <a:solidFill>
                  <a:srgbClr val="CBD5E1"/>
                </a:solidFill>
                <a:latin typeface="Calibri" pitchFamily="34" charset="0"/>
                <a:ea typeface="Calibri" pitchFamily="34" charset="-122"/>
                <a:cs typeface="Calibri" pitchFamily="34" charset="-120"/>
              </a:rPr>
              <a:t>▸  Agentic AI = Plan + Reason + Act + Observe</a:t>
            </a:r>
            <a:endParaRPr lang="en-US" sz="1000" dirty="0"/>
          </a:p>
        </p:txBody>
      </p:sp>
      <p:sp>
        <p:nvSpPr>
          <p:cNvPr id="7" name="Text 5"/>
          <p:cNvSpPr/>
          <p:nvPr/>
        </p:nvSpPr>
        <p:spPr>
          <a:xfrm>
            <a:off x="457200" y="1609344"/>
            <a:ext cx="3840480" cy="310896"/>
          </a:xfrm>
          <a:prstGeom prst="rect">
            <a:avLst/>
          </a:prstGeom>
          <a:noFill/>
          <a:ln/>
        </p:spPr>
        <p:txBody>
          <a:bodyPr wrap="square" rtlCol="0" anchor="ctr"/>
          <a:lstStyle/>
          <a:p>
            <a:pPr marL="0" indent="0">
              <a:buNone/>
            </a:pPr>
            <a:r>
              <a:rPr lang="en-US" sz="1000" dirty="0">
                <a:solidFill>
                  <a:srgbClr val="CBD5E1"/>
                </a:solidFill>
                <a:latin typeface="Calibri" pitchFamily="34" charset="0"/>
                <a:ea typeface="Calibri" pitchFamily="34" charset="-122"/>
                <a:cs typeface="Calibri" pitchFamily="34" charset="-120"/>
              </a:rPr>
              <a:t>▸  ReAct pattern is the foundation of agents</a:t>
            </a:r>
            <a:endParaRPr lang="en-US" sz="1000" dirty="0"/>
          </a:p>
        </p:txBody>
      </p:sp>
      <p:sp>
        <p:nvSpPr>
          <p:cNvPr id="8" name="Text 6"/>
          <p:cNvSpPr/>
          <p:nvPr/>
        </p:nvSpPr>
        <p:spPr>
          <a:xfrm>
            <a:off x="457200" y="1938528"/>
            <a:ext cx="3840480" cy="310896"/>
          </a:xfrm>
          <a:prstGeom prst="rect">
            <a:avLst/>
          </a:prstGeom>
          <a:noFill/>
          <a:ln/>
        </p:spPr>
        <p:txBody>
          <a:bodyPr wrap="square" rtlCol="0" anchor="ctr"/>
          <a:lstStyle/>
          <a:p>
            <a:pPr marL="0" indent="0">
              <a:buNone/>
            </a:pPr>
            <a:r>
              <a:rPr lang="en-US" sz="1000" dirty="0">
                <a:solidFill>
                  <a:srgbClr val="CBD5E1"/>
                </a:solidFill>
                <a:latin typeface="Calibri" pitchFamily="34" charset="0"/>
                <a:ea typeface="Calibri" pitchFamily="34" charset="-122"/>
                <a:cs typeface="Calibri" pitchFamily="34" charset="-120"/>
              </a:rPr>
              <a:t>▸  RAG solves knowledge cutoff &amp; hallucinations</a:t>
            </a:r>
            <a:endParaRPr lang="en-US" sz="1000" dirty="0"/>
          </a:p>
        </p:txBody>
      </p:sp>
      <p:sp>
        <p:nvSpPr>
          <p:cNvPr id="9" name="Text 7"/>
          <p:cNvSpPr/>
          <p:nvPr/>
        </p:nvSpPr>
        <p:spPr>
          <a:xfrm>
            <a:off x="457200" y="2267712"/>
            <a:ext cx="3840480" cy="310896"/>
          </a:xfrm>
          <a:prstGeom prst="rect">
            <a:avLst/>
          </a:prstGeom>
          <a:noFill/>
          <a:ln/>
        </p:spPr>
        <p:txBody>
          <a:bodyPr wrap="square" rtlCol="0" anchor="ctr"/>
          <a:lstStyle/>
          <a:p>
            <a:pPr marL="0" indent="0">
              <a:buNone/>
            </a:pPr>
            <a:r>
              <a:rPr lang="en-US" sz="1000" dirty="0">
                <a:solidFill>
                  <a:srgbClr val="CBD5E1"/>
                </a:solidFill>
                <a:latin typeface="Calibri" pitchFamily="34" charset="0"/>
                <a:ea typeface="Calibri" pitchFamily="34" charset="-122"/>
                <a:cs typeface="Calibri" pitchFamily="34" charset="-120"/>
              </a:rPr>
              <a:t>▸  LangChain = pipeline; LangGraph = workflows</a:t>
            </a:r>
            <a:endParaRPr lang="en-US" sz="1000" dirty="0"/>
          </a:p>
        </p:txBody>
      </p:sp>
      <p:sp>
        <p:nvSpPr>
          <p:cNvPr id="10" name="Text 8"/>
          <p:cNvSpPr/>
          <p:nvPr/>
        </p:nvSpPr>
        <p:spPr>
          <a:xfrm>
            <a:off x="457200" y="2596896"/>
            <a:ext cx="3840480" cy="310896"/>
          </a:xfrm>
          <a:prstGeom prst="rect">
            <a:avLst/>
          </a:prstGeom>
          <a:noFill/>
          <a:ln/>
        </p:spPr>
        <p:txBody>
          <a:bodyPr wrap="square" rtlCol="0" anchor="ctr"/>
          <a:lstStyle/>
          <a:p>
            <a:pPr marL="0" indent="0">
              <a:buNone/>
            </a:pPr>
            <a:r>
              <a:rPr lang="en-US" sz="1000" dirty="0">
                <a:solidFill>
                  <a:srgbClr val="CBD5E1"/>
                </a:solidFill>
                <a:latin typeface="Calibri" pitchFamily="34" charset="0"/>
                <a:ea typeface="Calibri" pitchFamily="34" charset="-122"/>
                <a:cs typeface="Calibri" pitchFamily="34" charset="-120"/>
              </a:rPr>
              <a:t>▸  MCP = universal protocol for AI tool use</a:t>
            </a:r>
            <a:endParaRPr lang="en-US" sz="1000" dirty="0"/>
          </a:p>
        </p:txBody>
      </p:sp>
      <p:sp>
        <p:nvSpPr>
          <p:cNvPr id="11" name="Text 9"/>
          <p:cNvSpPr/>
          <p:nvPr/>
        </p:nvSpPr>
        <p:spPr>
          <a:xfrm>
            <a:off x="457200" y="2926080"/>
            <a:ext cx="3840480" cy="310896"/>
          </a:xfrm>
          <a:prstGeom prst="rect">
            <a:avLst/>
          </a:prstGeom>
          <a:noFill/>
          <a:ln/>
        </p:spPr>
        <p:txBody>
          <a:bodyPr wrap="square" rtlCol="0" anchor="ctr"/>
          <a:lstStyle/>
          <a:p>
            <a:pPr marL="0" indent="0">
              <a:buNone/>
            </a:pPr>
            <a:r>
              <a:rPr lang="en-US" sz="1000" dirty="0">
                <a:solidFill>
                  <a:srgbClr val="CBD5E1"/>
                </a:solidFill>
                <a:latin typeface="Calibri" pitchFamily="34" charset="0"/>
                <a:ea typeface="Calibri" pitchFamily="34" charset="-122"/>
                <a:cs typeface="Calibri" pitchFamily="34" charset="-120"/>
              </a:rPr>
              <a:t>▸  Memory makes agents context-aware</a:t>
            </a:r>
            <a:endParaRPr lang="en-US" sz="1000" dirty="0"/>
          </a:p>
        </p:txBody>
      </p:sp>
      <p:sp>
        <p:nvSpPr>
          <p:cNvPr id="12" name="Text 10"/>
          <p:cNvSpPr/>
          <p:nvPr/>
        </p:nvSpPr>
        <p:spPr>
          <a:xfrm>
            <a:off x="457200" y="3255264"/>
            <a:ext cx="3840480" cy="310896"/>
          </a:xfrm>
          <a:prstGeom prst="rect">
            <a:avLst/>
          </a:prstGeom>
          <a:noFill/>
          <a:ln/>
        </p:spPr>
        <p:txBody>
          <a:bodyPr wrap="square" rtlCol="0" anchor="ctr"/>
          <a:lstStyle/>
          <a:p>
            <a:pPr marL="0" indent="0">
              <a:buNone/>
            </a:pPr>
            <a:r>
              <a:rPr lang="en-US" sz="1000" dirty="0">
                <a:solidFill>
                  <a:srgbClr val="CBD5E1"/>
                </a:solidFill>
                <a:latin typeface="Calibri" pitchFamily="34" charset="0"/>
                <a:ea typeface="Calibri" pitchFamily="34" charset="-122"/>
                <a:cs typeface="Calibri" pitchFamily="34" charset="-120"/>
              </a:rPr>
              <a:t>▸  Multi-agent systems handle complex tasks</a:t>
            </a:r>
            <a:endParaRPr lang="en-US" sz="1000" dirty="0"/>
          </a:p>
        </p:txBody>
      </p:sp>
      <p:sp>
        <p:nvSpPr>
          <p:cNvPr id="13" name="Text 11"/>
          <p:cNvSpPr/>
          <p:nvPr/>
        </p:nvSpPr>
        <p:spPr>
          <a:xfrm>
            <a:off x="457200" y="3584448"/>
            <a:ext cx="3840480" cy="310896"/>
          </a:xfrm>
          <a:prstGeom prst="rect">
            <a:avLst/>
          </a:prstGeom>
          <a:noFill/>
          <a:ln/>
        </p:spPr>
        <p:txBody>
          <a:bodyPr wrap="square" rtlCol="0" anchor="ctr"/>
          <a:lstStyle/>
          <a:p>
            <a:pPr marL="0" indent="0">
              <a:buNone/>
            </a:pPr>
            <a:r>
              <a:rPr lang="en-US" sz="1000" dirty="0">
                <a:solidFill>
                  <a:srgbClr val="CBD5E1"/>
                </a:solidFill>
                <a:latin typeface="Calibri" pitchFamily="34" charset="0"/>
                <a:ea typeface="Calibri" pitchFamily="34" charset="-122"/>
                <a:cs typeface="Calibri" pitchFamily="34" charset="-120"/>
              </a:rPr>
              <a:t>▸  AWS Bedrock enables enterprise-grade agents</a:t>
            </a:r>
            <a:endParaRPr lang="en-US" sz="1000" dirty="0"/>
          </a:p>
        </p:txBody>
      </p:sp>
      <p:sp>
        <p:nvSpPr>
          <p:cNvPr id="14" name="Shape 12"/>
          <p:cNvSpPr/>
          <p:nvPr/>
        </p:nvSpPr>
        <p:spPr>
          <a:xfrm>
            <a:off x="4709160" y="685800"/>
            <a:ext cx="4160520" cy="3200400"/>
          </a:xfrm>
          <a:prstGeom prst="roundRect">
            <a:avLst>
              <a:gd name="adj" fmla="val 3429"/>
            </a:avLst>
          </a:prstGeom>
          <a:solidFill>
            <a:srgbClr val="1E293B"/>
          </a:solidFill>
          <a:ln w="19050">
            <a:solidFill>
              <a:srgbClr val="F59E0B"/>
            </a:solidFill>
            <a:prstDash val="solid"/>
          </a:ln>
        </p:spPr>
        <p:txBody>
          <a:bodyPr/>
          <a:lstStyle/>
          <a:p>
            <a:endParaRPr lang="en-IN"/>
          </a:p>
        </p:txBody>
      </p:sp>
      <p:sp>
        <p:nvSpPr>
          <p:cNvPr id="15" name="Text 13"/>
          <p:cNvSpPr/>
          <p:nvPr/>
        </p:nvSpPr>
        <p:spPr>
          <a:xfrm>
            <a:off x="4892040" y="804672"/>
            <a:ext cx="3840480" cy="384048"/>
          </a:xfrm>
          <a:prstGeom prst="rect">
            <a:avLst/>
          </a:prstGeom>
          <a:noFill/>
          <a:ln/>
        </p:spPr>
        <p:txBody>
          <a:bodyPr wrap="square" rtlCol="0" anchor="ctr"/>
          <a:lstStyle/>
          <a:p>
            <a:pPr marL="0" indent="0">
              <a:buNone/>
            </a:pPr>
            <a:r>
              <a:rPr lang="en-US" sz="1400" b="1" dirty="0">
                <a:solidFill>
                  <a:srgbClr val="F59E0B"/>
                </a:solidFill>
                <a:latin typeface="Calibri" pitchFamily="34" charset="0"/>
                <a:ea typeface="Calibri" pitchFamily="34" charset="-122"/>
                <a:cs typeface="Calibri" pitchFamily="34" charset="-120"/>
              </a:rPr>
              <a:t>🚀 Future Trends</a:t>
            </a:r>
            <a:endParaRPr lang="en-US" sz="1400" dirty="0"/>
          </a:p>
        </p:txBody>
      </p:sp>
      <p:sp>
        <p:nvSpPr>
          <p:cNvPr id="16" name="Text 14"/>
          <p:cNvSpPr/>
          <p:nvPr/>
        </p:nvSpPr>
        <p:spPr>
          <a:xfrm>
            <a:off x="4892040" y="1280160"/>
            <a:ext cx="3840480" cy="310896"/>
          </a:xfrm>
          <a:prstGeom prst="rect">
            <a:avLst/>
          </a:prstGeom>
          <a:noFill/>
          <a:ln/>
        </p:spPr>
        <p:txBody>
          <a:bodyPr wrap="square" rtlCol="0" anchor="ctr"/>
          <a:lstStyle/>
          <a:p>
            <a:pPr marL="0" indent="0">
              <a:buNone/>
            </a:pPr>
            <a:r>
              <a:rPr lang="en-US" sz="1000" dirty="0">
                <a:solidFill>
                  <a:srgbClr val="CBD5E1"/>
                </a:solidFill>
                <a:latin typeface="Calibri" pitchFamily="34" charset="0"/>
                <a:ea typeface="Calibri" pitchFamily="34" charset="-122"/>
                <a:cs typeface="Calibri" pitchFamily="34" charset="-120"/>
              </a:rPr>
              <a:t>▸  Self-improving agents (RLHF loops)</a:t>
            </a:r>
            <a:endParaRPr lang="en-US" sz="1000" dirty="0"/>
          </a:p>
        </p:txBody>
      </p:sp>
      <p:sp>
        <p:nvSpPr>
          <p:cNvPr id="17" name="Text 15"/>
          <p:cNvSpPr/>
          <p:nvPr/>
        </p:nvSpPr>
        <p:spPr>
          <a:xfrm>
            <a:off x="4892040" y="1609344"/>
            <a:ext cx="3840480" cy="310896"/>
          </a:xfrm>
          <a:prstGeom prst="rect">
            <a:avLst/>
          </a:prstGeom>
          <a:noFill/>
          <a:ln/>
        </p:spPr>
        <p:txBody>
          <a:bodyPr wrap="square" rtlCol="0" anchor="ctr"/>
          <a:lstStyle/>
          <a:p>
            <a:pPr marL="0" indent="0">
              <a:buNone/>
            </a:pPr>
            <a:r>
              <a:rPr lang="en-US" sz="1000" dirty="0">
                <a:solidFill>
                  <a:srgbClr val="CBD5E1"/>
                </a:solidFill>
                <a:latin typeface="Calibri" pitchFamily="34" charset="0"/>
                <a:ea typeface="Calibri" pitchFamily="34" charset="-122"/>
                <a:cs typeface="Calibri" pitchFamily="34" charset="-120"/>
              </a:rPr>
              <a:t>▸  100K+ token context windows</a:t>
            </a:r>
            <a:endParaRPr lang="en-US" sz="1000" dirty="0"/>
          </a:p>
        </p:txBody>
      </p:sp>
      <p:sp>
        <p:nvSpPr>
          <p:cNvPr id="18" name="Text 16"/>
          <p:cNvSpPr/>
          <p:nvPr/>
        </p:nvSpPr>
        <p:spPr>
          <a:xfrm>
            <a:off x="4892040" y="1938528"/>
            <a:ext cx="3840480" cy="310896"/>
          </a:xfrm>
          <a:prstGeom prst="rect">
            <a:avLst/>
          </a:prstGeom>
          <a:noFill/>
          <a:ln/>
        </p:spPr>
        <p:txBody>
          <a:bodyPr wrap="square" rtlCol="0" anchor="ctr"/>
          <a:lstStyle/>
          <a:p>
            <a:pPr marL="0" indent="0">
              <a:buNone/>
            </a:pPr>
            <a:r>
              <a:rPr lang="en-US" sz="1000" dirty="0">
                <a:solidFill>
                  <a:srgbClr val="CBD5E1"/>
                </a:solidFill>
                <a:latin typeface="Calibri" pitchFamily="34" charset="0"/>
                <a:ea typeface="Calibri" pitchFamily="34" charset="-122"/>
                <a:cs typeface="Calibri" pitchFamily="34" charset="-120"/>
              </a:rPr>
              <a:t>▸  Multimodal agents (vision + audio + text)</a:t>
            </a:r>
            <a:endParaRPr lang="en-US" sz="1000" dirty="0"/>
          </a:p>
        </p:txBody>
      </p:sp>
      <p:sp>
        <p:nvSpPr>
          <p:cNvPr id="19" name="Text 17"/>
          <p:cNvSpPr/>
          <p:nvPr/>
        </p:nvSpPr>
        <p:spPr>
          <a:xfrm>
            <a:off x="4892040" y="2267712"/>
            <a:ext cx="3840480" cy="310896"/>
          </a:xfrm>
          <a:prstGeom prst="rect">
            <a:avLst/>
          </a:prstGeom>
          <a:noFill/>
          <a:ln/>
        </p:spPr>
        <p:txBody>
          <a:bodyPr wrap="square" rtlCol="0" anchor="ctr"/>
          <a:lstStyle/>
          <a:p>
            <a:pPr marL="0" indent="0">
              <a:buNone/>
            </a:pPr>
            <a:r>
              <a:rPr lang="en-US" sz="1000" dirty="0">
                <a:solidFill>
                  <a:srgbClr val="CBD5E1"/>
                </a:solidFill>
                <a:latin typeface="Calibri" pitchFamily="34" charset="0"/>
                <a:ea typeface="Calibri" pitchFamily="34" charset="-122"/>
                <a:cs typeface="Calibri" pitchFamily="34" charset="-120"/>
              </a:rPr>
              <a:t>▸  Agent marketplaces &amp; composable agents</a:t>
            </a:r>
            <a:endParaRPr lang="en-US" sz="1000" dirty="0"/>
          </a:p>
        </p:txBody>
      </p:sp>
      <p:sp>
        <p:nvSpPr>
          <p:cNvPr id="20" name="Text 18"/>
          <p:cNvSpPr/>
          <p:nvPr/>
        </p:nvSpPr>
        <p:spPr>
          <a:xfrm>
            <a:off x="4892040" y="2596896"/>
            <a:ext cx="3840480" cy="310896"/>
          </a:xfrm>
          <a:prstGeom prst="rect">
            <a:avLst/>
          </a:prstGeom>
          <a:noFill/>
          <a:ln/>
        </p:spPr>
        <p:txBody>
          <a:bodyPr wrap="square" rtlCol="0" anchor="ctr"/>
          <a:lstStyle/>
          <a:p>
            <a:pPr marL="0" indent="0">
              <a:buNone/>
            </a:pPr>
            <a:r>
              <a:rPr lang="en-US" sz="1000" dirty="0">
                <a:solidFill>
                  <a:srgbClr val="CBD5E1"/>
                </a:solidFill>
                <a:latin typeface="Calibri" pitchFamily="34" charset="0"/>
                <a:ea typeface="Calibri" pitchFamily="34" charset="-122"/>
                <a:cs typeface="Calibri" pitchFamily="34" charset="-120"/>
              </a:rPr>
              <a:t>▸  Real-time agents (sub-second tool use)</a:t>
            </a:r>
            <a:endParaRPr lang="en-US" sz="1000" dirty="0"/>
          </a:p>
        </p:txBody>
      </p:sp>
      <p:sp>
        <p:nvSpPr>
          <p:cNvPr id="21" name="Text 19"/>
          <p:cNvSpPr/>
          <p:nvPr/>
        </p:nvSpPr>
        <p:spPr>
          <a:xfrm>
            <a:off x="4892040" y="2926080"/>
            <a:ext cx="3840480" cy="310896"/>
          </a:xfrm>
          <a:prstGeom prst="rect">
            <a:avLst/>
          </a:prstGeom>
          <a:noFill/>
          <a:ln/>
        </p:spPr>
        <p:txBody>
          <a:bodyPr wrap="square" rtlCol="0" anchor="ctr"/>
          <a:lstStyle/>
          <a:p>
            <a:pPr marL="0" indent="0">
              <a:buNone/>
            </a:pPr>
            <a:r>
              <a:rPr lang="en-US" sz="1000" dirty="0">
                <a:solidFill>
                  <a:srgbClr val="CBD5E1"/>
                </a:solidFill>
                <a:latin typeface="Calibri" pitchFamily="34" charset="0"/>
                <a:ea typeface="Calibri" pitchFamily="34" charset="-122"/>
                <a:cs typeface="Calibri" pitchFamily="34" charset="-120"/>
              </a:rPr>
              <a:t>▸  Regulatory frameworks for AI agents</a:t>
            </a:r>
            <a:endParaRPr lang="en-US" sz="1000" dirty="0"/>
          </a:p>
        </p:txBody>
      </p:sp>
      <p:sp>
        <p:nvSpPr>
          <p:cNvPr id="22" name="Text 20"/>
          <p:cNvSpPr/>
          <p:nvPr/>
        </p:nvSpPr>
        <p:spPr>
          <a:xfrm>
            <a:off x="4892040" y="3255264"/>
            <a:ext cx="3840480" cy="310896"/>
          </a:xfrm>
          <a:prstGeom prst="rect">
            <a:avLst/>
          </a:prstGeom>
          <a:noFill/>
          <a:ln/>
        </p:spPr>
        <p:txBody>
          <a:bodyPr wrap="square" rtlCol="0" anchor="ctr"/>
          <a:lstStyle/>
          <a:p>
            <a:pPr marL="0" indent="0">
              <a:buNone/>
            </a:pPr>
            <a:r>
              <a:rPr lang="en-US" sz="1000" dirty="0">
                <a:solidFill>
                  <a:srgbClr val="CBD5E1"/>
                </a:solidFill>
                <a:latin typeface="Calibri" pitchFamily="34" charset="0"/>
                <a:ea typeface="Calibri" pitchFamily="34" charset="-122"/>
                <a:cs typeface="Calibri" pitchFamily="34" charset="-120"/>
              </a:rPr>
              <a:t>▸  Hardware-level agent acceleration (NPUs)</a:t>
            </a:r>
            <a:endParaRPr lang="en-US" sz="1000" dirty="0"/>
          </a:p>
        </p:txBody>
      </p:sp>
      <p:sp>
        <p:nvSpPr>
          <p:cNvPr id="23" name="Text 21"/>
          <p:cNvSpPr/>
          <p:nvPr/>
        </p:nvSpPr>
        <p:spPr>
          <a:xfrm>
            <a:off x="4892040" y="3584448"/>
            <a:ext cx="3840480" cy="310896"/>
          </a:xfrm>
          <a:prstGeom prst="rect">
            <a:avLst/>
          </a:prstGeom>
          <a:noFill/>
          <a:ln/>
        </p:spPr>
        <p:txBody>
          <a:bodyPr wrap="square" rtlCol="0" anchor="ctr"/>
          <a:lstStyle/>
          <a:p>
            <a:pPr marL="0" indent="0">
              <a:buNone/>
            </a:pPr>
            <a:r>
              <a:rPr lang="en-US" sz="1000" dirty="0">
                <a:solidFill>
                  <a:srgbClr val="CBD5E1"/>
                </a:solidFill>
                <a:latin typeface="Calibri" pitchFamily="34" charset="0"/>
                <a:ea typeface="Calibri" pitchFamily="34" charset="-122"/>
                <a:cs typeface="Calibri" pitchFamily="34" charset="-120"/>
              </a:rPr>
              <a:t>▸  Personal AI agents for every individual</a:t>
            </a:r>
            <a:endParaRPr lang="en-US" sz="1000" dirty="0"/>
          </a:p>
        </p:txBody>
      </p:sp>
      <p:sp>
        <p:nvSpPr>
          <p:cNvPr id="25" name="Text 23"/>
          <p:cNvSpPr/>
          <p:nvPr/>
        </p:nvSpPr>
        <p:spPr>
          <a:xfrm>
            <a:off x="457200" y="4114800"/>
            <a:ext cx="8229600" cy="731520"/>
          </a:xfrm>
          <a:prstGeom prst="rect">
            <a:avLst/>
          </a:prstGeom>
          <a:noFill/>
          <a:ln/>
        </p:spPr>
        <p:txBody>
          <a:bodyPr wrap="square" rtlCol="0" anchor="ctr"/>
          <a:lstStyle/>
          <a:p>
            <a:pPr marL="0" indent="0" algn="ctr">
              <a:buNone/>
            </a:pP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9">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8B5CF6"/>
          </a:solidFill>
          <a:ln w="12700">
            <a:solidFill>
              <a:srgbClr val="8B5CF6"/>
            </a:solidFill>
            <a:prstDash val="solid"/>
          </a:ln>
        </p:spPr>
        <p:txBody>
          <a:bodyPr/>
          <a:lstStyle/>
          <a:p>
            <a:endParaRPr lang="en-IN"/>
          </a:p>
        </p:txBody>
      </p:sp>
      <p:sp>
        <p:nvSpPr>
          <p:cNvPr id="3" name="Shape 1"/>
          <p:cNvSpPr/>
          <p:nvPr/>
        </p:nvSpPr>
        <p:spPr>
          <a:xfrm>
            <a:off x="-914400" y="-457200"/>
            <a:ext cx="4572000" cy="4572000"/>
          </a:xfrm>
          <a:prstGeom prst="ellipse">
            <a:avLst/>
          </a:prstGeom>
          <a:solidFill>
            <a:srgbClr val="8B5CF6">
              <a:alpha val="8000"/>
            </a:srgbClr>
          </a:solidFill>
          <a:ln w="12700">
            <a:solidFill>
              <a:srgbClr val="8B5CF6">
                <a:alpha val="10000"/>
              </a:srgbClr>
            </a:solidFill>
            <a:prstDash val="solid"/>
          </a:ln>
        </p:spPr>
        <p:txBody>
          <a:bodyPr/>
          <a:lstStyle/>
          <a:p>
            <a:endParaRPr lang="en-IN"/>
          </a:p>
        </p:txBody>
      </p:sp>
      <p:pic>
        <p:nvPicPr>
          <p:cNvPr id="5" name="Image 0" descr="preencoded.png"/>
          <p:cNvPicPr>
            <a:picLocks noChangeAspect="1"/>
          </p:cNvPicPr>
          <p:nvPr/>
        </p:nvPicPr>
        <p:blipFill>
          <a:blip r:embed="rId3"/>
          <a:stretch>
            <a:fillRect/>
          </a:stretch>
        </p:blipFill>
        <p:spPr>
          <a:xfrm>
            <a:off x="4023360" y="822960"/>
            <a:ext cx="1097280" cy="1097280"/>
          </a:xfrm>
          <a:prstGeom prst="rect">
            <a:avLst/>
          </a:prstGeom>
        </p:spPr>
      </p:pic>
      <p:sp>
        <p:nvSpPr>
          <p:cNvPr id="6" name="Text 3"/>
          <p:cNvSpPr/>
          <p:nvPr/>
        </p:nvSpPr>
        <p:spPr>
          <a:xfrm>
            <a:off x="457200" y="1920240"/>
            <a:ext cx="8229600" cy="868680"/>
          </a:xfrm>
          <a:prstGeom prst="rect">
            <a:avLst/>
          </a:prstGeom>
          <a:noFill/>
          <a:ln/>
        </p:spPr>
        <p:txBody>
          <a:bodyPr wrap="square" rtlCol="0" anchor="ctr"/>
          <a:lstStyle/>
          <a:p>
            <a:pPr marL="0" indent="0" algn="ctr">
              <a:buNone/>
            </a:pPr>
            <a:r>
              <a:rPr lang="en-US" sz="5200" b="1" kern="0" spc="400" dirty="0">
                <a:solidFill>
                  <a:srgbClr val="FFFFFF"/>
                </a:solidFill>
                <a:latin typeface="Calibri" pitchFamily="34" charset="0"/>
                <a:ea typeface="Calibri" pitchFamily="34" charset="-122"/>
                <a:cs typeface="Calibri" pitchFamily="34" charset="-120"/>
              </a:rPr>
              <a:t>Thank You!</a:t>
            </a:r>
            <a:endParaRPr lang="en-US" sz="5200" dirty="0"/>
          </a:p>
        </p:txBody>
      </p:sp>
      <p:sp>
        <p:nvSpPr>
          <p:cNvPr id="7" name="Text 4"/>
          <p:cNvSpPr/>
          <p:nvPr/>
        </p:nvSpPr>
        <p:spPr>
          <a:xfrm>
            <a:off x="457200" y="2788920"/>
            <a:ext cx="8229600" cy="411480"/>
          </a:xfrm>
          <a:prstGeom prst="rect">
            <a:avLst/>
          </a:prstGeom>
          <a:noFill/>
          <a:ln/>
        </p:spPr>
        <p:txBody>
          <a:bodyPr wrap="square" rtlCol="0" anchor="ctr"/>
          <a:lstStyle/>
          <a:p>
            <a:pPr marL="0" indent="0" algn="ctr">
              <a:buNone/>
            </a:pPr>
            <a:endParaRPr lang="en-US" sz="1800" dirty="0"/>
          </a:p>
        </p:txBody>
      </p:sp>
      <p:sp>
        <p:nvSpPr>
          <p:cNvPr id="8" name="Text 5"/>
          <p:cNvSpPr/>
          <p:nvPr/>
        </p:nvSpPr>
        <p:spPr>
          <a:xfrm>
            <a:off x="457200" y="3246120"/>
            <a:ext cx="8229600" cy="320040"/>
          </a:xfrm>
          <a:prstGeom prst="rect">
            <a:avLst/>
          </a:prstGeom>
          <a:noFill/>
          <a:ln/>
        </p:spPr>
        <p:txBody>
          <a:bodyPr wrap="square" rtlCol="0" anchor="ctr"/>
          <a:lstStyle/>
          <a:p>
            <a:pPr marL="0" indent="0" algn="ctr">
              <a:buNone/>
            </a:pPr>
            <a:endParaRPr lang="en-US" sz="1400" dirty="0"/>
          </a:p>
        </p:txBody>
      </p:sp>
      <p:sp>
        <p:nvSpPr>
          <p:cNvPr id="10" name="Text 7"/>
          <p:cNvSpPr/>
          <p:nvPr/>
        </p:nvSpPr>
        <p:spPr>
          <a:xfrm>
            <a:off x="640080" y="3931920"/>
            <a:ext cx="2743200" cy="274320"/>
          </a:xfrm>
          <a:prstGeom prst="rect">
            <a:avLst/>
          </a:prstGeom>
          <a:noFill/>
          <a:ln/>
        </p:spPr>
        <p:txBody>
          <a:bodyPr wrap="square" rtlCol="0" anchor="ctr"/>
          <a:lstStyle/>
          <a:p>
            <a:pPr marL="0" indent="0">
              <a:buNone/>
            </a:pPr>
            <a:endParaRPr lang="en-US" sz="1100" dirty="0"/>
          </a:p>
        </p:txBody>
      </p:sp>
      <p:sp>
        <p:nvSpPr>
          <p:cNvPr id="11" name="Text 8"/>
          <p:cNvSpPr/>
          <p:nvPr/>
        </p:nvSpPr>
        <p:spPr>
          <a:xfrm>
            <a:off x="640080" y="4251960"/>
            <a:ext cx="3931920" cy="274320"/>
          </a:xfrm>
          <a:prstGeom prst="rect">
            <a:avLst/>
          </a:prstGeom>
          <a:noFill/>
          <a:ln/>
        </p:spPr>
        <p:txBody>
          <a:bodyPr wrap="square" rtlCol="0" anchor="ctr"/>
          <a:lstStyle/>
          <a:p>
            <a:pPr marL="0" indent="0">
              <a:buNone/>
            </a:pPr>
            <a:endParaRPr lang="en-US" sz="950" dirty="0"/>
          </a:p>
        </p:txBody>
      </p:sp>
      <p:sp>
        <p:nvSpPr>
          <p:cNvPr id="12" name="Text 9"/>
          <p:cNvSpPr/>
          <p:nvPr/>
        </p:nvSpPr>
        <p:spPr>
          <a:xfrm>
            <a:off x="4754880" y="4251960"/>
            <a:ext cx="3931920" cy="274320"/>
          </a:xfrm>
          <a:prstGeom prst="rect">
            <a:avLst/>
          </a:prstGeom>
          <a:noFill/>
          <a:ln/>
        </p:spPr>
        <p:txBody>
          <a:bodyPr wrap="square" rtlCol="0" anchor="ctr"/>
          <a:lstStyle/>
          <a:p>
            <a:pPr marL="0" indent="0">
              <a:buNone/>
            </a:pPr>
            <a:endParaRPr lang="en-US" sz="950" dirty="0"/>
          </a:p>
        </p:txBody>
      </p:sp>
      <p:sp>
        <p:nvSpPr>
          <p:cNvPr id="13" name="Text 10"/>
          <p:cNvSpPr/>
          <p:nvPr/>
        </p:nvSpPr>
        <p:spPr>
          <a:xfrm>
            <a:off x="640080" y="4572000"/>
            <a:ext cx="3931920" cy="274320"/>
          </a:xfrm>
          <a:prstGeom prst="rect">
            <a:avLst/>
          </a:prstGeom>
          <a:noFill/>
          <a:ln/>
        </p:spPr>
        <p:txBody>
          <a:bodyPr wrap="square" rtlCol="0" anchor="ctr"/>
          <a:lstStyle/>
          <a:p>
            <a:pPr marL="0" indent="0">
              <a:buNone/>
            </a:pPr>
            <a:endParaRPr lang="en-US" sz="950" dirty="0"/>
          </a:p>
        </p:txBody>
      </p:sp>
      <p:sp>
        <p:nvSpPr>
          <p:cNvPr id="14" name="Text 11"/>
          <p:cNvSpPr/>
          <p:nvPr/>
        </p:nvSpPr>
        <p:spPr>
          <a:xfrm>
            <a:off x="4754880" y="4572000"/>
            <a:ext cx="3931920" cy="274320"/>
          </a:xfrm>
          <a:prstGeom prst="rect">
            <a:avLst/>
          </a:prstGeom>
          <a:noFill/>
          <a:ln/>
        </p:spPr>
        <p:txBody>
          <a:bodyPr wrap="square" rtlCol="0" anchor="ctr"/>
          <a:lstStyle/>
          <a:p>
            <a:pPr marL="0" indent="0">
              <a:buNone/>
            </a:pPr>
            <a:endParaRPr lang="en-US" sz="950" dirty="0"/>
          </a:p>
        </p:txBody>
      </p:sp>
      <p:sp>
        <p:nvSpPr>
          <p:cNvPr id="15" name="Shape 12"/>
          <p:cNvSpPr/>
          <p:nvPr/>
        </p:nvSpPr>
        <p:spPr>
          <a:xfrm>
            <a:off x="0" y="5093208"/>
            <a:ext cx="9144000" cy="50292"/>
          </a:xfrm>
          <a:prstGeom prst="rect">
            <a:avLst/>
          </a:prstGeom>
          <a:solidFill>
            <a:srgbClr val="8B5CF6"/>
          </a:solidFill>
          <a:ln w="12700">
            <a:solidFill>
              <a:srgbClr val="8B5CF6"/>
            </a:solidFill>
            <a:prstDash val="solid"/>
          </a:ln>
        </p:spPr>
        <p:txBody>
          <a:bodyPr/>
          <a:lstStyle/>
          <a:p>
            <a:endParaRPr lang="en-IN"/>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TotalTime>
  <Words>2750</Words>
  <Application>Microsoft Office PowerPoint</Application>
  <PresentationFormat>On-screen Show (16:9)</PresentationFormat>
  <Paragraphs>515</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Agentic AI for Beginners to Intermediate</dc:title>
  <dc:subject>PptxGenJS Presentation</dc:subject>
  <dc:creator>Agentic AI Guide</dc:creator>
  <cp:lastModifiedBy>Dhanigasree Selvakanapathi(UST,IN)</cp:lastModifiedBy>
  <cp:revision>3</cp:revision>
  <dcterms:created xsi:type="dcterms:W3CDTF">2026-06-12T12:00:38Z</dcterms:created>
  <dcterms:modified xsi:type="dcterms:W3CDTF">2026-06-12T12:15:58Z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5ffddfa-74ad-4c1f-9757-a38a11902f1c_Enabled">
    <vt:lpwstr>true</vt:lpwstr>
  </property>
  <property fmtid="{D5CDD505-2E9C-101B-9397-08002B2CF9AE}" pid="3" name="MSIP_Label_15ffddfa-74ad-4c1f-9757-a38a11902f1c_SetDate">
    <vt:lpwstr>2026-06-12T12:07:39Z</vt:lpwstr>
  </property>
  <property fmtid="{D5CDD505-2E9C-101B-9397-08002B2CF9AE}" pid="4" name="MSIP_Label_15ffddfa-74ad-4c1f-9757-a38a11902f1c_Method">
    <vt:lpwstr>Standard</vt:lpwstr>
  </property>
  <property fmtid="{D5CDD505-2E9C-101B-9397-08002B2CF9AE}" pid="5" name="MSIP_Label_15ffddfa-74ad-4c1f-9757-a38a11902f1c_Name">
    <vt:lpwstr>UST Internal</vt:lpwstr>
  </property>
  <property fmtid="{D5CDD505-2E9C-101B-9397-08002B2CF9AE}" pid="6" name="MSIP_Label_15ffddfa-74ad-4c1f-9757-a38a11902f1c_SiteId">
    <vt:lpwstr>a4431f4b-c207-4733-9530-34c08a9b2b8d</vt:lpwstr>
  </property>
  <property fmtid="{D5CDD505-2E9C-101B-9397-08002B2CF9AE}" pid="7" name="MSIP_Label_15ffddfa-74ad-4c1f-9757-a38a11902f1c_ActionId">
    <vt:lpwstr>4c24fe7e-c0ac-47ac-a77a-939bc60f0de2</vt:lpwstr>
  </property>
  <property fmtid="{D5CDD505-2E9C-101B-9397-08002B2CF9AE}" pid="8" name="MSIP_Label_15ffddfa-74ad-4c1f-9757-a38a11902f1c_ContentBits">
    <vt:lpwstr>0</vt:lpwstr>
  </property>
  <property fmtid="{D5CDD505-2E9C-101B-9397-08002B2CF9AE}" pid="9" name="MSIP_Label_15ffddfa-74ad-4c1f-9757-a38a11902f1c_Tag">
    <vt:lpwstr>10, 3, 0, 1</vt:lpwstr>
  </property>
</Properties>
</file>