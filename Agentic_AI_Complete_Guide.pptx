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740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and the scope: from AI basics to full Agentic AI systems, covering tools used in industry today. Mention this is interview-focused and practical.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Each era builds on the previous. Traditional AI was rigid. ML learned from data. GenAI created content. Agentic AI acts autonomously to complete goals.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takes input and generates output. LLMs predict the next token. The key limitation is they are stateless and passive — this is what Agentic AI solves.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is the next step beyond GenAI. An agent doesn't just respond — it acts. It plans, picks tools, executes steps, observes results, and adjusts its approach.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is very frequently asked in interviews. The key distinction: GenAI responds passively to prompts; Agentic AI proactively plans and executes tasks.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loop is: Plan → Act → Observe → Re-plan. This iterative loop is what makes agents powerful. They don't give up if first attempt fails — they adapt.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(Reasoning + Acting) was introduced in a 2022 paper. It's the most common agent pattern. The agent alternates between reasoning (thinking) and acting (calling tools), then observes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calling is the superpower of agents. The LLM sees tool definitions (name, description, parameters) and decides which to call. This is how agents interact with APIs, databases, email, code execution, etc.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(by Anthropic, 2024) is like USB-C for AI. Instead of each agent needing custom code to connect to every tool, MCP provides a universal protocol. This makes agents pluggable and composable.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essential for enterprise AI. Instead of relying on model's training data, RAG fetches relevant docs at query time and includes them as context. This is the foundation of most enterprise agents.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the backbone of RAG and semantic search. FAISS is great for quick prototypes; ChromaDB is better for production. Both convert text to vectors and find similar ones by cosine distance.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chunk_size=1000, overlap=200 is a good starting point. Overlap prevents losing context at chunk boundaries. The right chunk size depends on your document type and model context window.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is the most widely used AI framework. Its modular design lets you mix and match components. The LCEL (LangChain Expression Language) syntax uses | pipe operators to chain components.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is the go-to for complex agent workflows. Unlike LangChain which is linear, LangGraph supports cycles (retry loops), conditional branching, and multiple agents coordinating. Built on top of LangChain.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agents contextually aware. Short-term (in-context) is fast but limited. Long-term (DB-backed) persists across sessions. Vector memory retrieves relevant past context by semantic similarity.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systems parallelize work. Each agent is specialized. The Coordinator delegates tasks, collects results, and synthesizes the final output. This mirrors how human teams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shows how all components connect. The user talks to the agent, which uses the planner, calls tools, consults memory and RAG, and sends it all to the LLM for final reasoning and response.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Bedrock is the leading cloud platform for enterprise agentic AI. Bedrock Agents provides built-in ReAct agent capabilities with managed memory, knowledge bases (RAG), and tool calling via Lambda functions.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real-world example you can describe in interviews. Show how multiple specialized agents collaborate, each with its own tools (Maps API, DB, notification service), coordinated by a master agent.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questions often asked: Q26-What is agent observability? Q27-How to secure an AI agent? Q28-What is AutoGen? Q29-Difference between agent and workflow? Q30-How to test agentic systems in production?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resources: Python (python.org), LLM APIs (platform.openai.com, anthropic.com), RAG/LangChain (docs.langchain.com), LangGraph (langchain-ai.github.io/langgraph), AWS Bedrock (docs.aws.amazon.com/bedrock).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use case maps to a specific architecture. Common elements: RAG for knowledge, CRM/ERP tools for data, memory for context persistence, escalation logic, and compliance guardrails.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vision. Agentic AI is the biggest shift in software since cloud computing. The skills learned here — RAG, agents, LangGraph, MCP — are the foundation of the next decade of AI engineering.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Shape 1"/>
          <p:cNvSpPr/>
          <p:nvPr/>
        </p:nvSpPr>
        <p:spPr>
          <a:xfrm>
            <a:off x="3200400" y="457200"/>
            <a:ext cx="2743200" cy="2743200"/>
          </a:xfrm>
          <a:prstGeom prst="ellipse">
            <a:avLst/>
          </a:prstGeom>
          <a:solidFill>
            <a:srgbClr val="06B6D4">
              <a:alpha val="10000"/>
            </a:srgbClr>
          </a:solidFill>
          <a:ln w="12700">
            <a:solidFill>
              <a:srgbClr val="06B6D4">
                <a:alpha val="20000"/>
              </a:srgbClr>
            </a:solidFill>
            <a:prstDash val="solid"/>
          </a:ln>
        </p:spPr>
        <p:txBody>
          <a:bodyPr/>
          <a:lstStyle/>
          <a:p>
            <a:endParaRPr lang="en-IN"/>
          </a:p>
        </p:txBody>
      </p:sp>
      <p:sp>
        <p:nvSpPr>
          <p:cNvPr id="4" name="Shape 2"/>
          <p:cNvSpPr/>
          <p:nvPr/>
        </p:nvSpPr>
        <p:spPr>
          <a:xfrm>
            <a:off x="3657600" y="731520"/>
            <a:ext cx="1828800" cy="1828800"/>
          </a:xfrm>
          <a:prstGeom prst="ellipse">
            <a:avLst/>
          </a:prstGeom>
          <a:solidFill>
            <a:srgbClr val="8B5CF6">
              <a:alpha val="12000"/>
            </a:srgbClr>
          </a:solidFill>
          <a:ln w="12700">
            <a:solidFill>
              <a:srgbClr val="8B5CF6">
                <a:alpha val="20000"/>
              </a:srgbClr>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6" name="Text 3"/>
          <p:cNvSpPr/>
          <p:nvPr/>
        </p:nvSpPr>
        <p:spPr>
          <a:xfrm>
            <a:off x="457200" y="1737360"/>
            <a:ext cx="8229600" cy="822960"/>
          </a:xfrm>
          <a:prstGeom prst="rect">
            <a:avLst/>
          </a:prstGeom>
          <a:noFill/>
          <a:ln/>
        </p:spPr>
        <p:txBody>
          <a:bodyPr wrap="square" rtlCol="0" anchor="ctr"/>
          <a:lstStyle/>
          <a:p>
            <a:pPr marL="0" indent="0" algn="ctr">
              <a:buNone/>
            </a:pPr>
            <a:r>
              <a:rPr lang="en-US" sz="5400" b="1" kern="0" spc="800" dirty="0">
                <a:solidFill>
                  <a:srgbClr val="FFFFFF"/>
                </a:solidFill>
                <a:latin typeface="Calibri" pitchFamily="34" charset="0"/>
                <a:ea typeface="Calibri" pitchFamily="34" charset="-122"/>
                <a:cs typeface="Calibri" pitchFamily="34" charset="-120"/>
              </a:rPr>
              <a:t>AGENTIC AI</a:t>
            </a:r>
            <a:endParaRPr lang="en-US" sz="5400" dirty="0"/>
          </a:p>
        </p:txBody>
      </p:sp>
      <p:sp>
        <p:nvSpPr>
          <p:cNvPr id="7" name="Text 4"/>
          <p:cNvSpPr/>
          <p:nvPr/>
        </p:nvSpPr>
        <p:spPr>
          <a:xfrm>
            <a:off x="457200" y="2606040"/>
            <a:ext cx="8229600" cy="457200"/>
          </a:xfrm>
          <a:prstGeom prst="rect">
            <a:avLst/>
          </a:prstGeom>
          <a:noFill/>
          <a:ln/>
        </p:spPr>
        <p:txBody>
          <a:bodyPr wrap="square" rtlCol="0" anchor="ctr"/>
          <a:lstStyle/>
          <a:p>
            <a:pPr marL="0" indent="0" algn="ctr">
              <a:buNone/>
            </a:pPr>
            <a:endParaRPr lang="en-US" sz="2200" dirty="0"/>
          </a:p>
        </p:txBody>
      </p:sp>
      <p:sp>
        <p:nvSpPr>
          <p:cNvPr id="8" name="Text 5"/>
          <p:cNvSpPr/>
          <p:nvPr/>
        </p:nvSpPr>
        <p:spPr>
          <a:xfrm>
            <a:off x="457200" y="3154680"/>
            <a:ext cx="8229600" cy="320040"/>
          </a:xfrm>
          <a:prstGeom prst="rect">
            <a:avLst/>
          </a:prstGeom>
          <a:noFill/>
          <a:ln/>
        </p:spPr>
        <p:txBody>
          <a:bodyPr wrap="square" rtlCol="0" anchor="ctr"/>
          <a:lstStyle/>
          <a:p>
            <a:pPr marL="0" indent="0" algn="ctr">
              <a:buNone/>
            </a:pPr>
            <a:endParaRPr lang="en-US" sz="1300" dirty="0"/>
          </a:p>
        </p:txBody>
      </p:sp>
      <p:sp>
        <p:nvSpPr>
          <p:cNvPr id="9" name="Shape 6"/>
          <p:cNvSpPr/>
          <p:nvPr/>
        </p:nvSpPr>
        <p:spPr>
          <a:xfrm>
            <a:off x="54864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0" name="Text 7"/>
          <p:cNvSpPr/>
          <p:nvPr/>
        </p:nvSpPr>
        <p:spPr>
          <a:xfrm>
            <a:off x="54864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LLMs</a:t>
            </a:r>
            <a:endParaRPr lang="en-US" sz="950" dirty="0"/>
          </a:p>
        </p:txBody>
      </p:sp>
      <p:sp>
        <p:nvSpPr>
          <p:cNvPr id="11" name="Shape 8"/>
          <p:cNvSpPr/>
          <p:nvPr/>
        </p:nvSpPr>
        <p:spPr>
          <a:xfrm>
            <a:off x="256032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2" name="Text 9"/>
          <p:cNvSpPr/>
          <p:nvPr/>
        </p:nvSpPr>
        <p:spPr>
          <a:xfrm>
            <a:off x="256032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RAG</a:t>
            </a:r>
            <a:endParaRPr lang="en-US" sz="950" dirty="0"/>
          </a:p>
        </p:txBody>
      </p:sp>
      <p:sp>
        <p:nvSpPr>
          <p:cNvPr id="13" name="Shape 10"/>
          <p:cNvSpPr/>
          <p:nvPr/>
        </p:nvSpPr>
        <p:spPr>
          <a:xfrm>
            <a:off x="457200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4" name="Text 11"/>
          <p:cNvSpPr/>
          <p:nvPr/>
        </p:nvSpPr>
        <p:spPr>
          <a:xfrm>
            <a:off x="457200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LangChain</a:t>
            </a:r>
            <a:endParaRPr lang="en-US" sz="950" dirty="0"/>
          </a:p>
        </p:txBody>
      </p:sp>
      <p:sp>
        <p:nvSpPr>
          <p:cNvPr id="15" name="Shape 12"/>
          <p:cNvSpPr/>
          <p:nvPr/>
        </p:nvSpPr>
        <p:spPr>
          <a:xfrm>
            <a:off x="6583680" y="3977640"/>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6" name="Text 13"/>
          <p:cNvSpPr/>
          <p:nvPr/>
        </p:nvSpPr>
        <p:spPr>
          <a:xfrm>
            <a:off x="6583680" y="4005072"/>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LangGraph</a:t>
            </a:r>
            <a:endParaRPr lang="en-US" sz="950" dirty="0"/>
          </a:p>
        </p:txBody>
      </p:sp>
      <p:sp>
        <p:nvSpPr>
          <p:cNvPr id="17" name="Shape 14"/>
          <p:cNvSpPr/>
          <p:nvPr/>
        </p:nvSpPr>
        <p:spPr>
          <a:xfrm>
            <a:off x="54864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18" name="Text 15"/>
          <p:cNvSpPr/>
          <p:nvPr/>
        </p:nvSpPr>
        <p:spPr>
          <a:xfrm>
            <a:off x="54864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MCP</a:t>
            </a:r>
            <a:endParaRPr lang="en-US" sz="950" dirty="0"/>
          </a:p>
        </p:txBody>
      </p:sp>
      <p:sp>
        <p:nvSpPr>
          <p:cNvPr id="19" name="Shape 16"/>
          <p:cNvSpPr/>
          <p:nvPr/>
        </p:nvSpPr>
        <p:spPr>
          <a:xfrm>
            <a:off x="256032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20" name="Text 17"/>
          <p:cNvSpPr/>
          <p:nvPr/>
        </p:nvSpPr>
        <p:spPr>
          <a:xfrm>
            <a:off x="256032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Vector DBs</a:t>
            </a:r>
            <a:endParaRPr lang="en-US" sz="950" dirty="0"/>
          </a:p>
        </p:txBody>
      </p:sp>
      <p:sp>
        <p:nvSpPr>
          <p:cNvPr id="21" name="Shape 18"/>
          <p:cNvSpPr/>
          <p:nvPr/>
        </p:nvSpPr>
        <p:spPr>
          <a:xfrm>
            <a:off x="457200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22" name="Text 19"/>
          <p:cNvSpPr/>
          <p:nvPr/>
        </p:nvSpPr>
        <p:spPr>
          <a:xfrm>
            <a:off x="457200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Multi-Agent</a:t>
            </a:r>
            <a:endParaRPr lang="en-US" sz="950" dirty="0"/>
          </a:p>
        </p:txBody>
      </p:sp>
      <p:sp>
        <p:nvSpPr>
          <p:cNvPr id="23" name="Shape 20"/>
          <p:cNvSpPr/>
          <p:nvPr/>
        </p:nvSpPr>
        <p:spPr>
          <a:xfrm>
            <a:off x="6583680" y="4361688"/>
            <a:ext cx="1737360" cy="274320"/>
          </a:xfrm>
          <a:prstGeom prst="roundRect">
            <a:avLst>
              <a:gd name="adj" fmla="val 26667"/>
            </a:avLst>
          </a:prstGeom>
          <a:solidFill>
            <a:srgbClr val="1E3A5F"/>
          </a:solidFill>
          <a:ln w="12700">
            <a:solidFill>
              <a:srgbClr val="06B6D4"/>
            </a:solidFill>
            <a:prstDash val="solid"/>
          </a:ln>
        </p:spPr>
        <p:txBody>
          <a:bodyPr/>
          <a:lstStyle/>
          <a:p>
            <a:endParaRPr lang="en-IN"/>
          </a:p>
        </p:txBody>
      </p:sp>
      <p:sp>
        <p:nvSpPr>
          <p:cNvPr id="24" name="Text 21"/>
          <p:cNvSpPr/>
          <p:nvPr/>
        </p:nvSpPr>
        <p:spPr>
          <a:xfrm>
            <a:off x="6583680" y="4389120"/>
            <a:ext cx="1737360" cy="219456"/>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AWS Bedrock</a:t>
            </a:r>
            <a:endParaRPr lang="en-US" sz="950" dirty="0"/>
          </a:p>
        </p:txBody>
      </p:sp>
      <p:sp>
        <p:nvSpPr>
          <p:cNvPr id="25" name="Text 22"/>
          <p:cNvSpPr/>
          <p:nvPr/>
        </p:nvSpPr>
        <p:spPr>
          <a:xfrm>
            <a:off x="457200" y="4892040"/>
            <a:ext cx="8229600" cy="182880"/>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 2025 Agentic AI Guide</a:t>
            </a:r>
            <a:endParaRPr lang="en-US" sz="900" dirty="0"/>
          </a:p>
        </p:txBody>
      </p:sp>
      <p:sp>
        <p:nvSpPr>
          <p:cNvPr id="26" name="Shape 23"/>
          <p:cNvSpPr/>
          <p:nvPr/>
        </p:nvSpPr>
        <p:spPr>
          <a:xfrm>
            <a:off x="0" y="5093208"/>
            <a:ext cx="9144000" cy="45720"/>
          </a:xfrm>
          <a:prstGeom prst="rect">
            <a:avLst/>
          </a:prstGeom>
          <a:solidFill>
            <a:srgbClr val="8B5CF6"/>
          </a:solidFill>
          <a:ln w="12700">
            <a:solidFill>
              <a:srgbClr val="8B5CF6"/>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37160"/>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2"/>
          <p:cNvSpPr/>
          <p:nvPr/>
        </p:nvSpPr>
        <p:spPr>
          <a:xfrm>
            <a:off x="365760" y="621792"/>
            <a:ext cx="8229600" cy="274320"/>
          </a:xfrm>
          <a:prstGeom prst="rect">
            <a:avLst/>
          </a:prstGeom>
          <a:noFill/>
          <a:ln/>
        </p:spPr>
        <p:txBody>
          <a:bodyPr wrap="square" rtlCol="0" anchor="ctr"/>
          <a:lstStyle/>
          <a:p>
            <a:pPr marL="0" indent="0">
              <a:buNone/>
            </a:pPr>
            <a:r>
              <a:rPr lang="en-US" sz="1400" dirty="0">
                <a:solidFill>
                  <a:srgbClr val="06B6D4"/>
                </a:solidFill>
                <a:latin typeface="Calibri" pitchFamily="34" charset="0"/>
                <a:ea typeface="Calibri" pitchFamily="34" charset="-122"/>
                <a:cs typeface="Calibri" pitchFamily="34" charset="-120"/>
              </a:rPr>
              <a:t>What We'll Cover Today</a:t>
            </a:r>
            <a:endParaRPr lang="en-US" sz="1400" dirty="0"/>
          </a:p>
        </p:txBody>
      </p:sp>
      <p:sp>
        <p:nvSpPr>
          <p:cNvPr id="5" name="Shape 3"/>
          <p:cNvSpPr/>
          <p:nvPr/>
        </p:nvSpPr>
        <p:spPr>
          <a:xfrm>
            <a:off x="320040" y="1005840"/>
            <a:ext cx="416052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6" name="Shape 4"/>
          <p:cNvSpPr/>
          <p:nvPr/>
        </p:nvSpPr>
        <p:spPr>
          <a:xfrm>
            <a:off x="429768" y="1124712"/>
            <a:ext cx="402336" cy="402336"/>
          </a:xfrm>
          <a:prstGeom prst="ellipse">
            <a:avLst/>
          </a:prstGeom>
          <a:solidFill>
            <a:srgbClr val="06B6D4"/>
          </a:solidFill>
          <a:ln w="12700">
            <a:solidFill>
              <a:srgbClr val="06B6D4"/>
            </a:solidFill>
            <a:prstDash val="solid"/>
          </a:ln>
        </p:spPr>
        <p:txBody>
          <a:bodyPr/>
          <a:lstStyle/>
          <a:p>
            <a:endParaRPr lang="en-IN"/>
          </a:p>
        </p:txBody>
      </p:sp>
      <p:sp>
        <p:nvSpPr>
          <p:cNvPr id="7" name="Text 5"/>
          <p:cNvSpPr/>
          <p:nvPr/>
        </p:nvSpPr>
        <p:spPr>
          <a:xfrm>
            <a:off x="429768" y="1124712"/>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914400" y="1170432"/>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AI Evolution &amp; Generative AI</a:t>
            </a:r>
            <a:endParaRPr lang="en-US" sz="1200" dirty="0"/>
          </a:p>
        </p:txBody>
      </p:sp>
      <p:sp>
        <p:nvSpPr>
          <p:cNvPr id="9" name="Shape 7"/>
          <p:cNvSpPr/>
          <p:nvPr/>
        </p:nvSpPr>
        <p:spPr>
          <a:xfrm>
            <a:off x="320040" y="1773936"/>
            <a:ext cx="416052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10" name="Shape 8"/>
          <p:cNvSpPr/>
          <p:nvPr/>
        </p:nvSpPr>
        <p:spPr>
          <a:xfrm>
            <a:off x="429768" y="1892808"/>
            <a:ext cx="402336" cy="402336"/>
          </a:xfrm>
          <a:prstGeom prst="ellipse">
            <a:avLst/>
          </a:prstGeom>
          <a:solidFill>
            <a:srgbClr val="8B5CF6"/>
          </a:solidFill>
          <a:ln w="12700">
            <a:solidFill>
              <a:srgbClr val="8B5CF6"/>
            </a:solidFill>
            <a:prstDash val="solid"/>
          </a:ln>
        </p:spPr>
        <p:txBody>
          <a:bodyPr/>
          <a:lstStyle/>
          <a:p>
            <a:endParaRPr lang="en-IN"/>
          </a:p>
        </p:txBody>
      </p:sp>
      <p:sp>
        <p:nvSpPr>
          <p:cNvPr id="11" name="Text 9"/>
          <p:cNvSpPr/>
          <p:nvPr/>
        </p:nvSpPr>
        <p:spPr>
          <a:xfrm>
            <a:off x="429768" y="1892808"/>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914400" y="1938528"/>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Agentic AI – Concepts &amp; Architecture</a:t>
            </a:r>
            <a:endParaRPr lang="en-US" sz="1200" dirty="0"/>
          </a:p>
        </p:txBody>
      </p:sp>
      <p:sp>
        <p:nvSpPr>
          <p:cNvPr id="13" name="Shape 11"/>
          <p:cNvSpPr/>
          <p:nvPr/>
        </p:nvSpPr>
        <p:spPr>
          <a:xfrm>
            <a:off x="320040" y="2542032"/>
            <a:ext cx="4160520" cy="658368"/>
          </a:xfrm>
          <a:prstGeom prst="roundRect">
            <a:avLst>
              <a:gd name="adj" fmla="val 13889"/>
            </a:avLst>
          </a:prstGeom>
          <a:solidFill>
            <a:srgbClr val="1E293B"/>
          </a:solidFill>
          <a:ln w="12700">
            <a:solidFill>
              <a:srgbClr val="10B981"/>
            </a:solidFill>
            <a:prstDash val="solid"/>
          </a:ln>
        </p:spPr>
        <p:txBody>
          <a:bodyPr/>
          <a:lstStyle/>
          <a:p>
            <a:endParaRPr lang="en-IN"/>
          </a:p>
        </p:txBody>
      </p:sp>
      <p:sp>
        <p:nvSpPr>
          <p:cNvPr id="14" name="Shape 12"/>
          <p:cNvSpPr/>
          <p:nvPr/>
        </p:nvSpPr>
        <p:spPr>
          <a:xfrm>
            <a:off x="429768" y="2660904"/>
            <a:ext cx="402336" cy="402336"/>
          </a:xfrm>
          <a:prstGeom prst="ellipse">
            <a:avLst/>
          </a:prstGeom>
          <a:solidFill>
            <a:srgbClr val="10B981"/>
          </a:solidFill>
          <a:ln w="12700">
            <a:solidFill>
              <a:srgbClr val="10B981"/>
            </a:solidFill>
            <a:prstDash val="solid"/>
          </a:ln>
        </p:spPr>
        <p:txBody>
          <a:bodyPr/>
          <a:lstStyle/>
          <a:p>
            <a:endParaRPr lang="en-IN"/>
          </a:p>
        </p:txBody>
      </p:sp>
      <p:sp>
        <p:nvSpPr>
          <p:cNvPr id="15" name="Text 13"/>
          <p:cNvSpPr/>
          <p:nvPr/>
        </p:nvSpPr>
        <p:spPr>
          <a:xfrm>
            <a:off x="429768" y="2660904"/>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914400" y="2706624"/>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ReAct Agents • Tool Calling • MCP</a:t>
            </a:r>
            <a:endParaRPr lang="en-US" sz="1200" dirty="0"/>
          </a:p>
        </p:txBody>
      </p:sp>
      <p:sp>
        <p:nvSpPr>
          <p:cNvPr id="17" name="Shape 15"/>
          <p:cNvSpPr/>
          <p:nvPr/>
        </p:nvSpPr>
        <p:spPr>
          <a:xfrm>
            <a:off x="320040" y="3310128"/>
            <a:ext cx="4160520" cy="658368"/>
          </a:xfrm>
          <a:prstGeom prst="roundRect">
            <a:avLst>
              <a:gd name="adj" fmla="val 13889"/>
            </a:avLst>
          </a:prstGeom>
          <a:solidFill>
            <a:srgbClr val="1E293B"/>
          </a:solidFill>
          <a:ln w="12700">
            <a:solidFill>
              <a:srgbClr val="F59E0B"/>
            </a:solidFill>
            <a:prstDash val="solid"/>
          </a:ln>
        </p:spPr>
        <p:txBody>
          <a:bodyPr/>
          <a:lstStyle/>
          <a:p>
            <a:endParaRPr lang="en-IN"/>
          </a:p>
        </p:txBody>
      </p:sp>
      <p:sp>
        <p:nvSpPr>
          <p:cNvPr id="18" name="Shape 16"/>
          <p:cNvSpPr/>
          <p:nvPr/>
        </p:nvSpPr>
        <p:spPr>
          <a:xfrm>
            <a:off x="429768" y="3429000"/>
            <a:ext cx="402336" cy="402336"/>
          </a:xfrm>
          <a:prstGeom prst="ellipse">
            <a:avLst/>
          </a:prstGeom>
          <a:solidFill>
            <a:srgbClr val="F59E0B"/>
          </a:solidFill>
          <a:ln w="12700">
            <a:solidFill>
              <a:srgbClr val="F59E0B"/>
            </a:solidFill>
            <a:prstDash val="solid"/>
          </a:ln>
        </p:spPr>
        <p:txBody>
          <a:bodyPr/>
          <a:lstStyle/>
          <a:p>
            <a:endParaRPr lang="en-IN"/>
          </a:p>
        </p:txBody>
      </p:sp>
      <p:sp>
        <p:nvSpPr>
          <p:cNvPr id="19" name="Text 17"/>
          <p:cNvSpPr/>
          <p:nvPr/>
        </p:nvSpPr>
        <p:spPr>
          <a:xfrm>
            <a:off x="429768" y="3429000"/>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04</a:t>
            </a:r>
            <a:endParaRPr lang="en-US" sz="1100" dirty="0"/>
          </a:p>
        </p:txBody>
      </p:sp>
      <p:sp>
        <p:nvSpPr>
          <p:cNvPr id="20" name="Text 18"/>
          <p:cNvSpPr/>
          <p:nvPr/>
        </p:nvSpPr>
        <p:spPr>
          <a:xfrm>
            <a:off x="914400" y="3474720"/>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RAG Pipeline – Loaders, Chunks, Embeddings</a:t>
            </a:r>
            <a:endParaRPr lang="en-US" sz="1200" dirty="0"/>
          </a:p>
        </p:txBody>
      </p:sp>
      <p:sp>
        <p:nvSpPr>
          <p:cNvPr id="21" name="Shape 19"/>
          <p:cNvSpPr/>
          <p:nvPr/>
        </p:nvSpPr>
        <p:spPr>
          <a:xfrm>
            <a:off x="320040" y="4078224"/>
            <a:ext cx="416052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22" name="Shape 20"/>
          <p:cNvSpPr/>
          <p:nvPr/>
        </p:nvSpPr>
        <p:spPr>
          <a:xfrm>
            <a:off x="429768" y="4197096"/>
            <a:ext cx="402336" cy="402336"/>
          </a:xfrm>
          <a:prstGeom prst="ellipse">
            <a:avLst/>
          </a:prstGeom>
          <a:solidFill>
            <a:srgbClr val="06B6D4"/>
          </a:solidFill>
          <a:ln w="12700">
            <a:solidFill>
              <a:srgbClr val="06B6D4"/>
            </a:solidFill>
            <a:prstDash val="solid"/>
          </a:ln>
        </p:spPr>
        <p:txBody>
          <a:bodyPr/>
          <a:lstStyle/>
          <a:p>
            <a:endParaRPr lang="en-IN"/>
          </a:p>
        </p:txBody>
      </p:sp>
      <p:sp>
        <p:nvSpPr>
          <p:cNvPr id="23" name="Text 21"/>
          <p:cNvSpPr/>
          <p:nvPr/>
        </p:nvSpPr>
        <p:spPr>
          <a:xfrm>
            <a:off x="429768" y="4197096"/>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05</a:t>
            </a:r>
            <a:endParaRPr lang="en-US" sz="1100" dirty="0"/>
          </a:p>
        </p:txBody>
      </p:sp>
      <p:sp>
        <p:nvSpPr>
          <p:cNvPr id="24" name="Text 22"/>
          <p:cNvSpPr/>
          <p:nvPr/>
        </p:nvSpPr>
        <p:spPr>
          <a:xfrm>
            <a:off x="914400" y="4242816"/>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Vector Stores – FAISS &amp; ChromaDB</a:t>
            </a:r>
            <a:endParaRPr lang="en-US" sz="1200" dirty="0"/>
          </a:p>
        </p:txBody>
      </p:sp>
      <p:sp>
        <p:nvSpPr>
          <p:cNvPr id="25" name="Shape 23"/>
          <p:cNvSpPr/>
          <p:nvPr/>
        </p:nvSpPr>
        <p:spPr>
          <a:xfrm>
            <a:off x="4709160" y="1005840"/>
            <a:ext cx="416052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26" name="Shape 24"/>
          <p:cNvSpPr/>
          <p:nvPr/>
        </p:nvSpPr>
        <p:spPr>
          <a:xfrm>
            <a:off x="4818888" y="1124712"/>
            <a:ext cx="402336" cy="402336"/>
          </a:xfrm>
          <a:prstGeom prst="ellipse">
            <a:avLst/>
          </a:prstGeom>
          <a:solidFill>
            <a:srgbClr val="8B5CF6"/>
          </a:solidFill>
          <a:ln w="12700">
            <a:solidFill>
              <a:srgbClr val="8B5CF6"/>
            </a:solidFill>
            <a:prstDash val="solid"/>
          </a:ln>
        </p:spPr>
        <p:txBody>
          <a:bodyPr/>
          <a:lstStyle/>
          <a:p>
            <a:endParaRPr lang="en-IN"/>
          </a:p>
        </p:txBody>
      </p:sp>
      <p:sp>
        <p:nvSpPr>
          <p:cNvPr id="27" name="Text 25"/>
          <p:cNvSpPr/>
          <p:nvPr/>
        </p:nvSpPr>
        <p:spPr>
          <a:xfrm>
            <a:off x="4818888" y="1124712"/>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06</a:t>
            </a:r>
            <a:endParaRPr lang="en-US" sz="1100" dirty="0"/>
          </a:p>
        </p:txBody>
      </p:sp>
      <p:sp>
        <p:nvSpPr>
          <p:cNvPr id="28" name="Text 26"/>
          <p:cNvSpPr/>
          <p:nvPr/>
        </p:nvSpPr>
        <p:spPr>
          <a:xfrm>
            <a:off x="5303520" y="1170432"/>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LangChain &amp; LangGraph Frameworks</a:t>
            </a:r>
            <a:endParaRPr lang="en-US" sz="1200" dirty="0"/>
          </a:p>
        </p:txBody>
      </p:sp>
      <p:sp>
        <p:nvSpPr>
          <p:cNvPr id="29" name="Shape 27"/>
          <p:cNvSpPr/>
          <p:nvPr/>
        </p:nvSpPr>
        <p:spPr>
          <a:xfrm>
            <a:off x="4709160" y="1773936"/>
            <a:ext cx="4160520" cy="658368"/>
          </a:xfrm>
          <a:prstGeom prst="roundRect">
            <a:avLst>
              <a:gd name="adj" fmla="val 13889"/>
            </a:avLst>
          </a:prstGeom>
          <a:solidFill>
            <a:srgbClr val="1E293B"/>
          </a:solidFill>
          <a:ln w="12700">
            <a:solidFill>
              <a:srgbClr val="10B981"/>
            </a:solidFill>
            <a:prstDash val="solid"/>
          </a:ln>
        </p:spPr>
        <p:txBody>
          <a:bodyPr/>
          <a:lstStyle/>
          <a:p>
            <a:endParaRPr lang="en-IN"/>
          </a:p>
        </p:txBody>
      </p:sp>
      <p:sp>
        <p:nvSpPr>
          <p:cNvPr id="30" name="Shape 28"/>
          <p:cNvSpPr/>
          <p:nvPr/>
        </p:nvSpPr>
        <p:spPr>
          <a:xfrm>
            <a:off x="4818888" y="1892808"/>
            <a:ext cx="402336" cy="402336"/>
          </a:xfrm>
          <a:prstGeom prst="ellipse">
            <a:avLst/>
          </a:prstGeom>
          <a:solidFill>
            <a:srgbClr val="10B981"/>
          </a:solidFill>
          <a:ln w="12700">
            <a:solidFill>
              <a:srgbClr val="10B981"/>
            </a:solidFill>
            <a:prstDash val="solid"/>
          </a:ln>
        </p:spPr>
        <p:txBody>
          <a:bodyPr/>
          <a:lstStyle/>
          <a:p>
            <a:endParaRPr lang="en-IN"/>
          </a:p>
        </p:txBody>
      </p:sp>
      <p:sp>
        <p:nvSpPr>
          <p:cNvPr id="31" name="Text 29"/>
          <p:cNvSpPr/>
          <p:nvPr/>
        </p:nvSpPr>
        <p:spPr>
          <a:xfrm>
            <a:off x="4818888" y="1892808"/>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07</a:t>
            </a:r>
            <a:endParaRPr lang="en-US" sz="1100" dirty="0"/>
          </a:p>
        </p:txBody>
      </p:sp>
      <p:sp>
        <p:nvSpPr>
          <p:cNvPr id="32" name="Text 30"/>
          <p:cNvSpPr/>
          <p:nvPr/>
        </p:nvSpPr>
        <p:spPr>
          <a:xfrm>
            <a:off x="5303520" y="1938528"/>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Agent Memory &amp; Multi-Agent Systems</a:t>
            </a:r>
            <a:endParaRPr lang="en-US" sz="1200" dirty="0"/>
          </a:p>
        </p:txBody>
      </p:sp>
      <p:sp>
        <p:nvSpPr>
          <p:cNvPr id="33" name="Shape 31"/>
          <p:cNvSpPr/>
          <p:nvPr/>
        </p:nvSpPr>
        <p:spPr>
          <a:xfrm>
            <a:off x="4709160" y="2542032"/>
            <a:ext cx="4160520" cy="658368"/>
          </a:xfrm>
          <a:prstGeom prst="roundRect">
            <a:avLst>
              <a:gd name="adj" fmla="val 13889"/>
            </a:avLst>
          </a:prstGeom>
          <a:solidFill>
            <a:srgbClr val="1E293B"/>
          </a:solidFill>
          <a:ln w="12700">
            <a:solidFill>
              <a:srgbClr val="F59E0B"/>
            </a:solidFill>
            <a:prstDash val="solid"/>
          </a:ln>
        </p:spPr>
        <p:txBody>
          <a:bodyPr/>
          <a:lstStyle/>
          <a:p>
            <a:endParaRPr lang="en-IN"/>
          </a:p>
        </p:txBody>
      </p:sp>
      <p:sp>
        <p:nvSpPr>
          <p:cNvPr id="34" name="Shape 32"/>
          <p:cNvSpPr/>
          <p:nvPr/>
        </p:nvSpPr>
        <p:spPr>
          <a:xfrm>
            <a:off x="4818888" y="2660904"/>
            <a:ext cx="402336" cy="402336"/>
          </a:xfrm>
          <a:prstGeom prst="ellipse">
            <a:avLst/>
          </a:prstGeom>
          <a:solidFill>
            <a:srgbClr val="F59E0B"/>
          </a:solidFill>
          <a:ln w="12700">
            <a:solidFill>
              <a:srgbClr val="F59E0B"/>
            </a:solidFill>
            <a:prstDash val="solid"/>
          </a:ln>
        </p:spPr>
        <p:txBody>
          <a:bodyPr/>
          <a:lstStyle/>
          <a:p>
            <a:endParaRPr lang="en-IN"/>
          </a:p>
        </p:txBody>
      </p:sp>
      <p:sp>
        <p:nvSpPr>
          <p:cNvPr id="35" name="Text 33"/>
          <p:cNvSpPr/>
          <p:nvPr/>
        </p:nvSpPr>
        <p:spPr>
          <a:xfrm>
            <a:off x="4818888" y="2660904"/>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08</a:t>
            </a:r>
            <a:endParaRPr lang="en-US" sz="1100" dirty="0"/>
          </a:p>
        </p:txBody>
      </p:sp>
      <p:sp>
        <p:nvSpPr>
          <p:cNvPr id="36" name="Text 34"/>
          <p:cNvSpPr/>
          <p:nvPr/>
        </p:nvSpPr>
        <p:spPr>
          <a:xfrm>
            <a:off x="5303520" y="2706624"/>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AWS Bedrock &amp; Real-World Use Cases</a:t>
            </a:r>
            <a:endParaRPr lang="en-US" sz="1200" dirty="0"/>
          </a:p>
        </p:txBody>
      </p:sp>
      <p:sp>
        <p:nvSpPr>
          <p:cNvPr id="37" name="Shape 35"/>
          <p:cNvSpPr/>
          <p:nvPr/>
        </p:nvSpPr>
        <p:spPr>
          <a:xfrm>
            <a:off x="4709160" y="3310128"/>
            <a:ext cx="416052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38" name="Shape 36"/>
          <p:cNvSpPr/>
          <p:nvPr/>
        </p:nvSpPr>
        <p:spPr>
          <a:xfrm>
            <a:off x="4818888" y="3429000"/>
            <a:ext cx="402336" cy="402336"/>
          </a:xfrm>
          <a:prstGeom prst="ellipse">
            <a:avLst/>
          </a:prstGeom>
          <a:solidFill>
            <a:srgbClr val="06B6D4"/>
          </a:solidFill>
          <a:ln w="12700">
            <a:solidFill>
              <a:srgbClr val="06B6D4"/>
            </a:solidFill>
            <a:prstDash val="solid"/>
          </a:ln>
        </p:spPr>
        <p:txBody>
          <a:bodyPr/>
          <a:lstStyle/>
          <a:p>
            <a:endParaRPr lang="en-IN"/>
          </a:p>
        </p:txBody>
      </p:sp>
      <p:sp>
        <p:nvSpPr>
          <p:cNvPr id="39" name="Text 37"/>
          <p:cNvSpPr/>
          <p:nvPr/>
        </p:nvSpPr>
        <p:spPr>
          <a:xfrm>
            <a:off x="4818888" y="3429000"/>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09</a:t>
            </a:r>
            <a:endParaRPr lang="en-US" sz="1100" dirty="0"/>
          </a:p>
        </p:txBody>
      </p:sp>
      <p:sp>
        <p:nvSpPr>
          <p:cNvPr id="40" name="Text 38"/>
          <p:cNvSpPr/>
          <p:nvPr/>
        </p:nvSpPr>
        <p:spPr>
          <a:xfrm>
            <a:off x="5303520" y="3474720"/>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EV Charging Portal – End-to-End Demo</a:t>
            </a:r>
            <a:endParaRPr lang="en-US" sz="1200" dirty="0"/>
          </a:p>
        </p:txBody>
      </p:sp>
      <p:sp>
        <p:nvSpPr>
          <p:cNvPr id="41" name="Shape 39"/>
          <p:cNvSpPr/>
          <p:nvPr/>
        </p:nvSpPr>
        <p:spPr>
          <a:xfrm>
            <a:off x="4709160" y="4078224"/>
            <a:ext cx="416052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42" name="Shape 40"/>
          <p:cNvSpPr/>
          <p:nvPr/>
        </p:nvSpPr>
        <p:spPr>
          <a:xfrm>
            <a:off x="4818888" y="4197096"/>
            <a:ext cx="402336" cy="402336"/>
          </a:xfrm>
          <a:prstGeom prst="ellipse">
            <a:avLst/>
          </a:prstGeom>
          <a:solidFill>
            <a:srgbClr val="8B5CF6"/>
          </a:solidFill>
          <a:ln w="12700">
            <a:solidFill>
              <a:srgbClr val="8B5CF6"/>
            </a:solidFill>
            <a:prstDash val="solid"/>
          </a:ln>
        </p:spPr>
        <p:txBody>
          <a:bodyPr/>
          <a:lstStyle/>
          <a:p>
            <a:endParaRPr lang="en-IN"/>
          </a:p>
        </p:txBody>
      </p:sp>
      <p:sp>
        <p:nvSpPr>
          <p:cNvPr id="43" name="Text 41"/>
          <p:cNvSpPr/>
          <p:nvPr/>
        </p:nvSpPr>
        <p:spPr>
          <a:xfrm>
            <a:off x="4818888" y="4197096"/>
            <a:ext cx="402336" cy="402336"/>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303520" y="4242816"/>
            <a:ext cx="347472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Interview Q&amp;A + Learning Roadmap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Evolution of Artificial Intelligence</a:t>
            </a:r>
            <a:endParaRPr lang="en-US" sz="2800" dirty="0"/>
          </a:p>
        </p:txBody>
      </p:sp>
      <p:sp>
        <p:nvSpPr>
          <p:cNvPr id="4" name="Text 2"/>
          <p:cNvSpPr/>
          <p:nvPr/>
        </p:nvSpPr>
        <p:spPr>
          <a:xfrm>
            <a:off x="365760" y="594360"/>
            <a:ext cx="8229600" cy="274320"/>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From rule-based systems to autonomous AI agents</a:t>
            </a:r>
            <a:endParaRPr lang="en-US" sz="1300" dirty="0"/>
          </a:p>
        </p:txBody>
      </p:sp>
      <p:sp>
        <p:nvSpPr>
          <p:cNvPr id="5" name="Shape 3"/>
          <p:cNvSpPr/>
          <p:nvPr/>
        </p:nvSpPr>
        <p:spPr>
          <a:xfrm>
            <a:off x="274320" y="960120"/>
            <a:ext cx="1920240" cy="3931920"/>
          </a:xfrm>
          <a:prstGeom prst="roundRect">
            <a:avLst>
              <a:gd name="adj" fmla="val 5714"/>
            </a:avLst>
          </a:prstGeom>
          <a:solidFill>
            <a:srgbClr val="1A2A3A"/>
          </a:solidFill>
          <a:ln w="19050">
            <a:solidFill>
              <a:srgbClr val="94A3B8"/>
            </a:solidFill>
            <a:prstDash val="solid"/>
          </a:ln>
        </p:spPr>
        <p:txBody>
          <a:bodyPr/>
          <a:lstStyle/>
          <a:p>
            <a:endParaRPr lang="en-IN"/>
          </a:p>
        </p:txBody>
      </p:sp>
      <p:sp>
        <p:nvSpPr>
          <p:cNvPr id="6" name="Shape 4"/>
          <p:cNvSpPr/>
          <p:nvPr/>
        </p:nvSpPr>
        <p:spPr>
          <a:xfrm>
            <a:off x="941832" y="1078992"/>
            <a:ext cx="585216" cy="585216"/>
          </a:xfrm>
          <a:prstGeom prst="ellipse">
            <a:avLst/>
          </a:prstGeom>
          <a:solidFill>
            <a:srgbClr val="94A3B8"/>
          </a:solidFill>
          <a:ln w="12700">
            <a:solidFill>
              <a:srgbClr val="94A3B8"/>
            </a:solidFill>
            <a:prstDash val="solid"/>
          </a:ln>
        </p:spPr>
        <p:txBody>
          <a:bodyPr/>
          <a:lstStyle/>
          <a:p>
            <a:endParaRPr lang="en-IN"/>
          </a:p>
        </p:txBody>
      </p:sp>
      <p:sp>
        <p:nvSpPr>
          <p:cNvPr id="7" name="Text 5"/>
          <p:cNvSpPr/>
          <p:nvPr/>
        </p:nvSpPr>
        <p:spPr>
          <a:xfrm>
            <a:off x="941832"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274320" y="1737360"/>
            <a:ext cx="1920240" cy="411480"/>
          </a:xfrm>
          <a:prstGeom prst="rect">
            <a:avLst/>
          </a:prstGeom>
          <a:noFill/>
          <a:ln/>
        </p:spPr>
        <p:txBody>
          <a:bodyPr wrap="square" rtlCol="0" anchor="ctr"/>
          <a:lstStyle/>
          <a:p>
            <a:pPr marL="0" indent="0" algn="ctr">
              <a:buNone/>
            </a:pPr>
            <a:r>
              <a:rPr lang="en-US" sz="1250" b="1" dirty="0">
                <a:solidFill>
                  <a:srgbClr val="94A3B8"/>
                </a:solidFill>
                <a:latin typeface="Calibri" pitchFamily="34" charset="0"/>
                <a:ea typeface="Calibri" pitchFamily="34" charset="-122"/>
                <a:cs typeface="Calibri" pitchFamily="34" charset="-120"/>
              </a:rPr>
              <a:t>Traditional AI</a:t>
            </a:r>
            <a:endParaRPr lang="en-US" sz="1250" dirty="0"/>
          </a:p>
        </p:txBody>
      </p:sp>
      <p:sp>
        <p:nvSpPr>
          <p:cNvPr id="9" name="Text 7"/>
          <p:cNvSpPr/>
          <p:nvPr/>
        </p:nvSpPr>
        <p:spPr>
          <a:xfrm>
            <a:off x="274320"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1950s–2000s</a:t>
            </a:r>
            <a:endParaRPr lang="en-US" sz="900" dirty="0"/>
          </a:p>
        </p:txBody>
      </p:sp>
      <p:sp>
        <p:nvSpPr>
          <p:cNvPr id="10" name="Text 8"/>
          <p:cNvSpPr/>
          <p:nvPr/>
        </p:nvSpPr>
        <p:spPr>
          <a:xfrm>
            <a:off x="384048"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Rule-based systems</a:t>
            </a:r>
            <a:endParaRPr lang="en-US" sz="950" dirty="0"/>
          </a:p>
        </p:txBody>
      </p:sp>
      <p:sp>
        <p:nvSpPr>
          <p:cNvPr id="11" name="Text 9"/>
          <p:cNvSpPr/>
          <p:nvPr/>
        </p:nvSpPr>
        <p:spPr>
          <a:xfrm>
            <a:off x="384048"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Expert systems</a:t>
            </a:r>
            <a:endParaRPr lang="en-US" sz="950" dirty="0"/>
          </a:p>
        </p:txBody>
      </p:sp>
      <p:sp>
        <p:nvSpPr>
          <p:cNvPr id="12" name="Text 10"/>
          <p:cNvSpPr/>
          <p:nvPr/>
        </p:nvSpPr>
        <p:spPr>
          <a:xfrm>
            <a:off x="384048"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Decision trees</a:t>
            </a:r>
            <a:endParaRPr lang="en-US" sz="950" dirty="0"/>
          </a:p>
        </p:txBody>
      </p:sp>
      <p:sp>
        <p:nvSpPr>
          <p:cNvPr id="13" name="Text 11"/>
          <p:cNvSpPr/>
          <p:nvPr/>
        </p:nvSpPr>
        <p:spPr>
          <a:xfrm>
            <a:off x="384048"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Chess engines</a:t>
            </a:r>
            <a:endParaRPr lang="en-US" sz="950" dirty="0"/>
          </a:p>
        </p:txBody>
      </p:sp>
      <p:sp>
        <p:nvSpPr>
          <p:cNvPr id="14" name="Text 12"/>
          <p:cNvSpPr/>
          <p:nvPr/>
        </p:nvSpPr>
        <p:spPr>
          <a:xfrm>
            <a:off x="384048"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Fixed responses</a:t>
            </a:r>
            <a:endParaRPr lang="en-US" sz="950" dirty="0"/>
          </a:p>
        </p:txBody>
      </p:sp>
      <p:sp>
        <p:nvSpPr>
          <p:cNvPr id="15" name="Shape 13"/>
          <p:cNvSpPr/>
          <p:nvPr/>
        </p:nvSpPr>
        <p:spPr>
          <a:xfrm>
            <a:off x="2450592" y="960120"/>
            <a:ext cx="1920240" cy="3931920"/>
          </a:xfrm>
          <a:prstGeom prst="roundRect">
            <a:avLst>
              <a:gd name="adj" fmla="val 5714"/>
            </a:avLst>
          </a:prstGeom>
          <a:solidFill>
            <a:srgbClr val="1A2212"/>
          </a:solidFill>
          <a:ln w="19050">
            <a:solidFill>
              <a:srgbClr val="F59E0B"/>
            </a:solidFill>
            <a:prstDash val="solid"/>
          </a:ln>
        </p:spPr>
        <p:txBody>
          <a:bodyPr/>
          <a:lstStyle/>
          <a:p>
            <a:endParaRPr lang="en-IN"/>
          </a:p>
        </p:txBody>
      </p:sp>
      <p:sp>
        <p:nvSpPr>
          <p:cNvPr id="16" name="Shape 14"/>
          <p:cNvSpPr/>
          <p:nvPr/>
        </p:nvSpPr>
        <p:spPr>
          <a:xfrm>
            <a:off x="3118104" y="1078992"/>
            <a:ext cx="585216" cy="585216"/>
          </a:xfrm>
          <a:prstGeom prst="ellipse">
            <a:avLst/>
          </a:prstGeom>
          <a:solidFill>
            <a:srgbClr val="F59E0B"/>
          </a:solidFill>
          <a:ln w="12700">
            <a:solidFill>
              <a:srgbClr val="F59E0B"/>
            </a:solidFill>
            <a:prstDash val="solid"/>
          </a:ln>
        </p:spPr>
        <p:txBody>
          <a:bodyPr/>
          <a:lstStyle/>
          <a:p>
            <a:endParaRPr lang="en-IN"/>
          </a:p>
        </p:txBody>
      </p:sp>
      <p:sp>
        <p:nvSpPr>
          <p:cNvPr id="17" name="Text 15"/>
          <p:cNvSpPr/>
          <p:nvPr/>
        </p:nvSpPr>
        <p:spPr>
          <a:xfrm>
            <a:off x="3118104"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2450592" y="1737360"/>
            <a:ext cx="1920240" cy="411480"/>
          </a:xfrm>
          <a:prstGeom prst="rect">
            <a:avLst/>
          </a:prstGeom>
          <a:noFill/>
          <a:ln/>
        </p:spPr>
        <p:txBody>
          <a:bodyPr wrap="square" rtlCol="0" anchor="ctr"/>
          <a:lstStyle/>
          <a:p>
            <a:pPr marL="0" indent="0" algn="ctr">
              <a:buNone/>
            </a:pPr>
            <a:r>
              <a:rPr lang="en-US" sz="1250" b="1" dirty="0">
                <a:solidFill>
                  <a:srgbClr val="F59E0B"/>
                </a:solidFill>
                <a:latin typeface="Calibri" pitchFamily="34" charset="0"/>
                <a:ea typeface="Calibri" pitchFamily="34" charset="-122"/>
                <a:cs typeface="Calibri" pitchFamily="34" charset="-120"/>
              </a:rPr>
              <a:t>Machine Learning</a:t>
            </a:r>
            <a:endParaRPr lang="en-US" sz="1250" dirty="0"/>
          </a:p>
        </p:txBody>
      </p:sp>
      <p:sp>
        <p:nvSpPr>
          <p:cNvPr id="19" name="Text 17"/>
          <p:cNvSpPr/>
          <p:nvPr/>
        </p:nvSpPr>
        <p:spPr>
          <a:xfrm>
            <a:off x="2450592"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2000s–2017</a:t>
            </a:r>
            <a:endParaRPr lang="en-US" sz="900" dirty="0"/>
          </a:p>
        </p:txBody>
      </p:sp>
      <p:sp>
        <p:nvSpPr>
          <p:cNvPr id="20" name="Text 18"/>
          <p:cNvSpPr/>
          <p:nvPr/>
        </p:nvSpPr>
        <p:spPr>
          <a:xfrm>
            <a:off x="2560320"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Pattern recognition</a:t>
            </a:r>
            <a:endParaRPr lang="en-US" sz="950" dirty="0"/>
          </a:p>
        </p:txBody>
      </p:sp>
      <p:sp>
        <p:nvSpPr>
          <p:cNvPr id="21" name="Text 19"/>
          <p:cNvSpPr/>
          <p:nvPr/>
        </p:nvSpPr>
        <p:spPr>
          <a:xfrm>
            <a:off x="2560320"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Neural networks</a:t>
            </a:r>
            <a:endParaRPr lang="en-US" sz="950" dirty="0"/>
          </a:p>
        </p:txBody>
      </p:sp>
      <p:sp>
        <p:nvSpPr>
          <p:cNvPr id="22" name="Text 20"/>
          <p:cNvSpPr/>
          <p:nvPr/>
        </p:nvSpPr>
        <p:spPr>
          <a:xfrm>
            <a:off x="2560320"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Training on data</a:t>
            </a:r>
            <a:endParaRPr lang="en-US" sz="950" dirty="0"/>
          </a:p>
        </p:txBody>
      </p:sp>
      <p:sp>
        <p:nvSpPr>
          <p:cNvPr id="23" name="Text 21"/>
          <p:cNvSpPr/>
          <p:nvPr/>
        </p:nvSpPr>
        <p:spPr>
          <a:xfrm>
            <a:off x="2560320"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Predictions</a:t>
            </a:r>
            <a:endParaRPr lang="en-US" sz="950" dirty="0"/>
          </a:p>
        </p:txBody>
      </p:sp>
      <p:sp>
        <p:nvSpPr>
          <p:cNvPr id="24" name="Text 22"/>
          <p:cNvSpPr/>
          <p:nvPr/>
        </p:nvSpPr>
        <p:spPr>
          <a:xfrm>
            <a:off x="2560320"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Classification</a:t>
            </a:r>
            <a:endParaRPr lang="en-US" sz="950" dirty="0"/>
          </a:p>
        </p:txBody>
      </p:sp>
      <p:sp>
        <p:nvSpPr>
          <p:cNvPr id="25" name="Shape 23"/>
          <p:cNvSpPr/>
          <p:nvPr/>
        </p:nvSpPr>
        <p:spPr>
          <a:xfrm>
            <a:off x="4626864" y="960120"/>
            <a:ext cx="1920240" cy="3931920"/>
          </a:xfrm>
          <a:prstGeom prst="roundRect">
            <a:avLst>
              <a:gd name="adj" fmla="val 5714"/>
            </a:avLst>
          </a:prstGeom>
          <a:solidFill>
            <a:srgbClr val="1A1230"/>
          </a:solidFill>
          <a:ln w="19050">
            <a:solidFill>
              <a:srgbClr val="8B5CF6"/>
            </a:solidFill>
            <a:prstDash val="solid"/>
          </a:ln>
        </p:spPr>
        <p:txBody>
          <a:bodyPr/>
          <a:lstStyle/>
          <a:p>
            <a:endParaRPr lang="en-IN"/>
          </a:p>
        </p:txBody>
      </p:sp>
      <p:sp>
        <p:nvSpPr>
          <p:cNvPr id="26" name="Shape 24"/>
          <p:cNvSpPr/>
          <p:nvPr/>
        </p:nvSpPr>
        <p:spPr>
          <a:xfrm>
            <a:off x="5294376" y="1078992"/>
            <a:ext cx="585216" cy="585216"/>
          </a:xfrm>
          <a:prstGeom prst="ellipse">
            <a:avLst/>
          </a:prstGeom>
          <a:solidFill>
            <a:srgbClr val="8B5CF6"/>
          </a:solidFill>
          <a:ln w="12700">
            <a:solidFill>
              <a:srgbClr val="8B5CF6"/>
            </a:solidFill>
            <a:prstDash val="solid"/>
          </a:ln>
        </p:spPr>
        <p:txBody>
          <a:bodyPr/>
          <a:lstStyle/>
          <a:p>
            <a:endParaRPr lang="en-IN"/>
          </a:p>
        </p:txBody>
      </p:sp>
      <p:sp>
        <p:nvSpPr>
          <p:cNvPr id="27" name="Text 25"/>
          <p:cNvSpPr/>
          <p:nvPr/>
        </p:nvSpPr>
        <p:spPr>
          <a:xfrm>
            <a:off x="5294376"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3</a:t>
            </a:r>
            <a:endParaRPr lang="en-US" sz="1800" dirty="0"/>
          </a:p>
        </p:txBody>
      </p:sp>
      <p:sp>
        <p:nvSpPr>
          <p:cNvPr id="28" name="Text 26"/>
          <p:cNvSpPr/>
          <p:nvPr/>
        </p:nvSpPr>
        <p:spPr>
          <a:xfrm>
            <a:off x="4626864" y="1737360"/>
            <a:ext cx="1920240" cy="411480"/>
          </a:xfrm>
          <a:prstGeom prst="rect">
            <a:avLst/>
          </a:prstGeom>
          <a:noFill/>
          <a:ln/>
        </p:spPr>
        <p:txBody>
          <a:bodyPr wrap="square" rtlCol="0" anchor="ctr"/>
          <a:lstStyle/>
          <a:p>
            <a:pPr marL="0" indent="0" algn="ctr">
              <a:buNone/>
            </a:pPr>
            <a:r>
              <a:rPr lang="en-US" sz="1250" b="1" dirty="0">
                <a:solidFill>
                  <a:srgbClr val="8B5CF6"/>
                </a:solidFill>
                <a:latin typeface="Calibri" pitchFamily="34" charset="0"/>
                <a:ea typeface="Calibri" pitchFamily="34" charset="-122"/>
                <a:cs typeface="Calibri" pitchFamily="34" charset="-120"/>
              </a:rPr>
              <a:t>Generative AI</a:t>
            </a:r>
            <a:endParaRPr lang="en-US" sz="1250" dirty="0"/>
          </a:p>
        </p:txBody>
      </p:sp>
      <p:sp>
        <p:nvSpPr>
          <p:cNvPr id="29" name="Text 27"/>
          <p:cNvSpPr/>
          <p:nvPr/>
        </p:nvSpPr>
        <p:spPr>
          <a:xfrm>
            <a:off x="4626864"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2017–2022</a:t>
            </a:r>
            <a:endParaRPr lang="en-US" sz="900" dirty="0"/>
          </a:p>
        </p:txBody>
      </p:sp>
      <p:sp>
        <p:nvSpPr>
          <p:cNvPr id="30" name="Text 28"/>
          <p:cNvSpPr/>
          <p:nvPr/>
        </p:nvSpPr>
        <p:spPr>
          <a:xfrm>
            <a:off x="4736592"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LLMs (GPT, Claude)</a:t>
            </a:r>
            <a:endParaRPr lang="en-US" sz="950" dirty="0"/>
          </a:p>
        </p:txBody>
      </p:sp>
      <p:sp>
        <p:nvSpPr>
          <p:cNvPr id="31" name="Text 29"/>
          <p:cNvSpPr/>
          <p:nvPr/>
        </p:nvSpPr>
        <p:spPr>
          <a:xfrm>
            <a:off x="4736592"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Text generation</a:t>
            </a:r>
            <a:endParaRPr lang="en-US" sz="950" dirty="0"/>
          </a:p>
        </p:txBody>
      </p:sp>
      <p:sp>
        <p:nvSpPr>
          <p:cNvPr id="32" name="Text 30"/>
          <p:cNvSpPr/>
          <p:nvPr/>
        </p:nvSpPr>
        <p:spPr>
          <a:xfrm>
            <a:off x="4736592"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Image creation</a:t>
            </a:r>
            <a:endParaRPr lang="en-US" sz="950" dirty="0"/>
          </a:p>
        </p:txBody>
      </p:sp>
      <p:sp>
        <p:nvSpPr>
          <p:cNvPr id="33" name="Text 31"/>
          <p:cNvSpPr/>
          <p:nvPr/>
        </p:nvSpPr>
        <p:spPr>
          <a:xfrm>
            <a:off x="4736592"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Conversation</a:t>
            </a:r>
            <a:endParaRPr lang="en-US" sz="950" dirty="0"/>
          </a:p>
        </p:txBody>
      </p:sp>
      <p:sp>
        <p:nvSpPr>
          <p:cNvPr id="34" name="Text 32"/>
          <p:cNvSpPr/>
          <p:nvPr/>
        </p:nvSpPr>
        <p:spPr>
          <a:xfrm>
            <a:off x="4736592"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Summarization</a:t>
            </a:r>
            <a:endParaRPr lang="en-US" sz="950" dirty="0"/>
          </a:p>
        </p:txBody>
      </p:sp>
      <p:sp>
        <p:nvSpPr>
          <p:cNvPr id="35" name="Shape 33"/>
          <p:cNvSpPr/>
          <p:nvPr/>
        </p:nvSpPr>
        <p:spPr>
          <a:xfrm>
            <a:off x="6803136" y="960120"/>
            <a:ext cx="1920240" cy="3931920"/>
          </a:xfrm>
          <a:prstGeom prst="roundRect">
            <a:avLst>
              <a:gd name="adj" fmla="val 5714"/>
            </a:avLst>
          </a:prstGeom>
          <a:solidFill>
            <a:srgbClr val="0A1828"/>
          </a:solidFill>
          <a:ln w="19050">
            <a:solidFill>
              <a:srgbClr val="06B6D4"/>
            </a:solidFill>
            <a:prstDash val="solid"/>
          </a:ln>
        </p:spPr>
        <p:txBody>
          <a:bodyPr/>
          <a:lstStyle/>
          <a:p>
            <a:endParaRPr lang="en-IN"/>
          </a:p>
        </p:txBody>
      </p:sp>
      <p:sp>
        <p:nvSpPr>
          <p:cNvPr id="36" name="Shape 34"/>
          <p:cNvSpPr/>
          <p:nvPr/>
        </p:nvSpPr>
        <p:spPr>
          <a:xfrm>
            <a:off x="7470648" y="1078992"/>
            <a:ext cx="585216" cy="585216"/>
          </a:xfrm>
          <a:prstGeom prst="ellipse">
            <a:avLst/>
          </a:prstGeom>
          <a:solidFill>
            <a:srgbClr val="06B6D4"/>
          </a:solidFill>
          <a:ln w="12700">
            <a:solidFill>
              <a:srgbClr val="06B6D4"/>
            </a:solidFill>
            <a:prstDash val="solid"/>
          </a:ln>
        </p:spPr>
        <p:txBody>
          <a:bodyPr/>
          <a:lstStyle/>
          <a:p>
            <a:endParaRPr lang="en-IN"/>
          </a:p>
        </p:txBody>
      </p:sp>
      <p:sp>
        <p:nvSpPr>
          <p:cNvPr id="37" name="Text 35"/>
          <p:cNvSpPr/>
          <p:nvPr/>
        </p:nvSpPr>
        <p:spPr>
          <a:xfrm>
            <a:off x="7470648" y="1078992"/>
            <a:ext cx="585216" cy="585216"/>
          </a:xfrm>
          <a:prstGeom prst="rect">
            <a:avLst/>
          </a:prstGeom>
          <a:noFill/>
          <a:ln/>
        </p:spPr>
        <p:txBody>
          <a:bodyPr wrap="square" lIns="0" tIns="0" rIns="0" bIns="0" rtlCol="0" anchor="ctr"/>
          <a:lstStyle/>
          <a:p>
            <a:pPr marL="0" indent="0" algn="ctr">
              <a:buNone/>
            </a:pPr>
            <a:r>
              <a:rPr lang="en-US" sz="1800" b="1" dirty="0">
                <a:solidFill>
                  <a:srgbClr val="0F172A"/>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6803136" y="1737360"/>
            <a:ext cx="1920240" cy="411480"/>
          </a:xfrm>
          <a:prstGeom prst="rect">
            <a:avLst/>
          </a:prstGeom>
          <a:noFill/>
          <a:ln/>
        </p:spPr>
        <p:txBody>
          <a:bodyPr wrap="square" rtlCol="0" anchor="ctr"/>
          <a:lstStyle/>
          <a:p>
            <a:pPr marL="0" indent="0" algn="ctr">
              <a:buNone/>
            </a:pPr>
            <a:r>
              <a:rPr lang="en-US" sz="1250" b="1" dirty="0">
                <a:solidFill>
                  <a:srgbClr val="06B6D4"/>
                </a:solidFill>
                <a:latin typeface="Calibri" pitchFamily="34" charset="0"/>
                <a:ea typeface="Calibri" pitchFamily="34" charset="-122"/>
                <a:cs typeface="Calibri" pitchFamily="34" charset="-120"/>
              </a:rPr>
              <a:t>Agentic AI</a:t>
            </a:r>
            <a:endParaRPr lang="en-US" sz="1250" dirty="0"/>
          </a:p>
        </p:txBody>
      </p:sp>
      <p:sp>
        <p:nvSpPr>
          <p:cNvPr id="39" name="Text 37"/>
          <p:cNvSpPr/>
          <p:nvPr/>
        </p:nvSpPr>
        <p:spPr>
          <a:xfrm>
            <a:off x="6803136" y="2121408"/>
            <a:ext cx="1920240" cy="256032"/>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2023–Present</a:t>
            </a:r>
            <a:endParaRPr lang="en-US" sz="900" dirty="0"/>
          </a:p>
        </p:txBody>
      </p:sp>
      <p:sp>
        <p:nvSpPr>
          <p:cNvPr id="40" name="Text 38"/>
          <p:cNvSpPr/>
          <p:nvPr/>
        </p:nvSpPr>
        <p:spPr>
          <a:xfrm>
            <a:off x="6912864" y="2450592"/>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Goal-driven planning</a:t>
            </a:r>
            <a:endParaRPr lang="en-US" sz="950" dirty="0"/>
          </a:p>
        </p:txBody>
      </p:sp>
      <p:sp>
        <p:nvSpPr>
          <p:cNvPr id="41" name="Text 39"/>
          <p:cNvSpPr/>
          <p:nvPr/>
        </p:nvSpPr>
        <p:spPr>
          <a:xfrm>
            <a:off x="6912864" y="2898648"/>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Tool usage</a:t>
            </a:r>
            <a:endParaRPr lang="en-US" sz="950" dirty="0"/>
          </a:p>
        </p:txBody>
      </p:sp>
      <p:sp>
        <p:nvSpPr>
          <p:cNvPr id="42" name="Text 40"/>
          <p:cNvSpPr/>
          <p:nvPr/>
        </p:nvSpPr>
        <p:spPr>
          <a:xfrm>
            <a:off x="6912864" y="3346704"/>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Multi-step reasoning</a:t>
            </a:r>
            <a:endParaRPr lang="en-US" sz="950" dirty="0"/>
          </a:p>
        </p:txBody>
      </p:sp>
      <p:sp>
        <p:nvSpPr>
          <p:cNvPr id="43" name="Text 41"/>
          <p:cNvSpPr/>
          <p:nvPr/>
        </p:nvSpPr>
        <p:spPr>
          <a:xfrm>
            <a:off x="6912864" y="3794760"/>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Memory &amp; context</a:t>
            </a:r>
            <a:endParaRPr lang="en-US" sz="950" dirty="0"/>
          </a:p>
        </p:txBody>
      </p:sp>
      <p:sp>
        <p:nvSpPr>
          <p:cNvPr id="44" name="Text 42"/>
          <p:cNvSpPr/>
          <p:nvPr/>
        </p:nvSpPr>
        <p:spPr>
          <a:xfrm>
            <a:off x="6912864" y="4242816"/>
            <a:ext cx="1719072" cy="38404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  Autonomous action</a:t>
            </a:r>
            <a:endParaRPr lang="en-US" sz="950" dirty="0"/>
          </a:p>
        </p:txBody>
      </p:sp>
      <p:sp>
        <p:nvSpPr>
          <p:cNvPr id="45" name="Shape 43"/>
          <p:cNvSpPr/>
          <p:nvPr/>
        </p:nvSpPr>
        <p:spPr>
          <a:xfrm>
            <a:off x="2176272" y="2926080"/>
            <a:ext cx="256032" cy="0"/>
          </a:xfrm>
          <a:prstGeom prst="line">
            <a:avLst/>
          </a:prstGeom>
          <a:noFill/>
          <a:ln w="19050">
            <a:solidFill>
              <a:srgbClr val="94A3B8"/>
            </a:solidFill>
            <a:prstDash val="sysDot"/>
          </a:ln>
        </p:spPr>
        <p:txBody>
          <a:bodyPr/>
          <a:lstStyle/>
          <a:p>
            <a:endParaRPr lang="en-IN"/>
          </a:p>
        </p:txBody>
      </p:sp>
      <p:sp>
        <p:nvSpPr>
          <p:cNvPr id="46" name="Shape 44"/>
          <p:cNvSpPr/>
          <p:nvPr/>
        </p:nvSpPr>
        <p:spPr>
          <a:xfrm>
            <a:off x="4352544" y="2926080"/>
            <a:ext cx="256032" cy="0"/>
          </a:xfrm>
          <a:prstGeom prst="line">
            <a:avLst/>
          </a:prstGeom>
          <a:noFill/>
          <a:ln w="19050">
            <a:solidFill>
              <a:srgbClr val="94A3B8"/>
            </a:solidFill>
            <a:prstDash val="sysDot"/>
          </a:ln>
        </p:spPr>
        <p:txBody>
          <a:bodyPr/>
          <a:lstStyle/>
          <a:p>
            <a:endParaRPr lang="en-IN"/>
          </a:p>
        </p:txBody>
      </p:sp>
      <p:sp>
        <p:nvSpPr>
          <p:cNvPr id="47" name="Shape 45"/>
          <p:cNvSpPr/>
          <p:nvPr/>
        </p:nvSpPr>
        <p:spPr>
          <a:xfrm>
            <a:off x="6528816" y="2926080"/>
            <a:ext cx="256032" cy="0"/>
          </a:xfrm>
          <a:prstGeom prst="line">
            <a:avLst/>
          </a:prstGeom>
          <a:noFill/>
          <a:ln w="19050">
            <a:solidFill>
              <a:srgbClr val="94A3B8"/>
            </a:solidFill>
            <a:prstDash val="sysDot"/>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Generative AI &amp; LLMs</a:t>
            </a:r>
            <a:endParaRPr lang="en-US" sz="2800" dirty="0"/>
          </a:p>
        </p:txBody>
      </p:sp>
      <p:sp>
        <p:nvSpPr>
          <p:cNvPr id="4" name="Shape 2"/>
          <p:cNvSpPr/>
          <p:nvPr/>
        </p:nvSpPr>
        <p:spPr>
          <a:xfrm>
            <a:off x="274320" y="685800"/>
            <a:ext cx="4023360" cy="4206240"/>
          </a:xfrm>
          <a:prstGeom prst="roundRect">
            <a:avLst>
              <a:gd name="adj" fmla="val 2727"/>
            </a:avLst>
          </a:prstGeom>
          <a:solidFill>
            <a:srgbClr val="1E293B"/>
          </a:solidFill>
          <a:ln w="12700">
            <a:solidFill>
              <a:srgbClr val="8B5CF6"/>
            </a:solidFill>
            <a:prstDash val="solid"/>
          </a:ln>
        </p:spPr>
        <p:txBody>
          <a:bodyPr/>
          <a:lstStyle/>
          <a:p>
            <a:endParaRPr lang="en-IN"/>
          </a:p>
        </p:txBody>
      </p:sp>
      <p:sp>
        <p:nvSpPr>
          <p:cNvPr id="5" name="Text 3"/>
          <p:cNvSpPr/>
          <p:nvPr/>
        </p:nvSpPr>
        <p:spPr>
          <a:xfrm>
            <a:off x="411480" y="804672"/>
            <a:ext cx="3749040" cy="365760"/>
          </a:xfrm>
          <a:prstGeom prst="rect">
            <a:avLst/>
          </a:prstGeom>
          <a:noFill/>
          <a:ln/>
        </p:spPr>
        <p:txBody>
          <a:bodyPr wrap="square" rtlCol="0" anchor="ctr"/>
          <a:lstStyle/>
          <a:p>
            <a:pPr marL="0" indent="0">
              <a:buNone/>
            </a:pPr>
            <a:r>
              <a:rPr lang="en-US" sz="1500" b="1" dirty="0">
                <a:solidFill>
                  <a:srgbClr val="8B5CF6"/>
                </a:solidFill>
                <a:latin typeface="Calibri" pitchFamily="34" charset="0"/>
                <a:ea typeface="Calibri" pitchFamily="34" charset="-122"/>
                <a:cs typeface="Calibri" pitchFamily="34" charset="-120"/>
              </a:rPr>
              <a:t>How LLMs Work</a:t>
            </a:r>
            <a:endParaRPr lang="en-US" sz="1500" dirty="0"/>
          </a:p>
        </p:txBody>
      </p:sp>
      <p:sp>
        <p:nvSpPr>
          <p:cNvPr id="6" name="Shape 4"/>
          <p:cNvSpPr/>
          <p:nvPr/>
        </p:nvSpPr>
        <p:spPr>
          <a:xfrm>
            <a:off x="438912" y="1261872"/>
            <a:ext cx="347472" cy="347472"/>
          </a:xfrm>
          <a:prstGeom prst="ellipse">
            <a:avLst/>
          </a:prstGeom>
          <a:solidFill>
            <a:srgbClr val="8B5CF6"/>
          </a:solidFill>
          <a:ln w="12700">
            <a:solidFill>
              <a:srgbClr val="8B5CF6"/>
            </a:solidFill>
            <a:prstDash val="solid"/>
          </a:ln>
        </p:spPr>
        <p:txBody>
          <a:bodyPr/>
          <a:lstStyle/>
          <a:p>
            <a:endParaRPr lang="en-IN"/>
          </a:p>
        </p:txBody>
      </p:sp>
      <p:sp>
        <p:nvSpPr>
          <p:cNvPr id="7" name="Text 5"/>
          <p:cNvSpPr/>
          <p:nvPr/>
        </p:nvSpPr>
        <p:spPr>
          <a:xfrm>
            <a:off x="438912" y="12618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14400" y="1261872"/>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Tokenization</a:t>
            </a:r>
            <a:endParaRPr lang="en-US" sz="1200" dirty="0"/>
          </a:p>
        </p:txBody>
      </p:sp>
      <p:sp>
        <p:nvSpPr>
          <p:cNvPr id="9" name="Text 7"/>
          <p:cNvSpPr/>
          <p:nvPr/>
        </p:nvSpPr>
        <p:spPr>
          <a:xfrm>
            <a:off x="914400" y="1444752"/>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Text → tokens (word pieces)</a:t>
            </a:r>
            <a:endParaRPr lang="en-US" sz="950" dirty="0"/>
          </a:p>
        </p:txBody>
      </p:sp>
      <p:sp>
        <p:nvSpPr>
          <p:cNvPr id="10" name="Shape 8"/>
          <p:cNvSpPr/>
          <p:nvPr/>
        </p:nvSpPr>
        <p:spPr>
          <a:xfrm>
            <a:off x="438912" y="1956816"/>
            <a:ext cx="347472" cy="347472"/>
          </a:xfrm>
          <a:prstGeom prst="ellipse">
            <a:avLst/>
          </a:prstGeom>
          <a:solidFill>
            <a:srgbClr val="8B5CF6"/>
          </a:solidFill>
          <a:ln w="12700">
            <a:solidFill>
              <a:srgbClr val="8B5CF6"/>
            </a:solidFill>
            <a:prstDash val="solid"/>
          </a:ln>
        </p:spPr>
        <p:txBody>
          <a:bodyPr/>
          <a:lstStyle/>
          <a:p>
            <a:endParaRPr lang="en-IN"/>
          </a:p>
        </p:txBody>
      </p:sp>
      <p:sp>
        <p:nvSpPr>
          <p:cNvPr id="11" name="Text 9"/>
          <p:cNvSpPr/>
          <p:nvPr/>
        </p:nvSpPr>
        <p:spPr>
          <a:xfrm>
            <a:off x="438912" y="19568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914400" y="1956816"/>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Embeddings</a:t>
            </a:r>
            <a:endParaRPr lang="en-US" sz="1200" dirty="0"/>
          </a:p>
        </p:txBody>
      </p:sp>
      <p:sp>
        <p:nvSpPr>
          <p:cNvPr id="13" name="Text 11"/>
          <p:cNvSpPr/>
          <p:nvPr/>
        </p:nvSpPr>
        <p:spPr>
          <a:xfrm>
            <a:off x="914400" y="2139696"/>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Tokens → numeric vectors</a:t>
            </a:r>
            <a:endParaRPr lang="en-US" sz="950" dirty="0"/>
          </a:p>
        </p:txBody>
      </p:sp>
      <p:sp>
        <p:nvSpPr>
          <p:cNvPr id="14" name="Shape 12"/>
          <p:cNvSpPr/>
          <p:nvPr/>
        </p:nvSpPr>
        <p:spPr>
          <a:xfrm>
            <a:off x="438912" y="2651760"/>
            <a:ext cx="347472" cy="347472"/>
          </a:xfrm>
          <a:prstGeom prst="ellipse">
            <a:avLst/>
          </a:prstGeom>
          <a:solidFill>
            <a:srgbClr val="8B5CF6"/>
          </a:solidFill>
          <a:ln w="12700">
            <a:solidFill>
              <a:srgbClr val="8B5CF6"/>
            </a:solidFill>
            <a:prstDash val="solid"/>
          </a:ln>
        </p:spPr>
        <p:txBody>
          <a:bodyPr/>
          <a:lstStyle/>
          <a:p>
            <a:endParaRPr lang="en-IN"/>
          </a:p>
        </p:txBody>
      </p:sp>
      <p:sp>
        <p:nvSpPr>
          <p:cNvPr id="15" name="Text 13"/>
          <p:cNvSpPr/>
          <p:nvPr/>
        </p:nvSpPr>
        <p:spPr>
          <a:xfrm>
            <a:off x="438912" y="26517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914400" y="2651760"/>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Transformer</a:t>
            </a:r>
            <a:endParaRPr lang="en-US" sz="1200" dirty="0"/>
          </a:p>
        </p:txBody>
      </p:sp>
      <p:sp>
        <p:nvSpPr>
          <p:cNvPr id="17" name="Text 15"/>
          <p:cNvSpPr/>
          <p:nvPr/>
        </p:nvSpPr>
        <p:spPr>
          <a:xfrm>
            <a:off x="914400" y="2834640"/>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Attention over all tokens</a:t>
            </a:r>
            <a:endParaRPr lang="en-US" sz="950" dirty="0"/>
          </a:p>
        </p:txBody>
      </p:sp>
      <p:sp>
        <p:nvSpPr>
          <p:cNvPr id="18" name="Shape 16"/>
          <p:cNvSpPr/>
          <p:nvPr/>
        </p:nvSpPr>
        <p:spPr>
          <a:xfrm>
            <a:off x="438912" y="3346704"/>
            <a:ext cx="347472" cy="347472"/>
          </a:xfrm>
          <a:prstGeom prst="ellipse">
            <a:avLst/>
          </a:prstGeom>
          <a:solidFill>
            <a:srgbClr val="8B5CF6"/>
          </a:solidFill>
          <a:ln w="12700">
            <a:solidFill>
              <a:srgbClr val="8B5CF6"/>
            </a:solidFill>
            <a:prstDash val="solid"/>
          </a:ln>
        </p:spPr>
        <p:txBody>
          <a:bodyPr/>
          <a:lstStyle/>
          <a:p>
            <a:endParaRPr lang="en-IN"/>
          </a:p>
        </p:txBody>
      </p:sp>
      <p:sp>
        <p:nvSpPr>
          <p:cNvPr id="19" name="Text 17"/>
          <p:cNvSpPr/>
          <p:nvPr/>
        </p:nvSpPr>
        <p:spPr>
          <a:xfrm>
            <a:off x="438912"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914400" y="3346704"/>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21" name="Text 19"/>
          <p:cNvSpPr/>
          <p:nvPr/>
        </p:nvSpPr>
        <p:spPr>
          <a:xfrm>
            <a:off x="914400" y="3529584"/>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Next token probability</a:t>
            </a:r>
            <a:endParaRPr lang="en-US" sz="950" dirty="0"/>
          </a:p>
        </p:txBody>
      </p:sp>
      <p:sp>
        <p:nvSpPr>
          <p:cNvPr id="22" name="Shape 20"/>
          <p:cNvSpPr/>
          <p:nvPr/>
        </p:nvSpPr>
        <p:spPr>
          <a:xfrm>
            <a:off x="438912" y="4041648"/>
            <a:ext cx="347472" cy="347472"/>
          </a:xfrm>
          <a:prstGeom prst="ellipse">
            <a:avLst/>
          </a:prstGeom>
          <a:solidFill>
            <a:srgbClr val="8B5CF6"/>
          </a:solidFill>
          <a:ln w="12700">
            <a:solidFill>
              <a:srgbClr val="8B5CF6"/>
            </a:solidFill>
            <a:prstDash val="solid"/>
          </a:ln>
        </p:spPr>
        <p:txBody>
          <a:bodyPr/>
          <a:lstStyle/>
          <a:p>
            <a:endParaRPr lang="en-IN"/>
          </a:p>
        </p:txBody>
      </p:sp>
      <p:sp>
        <p:nvSpPr>
          <p:cNvPr id="23" name="Text 21"/>
          <p:cNvSpPr/>
          <p:nvPr/>
        </p:nvSpPr>
        <p:spPr>
          <a:xfrm>
            <a:off x="438912" y="404164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914400" y="4041648"/>
            <a:ext cx="329184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Decoding</a:t>
            </a:r>
            <a:endParaRPr lang="en-US" sz="1200" dirty="0"/>
          </a:p>
        </p:txBody>
      </p:sp>
      <p:sp>
        <p:nvSpPr>
          <p:cNvPr id="25" name="Text 23"/>
          <p:cNvSpPr/>
          <p:nvPr/>
        </p:nvSpPr>
        <p:spPr>
          <a:xfrm>
            <a:off x="914400" y="4224528"/>
            <a:ext cx="3291840" cy="1828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Generate full response</a:t>
            </a:r>
            <a:endParaRPr lang="en-US" sz="950" dirty="0"/>
          </a:p>
        </p:txBody>
      </p:sp>
      <p:sp>
        <p:nvSpPr>
          <p:cNvPr id="26" name="Shape 24"/>
          <p:cNvSpPr/>
          <p:nvPr/>
        </p:nvSpPr>
        <p:spPr>
          <a:xfrm>
            <a:off x="4572000" y="685800"/>
            <a:ext cx="4251960" cy="1920240"/>
          </a:xfrm>
          <a:prstGeom prst="roundRect">
            <a:avLst>
              <a:gd name="adj" fmla="val 5714"/>
            </a:avLst>
          </a:prstGeom>
          <a:solidFill>
            <a:srgbClr val="1E293B"/>
          </a:solidFill>
          <a:ln w="12700">
            <a:solidFill>
              <a:srgbClr val="06B6D4"/>
            </a:solidFill>
            <a:prstDash val="solid"/>
          </a:ln>
        </p:spPr>
        <p:txBody>
          <a:bodyPr/>
          <a:lstStyle/>
          <a:p>
            <a:endParaRPr lang="en-IN"/>
          </a:p>
        </p:txBody>
      </p:sp>
      <p:sp>
        <p:nvSpPr>
          <p:cNvPr id="27" name="Text 25"/>
          <p:cNvSpPr/>
          <p:nvPr/>
        </p:nvSpPr>
        <p:spPr>
          <a:xfrm>
            <a:off x="4709160" y="804672"/>
            <a:ext cx="3931920" cy="347472"/>
          </a:xfrm>
          <a:prstGeom prst="rect">
            <a:avLst/>
          </a:prstGeom>
          <a:noFill/>
          <a:ln/>
        </p:spPr>
        <p:txBody>
          <a:bodyPr wrap="square" rtlCol="0" anchor="ctr"/>
          <a:lstStyle/>
          <a:p>
            <a:pPr marL="0" indent="0">
              <a:buNone/>
            </a:pPr>
            <a:r>
              <a:rPr lang="en-US" sz="1400" b="1" dirty="0">
                <a:solidFill>
                  <a:srgbClr val="06B6D4"/>
                </a:solidFill>
                <a:latin typeface="Calibri" pitchFamily="34" charset="0"/>
                <a:ea typeface="Calibri" pitchFamily="34" charset="-122"/>
                <a:cs typeface="Calibri" pitchFamily="34" charset="-120"/>
              </a:rPr>
              <a:t>Popular LLMs</a:t>
            </a:r>
            <a:endParaRPr lang="en-US" sz="1400" dirty="0"/>
          </a:p>
        </p:txBody>
      </p:sp>
      <p:sp>
        <p:nvSpPr>
          <p:cNvPr id="28" name="Shape 26"/>
          <p:cNvSpPr/>
          <p:nvPr/>
        </p:nvSpPr>
        <p:spPr>
          <a:xfrm>
            <a:off x="4709160" y="1234440"/>
            <a:ext cx="1828800" cy="411480"/>
          </a:xfrm>
          <a:prstGeom prst="roundRect">
            <a:avLst>
              <a:gd name="adj" fmla="val 15556"/>
            </a:avLst>
          </a:prstGeom>
          <a:solidFill>
            <a:srgbClr val="0F172A"/>
          </a:solidFill>
          <a:ln w="12700">
            <a:solidFill>
              <a:srgbClr val="10B981"/>
            </a:solidFill>
            <a:prstDash val="solid"/>
          </a:ln>
        </p:spPr>
        <p:txBody>
          <a:bodyPr/>
          <a:lstStyle/>
          <a:p>
            <a:endParaRPr lang="en-IN"/>
          </a:p>
        </p:txBody>
      </p:sp>
      <p:sp>
        <p:nvSpPr>
          <p:cNvPr id="29" name="Text 27"/>
          <p:cNvSpPr/>
          <p:nvPr/>
        </p:nvSpPr>
        <p:spPr>
          <a:xfrm>
            <a:off x="4709160" y="1261872"/>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GPT-4o
</a:t>
            </a:r>
            <a:r>
              <a:rPr lang="en-US" sz="800" dirty="0">
                <a:solidFill>
                  <a:srgbClr val="FFFFFF"/>
                </a:solidFill>
                <a:latin typeface="Calibri" pitchFamily="34" charset="0"/>
                <a:ea typeface="Calibri" pitchFamily="34" charset="-122"/>
                <a:cs typeface="Calibri" pitchFamily="34" charset="-120"/>
              </a:rPr>
              <a:t>OpenAI</a:t>
            </a:r>
            <a:endParaRPr lang="en-US" sz="1000" dirty="0"/>
          </a:p>
        </p:txBody>
      </p:sp>
      <p:sp>
        <p:nvSpPr>
          <p:cNvPr id="30" name="Shape 28"/>
          <p:cNvSpPr/>
          <p:nvPr/>
        </p:nvSpPr>
        <p:spPr>
          <a:xfrm>
            <a:off x="6720840" y="1234440"/>
            <a:ext cx="1828800" cy="411480"/>
          </a:xfrm>
          <a:prstGeom prst="roundRect">
            <a:avLst>
              <a:gd name="adj" fmla="val 15556"/>
            </a:avLst>
          </a:prstGeom>
          <a:solidFill>
            <a:srgbClr val="0F172A"/>
          </a:solidFill>
          <a:ln w="12700">
            <a:solidFill>
              <a:srgbClr val="8B5CF6"/>
            </a:solidFill>
            <a:prstDash val="solid"/>
          </a:ln>
        </p:spPr>
        <p:txBody>
          <a:bodyPr/>
          <a:lstStyle/>
          <a:p>
            <a:endParaRPr lang="en-IN"/>
          </a:p>
        </p:txBody>
      </p:sp>
      <p:sp>
        <p:nvSpPr>
          <p:cNvPr id="31" name="Text 29"/>
          <p:cNvSpPr/>
          <p:nvPr/>
        </p:nvSpPr>
        <p:spPr>
          <a:xfrm>
            <a:off x="6720840" y="1261872"/>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Claude 3.5
</a:t>
            </a:r>
            <a:r>
              <a:rPr lang="en-US" sz="800" dirty="0">
                <a:solidFill>
                  <a:srgbClr val="FFFFFF"/>
                </a:solidFill>
                <a:latin typeface="Calibri" pitchFamily="34" charset="0"/>
                <a:ea typeface="Calibri" pitchFamily="34" charset="-122"/>
                <a:cs typeface="Calibri" pitchFamily="34" charset="-120"/>
              </a:rPr>
              <a:t>Anthropic</a:t>
            </a:r>
            <a:endParaRPr lang="en-US" sz="1000" dirty="0"/>
          </a:p>
        </p:txBody>
      </p:sp>
      <p:sp>
        <p:nvSpPr>
          <p:cNvPr id="32" name="Shape 30"/>
          <p:cNvSpPr/>
          <p:nvPr/>
        </p:nvSpPr>
        <p:spPr>
          <a:xfrm>
            <a:off x="4709160" y="1746504"/>
            <a:ext cx="1828800" cy="411480"/>
          </a:xfrm>
          <a:prstGeom prst="roundRect">
            <a:avLst>
              <a:gd name="adj" fmla="val 15556"/>
            </a:avLst>
          </a:prstGeom>
          <a:solidFill>
            <a:srgbClr val="0F172A"/>
          </a:solidFill>
          <a:ln w="12700">
            <a:solidFill>
              <a:srgbClr val="F59E0B"/>
            </a:solidFill>
            <a:prstDash val="solid"/>
          </a:ln>
        </p:spPr>
        <p:txBody>
          <a:bodyPr/>
          <a:lstStyle/>
          <a:p>
            <a:endParaRPr lang="en-IN"/>
          </a:p>
        </p:txBody>
      </p:sp>
      <p:sp>
        <p:nvSpPr>
          <p:cNvPr id="33" name="Text 31"/>
          <p:cNvSpPr/>
          <p:nvPr/>
        </p:nvSpPr>
        <p:spPr>
          <a:xfrm>
            <a:off x="4709160" y="1773936"/>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Gemini 1.5
</a:t>
            </a:r>
            <a:r>
              <a:rPr lang="en-US" sz="800" dirty="0">
                <a:solidFill>
                  <a:srgbClr val="FFFFFF"/>
                </a:solidFill>
                <a:latin typeface="Calibri" pitchFamily="34" charset="0"/>
                <a:ea typeface="Calibri" pitchFamily="34" charset="-122"/>
                <a:cs typeface="Calibri" pitchFamily="34" charset="-120"/>
              </a:rPr>
              <a:t>Google</a:t>
            </a:r>
            <a:endParaRPr lang="en-US" sz="1000" dirty="0"/>
          </a:p>
        </p:txBody>
      </p:sp>
      <p:sp>
        <p:nvSpPr>
          <p:cNvPr id="34" name="Shape 32"/>
          <p:cNvSpPr/>
          <p:nvPr/>
        </p:nvSpPr>
        <p:spPr>
          <a:xfrm>
            <a:off x="6720840" y="1746504"/>
            <a:ext cx="1828800" cy="411480"/>
          </a:xfrm>
          <a:prstGeom prst="roundRect">
            <a:avLst>
              <a:gd name="adj" fmla="val 15556"/>
            </a:avLst>
          </a:prstGeom>
          <a:solidFill>
            <a:srgbClr val="0F172A"/>
          </a:solidFill>
          <a:ln w="12700">
            <a:solidFill>
              <a:srgbClr val="EF4444"/>
            </a:solidFill>
            <a:prstDash val="solid"/>
          </a:ln>
        </p:spPr>
        <p:txBody>
          <a:bodyPr/>
          <a:lstStyle/>
          <a:p>
            <a:endParaRPr lang="en-IN"/>
          </a:p>
        </p:txBody>
      </p:sp>
      <p:sp>
        <p:nvSpPr>
          <p:cNvPr id="35" name="Text 33"/>
          <p:cNvSpPr/>
          <p:nvPr/>
        </p:nvSpPr>
        <p:spPr>
          <a:xfrm>
            <a:off x="6720840" y="1773936"/>
            <a:ext cx="18288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Llama 3
</a:t>
            </a:r>
            <a:r>
              <a:rPr lang="en-US" sz="800" dirty="0">
                <a:solidFill>
                  <a:srgbClr val="FFFFFF"/>
                </a:solidFill>
                <a:latin typeface="Calibri" pitchFamily="34" charset="0"/>
                <a:ea typeface="Calibri" pitchFamily="34" charset="-122"/>
                <a:cs typeface="Calibri" pitchFamily="34" charset="-120"/>
              </a:rPr>
              <a:t>Meta (Open)</a:t>
            </a:r>
            <a:endParaRPr lang="en-US" sz="1000" dirty="0"/>
          </a:p>
        </p:txBody>
      </p:sp>
      <p:sp>
        <p:nvSpPr>
          <p:cNvPr id="36" name="Shape 34"/>
          <p:cNvSpPr/>
          <p:nvPr/>
        </p:nvSpPr>
        <p:spPr>
          <a:xfrm>
            <a:off x="4572000" y="2697480"/>
            <a:ext cx="4251960" cy="2194560"/>
          </a:xfrm>
          <a:prstGeom prst="roundRect">
            <a:avLst>
              <a:gd name="adj" fmla="val 5000"/>
            </a:avLst>
          </a:prstGeom>
          <a:solidFill>
            <a:srgbClr val="1E293B"/>
          </a:solidFill>
          <a:ln w="12700">
            <a:solidFill>
              <a:srgbClr val="EF4444"/>
            </a:solidFill>
            <a:prstDash val="solid"/>
          </a:ln>
        </p:spPr>
        <p:txBody>
          <a:bodyPr/>
          <a:lstStyle/>
          <a:p>
            <a:endParaRPr lang="en-IN"/>
          </a:p>
        </p:txBody>
      </p:sp>
      <p:sp>
        <p:nvSpPr>
          <p:cNvPr id="37" name="Text 35"/>
          <p:cNvSpPr/>
          <p:nvPr/>
        </p:nvSpPr>
        <p:spPr>
          <a:xfrm>
            <a:off x="4709160" y="2816352"/>
            <a:ext cx="3931920" cy="365760"/>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  Limitations of Generative AI</a:t>
            </a:r>
            <a:endParaRPr lang="en-US" sz="1400" dirty="0"/>
          </a:p>
        </p:txBody>
      </p:sp>
      <p:sp>
        <p:nvSpPr>
          <p:cNvPr id="38" name="Text 36"/>
          <p:cNvSpPr/>
          <p:nvPr/>
        </p:nvSpPr>
        <p:spPr>
          <a:xfrm>
            <a:off x="4709160" y="3246120"/>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No real-time data (knowledge cutoff)</a:t>
            </a:r>
            <a:endParaRPr lang="en-US" sz="1100" dirty="0"/>
          </a:p>
        </p:txBody>
      </p:sp>
      <p:sp>
        <p:nvSpPr>
          <p:cNvPr id="39" name="Text 37"/>
          <p:cNvSpPr/>
          <p:nvPr/>
        </p:nvSpPr>
        <p:spPr>
          <a:xfrm>
            <a:off x="4709160" y="3575304"/>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No memory across sessions</a:t>
            </a:r>
            <a:endParaRPr lang="en-US" sz="1100" dirty="0"/>
          </a:p>
        </p:txBody>
      </p:sp>
      <p:sp>
        <p:nvSpPr>
          <p:cNvPr id="40" name="Text 38"/>
          <p:cNvSpPr/>
          <p:nvPr/>
        </p:nvSpPr>
        <p:spPr>
          <a:xfrm>
            <a:off x="4709160" y="3904488"/>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Cannot take actions in the world</a:t>
            </a:r>
            <a:endParaRPr lang="en-US" sz="1100" dirty="0"/>
          </a:p>
        </p:txBody>
      </p:sp>
      <p:sp>
        <p:nvSpPr>
          <p:cNvPr id="41" name="Text 39"/>
          <p:cNvSpPr/>
          <p:nvPr/>
        </p:nvSpPr>
        <p:spPr>
          <a:xfrm>
            <a:off x="4709160" y="4233672"/>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Hallucinations – incorrect facts</a:t>
            </a:r>
            <a:endParaRPr lang="en-US" sz="1100" dirty="0"/>
          </a:p>
        </p:txBody>
      </p:sp>
      <p:sp>
        <p:nvSpPr>
          <p:cNvPr id="42" name="Text 40"/>
          <p:cNvSpPr/>
          <p:nvPr/>
        </p:nvSpPr>
        <p:spPr>
          <a:xfrm>
            <a:off x="4709160" y="4562856"/>
            <a:ext cx="3931920" cy="310896"/>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No multi-step autonomous planning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Agentic AI?</a:t>
            </a:r>
            <a:endParaRPr lang="en-US" sz="2800" dirty="0"/>
          </a:p>
        </p:txBody>
      </p:sp>
      <p:sp>
        <p:nvSpPr>
          <p:cNvPr id="4" name="Shape 2"/>
          <p:cNvSpPr/>
          <p:nvPr/>
        </p:nvSpPr>
        <p:spPr>
          <a:xfrm>
            <a:off x="274320" y="685800"/>
            <a:ext cx="8595360" cy="804672"/>
          </a:xfrm>
          <a:prstGeom prst="roundRect">
            <a:avLst>
              <a:gd name="adj" fmla="val 11364"/>
            </a:avLst>
          </a:prstGeom>
          <a:solidFill>
            <a:srgbClr val="0A2340"/>
          </a:solidFill>
          <a:ln w="19050">
            <a:solidFill>
              <a:srgbClr val="06B6D4"/>
            </a:solidFill>
            <a:prstDash val="solid"/>
          </a:ln>
        </p:spPr>
        <p:txBody>
          <a:bodyPr/>
          <a:lstStyle/>
          <a:p>
            <a:endParaRPr lang="en-IN"/>
          </a:p>
        </p:txBody>
      </p:sp>
      <p:sp>
        <p:nvSpPr>
          <p:cNvPr id="5" name="Text 3"/>
          <p:cNvSpPr/>
          <p:nvPr/>
        </p:nvSpPr>
        <p:spPr>
          <a:xfrm>
            <a:off x="411480" y="749808"/>
            <a:ext cx="8321040" cy="621792"/>
          </a:xfrm>
          <a:prstGeom prst="rect">
            <a:avLst/>
          </a:prstGeom>
          <a:noFill/>
          <a:ln/>
        </p:spPr>
        <p:txBody>
          <a:bodyPr wrap="square" rtlCol="0" anchor="ctr"/>
          <a:lstStyle/>
          <a:p>
            <a:pPr marL="0" indent="0">
              <a:buNone/>
            </a:pPr>
            <a:r>
              <a:rPr lang="en-US" sz="1350" b="1" dirty="0">
                <a:solidFill>
                  <a:srgbClr val="06B6D4"/>
                </a:solidFill>
                <a:latin typeface="Calibri" pitchFamily="34" charset="0"/>
                <a:ea typeface="Calibri" pitchFamily="34" charset="-122"/>
                <a:cs typeface="Calibri" pitchFamily="34" charset="-120"/>
              </a:rPr>
              <a:t>Agentic AI </a:t>
            </a:r>
            <a:r>
              <a:rPr lang="en-US" sz="1350" dirty="0">
                <a:solidFill>
                  <a:srgbClr val="FFFFFF"/>
                </a:solidFill>
                <a:latin typeface="Calibri" pitchFamily="34" charset="0"/>
                <a:ea typeface="Calibri" pitchFamily="34" charset="-122"/>
                <a:cs typeface="Calibri" pitchFamily="34" charset="-120"/>
              </a:rPr>
              <a:t>refers to AI systems that can autonomously </a:t>
            </a:r>
            <a:r>
              <a:rPr lang="en-US" sz="1350" b="1" dirty="0">
                <a:solidFill>
                  <a:srgbClr val="10B981"/>
                </a:solidFill>
                <a:latin typeface="Calibri" pitchFamily="34" charset="0"/>
                <a:ea typeface="Calibri" pitchFamily="34" charset="-122"/>
                <a:cs typeface="Calibri" pitchFamily="34" charset="-120"/>
              </a:rPr>
              <a:t>plan, reason, use tools, </a:t>
            </a:r>
            <a:r>
              <a:rPr lang="en-US" sz="1350" dirty="0">
                <a:solidFill>
                  <a:srgbClr val="FFFFFF"/>
                </a:solidFill>
                <a:latin typeface="Calibri" pitchFamily="34" charset="0"/>
                <a:ea typeface="Calibri" pitchFamily="34" charset="-122"/>
                <a:cs typeface="Calibri" pitchFamily="34" charset="-120"/>
              </a:rPr>
              <a:t>and </a:t>
            </a:r>
            <a:r>
              <a:rPr lang="en-US" sz="1350" b="1" dirty="0">
                <a:solidFill>
                  <a:srgbClr val="F59E0B"/>
                </a:solidFill>
                <a:latin typeface="Calibri" pitchFamily="34" charset="0"/>
                <a:ea typeface="Calibri" pitchFamily="34" charset="-122"/>
                <a:cs typeface="Calibri" pitchFamily="34" charset="-120"/>
              </a:rPr>
              <a:t>take actions </a:t>
            </a:r>
            <a:r>
              <a:rPr lang="en-US" sz="1350" dirty="0">
                <a:solidFill>
                  <a:srgbClr val="FFFFFF"/>
                </a:solidFill>
                <a:latin typeface="Calibri" pitchFamily="34" charset="0"/>
                <a:ea typeface="Calibri" pitchFamily="34" charset="-122"/>
                <a:cs typeface="Calibri" pitchFamily="34" charset="-120"/>
              </a:rPr>
              <a:t>to achieve multi-step goals — going beyond simple question-answering.</a:t>
            </a:r>
            <a:endParaRPr lang="en-US" sz="1350" dirty="0"/>
          </a:p>
        </p:txBody>
      </p:sp>
      <p:sp>
        <p:nvSpPr>
          <p:cNvPr id="6" name="Shape 4"/>
          <p:cNvSpPr/>
          <p:nvPr/>
        </p:nvSpPr>
        <p:spPr>
          <a:xfrm>
            <a:off x="274320" y="1600200"/>
            <a:ext cx="2743200" cy="1481328"/>
          </a:xfrm>
          <a:prstGeom prst="roundRect">
            <a:avLst>
              <a:gd name="adj" fmla="val 7407"/>
            </a:avLst>
          </a:prstGeom>
          <a:solidFill>
            <a:srgbClr val="1E293B"/>
          </a:solidFill>
          <a:ln w="12700">
            <a:solidFill>
              <a:srgbClr val="F59E0B"/>
            </a:solidFill>
            <a:prstDash val="solid"/>
          </a:ln>
          <a:effectLst>
            <a:outerShdw blurRad="101600" dist="38100" dir="2700000" algn="bl" rotWithShape="0">
              <a:srgbClr val="000000">
                <a:alpha val="20000"/>
              </a:srgbClr>
            </a:outerShdw>
          </a:effectLst>
        </p:spPr>
        <p:txBody>
          <a:bodyPr/>
          <a:lstStyle/>
          <a:p>
            <a:endParaRPr lang="en-IN"/>
          </a:p>
        </p:txBody>
      </p:sp>
      <p:pic>
        <p:nvPicPr>
          <p:cNvPr id="7" name="Image 0" descr="preencoded.png"/>
          <p:cNvPicPr>
            <a:picLocks noChangeAspect="1"/>
          </p:cNvPicPr>
          <p:nvPr/>
        </p:nvPicPr>
        <p:blipFill>
          <a:blip r:embed="rId3"/>
          <a:stretch>
            <a:fillRect/>
          </a:stretch>
        </p:blipFill>
        <p:spPr>
          <a:xfrm>
            <a:off x="411480" y="1783080"/>
            <a:ext cx="411480" cy="411480"/>
          </a:xfrm>
          <a:prstGeom prst="rect">
            <a:avLst/>
          </a:prstGeom>
        </p:spPr>
      </p:pic>
      <p:sp>
        <p:nvSpPr>
          <p:cNvPr id="8" name="Text 5"/>
          <p:cNvSpPr/>
          <p:nvPr/>
        </p:nvSpPr>
        <p:spPr>
          <a:xfrm>
            <a:off x="914400" y="1783080"/>
            <a:ext cx="2011680" cy="38404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Goal-Driven</a:t>
            </a:r>
            <a:endParaRPr lang="en-US" sz="1300" dirty="0"/>
          </a:p>
        </p:txBody>
      </p:sp>
      <p:sp>
        <p:nvSpPr>
          <p:cNvPr id="9" name="Text 6"/>
          <p:cNvSpPr/>
          <p:nvPr/>
        </p:nvSpPr>
        <p:spPr>
          <a:xfrm>
            <a:off x="384048" y="2258568"/>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Understands the end objective and works towards it step-by-step</a:t>
            </a:r>
            <a:endParaRPr lang="en-US" sz="1000" dirty="0"/>
          </a:p>
        </p:txBody>
      </p:sp>
      <p:sp>
        <p:nvSpPr>
          <p:cNvPr id="10" name="Shape 7"/>
          <p:cNvSpPr/>
          <p:nvPr/>
        </p:nvSpPr>
        <p:spPr>
          <a:xfrm>
            <a:off x="3154680" y="1600200"/>
            <a:ext cx="2743200" cy="1481328"/>
          </a:xfrm>
          <a:prstGeom prst="roundRect">
            <a:avLst>
              <a:gd name="adj" fmla="val 7407"/>
            </a:avLst>
          </a:prstGeom>
          <a:solidFill>
            <a:srgbClr val="1E293B"/>
          </a:solidFill>
          <a:ln w="12700">
            <a:solidFill>
              <a:srgbClr val="8B5CF6"/>
            </a:solidFill>
            <a:prstDash val="solid"/>
          </a:ln>
          <a:effectLst>
            <a:outerShdw blurRad="101600" dist="38100" dir="2700000" algn="bl" rotWithShape="0">
              <a:srgbClr val="000000">
                <a:alpha val="20000"/>
              </a:srgbClr>
            </a:outerShdw>
          </a:effectLst>
        </p:spPr>
        <p:txBody>
          <a:bodyPr/>
          <a:lstStyle/>
          <a:p>
            <a:endParaRPr lang="en-IN"/>
          </a:p>
        </p:txBody>
      </p:sp>
      <p:pic>
        <p:nvPicPr>
          <p:cNvPr id="11" name="Image 1" descr="preencoded.png"/>
          <p:cNvPicPr>
            <a:picLocks noChangeAspect="1"/>
          </p:cNvPicPr>
          <p:nvPr/>
        </p:nvPicPr>
        <p:blipFill>
          <a:blip r:embed="rId4"/>
          <a:stretch>
            <a:fillRect/>
          </a:stretch>
        </p:blipFill>
        <p:spPr>
          <a:xfrm>
            <a:off x="3291840" y="1783080"/>
            <a:ext cx="411480" cy="411480"/>
          </a:xfrm>
          <a:prstGeom prst="rect">
            <a:avLst/>
          </a:prstGeom>
        </p:spPr>
      </p:pic>
      <p:sp>
        <p:nvSpPr>
          <p:cNvPr id="12" name="Text 8"/>
          <p:cNvSpPr/>
          <p:nvPr/>
        </p:nvSpPr>
        <p:spPr>
          <a:xfrm>
            <a:off x="3794760" y="1783080"/>
            <a:ext cx="2011680" cy="384048"/>
          </a:xfrm>
          <a:prstGeom prst="rect">
            <a:avLst/>
          </a:prstGeom>
          <a:noFill/>
          <a:ln/>
        </p:spPr>
        <p:txBody>
          <a:bodyPr wrap="square"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Planning</a:t>
            </a:r>
            <a:endParaRPr lang="en-US" sz="1300" dirty="0"/>
          </a:p>
        </p:txBody>
      </p:sp>
      <p:sp>
        <p:nvSpPr>
          <p:cNvPr id="13" name="Text 9"/>
          <p:cNvSpPr/>
          <p:nvPr/>
        </p:nvSpPr>
        <p:spPr>
          <a:xfrm>
            <a:off x="3264408" y="2258568"/>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Breaks complex tasks into sub-tasks and sequences them logically</a:t>
            </a:r>
            <a:endParaRPr lang="en-US" sz="1000" dirty="0"/>
          </a:p>
        </p:txBody>
      </p:sp>
      <p:sp>
        <p:nvSpPr>
          <p:cNvPr id="14" name="Shape 10"/>
          <p:cNvSpPr/>
          <p:nvPr/>
        </p:nvSpPr>
        <p:spPr>
          <a:xfrm>
            <a:off x="6035040" y="1600200"/>
            <a:ext cx="2743200" cy="1481328"/>
          </a:xfrm>
          <a:prstGeom prst="roundRect">
            <a:avLst>
              <a:gd name="adj" fmla="val 7407"/>
            </a:avLst>
          </a:prstGeom>
          <a:solidFill>
            <a:srgbClr val="1E293B"/>
          </a:solidFill>
          <a:ln w="12700">
            <a:solidFill>
              <a:srgbClr val="06B6D4"/>
            </a:solidFill>
            <a:prstDash val="solid"/>
          </a:ln>
          <a:effectLst>
            <a:outerShdw blurRad="101600" dist="38100" dir="2700000" algn="bl" rotWithShape="0">
              <a:srgbClr val="000000">
                <a:alpha val="20000"/>
              </a:srgbClr>
            </a:outerShdw>
          </a:effectLst>
        </p:spPr>
        <p:txBody>
          <a:bodyPr/>
          <a:lstStyle/>
          <a:p>
            <a:endParaRPr lang="en-IN"/>
          </a:p>
        </p:txBody>
      </p:sp>
      <p:pic>
        <p:nvPicPr>
          <p:cNvPr id="15" name="Image 2" descr="preencoded.png"/>
          <p:cNvPicPr>
            <a:picLocks noChangeAspect="1"/>
          </p:cNvPicPr>
          <p:nvPr/>
        </p:nvPicPr>
        <p:blipFill>
          <a:blip r:embed="rId5"/>
          <a:stretch>
            <a:fillRect/>
          </a:stretch>
        </p:blipFill>
        <p:spPr>
          <a:xfrm>
            <a:off x="6172200" y="1783080"/>
            <a:ext cx="411480" cy="411480"/>
          </a:xfrm>
          <a:prstGeom prst="rect">
            <a:avLst/>
          </a:prstGeom>
        </p:spPr>
      </p:pic>
      <p:sp>
        <p:nvSpPr>
          <p:cNvPr id="16" name="Text 11"/>
          <p:cNvSpPr/>
          <p:nvPr/>
        </p:nvSpPr>
        <p:spPr>
          <a:xfrm>
            <a:off x="6675120" y="1783080"/>
            <a:ext cx="2011680" cy="384048"/>
          </a:xfrm>
          <a:prstGeom prst="rect">
            <a:avLst/>
          </a:prstGeom>
          <a:noFill/>
          <a:ln/>
        </p:spPr>
        <p:txBody>
          <a:bodyPr wrap="square" rtlCol="0" anchor="ctr"/>
          <a:lstStyle/>
          <a:p>
            <a:pPr marL="0" indent="0">
              <a:buNone/>
            </a:pPr>
            <a:r>
              <a:rPr lang="en-US" sz="1300" b="1" dirty="0">
                <a:solidFill>
                  <a:srgbClr val="06B6D4"/>
                </a:solidFill>
                <a:latin typeface="Calibri" pitchFamily="34" charset="0"/>
                <a:ea typeface="Calibri" pitchFamily="34" charset="-122"/>
                <a:cs typeface="Calibri" pitchFamily="34" charset="-120"/>
              </a:rPr>
              <a:t>Reasoning</a:t>
            </a:r>
            <a:endParaRPr lang="en-US" sz="1300" dirty="0"/>
          </a:p>
        </p:txBody>
      </p:sp>
      <p:sp>
        <p:nvSpPr>
          <p:cNvPr id="17" name="Text 12"/>
          <p:cNvSpPr/>
          <p:nvPr/>
        </p:nvSpPr>
        <p:spPr>
          <a:xfrm>
            <a:off x="6144768" y="2258568"/>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Applies logic to decide next actions and evaluate outcomes</a:t>
            </a:r>
            <a:endParaRPr lang="en-US" sz="1000" dirty="0"/>
          </a:p>
        </p:txBody>
      </p:sp>
      <p:sp>
        <p:nvSpPr>
          <p:cNvPr id="18" name="Shape 13"/>
          <p:cNvSpPr/>
          <p:nvPr/>
        </p:nvSpPr>
        <p:spPr>
          <a:xfrm>
            <a:off x="274320" y="3227832"/>
            <a:ext cx="2743200" cy="1481328"/>
          </a:xfrm>
          <a:prstGeom prst="roundRect">
            <a:avLst>
              <a:gd name="adj" fmla="val 7407"/>
            </a:avLst>
          </a:prstGeom>
          <a:solidFill>
            <a:srgbClr val="1E293B"/>
          </a:solidFill>
          <a:ln w="12700">
            <a:solidFill>
              <a:srgbClr val="10B981"/>
            </a:solidFill>
            <a:prstDash val="solid"/>
          </a:ln>
          <a:effectLst>
            <a:outerShdw blurRad="101600" dist="38100" dir="2700000" algn="bl" rotWithShape="0">
              <a:srgbClr val="000000">
                <a:alpha val="20000"/>
              </a:srgbClr>
            </a:outerShdw>
          </a:effectLst>
        </p:spPr>
        <p:txBody>
          <a:bodyPr/>
          <a:lstStyle/>
          <a:p>
            <a:endParaRPr lang="en-IN"/>
          </a:p>
        </p:txBody>
      </p:sp>
      <p:pic>
        <p:nvPicPr>
          <p:cNvPr id="19" name="Image 3" descr="preencoded.png"/>
          <p:cNvPicPr>
            <a:picLocks noChangeAspect="1"/>
          </p:cNvPicPr>
          <p:nvPr/>
        </p:nvPicPr>
        <p:blipFill>
          <a:blip r:embed="rId6"/>
          <a:stretch>
            <a:fillRect/>
          </a:stretch>
        </p:blipFill>
        <p:spPr>
          <a:xfrm>
            <a:off x="411480" y="3410712"/>
            <a:ext cx="411480" cy="411480"/>
          </a:xfrm>
          <a:prstGeom prst="rect">
            <a:avLst/>
          </a:prstGeom>
        </p:spPr>
      </p:pic>
      <p:sp>
        <p:nvSpPr>
          <p:cNvPr id="20" name="Text 14"/>
          <p:cNvSpPr/>
          <p:nvPr/>
        </p:nvSpPr>
        <p:spPr>
          <a:xfrm>
            <a:off x="914400" y="3410712"/>
            <a:ext cx="2011680" cy="384048"/>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Tool Usage</a:t>
            </a:r>
            <a:endParaRPr lang="en-US" sz="1300" dirty="0"/>
          </a:p>
        </p:txBody>
      </p:sp>
      <p:sp>
        <p:nvSpPr>
          <p:cNvPr id="21" name="Text 15"/>
          <p:cNvSpPr/>
          <p:nvPr/>
        </p:nvSpPr>
        <p:spPr>
          <a:xfrm>
            <a:off x="384048" y="3886200"/>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Calls APIs, searches web, queries databases, runs code</a:t>
            </a:r>
            <a:endParaRPr lang="en-US" sz="1000" dirty="0"/>
          </a:p>
        </p:txBody>
      </p:sp>
      <p:sp>
        <p:nvSpPr>
          <p:cNvPr id="22" name="Shape 16"/>
          <p:cNvSpPr/>
          <p:nvPr/>
        </p:nvSpPr>
        <p:spPr>
          <a:xfrm>
            <a:off x="3154680" y="3227832"/>
            <a:ext cx="2743200" cy="1481328"/>
          </a:xfrm>
          <a:prstGeom prst="roundRect">
            <a:avLst>
              <a:gd name="adj" fmla="val 7407"/>
            </a:avLst>
          </a:prstGeom>
          <a:solidFill>
            <a:srgbClr val="1E293B"/>
          </a:solidFill>
          <a:ln w="12700">
            <a:solidFill>
              <a:srgbClr val="EF4444"/>
            </a:solidFill>
            <a:prstDash val="solid"/>
          </a:ln>
          <a:effectLst>
            <a:outerShdw blurRad="101600" dist="38100" dir="2700000" algn="bl" rotWithShape="0">
              <a:srgbClr val="000000">
                <a:alpha val="20000"/>
              </a:srgbClr>
            </a:outerShdw>
          </a:effectLst>
        </p:spPr>
        <p:txBody>
          <a:bodyPr/>
          <a:lstStyle/>
          <a:p>
            <a:endParaRPr lang="en-IN"/>
          </a:p>
        </p:txBody>
      </p:sp>
      <p:pic>
        <p:nvPicPr>
          <p:cNvPr id="23" name="Image 4" descr="preencoded.png"/>
          <p:cNvPicPr>
            <a:picLocks noChangeAspect="1"/>
          </p:cNvPicPr>
          <p:nvPr/>
        </p:nvPicPr>
        <p:blipFill>
          <a:blip r:embed="rId7"/>
          <a:stretch>
            <a:fillRect/>
          </a:stretch>
        </p:blipFill>
        <p:spPr>
          <a:xfrm>
            <a:off x="3291840" y="3410712"/>
            <a:ext cx="411480" cy="411480"/>
          </a:xfrm>
          <a:prstGeom prst="rect">
            <a:avLst/>
          </a:prstGeom>
        </p:spPr>
      </p:pic>
      <p:sp>
        <p:nvSpPr>
          <p:cNvPr id="24" name="Text 17"/>
          <p:cNvSpPr/>
          <p:nvPr/>
        </p:nvSpPr>
        <p:spPr>
          <a:xfrm>
            <a:off x="3794760" y="3410712"/>
            <a:ext cx="2011680" cy="384048"/>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Memory</a:t>
            </a:r>
            <a:endParaRPr lang="en-US" sz="1300" dirty="0"/>
          </a:p>
        </p:txBody>
      </p:sp>
      <p:sp>
        <p:nvSpPr>
          <p:cNvPr id="25" name="Text 18"/>
          <p:cNvSpPr/>
          <p:nvPr/>
        </p:nvSpPr>
        <p:spPr>
          <a:xfrm>
            <a:off x="3264408" y="3886200"/>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Remembers past interactions via short &amp; long-term memory</a:t>
            </a:r>
            <a:endParaRPr lang="en-US" sz="1000" dirty="0"/>
          </a:p>
        </p:txBody>
      </p:sp>
      <p:sp>
        <p:nvSpPr>
          <p:cNvPr id="26" name="Shape 19"/>
          <p:cNvSpPr/>
          <p:nvPr/>
        </p:nvSpPr>
        <p:spPr>
          <a:xfrm>
            <a:off x="6035040" y="3227832"/>
            <a:ext cx="2743200" cy="1481328"/>
          </a:xfrm>
          <a:prstGeom prst="roundRect">
            <a:avLst>
              <a:gd name="adj" fmla="val 7407"/>
            </a:avLst>
          </a:prstGeom>
          <a:solidFill>
            <a:srgbClr val="1E293B"/>
          </a:solidFill>
          <a:ln w="12700">
            <a:solidFill>
              <a:srgbClr val="F59E0B"/>
            </a:solidFill>
            <a:prstDash val="solid"/>
          </a:ln>
          <a:effectLst>
            <a:outerShdw blurRad="101600" dist="38100" dir="2700000" algn="bl" rotWithShape="0">
              <a:srgbClr val="000000">
                <a:alpha val="20000"/>
              </a:srgbClr>
            </a:outerShdw>
          </a:effectLst>
        </p:spPr>
        <p:txBody>
          <a:bodyPr/>
          <a:lstStyle/>
          <a:p>
            <a:endParaRPr lang="en-IN"/>
          </a:p>
        </p:txBody>
      </p:sp>
      <p:pic>
        <p:nvPicPr>
          <p:cNvPr id="27" name="Image 5" descr="preencoded.png"/>
          <p:cNvPicPr>
            <a:picLocks noChangeAspect="1"/>
          </p:cNvPicPr>
          <p:nvPr/>
        </p:nvPicPr>
        <p:blipFill>
          <a:blip r:embed="rId8"/>
          <a:stretch>
            <a:fillRect/>
          </a:stretch>
        </p:blipFill>
        <p:spPr>
          <a:xfrm>
            <a:off x="6172200" y="3410712"/>
            <a:ext cx="411480" cy="411480"/>
          </a:xfrm>
          <a:prstGeom prst="rect">
            <a:avLst/>
          </a:prstGeom>
        </p:spPr>
      </p:pic>
      <p:sp>
        <p:nvSpPr>
          <p:cNvPr id="28" name="Text 20"/>
          <p:cNvSpPr/>
          <p:nvPr/>
        </p:nvSpPr>
        <p:spPr>
          <a:xfrm>
            <a:off x="6675120" y="3410712"/>
            <a:ext cx="2011680" cy="38404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Autonomy</a:t>
            </a:r>
            <a:endParaRPr lang="en-US" sz="1300" dirty="0"/>
          </a:p>
        </p:txBody>
      </p:sp>
      <p:sp>
        <p:nvSpPr>
          <p:cNvPr id="29" name="Text 21"/>
          <p:cNvSpPr/>
          <p:nvPr/>
        </p:nvSpPr>
        <p:spPr>
          <a:xfrm>
            <a:off x="6144768" y="3886200"/>
            <a:ext cx="2542032" cy="7132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Operates without human approval for each individual step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Generative AI vs Agentic AI</a:t>
            </a:r>
            <a:endParaRPr lang="en-US" sz="2800" dirty="0"/>
          </a:p>
        </p:txBody>
      </p:sp>
      <p:sp>
        <p:nvSpPr>
          <p:cNvPr id="4" name="Shape 2"/>
          <p:cNvSpPr/>
          <p:nvPr/>
        </p:nvSpPr>
        <p:spPr>
          <a:xfrm>
            <a:off x="274320" y="685800"/>
            <a:ext cx="2286000" cy="475488"/>
          </a:xfrm>
          <a:prstGeom prst="rect">
            <a:avLst/>
          </a:prstGeom>
          <a:solidFill>
            <a:srgbClr val="0EA5E9"/>
          </a:solidFill>
          <a:ln w="6350">
            <a:solidFill>
              <a:srgbClr val="0369A1"/>
            </a:solidFill>
            <a:prstDash val="solid"/>
          </a:ln>
        </p:spPr>
        <p:txBody>
          <a:bodyPr/>
          <a:lstStyle/>
          <a:p>
            <a:endParaRPr lang="en-IN"/>
          </a:p>
        </p:txBody>
      </p:sp>
      <p:sp>
        <p:nvSpPr>
          <p:cNvPr id="5" name="Text 3"/>
          <p:cNvSpPr/>
          <p:nvPr/>
        </p:nvSpPr>
        <p:spPr>
          <a:xfrm>
            <a:off x="365760" y="685800"/>
            <a:ext cx="210312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p>
        </p:txBody>
      </p:sp>
      <p:sp>
        <p:nvSpPr>
          <p:cNvPr id="6" name="Shape 4"/>
          <p:cNvSpPr/>
          <p:nvPr/>
        </p:nvSpPr>
        <p:spPr>
          <a:xfrm>
            <a:off x="2560320" y="685800"/>
            <a:ext cx="3017520" cy="475488"/>
          </a:xfrm>
          <a:prstGeom prst="rect">
            <a:avLst/>
          </a:prstGeom>
          <a:solidFill>
            <a:srgbClr val="0EA5E9"/>
          </a:solidFill>
          <a:ln w="6350">
            <a:solidFill>
              <a:srgbClr val="0369A1"/>
            </a:solidFill>
            <a:prstDash val="solid"/>
          </a:ln>
        </p:spPr>
        <p:txBody>
          <a:bodyPr/>
          <a:lstStyle/>
          <a:p>
            <a:endParaRPr lang="en-IN"/>
          </a:p>
        </p:txBody>
      </p:sp>
      <p:sp>
        <p:nvSpPr>
          <p:cNvPr id="7" name="Text 5"/>
          <p:cNvSpPr/>
          <p:nvPr/>
        </p:nvSpPr>
        <p:spPr>
          <a:xfrm>
            <a:off x="2651760" y="685800"/>
            <a:ext cx="283464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Generative AI</a:t>
            </a:r>
            <a:endParaRPr lang="en-US" sz="1300" dirty="0"/>
          </a:p>
        </p:txBody>
      </p:sp>
      <p:sp>
        <p:nvSpPr>
          <p:cNvPr id="8" name="Shape 6"/>
          <p:cNvSpPr/>
          <p:nvPr/>
        </p:nvSpPr>
        <p:spPr>
          <a:xfrm>
            <a:off x="5577840" y="685800"/>
            <a:ext cx="3017520" cy="475488"/>
          </a:xfrm>
          <a:prstGeom prst="rect">
            <a:avLst/>
          </a:prstGeom>
          <a:solidFill>
            <a:srgbClr val="0EA5E9"/>
          </a:solidFill>
          <a:ln w="6350">
            <a:solidFill>
              <a:srgbClr val="0369A1"/>
            </a:solidFill>
            <a:prstDash val="solid"/>
          </a:ln>
        </p:spPr>
        <p:txBody>
          <a:bodyPr/>
          <a:lstStyle/>
          <a:p>
            <a:endParaRPr lang="en-IN"/>
          </a:p>
        </p:txBody>
      </p:sp>
      <p:sp>
        <p:nvSpPr>
          <p:cNvPr id="9" name="Text 7"/>
          <p:cNvSpPr/>
          <p:nvPr/>
        </p:nvSpPr>
        <p:spPr>
          <a:xfrm>
            <a:off x="5669280" y="685800"/>
            <a:ext cx="283464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Agentic AI</a:t>
            </a:r>
            <a:endParaRPr lang="en-US" sz="1300" dirty="0"/>
          </a:p>
        </p:txBody>
      </p:sp>
      <p:sp>
        <p:nvSpPr>
          <p:cNvPr id="10" name="Shape 8"/>
          <p:cNvSpPr/>
          <p:nvPr/>
        </p:nvSpPr>
        <p:spPr>
          <a:xfrm>
            <a:off x="274320" y="1179576"/>
            <a:ext cx="2286000" cy="475488"/>
          </a:xfrm>
          <a:prstGeom prst="rect">
            <a:avLst/>
          </a:prstGeom>
          <a:solidFill>
            <a:srgbClr val="172032"/>
          </a:solidFill>
          <a:ln w="6350">
            <a:solidFill>
              <a:srgbClr val="0369A1"/>
            </a:solidFill>
            <a:prstDash val="solid"/>
          </a:ln>
        </p:spPr>
        <p:txBody>
          <a:bodyPr/>
          <a:lstStyle/>
          <a:p>
            <a:endParaRPr lang="en-IN"/>
          </a:p>
        </p:txBody>
      </p:sp>
      <p:sp>
        <p:nvSpPr>
          <p:cNvPr id="11" name="Text 9"/>
          <p:cNvSpPr/>
          <p:nvPr/>
        </p:nvSpPr>
        <p:spPr>
          <a:xfrm>
            <a:off x="365760" y="1179576"/>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Mode</a:t>
            </a:r>
            <a:endParaRPr lang="en-US" sz="1150" dirty="0"/>
          </a:p>
        </p:txBody>
      </p:sp>
      <p:sp>
        <p:nvSpPr>
          <p:cNvPr id="12" name="Shape 10"/>
          <p:cNvSpPr/>
          <p:nvPr/>
        </p:nvSpPr>
        <p:spPr>
          <a:xfrm>
            <a:off x="2560320" y="1179576"/>
            <a:ext cx="3017520" cy="475488"/>
          </a:xfrm>
          <a:prstGeom prst="rect">
            <a:avLst/>
          </a:prstGeom>
          <a:solidFill>
            <a:srgbClr val="172032"/>
          </a:solidFill>
          <a:ln w="6350">
            <a:solidFill>
              <a:srgbClr val="0369A1"/>
            </a:solidFill>
            <a:prstDash val="solid"/>
          </a:ln>
        </p:spPr>
        <p:txBody>
          <a:bodyPr/>
          <a:lstStyle/>
          <a:p>
            <a:endParaRPr lang="en-IN"/>
          </a:p>
        </p:txBody>
      </p:sp>
      <p:sp>
        <p:nvSpPr>
          <p:cNvPr id="13" name="Text 11"/>
          <p:cNvSpPr/>
          <p:nvPr/>
        </p:nvSpPr>
        <p:spPr>
          <a:xfrm>
            <a:off x="2651760" y="1179576"/>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Reactive (responds)</a:t>
            </a:r>
            <a:endParaRPr lang="en-US" sz="1150" dirty="0"/>
          </a:p>
        </p:txBody>
      </p:sp>
      <p:sp>
        <p:nvSpPr>
          <p:cNvPr id="14" name="Shape 12"/>
          <p:cNvSpPr/>
          <p:nvPr/>
        </p:nvSpPr>
        <p:spPr>
          <a:xfrm>
            <a:off x="5577840" y="1179576"/>
            <a:ext cx="3017520" cy="475488"/>
          </a:xfrm>
          <a:prstGeom prst="rect">
            <a:avLst/>
          </a:prstGeom>
          <a:solidFill>
            <a:srgbClr val="172032"/>
          </a:solidFill>
          <a:ln w="6350">
            <a:solidFill>
              <a:srgbClr val="0369A1"/>
            </a:solidFill>
            <a:prstDash val="solid"/>
          </a:ln>
        </p:spPr>
        <p:txBody>
          <a:bodyPr/>
          <a:lstStyle/>
          <a:p>
            <a:endParaRPr lang="en-IN"/>
          </a:p>
        </p:txBody>
      </p:sp>
      <p:sp>
        <p:nvSpPr>
          <p:cNvPr id="15" name="Text 13"/>
          <p:cNvSpPr/>
          <p:nvPr/>
        </p:nvSpPr>
        <p:spPr>
          <a:xfrm>
            <a:off x="5669280" y="1179576"/>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Proactive (acts)</a:t>
            </a:r>
            <a:endParaRPr lang="en-US" sz="1150" dirty="0"/>
          </a:p>
        </p:txBody>
      </p:sp>
      <p:sp>
        <p:nvSpPr>
          <p:cNvPr id="16" name="Shape 14"/>
          <p:cNvSpPr/>
          <p:nvPr/>
        </p:nvSpPr>
        <p:spPr>
          <a:xfrm>
            <a:off x="274320" y="1673352"/>
            <a:ext cx="2286000" cy="475488"/>
          </a:xfrm>
          <a:prstGeom prst="rect">
            <a:avLst/>
          </a:prstGeom>
          <a:solidFill>
            <a:srgbClr val="1E293B"/>
          </a:solidFill>
          <a:ln w="6350">
            <a:solidFill>
              <a:srgbClr val="0369A1"/>
            </a:solidFill>
            <a:prstDash val="solid"/>
          </a:ln>
        </p:spPr>
        <p:txBody>
          <a:bodyPr/>
          <a:lstStyle/>
          <a:p>
            <a:endParaRPr lang="en-IN"/>
          </a:p>
        </p:txBody>
      </p:sp>
      <p:sp>
        <p:nvSpPr>
          <p:cNvPr id="17" name="Text 15"/>
          <p:cNvSpPr/>
          <p:nvPr/>
        </p:nvSpPr>
        <p:spPr>
          <a:xfrm>
            <a:off x="365760" y="1673352"/>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Memory</a:t>
            </a:r>
            <a:endParaRPr lang="en-US" sz="1150" dirty="0"/>
          </a:p>
        </p:txBody>
      </p:sp>
      <p:sp>
        <p:nvSpPr>
          <p:cNvPr id="18" name="Shape 16"/>
          <p:cNvSpPr/>
          <p:nvPr/>
        </p:nvSpPr>
        <p:spPr>
          <a:xfrm>
            <a:off x="2560320" y="1673352"/>
            <a:ext cx="3017520" cy="475488"/>
          </a:xfrm>
          <a:prstGeom prst="rect">
            <a:avLst/>
          </a:prstGeom>
          <a:solidFill>
            <a:srgbClr val="1E293B"/>
          </a:solidFill>
          <a:ln w="6350">
            <a:solidFill>
              <a:srgbClr val="0369A1"/>
            </a:solidFill>
            <a:prstDash val="solid"/>
          </a:ln>
        </p:spPr>
        <p:txBody>
          <a:bodyPr/>
          <a:lstStyle/>
          <a:p>
            <a:endParaRPr lang="en-IN"/>
          </a:p>
        </p:txBody>
      </p:sp>
      <p:sp>
        <p:nvSpPr>
          <p:cNvPr id="19" name="Text 17"/>
          <p:cNvSpPr/>
          <p:nvPr/>
        </p:nvSpPr>
        <p:spPr>
          <a:xfrm>
            <a:off x="2651760" y="1673352"/>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Stateless (no memory)</a:t>
            </a:r>
            <a:endParaRPr lang="en-US" sz="1150" dirty="0"/>
          </a:p>
        </p:txBody>
      </p:sp>
      <p:sp>
        <p:nvSpPr>
          <p:cNvPr id="20" name="Shape 18"/>
          <p:cNvSpPr/>
          <p:nvPr/>
        </p:nvSpPr>
        <p:spPr>
          <a:xfrm>
            <a:off x="5577840" y="1673352"/>
            <a:ext cx="3017520" cy="475488"/>
          </a:xfrm>
          <a:prstGeom prst="rect">
            <a:avLst/>
          </a:prstGeom>
          <a:solidFill>
            <a:srgbClr val="1E293B"/>
          </a:solidFill>
          <a:ln w="6350">
            <a:solidFill>
              <a:srgbClr val="0369A1"/>
            </a:solidFill>
            <a:prstDash val="solid"/>
          </a:ln>
        </p:spPr>
        <p:txBody>
          <a:bodyPr/>
          <a:lstStyle/>
          <a:p>
            <a:endParaRPr lang="en-IN"/>
          </a:p>
        </p:txBody>
      </p:sp>
      <p:sp>
        <p:nvSpPr>
          <p:cNvPr id="21" name="Text 19"/>
          <p:cNvSpPr/>
          <p:nvPr/>
        </p:nvSpPr>
        <p:spPr>
          <a:xfrm>
            <a:off x="5669280" y="1673352"/>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Stateful (short/long-term)</a:t>
            </a:r>
            <a:endParaRPr lang="en-US" sz="1150" dirty="0"/>
          </a:p>
        </p:txBody>
      </p:sp>
      <p:sp>
        <p:nvSpPr>
          <p:cNvPr id="22" name="Shape 20"/>
          <p:cNvSpPr/>
          <p:nvPr/>
        </p:nvSpPr>
        <p:spPr>
          <a:xfrm>
            <a:off x="274320" y="2167128"/>
            <a:ext cx="2286000" cy="475488"/>
          </a:xfrm>
          <a:prstGeom prst="rect">
            <a:avLst/>
          </a:prstGeom>
          <a:solidFill>
            <a:srgbClr val="172032"/>
          </a:solidFill>
          <a:ln w="6350">
            <a:solidFill>
              <a:srgbClr val="0369A1"/>
            </a:solidFill>
            <a:prstDash val="solid"/>
          </a:ln>
        </p:spPr>
        <p:txBody>
          <a:bodyPr/>
          <a:lstStyle/>
          <a:p>
            <a:endParaRPr lang="en-IN"/>
          </a:p>
        </p:txBody>
      </p:sp>
      <p:sp>
        <p:nvSpPr>
          <p:cNvPr id="23" name="Text 21"/>
          <p:cNvSpPr/>
          <p:nvPr/>
        </p:nvSpPr>
        <p:spPr>
          <a:xfrm>
            <a:off x="365760" y="2167128"/>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Tool Use</a:t>
            </a:r>
            <a:endParaRPr lang="en-US" sz="1150" dirty="0"/>
          </a:p>
        </p:txBody>
      </p:sp>
      <p:sp>
        <p:nvSpPr>
          <p:cNvPr id="24" name="Shape 22"/>
          <p:cNvSpPr/>
          <p:nvPr/>
        </p:nvSpPr>
        <p:spPr>
          <a:xfrm>
            <a:off x="2560320" y="2167128"/>
            <a:ext cx="3017520" cy="475488"/>
          </a:xfrm>
          <a:prstGeom prst="rect">
            <a:avLst/>
          </a:prstGeom>
          <a:solidFill>
            <a:srgbClr val="172032"/>
          </a:solidFill>
          <a:ln w="6350">
            <a:solidFill>
              <a:srgbClr val="0369A1"/>
            </a:solidFill>
            <a:prstDash val="solid"/>
          </a:ln>
        </p:spPr>
        <p:txBody>
          <a:bodyPr/>
          <a:lstStyle/>
          <a:p>
            <a:endParaRPr lang="en-IN"/>
          </a:p>
        </p:txBody>
      </p:sp>
      <p:sp>
        <p:nvSpPr>
          <p:cNvPr id="25" name="Text 23"/>
          <p:cNvSpPr/>
          <p:nvPr/>
        </p:nvSpPr>
        <p:spPr>
          <a:xfrm>
            <a:off x="2651760" y="2167128"/>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None (text only)</a:t>
            </a:r>
            <a:endParaRPr lang="en-US" sz="1150" dirty="0"/>
          </a:p>
        </p:txBody>
      </p:sp>
      <p:sp>
        <p:nvSpPr>
          <p:cNvPr id="26" name="Shape 24"/>
          <p:cNvSpPr/>
          <p:nvPr/>
        </p:nvSpPr>
        <p:spPr>
          <a:xfrm>
            <a:off x="5577840" y="2167128"/>
            <a:ext cx="3017520" cy="475488"/>
          </a:xfrm>
          <a:prstGeom prst="rect">
            <a:avLst/>
          </a:prstGeom>
          <a:solidFill>
            <a:srgbClr val="172032"/>
          </a:solidFill>
          <a:ln w="6350">
            <a:solidFill>
              <a:srgbClr val="0369A1"/>
            </a:solidFill>
            <a:prstDash val="solid"/>
          </a:ln>
        </p:spPr>
        <p:txBody>
          <a:bodyPr/>
          <a:lstStyle/>
          <a:p>
            <a:endParaRPr lang="en-IN"/>
          </a:p>
        </p:txBody>
      </p:sp>
      <p:sp>
        <p:nvSpPr>
          <p:cNvPr id="27" name="Text 25"/>
          <p:cNvSpPr/>
          <p:nvPr/>
        </p:nvSpPr>
        <p:spPr>
          <a:xfrm>
            <a:off x="5669280" y="2167128"/>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Yes (APIs, DBs, search)</a:t>
            </a:r>
            <a:endParaRPr lang="en-US" sz="1150" dirty="0"/>
          </a:p>
        </p:txBody>
      </p:sp>
      <p:sp>
        <p:nvSpPr>
          <p:cNvPr id="28" name="Shape 26"/>
          <p:cNvSpPr/>
          <p:nvPr/>
        </p:nvSpPr>
        <p:spPr>
          <a:xfrm>
            <a:off x="274320" y="2660904"/>
            <a:ext cx="2286000" cy="475488"/>
          </a:xfrm>
          <a:prstGeom prst="rect">
            <a:avLst/>
          </a:prstGeom>
          <a:solidFill>
            <a:srgbClr val="1E293B"/>
          </a:solidFill>
          <a:ln w="6350">
            <a:solidFill>
              <a:srgbClr val="0369A1"/>
            </a:solidFill>
            <a:prstDash val="solid"/>
          </a:ln>
        </p:spPr>
        <p:txBody>
          <a:bodyPr/>
          <a:lstStyle/>
          <a:p>
            <a:endParaRPr lang="en-IN"/>
          </a:p>
        </p:txBody>
      </p:sp>
      <p:sp>
        <p:nvSpPr>
          <p:cNvPr id="29" name="Text 27"/>
          <p:cNvSpPr/>
          <p:nvPr/>
        </p:nvSpPr>
        <p:spPr>
          <a:xfrm>
            <a:off x="365760" y="2660904"/>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Planning</a:t>
            </a:r>
            <a:endParaRPr lang="en-US" sz="1150" dirty="0"/>
          </a:p>
        </p:txBody>
      </p:sp>
      <p:sp>
        <p:nvSpPr>
          <p:cNvPr id="30" name="Shape 28"/>
          <p:cNvSpPr/>
          <p:nvPr/>
        </p:nvSpPr>
        <p:spPr>
          <a:xfrm>
            <a:off x="2560320" y="2660904"/>
            <a:ext cx="3017520" cy="475488"/>
          </a:xfrm>
          <a:prstGeom prst="rect">
            <a:avLst/>
          </a:prstGeom>
          <a:solidFill>
            <a:srgbClr val="1E293B"/>
          </a:solidFill>
          <a:ln w="6350">
            <a:solidFill>
              <a:srgbClr val="0369A1"/>
            </a:solidFill>
            <a:prstDash val="solid"/>
          </a:ln>
        </p:spPr>
        <p:txBody>
          <a:bodyPr/>
          <a:lstStyle/>
          <a:p>
            <a:endParaRPr lang="en-IN"/>
          </a:p>
        </p:txBody>
      </p:sp>
      <p:sp>
        <p:nvSpPr>
          <p:cNvPr id="31" name="Text 29"/>
          <p:cNvSpPr/>
          <p:nvPr/>
        </p:nvSpPr>
        <p:spPr>
          <a:xfrm>
            <a:off x="2651760" y="2660904"/>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Single response</a:t>
            </a:r>
            <a:endParaRPr lang="en-US" sz="1150" dirty="0"/>
          </a:p>
        </p:txBody>
      </p:sp>
      <p:sp>
        <p:nvSpPr>
          <p:cNvPr id="32" name="Shape 30"/>
          <p:cNvSpPr/>
          <p:nvPr/>
        </p:nvSpPr>
        <p:spPr>
          <a:xfrm>
            <a:off x="5577840" y="2660904"/>
            <a:ext cx="3017520" cy="475488"/>
          </a:xfrm>
          <a:prstGeom prst="rect">
            <a:avLst/>
          </a:prstGeom>
          <a:solidFill>
            <a:srgbClr val="1E293B"/>
          </a:solidFill>
          <a:ln w="6350">
            <a:solidFill>
              <a:srgbClr val="0369A1"/>
            </a:solidFill>
            <a:prstDash val="solid"/>
          </a:ln>
        </p:spPr>
        <p:txBody>
          <a:bodyPr/>
          <a:lstStyle/>
          <a:p>
            <a:endParaRPr lang="en-IN"/>
          </a:p>
        </p:txBody>
      </p:sp>
      <p:sp>
        <p:nvSpPr>
          <p:cNvPr id="33" name="Text 31"/>
          <p:cNvSpPr/>
          <p:nvPr/>
        </p:nvSpPr>
        <p:spPr>
          <a:xfrm>
            <a:off x="5669280" y="2660904"/>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Multi-step planning</a:t>
            </a:r>
            <a:endParaRPr lang="en-US" sz="1150" dirty="0"/>
          </a:p>
        </p:txBody>
      </p:sp>
      <p:sp>
        <p:nvSpPr>
          <p:cNvPr id="34" name="Shape 32"/>
          <p:cNvSpPr/>
          <p:nvPr/>
        </p:nvSpPr>
        <p:spPr>
          <a:xfrm>
            <a:off x="274320" y="3154680"/>
            <a:ext cx="2286000" cy="475488"/>
          </a:xfrm>
          <a:prstGeom prst="rect">
            <a:avLst/>
          </a:prstGeom>
          <a:solidFill>
            <a:srgbClr val="172032"/>
          </a:solidFill>
          <a:ln w="6350">
            <a:solidFill>
              <a:srgbClr val="0369A1"/>
            </a:solidFill>
            <a:prstDash val="solid"/>
          </a:ln>
        </p:spPr>
        <p:txBody>
          <a:bodyPr/>
          <a:lstStyle/>
          <a:p>
            <a:endParaRPr lang="en-IN"/>
          </a:p>
        </p:txBody>
      </p:sp>
      <p:sp>
        <p:nvSpPr>
          <p:cNvPr id="35" name="Text 33"/>
          <p:cNvSpPr/>
          <p:nvPr/>
        </p:nvSpPr>
        <p:spPr>
          <a:xfrm>
            <a:off x="365760" y="3154680"/>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Autonomy</a:t>
            </a:r>
            <a:endParaRPr lang="en-US" sz="1150" dirty="0"/>
          </a:p>
        </p:txBody>
      </p:sp>
      <p:sp>
        <p:nvSpPr>
          <p:cNvPr id="36" name="Shape 34"/>
          <p:cNvSpPr/>
          <p:nvPr/>
        </p:nvSpPr>
        <p:spPr>
          <a:xfrm>
            <a:off x="2560320" y="3154680"/>
            <a:ext cx="3017520" cy="475488"/>
          </a:xfrm>
          <a:prstGeom prst="rect">
            <a:avLst/>
          </a:prstGeom>
          <a:solidFill>
            <a:srgbClr val="172032"/>
          </a:solidFill>
          <a:ln w="6350">
            <a:solidFill>
              <a:srgbClr val="0369A1"/>
            </a:solidFill>
            <a:prstDash val="solid"/>
          </a:ln>
        </p:spPr>
        <p:txBody>
          <a:bodyPr/>
          <a:lstStyle/>
          <a:p>
            <a:endParaRPr lang="en-IN"/>
          </a:p>
        </p:txBody>
      </p:sp>
      <p:sp>
        <p:nvSpPr>
          <p:cNvPr id="37" name="Text 35"/>
          <p:cNvSpPr/>
          <p:nvPr/>
        </p:nvSpPr>
        <p:spPr>
          <a:xfrm>
            <a:off x="2651760" y="3154680"/>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Human-driven</a:t>
            </a:r>
            <a:endParaRPr lang="en-US" sz="1150" dirty="0"/>
          </a:p>
        </p:txBody>
      </p:sp>
      <p:sp>
        <p:nvSpPr>
          <p:cNvPr id="38" name="Shape 36"/>
          <p:cNvSpPr/>
          <p:nvPr/>
        </p:nvSpPr>
        <p:spPr>
          <a:xfrm>
            <a:off x="5577840" y="3154680"/>
            <a:ext cx="3017520" cy="475488"/>
          </a:xfrm>
          <a:prstGeom prst="rect">
            <a:avLst/>
          </a:prstGeom>
          <a:solidFill>
            <a:srgbClr val="172032"/>
          </a:solidFill>
          <a:ln w="6350">
            <a:solidFill>
              <a:srgbClr val="0369A1"/>
            </a:solidFill>
            <a:prstDash val="solid"/>
          </a:ln>
        </p:spPr>
        <p:txBody>
          <a:bodyPr/>
          <a:lstStyle/>
          <a:p>
            <a:endParaRPr lang="en-IN"/>
          </a:p>
        </p:txBody>
      </p:sp>
      <p:sp>
        <p:nvSpPr>
          <p:cNvPr id="39" name="Text 37"/>
          <p:cNvSpPr/>
          <p:nvPr/>
        </p:nvSpPr>
        <p:spPr>
          <a:xfrm>
            <a:off x="5669280" y="3154680"/>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Self-directed</a:t>
            </a:r>
            <a:endParaRPr lang="en-US" sz="1150" dirty="0"/>
          </a:p>
        </p:txBody>
      </p:sp>
      <p:sp>
        <p:nvSpPr>
          <p:cNvPr id="40" name="Shape 38"/>
          <p:cNvSpPr/>
          <p:nvPr/>
        </p:nvSpPr>
        <p:spPr>
          <a:xfrm>
            <a:off x="274320" y="3648456"/>
            <a:ext cx="2286000" cy="475488"/>
          </a:xfrm>
          <a:prstGeom prst="rect">
            <a:avLst/>
          </a:prstGeom>
          <a:solidFill>
            <a:srgbClr val="1E293B"/>
          </a:solidFill>
          <a:ln w="6350">
            <a:solidFill>
              <a:srgbClr val="0369A1"/>
            </a:solidFill>
            <a:prstDash val="solid"/>
          </a:ln>
        </p:spPr>
        <p:txBody>
          <a:bodyPr/>
          <a:lstStyle/>
          <a:p>
            <a:endParaRPr lang="en-IN"/>
          </a:p>
        </p:txBody>
      </p:sp>
      <p:sp>
        <p:nvSpPr>
          <p:cNvPr id="41" name="Text 39"/>
          <p:cNvSpPr/>
          <p:nvPr/>
        </p:nvSpPr>
        <p:spPr>
          <a:xfrm>
            <a:off x="365760" y="3648456"/>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Reasoning</a:t>
            </a:r>
            <a:endParaRPr lang="en-US" sz="1150" dirty="0"/>
          </a:p>
        </p:txBody>
      </p:sp>
      <p:sp>
        <p:nvSpPr>
          <p:cNvPr id="42" name="Shape 40"/>
          <p:cNvSpPr/>
          <p:nvPr/>
        </p:nvSpPr>
        <p:spPr>
          <a:xfrm>
            <a:off x="2560320" y="3648456"/>
            <a:ext cx="3017520" cy="475488"/>
          </a:xfrm>
          <a:prstGeom prst="rect">
            <a:avLst/>
          </a:prstGeom>
          <a:solidFill>
            <a:srgbClr val="1E293B"/>
          </a:solidFill>
          <a:ln w="6350">
            <a:solidFill>
              <a:srgbClr val="0369A1"/>
            </a:solidFill>
            <a:prstDash val="solid"/>
          </a:ln>
        </p:spPr>
        <p:txBody>
          <a:bodyPr/>
          <a:lstStyle/>
          <a:p>
            <a:endParaRPr lang="en-IN"/>
          </a:p>
        </p:txBody>
      </p:sp>
      <p:sp>
        <p:nvSpPr>
          <p:cNvPr id="43" name="Text 41"/>
          <p:cNvSpPr/>
          <p:nvPr/>
        </p:nvSpPr>
        <p:spPr>
          <a:xfrm>
            <a:off x="2651760" y="3648456"/>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Single inference</a:t>
            </a:r>
            <a:endParaRPr lang="en-US" sz="1150" dirty="0"/>
          </a:p>
        </p:txBody>
      </p:sp>
      <p:sp>
        <p:nvSpPr>
          <p:cNvPr id="44" name="Shape 42"/>
          <p:cNvSpPr/>
          <p:nvPr/>
        </p:nvSpPr>
        <p:spPr>
          <a:xfrm>
            <a:off x="5577840" y="3648456"/>
            <a:ext cx="3017520" cy="475488"/>
          </a:xfrm>
          <a:prstGeom prst="rect">
            <a:avLst/>
          </a:prstGeom>
          <a:solidFill>
            <a:srgbClr val="1E293B"/>
          </a:solidFill>
          <a:ln w="6350">
            <a:solidFill>
              <a:srgbClr val="0369A1"/>
            </a:solidFill>
            <a:prstDash val="solid"/>
          </a:ln>
        </p:spPr>
        <p:txBody>
          <a:bodyPr/>
          <a:lstStyle/>
          <a:p>
            <a:endParaRPr lang="en-IN"/>
          </a:p>
        </p:txBody>
      </p:sp>
      <p:sp>
        <p:nvSpPr>
          <p:cNvPr id="45" name="Text 43"/>
          <p:cNvSpPr/>
          <p:nvPr/>
        </p:nvSpPr>
        <p:spPr>
          <a:xfrm>
            <a:off x="5669280" y="3648456"/>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Iterative reasoning loop</a:t>
            </a:r>
            <a:endParaRPr lang="en-US" sz="1150" dirty="0"/>
          </a:p>
        </p:txBody>
      </p:sp>
      <p:sp>
        <p:nvSpPr>
          <p:cNvPr id="46" name="Shape 44"/>
          <p:cNvSpPr/>
          <p:nvPr/>
        </p:nvSpPr>
        <p:spPr>
          <a:xfrm>
            <a:off x="274320" y="4142232"/>
            <a:ext cx="2286000" cy="475488"/>
          </a:xfrm>
          <a:prstGeom prst="rect">
            <a:avLst/>
          </a:prstGeom>
          <a:solidFill>
            <a:srgbClr val="172032"/>
          </a:solidFill>
          <a:ln w="6350">
            <a:solidFill>
              <a:srgbClr val="0369A1"/>
            </a:solidFill>
            <a:prstDash val="solid"/>
          </a:ln>
        </p:spPr>
        <p:txBody>
          <a:bodyPr/>
          <a:lstStyle/>
          <a:p>
            <a:endParaRPr lang="en-IN"/>
          </a:p>
        </p:txBody>
      </p:sp>
      <p:sp>
        <p:nvSpPr>
          <p:cNvPr id="47" name="Text 45"/>
          <p:cNvSpPr/>
          <p:nvPr/>
        </p:nvSpPr>
        <p:spPr>
          <a:xfrm>
            <a:off x="365760" y="4142232"/>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Loop Type</a:t>
            </a:r>
            <a:endParaRPr lang="en-US" sz="1150" dirty="0"/>
          </a:p>
        </p:txBody>
      </p:sp>
      <p:sp>
        <p:nvSpPr>
          <p:cNvPr id="48" name="Shape 46"/>
          <p:cNvSpPr/>
          <p:nvPr/>
        </p:nvSpPr>
        <p:spPr>
          <a:xfrm>
            <a:off x="2560320" y="4142232"/>
            <a:ext cx="3017520" cy="475488"/>
          </a:xfrm>
          <a:prstGeom prst="rect">
            <a:avLst/>
          </a:prstGeom>
          <a:solidFill>
            <a:srgbClr val="172032"/>
          </a:solidFill>
          <a:ln w="6350">
            <a:solidFill>
              <a:srgbClr val="0369A1"/>
            </a:solidFill>
            <a:prstDash val="solid"/>
          </a:ln>
        </p:spPr>
        <p:txBody>
          <a:bodyPr/>
          <a:lstStyle/>
          <a:p>
            <a:endParaRPr lang="en-IN"/>
          </a:p>
        </p:txBody>
      </p:sp>
      <p:sp>
        <p:nvSpPr>
          <p:cNvPr id="49" name="Text 47"/>
          <p:cNvSpPr/>
          <p:nvPr/>
        </p:nvSpPr>
        <p:spPr>
          <a:xfrm>
            <a:off x="2651760" y="4142232"/>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One-shot</a:t>
            </a:r>
            <a:endParaRPr lang="en-US" sz="1150" dirty="0"/>
          </a:p>
        </p:txBody>
      </p:sp>
      <p:sp>
        <p:nvSpPr>
          <p:cNvPr id="50" name="Shape 48"/>
          <p:cNvSpPr/>
          <p:nvPr/>
        </p:nvSpPr>
        <p:spPr>
          <a:xfrm>
            <a:off x="5577840" y="4142232"/>
            <a:ext cx="3017520" cy="475488"/>
          </a:xfrm>
          <a:prstGeom prst="rect">
            <a:avLst/>
          </a:prstGeom>
          <a:solidFill>
            <a:srgbClr val="172032"/>
          </a:solidFill>
          <a:ln w="6350">
            <a:solidFill>
              <a:srgbClr val="0369A1"/>
            </a:solidFill>
            <a:prstDash val="solid"/>
          </a:ln>
        </p:spPr>
        <p:txBody>
          <a:bodyPr/>
          <a:lstStyle/>
          <a:p>
            <a:endParaRPr lang="en-IN"/>
          </a:p>
        </p:txBody>
      </p:sp>
      <p:sp>
        <p:nvSpPr>
          <p:cNvPr id="51" name="Text 49"/>
          <p:cNvSpPr/>
          <p:nvPr/>
        </p:nvSpPr>
        <p:spPr>
          <a:xfrm>
            <a:off x="5669280" y="4142232"/>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Think → Act → Observe</a:t>
            </a:r>
            <a:endParaRPr lang="en-US" sz="1150" dirty="0"/>
          </a:p>
        </p:txBody>
      </p:sp>
      <p:sp>
        <p:nvSpPr>
          <p:cNvPr id="52" name="Shape 50"/>
          <p:cNvSpPr/>
          <p:nvPr/>
        </p:nvSpPr>
        <p:spPr>
          <a:xfrm>
            <a:off x="274320" y="4636008"/>
            <a:ext cx="2286000" cy="475488"/>
          </a:xfrm>
          <a:prstGeom prst="rect">
            <a:avLst/>
          </a:prstGeom>
          <a:solidFill>
            <a:srgbClr val="1E293B"/>
          </a:solidFill>
          <a:ln w="6350">
            <a:solidFill>
              <a:srgbClr val="0369A1"/>
            </a:solidFill>
            <a:prstDash val="solid"/>
          </a:ln>
        </p:spPr>
        <p:txBody>
          <a:bodyPr/>
          <a:lstStyle/>
          <a:p>
            <a:endParaRPr lang="en-IN"/>
          </a:p>
        </p:txBody>
      </p:sp>
      <p:sp>
        <p:nvSpPr>
          <p:cNvPr id="53" name="Text 51"/>
          <p:cNvSpPr/>
          <p:nvPr/>
        </p:nvSpPr>
        <p:spPr>
          <a:xfrm>
            <a:off x="365760" y="4636008"/>
            <a:ext cx="2103120" cy="47548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Example</a:t>
            </a:r>
            <a:endParaRPr lang="en-US" sz="1150" dirty="0"/>
          </a:p>
        </p:txBody>
      </p:sp>
      <p:sp>
        <p:nvSpPr>
          <p:cNvPr id="54" name="Shape 52"/>
          <p:cNvSpPr/>
          <p:nvPr/>
        </p:nvSpPr>
        <p:spPr>
          <a:xfrm>
            <a:off x="2560320" y="4636008"/>
            <a:ext cx="3017520" cy="475488"/>
          </a:xfrm>
          <a:prstGeom prst="rect">
            <a:avLst/>
          </a:prstGeom>
          <a:solidFill>
            <a:srgbClr val="1E293B"/>
          </a:solidFill>
          <a:ln w="6350">
            <a:solidFill>
              <a:srgbClr val="0369A1"/>
            </a:solidFill>
            <a:prstDash val="solid"/>
          </a:ln>
        </p:spPr>
        <p:txBody>
          <a:bodyPr/>
          <a:lstStyle/>
          <a:p>
            <a:endParaRPr lang="en-IN"/>
          </a:p>
        </p:txBody>
      </p:sp>
      <p:sp>
        <p:nvSpPr>
          <p:cNvPr id="55" name="Text 53"/>
          <p:cNvSpPr/>
          <p:nvPr/>
        </p:nvSpPr>
        <p:spPr>
          <a:xfrm>
            <a:off x="2651760" y="4636008"/>
            <a:ext cx="2834640" cy="475488"/>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ChatGPT answering Q</a:t>
            </a:r>
            <a:endParaRPr lang="en-US" sz="1150" dirty="0"/>
          </a:p>
        </p:txBody>
      </p:sp>
      <p:sp>
        <p:nvSpPr>
          <p:cNvPr id="56" name="Shape 54"/>
          <p:cNvSpPr/>
          <p:nvPr/>
        </p:nvSpPr>
        <p:spPr>
          <a:xfrm>
            <a:off x="5577840" y="4636008"/>
            <a:ext cx="3017520" cy="475488"/>
          </a:xfrm>
          <a:prstGeom prst="rect">
            <a:avLst/>
          </a:prstGeom>
          <a:solidFill>
            <a:srgbClr val="1E293B"/>
          </a:solidFill>
          <a:ln w="6350">
            <a:solidFill>
              <a:srgbClr val="0369A1"/>
            </a:solidFill>
            <a:prstDash val="solid"/>
          </a:ln>
        </p:spPr>
        <p:txBody>
          <a:bodyPr/>
          <a:lstStyle/>
          <a:p>
            <a:endParaRPr lang="en-IN"/>
          </a:p>
        </p:txBody>
      </p:sp>
      <p:sp>
        <p:nvSpPr>
          <p:cNvPr id="57" name="Text 55"/>
          <p:cNvSpPr/>
          <p:nvPr/>
        </p:nvSpPr>
        <p:spPr>
          <a:xfrm>
            <a:off x="5669280" y="4636008"/>
            <a:ext cx="2834640" cy="475488"/>
          </a:xfrm>
          <a:prstGeom prst="rect">
            <a:avLst/>
          </a:prstGeom>
          <a:noFill/>
          <a:ln/>
        </p:spPr>
        <p:txBody>
          <a:bodyPr wrap="square" rtlCol="0" anchor="ctr"/>
          <a:lstStyle/>
          <a:p>
            <a:pPr marL="0" indent="0">
              <a:buNone/>
            </a:pPr>
            <a:r>
              <a:rPr lang="en-US" sz="1150" dirty="0">
                <a:solidFill>
                  <a:srgbClr val="06B6D4"/>
                </a:solidFill>
                <a:latin typeface="Calibri" pitchFamily="34" charset="0"/>
                <a:ea typeface="Calibri" pitchFamily="34" charset="-122"/>
                <a:cs typeface="Calibri" pitchFamily="34" charset="-120"/>
              </a:rPr>
              <a:t>Agent booking a flight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Agentic AI Works</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The Agent Execution Loop</a:t>
            </a:r>
            <a:endParaRPr lang="en-US" sz="1300" dirty="0"/>
          </a:p>
        </p:txBody>
      </p:sp>
      <p:sp>
        <p:nvSpPr>
          <p:cNvPr id="5" name="Shape 3"/>
          <p:cNvSpPr/>
          <p:nvPr/>
        </p:nvSpPr>
        <p:spPr>
          <a:xfrm>
            <a:off x="228600" y="1691640"/>
            <a:ext cx="1051560" cy="685800"/>
          </a:xfrm>
          <a:prstGeom prst="ellipse">
            <a:avLst/>
          </a:prstGeom>
          <a:solidFill>
            <a:srgbClr val="06B6D4"/>
          </a:solidFill>
          <a:ln w="12700">
            <a:solidFill>
              <a:srgbClr val="06B6D4"/>
            </a:solidFill>
            <a:prstDash val="solid"/>
          </a:ln>
        </p:spPr>
        <p:txBody>
          <a:bodyPr/>
          <a:lstStyle/>
          <a:p>
            <a:endParaRPr lang="en-IN"/>
          </a:p>
        </p:txBody>
      </p:sp>
      <p:sp>
        <p:nvSpPr>
          <p:cNvPr id="6" name="Text 4"/>
          <p:cNvSpPr/>
          <p:nvPr/>
        </p:nvSpPr>
        <p:spPr>
          <a:xfrm>
            <a:off x="22860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User</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Request</a:t>
            </a:r>
            <a:endParaRPr lang="en-US" sz="900" dirty="0"/>
          </a:p>
        </p:txBody>
      </p:sp>
      <p:sp>
        <p:nvSpPr>
          <p:cNvPr id="7" name="Shape 5"/>
          <p:cNvSpPr/>
          <p:nvPr/>
        </p:nvSpPr>
        <p:spPr>
          <a:xfrm>
            <a:off x="1280160" y="2034540"/>
            <a:ext cx="411480" cy="0"/>
          </a:xfrm>
          <a:prstGeom prst="line">
            <a:avLst/>
          </a:prstGeom>
          <a:noFill/>
          <a:ln w="19050">
            <a:solidFill>
              <a:srgbClr val="94A3B8"/>
            </a:solidFill>
            <a:prstDash val="solid"/>
          </a:ln>
        </p:spPr>
        <p:txBody>
          <a:bodyPr/>
          <a:lstStyle/>
          <a:p>
            <a:endParaRPr lang="en-IN"/>
          </a:p>
        </p:txBody>
      </p:sp>
      <p:sp>
        <p:nvSpPr>
          <p:cNvPr id="8" name="Shape 6"/>
          <p:cNvSpPr/>
          <p:nvPr/>
        </p:nvSpPr>
        <p:spPr>
          <a:xfrm>
            <a:off x="1463040" y="1691640"/>
            <a:ext cx="1051560" cy="685800"/>
          </a:xfrm>
          <a:prstGeom prst="ellipse">
            <a:avLst/>
          </a:prstGeom>
          <a:solidFill>
            <a:srgbClr val="8B5CF6"/>
          </a:solidFill>
          <a:ln w="12700">
            <a:solidFill>
              <a:srgbClr val="8B5CF6"/>
            </a:solidFill>
            <a:prstDash val="solid"/>
          </a:ln>
        </p:spPr>
        <p:txBody>
          <a:bodyPr/>
          <a:lstStyle/>
          <a:p>
            <a:endParaRPr lang="en-IN"/>
          </a:p>
        </p:txBody>
      </p:sp>
      <p:sp>
        <p:nvSpPr>
          <p:cNvPr id="9" name="Text 7"/>
          <p:cNvSpPr/>
          <p:nvPr/>
        </p:nvSpPr>
        <p:spPr>
          <a:xfrm>
            <a:off x="146304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Agent</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Core</a:t>
            </a:r>
            <a:endParaRPr lang="en-US" sz="900" dirty="0"/>
          </a:p>
        </p:txBody>
      </p:sp>
      <p:sp>
        <p:nvSpPr>
          <p:cNvPr id="10" name="Shape 8"/>
          <p:cNvSpPr/>
          <p:nvPr/>
        </p:nvSpPr>
        <p:spPr>
          <a:xfrm>
            <a:off x="2514600" y="2034540"/>
            <a:ext cx="411480" cy="0"/>
          </a:xfrm>
          <a:prstGeom prst="line">
            <a:avLst/>
          </a:prstGeom>
          <a:noFill/>
          <a:ln w="19050">
            <a:solidFill>
              <a:srgbClr val="94A3B8"/>
            </a:solidFill>
            <a:prstDash val="solid"/>
          </a:ln>
        </p:spPr>
        <p:txBody>
          <a:bodyPr/>
          <a:lstStyle/>
          <a:p>
            <a:endParaRPr lang="en-IN"/>
          </a:p>
        </p:txBody>
      </p:sp>
      <p:sp>
        <p:nvSpPr>
          <p:cNvPr id="11" name="Shape 9"/>
          <p:cNvSpPr/>
          <p:nvPr/>
        </p:nvSpPr>
        <p:spPr>
          <a:xfrm>
            <a:off x="2697480" y="1691640"/>
            <a:ext cx="1051560" cy="685800"/>
          </a:xfrm>
          <a:prstGeom prst="ellipse">
            <a:avLst/>
          </a:prstGeom>
          <a:solidFill>
            <a:srgbClr val="10B981"/>
          </a:solidFill>
          <a:ln w="12700">
            <a:solidFill>
              <a:srgbClr val="10B981"/>
            </a:solidFill>
            <a:prstDash val="solid"/>
          </a:ln>
        </p:spPr>
        <p:txBody>
          <a:bodyPr/>
          <a:lstStyle/>
          <a:p>
            <a:endParaRPr lang="en-IN"/>
          </a:p>
        </p:txBody>
      </p:sp>
      <p:sp>
        <p:nvSpPr>
          <p:cNvPr id="12" name="Text 10"/>
          <p:cNvSpPr/>
          <p:nvPr/>
        </p:nvSpPr>
        <p:spPr>
          <a:xfrm>
            <a:off x="269748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Planner</a:t>
            </a:r>
            <a:endParaRPr lang="en-US" sz="900" dirty="0"/>
          </a:p>
        </p:txBody>
      </p:sp>
      <p:sp>
        <p:nvSpPr>
          <p:cNvPr id="13" name="Shape 11"/>
          <p:cNvSpPr/>
          <p:nvPr/>
        </p:nvSpPr>
        <p:spPr>
          <a:xfrm>
            <a:off x="3749040" y="2034540"/>
            <a:ext cx="411480" cy="0"/>
          </a:xfrm>
          <a:prstGeom prst="line">
            <a:avLst/>
          </a:prstGeom>
          <a:noFill/>
          <a:ln w="19050">
            <a:solidFill>
              <a:srgbClr val="94A3B8"/>
            </a:solidFill>
            <a:prstDash val="solid"/>
          </a:ln>
        </p:spPr>
        <p:txBody>
          <a:bodyPr/>
          <a:lstStyle/>
          <a:p>
            <a:endParaRPr lang="en-IN"/>
          </a:p>
        </p:txBody>
      </p:sp>
      <p:sp>
        <p:nvSpPr>
          <p:cNvPr id="14" name="Shape 12"/>
          <p:cNvSpPr/>
          <p:nvPr/>
        </p:nvSpPr>
        <p:spPr>
          <a:xfrm>
            <a:off x="3931920" y="1691640"/>
            <a:ext cx="1051560" cy="685800"/>
          </a:xfrm>
          <a:prstGeom prst="ellipse">
            <a:avLst/>
          </a:prstGeom>
          <a:solidFill>
            <a:srgbClr val="F59E0B"/>
          </a:solidFill>
          <a:ln w="12700">
            <a:solidFill>
              <a:srgbClr val="F59E0B"/>
            </a:solidFill>
            <a:prstDash val="solid"/>
          </a:ln>
        </p:spPr>
        <p:txBody>
          <a:bodyPr/>
          <a:lstStyle/>
          <a:p>
            <a:endParaRPr lang="en-IN"/>
          </a:p>
        </p:txBody>
      </p:sp>
      <p:sp>
        <p:nvSpPr>
          <p:cNvPr id="15" name="Text 13"/>
          <p:cNvSpPr/>
          <p:nvPr/>
        </p:nvSpPr>
        <p:spPr>
          <a:xfrm>
            <a:off x="393192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Tool</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Selection</a:t>
            </a:r>
            <a:endParaRPr lang="en-US" sz="900" dirty="0"/>
          </a:p>
        </p:txBody>
      </p:sp>
      <p:sp>
        <p:nvSpPr>
          <p:cNvPr id="16" name="Shape 14"/>
          <p:cNvSpPr/>
          <p:nvPr/>
        </p:nvSpPr>
        <p:spPr>
          <a:xfrm>
            <a:off x="4983480" y="2034540"/>
            <a:ext cx="411480" cy="0"/>
          </a:xfrm>
          <a:prstGeom prst="line">
            <a:avLst/>
          </a:prstGeom>
          <a:noFill/>
          <a:ln w="19050">
            <a:solidFill>
              <a:srgbClr val="94A3B8"/>
            </a:solidFill>
            <a:prstDash val="solid"/>
          </a:ln>
        </p:spPr>
        <p:txBody>
          <a:bodyPr/>
          <a:lstStyle/>
          <a:p>
            <a:endParaRPr lang="en-IN"/>
          </a:p>
        </p:txBody>
      </p:sp>
      <p:sp>
        <p:nvSpPr>
          <p:cNvPr id="17" name="Shape 15"/>
          <p:cNvSpPr/>
          <p:nvPr/>
        </p:nvSpPr>
        <p:spPr>
          <a:xfrm>
            <a:off x="5166360" y="1691640"/>
            <a:ext cx="1051560" cy="685800"/>
          </a:xfrm>
          <a:prstGeom prst="ellipse">
            <a:avLst/>
          </a:prstGeom>
          <a:solidFill>
            <a:srgbClr val="EF4444"/>
          </a:solidFill>
          <a:ln w="12700">
            <a:solidFill>
              <a:srgbClr val="EF4444"/>
            </a:solidFill>
            <a:prstDash val="solid"/>
          </a:ln>
        </p:spPr>
        <p:txBody>
          <a:bodyPr/>
          <a:lstStyle/>
          <a:p>
            <a:endParaRPr lang="en-IN"/>
          </a:p>
        </p:txBody>
      </p:sp>
      <p:sp>
        <p:nvSpPr>
          <p:cNvPr id="18" name="Text 16"/>
          <p:cNvSpPr/>
          <p:nvPr/>
        </p:nvSpPr>
        <p:spPr>
          <a:xfrm>
            <a:off x="516636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Execution</a:t>
            </a:r>
            <a:endParaRPr lang="en-US" sz="900" dirty="0"/>
          </a:p>
        </p:txBody>
      </p:sp>
      <p:sp>
        <p:nvSpPr>
          <p:cNvPr id="19" name="Shape 17"/>
          <p:cNvSpPr/>
          <p:nvPr/>
        </p:nvSpPr>
        <p:spPr>
          <a:xfrm>
            <a:off x="6217920" y="2034540"/>
            <a:ext cx="411480" cy="0"/>
          </a:xfrm>
          <a:prstGeom prst="line">
            <a:avLst/>
          </a:prstGeom>
          <a:noFill/>
          <a:ln w="19050">
            <a:solidFill>
              <a:srgbClr val="94A3B8"/>
            </a:solidFill>
            <a:prstDash val="solid"/>
          </a:ln>
        </p:spPr>
        <p:txBody>
          <a:bodyPr/>
          <a:lstStyle/>
          <a:p>
            <a:endParaRPr lang="en-IN"/>
          </a:p>
        </p:txBody>
      </p:sp>
      <p:sp>
        <p:nvSpPr>
          <p:cNvPr id="20" name="Shape 18"/>
          <p:cNvSpPr/>
          <p:nvPr/>
        </p:nvSpPr>
        <p:spPr>
          <a:xfrm>
            <a:off x="6400800" y="1691640"/>
            <a:ext cx="1051560" cy="685800"/>
          </a:xfrm>
          <a:prstGeom prst="ellipse">
            <a:avLst/>
          </a:prstGeom>
          <a:solidFill>
            <a:srgbClr val="10B981"/>
          </a:solidFill>
          <a:ln w="12700">
            <a:solidFill>
              <a:srgbClr val="10B981"/>
            </a:solidFill>
            <a:prstDash val="solid"/>
          </a:ln>
        </p:spPr>
        <p:txBody>
          <a:bodyPr/>
          <a:lstStyle/>
          <a:p>
            <a:endParaRPr lang="en-IN"/>
          </a:p>
        </p:txBody>
      </p:sp>
      <p:sp>
        <p:nvSpPr>
          <p:cNvPr id="21" name="Text 19"/>
          <p:cNvSpPr/>
          <p:nvPr/>
        </p:nvSpPr>
        <p:spPr>
          <a:xfrm>
            <a:off x="640080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Observation</a:t>
            </a:r>
            <a:endParaRPr lang="en-US" sz="900" dirty="0"/>
          </a:p>
        </p:txBody>
      </p:sp>
      <p:sp>
        <p:nvSpPr>
          <p:cNvPr id="22" name="Shape 20"/>
          <p:cNvSpPr/>
          <p:nvPr/>
        </p:nvSpPr>
        <p:spPr>
          <a:xfrm>
            <a:off x="7452360" y="2034540"/>
            <a:ext cx="411480" cy="0"/>
          </a:xfrm>
          <a:prstGeom prst="line">
            <a:avLst/>
          </a:prstGeom>
          <a:noFill/>
          <a:ln w="19050">
            <a:solidFill>
              <a:srgbClr val="94A3B8"/>
            </a:solidFill>
            <a:prstDash val="solid"/>
          </a:ln>
        </p:spPr>
        <p:txBody>
          <a:bodyPr/>
          <a:lstStyle/>
          <a:p>
            <a:endParaRPr lang="en-IN"/>
          </a:p>
        </p:txBody>
      </p:sp>
      <p:sp>
        <p:nvSpPr>
          <p:cNvPr id="23" name="Shape 21"/>
          <p:cNvSpPr/>
          <p:nvPr/>
        </p:nvSpPr>
        <p:spPr>
          <a:xfrm>
            <a:off x="7635240" y="1691640"/>
            <a:ext cx="1051560" cy="685800"/>
          </a:xfrm>
          <a:prstGeom prst="ellipse">
            <a:avLst/>
          </a:prstGeom>
          <a:solidFill>
            <a:srgbClr val="06B6D4"/>
          </a:solidFill>
          <a:ln w="12700">
            <a:solidFill>
              <a:srgbClr val="06B6D4"/>
            </a:solidFill>
            <a:prstDash val="solid"/>
          </a:ln>
        </p:spPr>
        <p:txBody>
          <a:bodyPr/>
          <a:lstStyle/>
          <a:p>
            <a:endParaRPr lang="en-IN"/>
          </a:p>
        </p:txBody>
      </p:sp>
      <p:sp>
        <p:nvSpPr>
          <p:cNvPr id="24" name="Text 22"/>
          <p:cNvSpPr/>
          <p:nvPr/>
        </p:nvSpPr>
        <p:spPr>
          <a:xfrm>
            <a:off x="7635240" y="1691640"/>
            <a:ext cx="105156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Final</a:t>
            </a:r>
            <a:endParaRPr lang="en-US" sz="900" dirty="0"/>
          </a:p>
          <a:p>
            <a:pPr marL="0" indent="0" algn="ctr">
              <a:buNone/>
            </a:pPr>
            <a:r>
              <a:rPr lang="en-US" sz="900" b="1" dirty="0">
                <a:solidFill>
                  <a:srgbClr val="0F172A"/>
                </a:solidFill>
                <a:latin typeface="Calibri" pitchFamily="34" charset="0"/>
                <a:ea typeface="Calibri" pitchFamily="34" charset="-122"/>
                <a:cs typeface="Calibri" pitchFamily="34" charset="-120"/>
              </a:rPr>
              <a:t>Response</a:t>
            </a:r>
            <a:endParaRPr lang="en-US" sz="900" dirty="0"/>
          </a:p>
        </p:txBody>
      </p:sp>
      <p:sp>
        <p:nvSpPr>
          <p:cNvPr id="25" name="Shape 23"/>
          <p:cNvSpPr/>
          <p:nvPr/>
        </p:nvSpPr>
        <p:spPr>
          <a:xfrm>
            <a:off x="6922008" y="2395728"/>
            <a:ext cx="0" cy="457200"/>
          </a:xfrm>
          <a:prstGeom prst="line">
            <a:avLst/>
          </a:prstGeom>
          <a:noFill/>
          <a:ln w="19050">
            <a:solidFill>
              <a:srgbClr val="F59E0B"/>
            </a:solidFill>
            <a:prstDash val="dash"/>
          </a:ln>
        </p:spPr>
        <p:txBody>
          <a:bodyPr/>
          <a:lstStyle/>
          <a:p>
            <a:endParaRPr lang="en-IN"/>
          </a:p>
        </p:txBody>
      </p:sp>
      <p:sp>
        <p:nvSpPr>
          <p:cNvPr id="26" name="Shape 24"/>
          <p:cNvSpPr/>
          <p:nvPr/>
        </p:nvSpPr>
        <p:spPr>
          <a:xfrm>
            <a:off x="749808" y="2852928"/>
            <a:ext cx="6172200" cy="0"/>
          </a:xfrm>
          <a:prstGeom prst="line">
            <a:avLst/>
          </a:prstGeom>
          <a:noFill/>
          <a:ln w="19050">
            <a:solidFill>
              <a:srgbClr val="F59E0B"/>
            </a:solidFill>
            <a:prstDash val="dash"/>
          </a:ln>
        </p:spPr>
        <p:txBody>
          <a:bodyPr/>
          <a:lstStyle/>
          <a:p>
            <a:endParaRPr lang="en-IN"/>
          </a:p>
        </p:txBody>
      </p:sp>
      <p:sp>
        <p:nvSpPr>
          <p:cNvPr id="27" name="Shape 25"/>
          <p:cNvSpPr/>
          <p:nvPr/>
        </p:nvSpPr>
        <p:spPr>
          <a:xfrm>
            <a:off x="749808" y="2395728"/>
            <a:ext cx="0" cy="457200"/>
          </a:xfrm>
          <a:prstGeom prst="line">
            <a:avLst/>
          </a:prstGeom>
          <a:noFill/>
          <a:ln w="19050">
            <a:solidFill>
              <a:srgbClr val="F59E0B"/>
            </a:solidFill>
            <a:prstDash val="dash"/>
          </a:ln>
        </p:spPr>
        <p:txBody>
          <a:bodyPr/>
          <a:lstStyle/>
          <a:p>
            <a:endParaRPr lang="en-IN"/>
          </a:p>
        </p:txBody>
      </p:sp>
      <p:sp>
        <p:nvSpPr>
          <p:cNvPr id="28" name="Text 26"/>
          <p:cNvSpPr/>
          <p:nvPr/>
        </p:nvSpPr>
        <p:spPr>
          <a:xfrm>
            <a:off x="2286000" y="2907792"/>
            <a:ext cx="3657600" cy="237744"/>
          </a:xfrm>
          <a:prstGeom prst="rect">
            <a:avLst/>
          </a:prstGeom>
          <a:noFill/>
          <a:ln/>
        </p:spPr>
        <p:txBody>
          <a:bodyPr wrap="square"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 Observe &amp; Re-plan if needed</a:t>
            </a:r>
            <a:endParaRPr lang="en-US" sz="1000" dirty="0"/>
          </a:p>
        </p:txBody>
      </p:sp>
      <p:sp>
        <p:nvSpPr>
          <p:cNvPr id="29" name="Shape 27"/>
          <p:cNvSpPr/>
          <p:nvPr/>
        </p:nvSpPr>
        <p:spPr>
          <a:xfrm>
            <a:off x="274320" y="3291840"/>
            <a:ext cx="2743200" cy="841248"/>
          </a:xfrm>
          <a:prstGeom prst="roundRect">
            <a:avLst>
              <a:gd name="adj" fmla="val 8696"/>
            </a:avLst>
          </a:prstGeom>
          <a:solidFill>
            <a:srgbClr val="1E293B"/>
          </a:solidFill>
          <a:ln w="12700">
            <a:solidFill>
              <a:srgbClr val="06B6D4"/>
            </a:solidFill>
            <a:prstDash val="solid"/>
          </a:ln>
        </p:spPr>
        <p:txBody>
          <a:bodyPr/>
          <a:lstStyle/>
          <a:p>
            <a:endParaRPr lang="en-IN"/>
          </a:p>
        </p:txBody>
      </p:sp>
      <p:sp>
        <p:nvSpPr>
          <p:cNvPr id="30" name="Text 28"/>
          <p:cNvSpPr/>
          <p:nvPr/>
        </p:nvSpPr>
        <p:spPr>
          <a:xfrm>
            <a:off x="384048" y="3346704"/>
            <a:ext cx="2542032" cy="274320"/>
          </a:xfrm>
          <a:prstGeom prst="rect">
            <a:avLst/>
          </a:prstGeom>
          <a:noFill/>
          <a:ln/>
        </p:spPr>
        <p:txBody>
          <a:bodyPr wrap="square"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1. User Request</a:t>
            </a:r>
            <a:endParaRPr lang="en-US" sz="1100" dirty="0"/>
          </a:p>
        </p:txBody>
      </p:sp>
      <p:sp>
        <p:nvSpPr>
          <p:cNvPr id="31" name="Text 29"/>
          <p:cNvSpPr/>
          <p:nvPr/>
        </p:nvSpPr>
        <p:spPr>
          <a:xfrm>
            <a:off x="384048" y="362102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User states a high-level goal: 'Book me a flight to Delhi tomorrow'</a:t>
            </a:r>
            <a:endParaRPr lang="en-US" sz="950" dirty="0"/>
          </a:p>
        </p:txBody>
      </p:sp>
      <p:sp>
        <p:nvSpPr>
          <p:cNvPr id="32" name="Shape 30"/>
          <p:cNvSpPr/>
          <p:nvPr/>
        </p:nvSpPr>
        <p:spPr>
          <a:xfrm>
            <a:off x="3182112" y="3291840"/>
            <a:ext cx="2743200" cy="841248"/>
          </a:xfrm>
          <a:prstGeom prst="roundRect">
            <a:avLst>
              <a:gd name="adj" fmla="val 8696"/>
            </a:avLst>
          </a:prstGeom>
          <a:solidFill>
            <a:srgbClr val="1E293B"/>
          </a:solidFill>
          <a:ln w="12700">
            <a:solidFill>
              <a:srgbClr val="10B981"/>
            </a:solidFill>
            <a:prstDash val="solid"/>
          </a:ln>
        </p:spPr>
        <p:txBody>
          <a:bodyPr/>
          <a:lstStyle/>
          <a:p>
            <a:endParaRPr lang="en-IN"/>
          </a:p>
        </p:txBody>
      </p:sp>
      <p:sp>
        <p:nvSpPr>
          <p:cNvPr id="33" name="Text 31"/>
          <p:cNvSpPr/>
          <p:nvPr/>
        </p:nvSpPr>
        <p:spPr>
          <a:xfrm>
            <a:off x="3291840" y="3346704"/>
            <a:ext cx="2542032"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2. Planning</a:t>
            </a:r>
            <a:endParaRPr lang="en-US" sz="1100" dirty="0"/>
          </a:p>
        </p:txBody>
      </p:sp>
      <p:sp>
        <p:nvSpPr>
          <p:cNvPr id="34" name="Text 32"/>
          <p:cNvSpPr/>
          <p:nvPr/>
        </p:nvSpPr>
        <p:spPr>
          <a:xfrm>
            <a:off x="3291840" y="362102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Agent breaks goal into steps: search flights → compare → book → confirm</a:t>
            </a:r>
            <a:endParaRPr lang="en-US" sz="950" dirty="0"/>
          </a:p>
        </p:txBody>
      </p:sp>
      <p:sp>
        <p:nvSpPr>
          <p:cNvPr id="35" name="Shape 33"/>
          <p:cNvSpPr/>
          <p:nvPr/>
        </p:nvSpPr>
        <p:spPr>
          <a:xfrm>
            <a:off x="6089904" y="3291840"/>
            <a:ext cx="2743200" cy="841248"/>
          </a:xfrm>
          <a:prstGeom prst="roundRect">
            <a:avLst>
              <a:gd name="adj" fmla="val 8696"/>
            </a:avLst>
          </a:prstGeom>
          <a:solidFill>
            <a:srgbClr val="1E293B"/>
          </a:solidFill>
          <a:ln w="12700">
            <a:solidFill>
              <a:srgbClr val="F59E0B"/>
            </a:solidFill>
            <a:prstDash val="solid"/>
          </a:ln>
        </p:spPr>
        <p:txBody>
          <a:bodyPr/>
          <a:lstStyle/>
          <a:p>
            <a:endParaRPr lang="en-IN"/>
          </a:p>
        </p:txBody>
      </p:sp>
      <p:sp>
        <p:nvSpPr>
          <p:cNvPr id="36" name="Text 34"/>
          <p:cNvSpPr/>
          <p:nvPr/>
        </p:nvSpPr>
        <p:spPr>
          <a:xfrm>
            <a:off x="6199632" y="3346704"/>
            <a:ext cx="2542032"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3. Tool Use</a:t>
            </a:r>
            <a:endParaRPr lang="en-US" sz="1100" dirty="0"/>
          </a:p>
        </p:txBody>
      </p:sp>
      <p:sp>
        <p:nvSpPr>
          <p:cNvPr id="37" name="Text 35"/>
          <p:cNvSpPr/>
          <p:nvPr/>
        </p:nvSpPr>
        <p:spPr>
          <a:xfrm>
            <a:off x="6199632" y="362102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Calls external tools: Flights API, Payment API, Calendar API</a:t>
            </a:r>
            <a:endParaRPr lang="en-US" sz="950" dirty="0"/>
          </a:p>
        </p:txBody>
      </p:sp>
      <p:sp>
        <p:nvSpPr>
          <p:cNvPr id="38" name="Shape 36"/>
          <p:cNvSpPr/>
          <p:nvPr/>
        </p:nvSpPr>
        <p:spPr>
          <a:xfrm>
            <a:off x="274320" y="4251960"/>
            <a:ext cx="2743200" cy="841248"/>
          </a:xfrm>
          <a:prstGeom prst="roundRect">
            <a:avLst>
              <a:gd name="adj" fmla="val 8696"/>
            </a:avLst>
          </a:prstGeom>
          <a:solidFill>
            <a:srgbClr val="1E293B"/>
          </a:solidFill>
          <a:ln w="12700">
            <a:solidFill>
              <a:srgbClr val="8B5CF6"/>
            </a:solidFill>
            <a:prstDash val="solid"/>
          </a:ln>
        </p:spPr>
        <p:txBody>
          <a:bodyPr/>
          <a:lstStyle/>
          <a:p>
            <a:endParaRPr lang="en-IN"/>
          </a:p>
        </p:txBody>
      </p:sp>
      <p:sp>
        <p:nvSpPr>
          <p:cNvPr id="39" name="Text 37"/>
          <p:cNvSpPr/>
          <p:nvPr/>
        </p:nvSpPr>
        <p:spPr>
          <a:xfrm>
            <a:off x="384048" y="4306824"/>
            <a:ext cx="2542032" cy="274320"/>
          </a:xfrm>
          <a:prstGeom prst="rect">
            <a:avLst/>
          </a:prstGeom>
          <a:noFill/>
          <a:ln/>
        </p:spPr>
        <p:txBody>
          <a:bodyPr wrap="square"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4. Memory</a:t>
            </a:r>
            <a:endParaRPr lang="en-US" sz="1100" dirty="0"/>
          </a:p>
        </p:txBody>
      </p:sp>
      <p:sp>
        <p:nvSpPr>
          <p:cNvPr id="40" name="Text 38"/>
          <p:cNvSpPr/>
          <p:nvPr/>
        </p:nvSpPr>
        <p:spPr>
          <a:xfrm>
            <a:off x="384048" y="458114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Stores context (preferences, history) in short/long-term memory</a:t>
            </a:r>
            <a:endParaRPr lang="en-US" sz="950" dirty="0"/>
          </a:p>
        </p:txBody>
      </p:sp>
      <p:sp>
        <p:nvSpPr>
          <p:cNvPr id="41" name="Shape 39"/>
          <p:cNvSpPr/>
          <p:nvPr/>
        </p:nvSpPr>
        <p:spPr>
          <a:xfrm>
            <a:off x="3182112" y="4251960"/>
            <a:ext cx="2743200" cy="841248"/>
          </a:xfrm>
          <a:prstGeom prst="roundRect">
            <a:avLst>
              <a:gd name="adj" fmla="val 8696"/>
            </a:avLst>
          </a:prstGeom>
          <a:solidFill>
            <a:srgbClr val="1E293B"/>
          </a:solidFill>
          <a:ln w="12700">
            <a:solidFill>
              <a:srgbClr val="EF4444"/>
            </a:solidFill>
            <a:prstDash val="solid"/>
          </a:ln>
        </p:spPr>
        <p:txBody>
          <a:bodyPr/>
          <a:lstStyle/>
          <a:p>
            <a:endParaRPr lang="en-IN"/>
          </a:p>
        </p:txBody>
      </p:sp>
      <p:sp>
        <p:nvSpPr>
          <p:cNvPr id="42" name="Text 40"/>
          <p:cNvSpPr/>
          <p:nvPr/>
        </p:nvSpPr>
        <p:spPr>
          <a:xfrm>
            <a:off x="3291840" y="4306824"/>
            <a:ext cx="2542032" cy="27432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5. Observation</a:t>
            </a:r>
            <a:endParaRPr lang="en-US" sz="1100" dirty="0"/>
          </a:p>
        </p:txBody>
      </p:sp>
      <p:sp>
        <p:nvSpPr>
          <p:cNvPr id="43" name="Text 41"/>
          <p:cNvSpPr/>
          <p:nvPr/>
        </p:nvSpPr>
        <p:spPr>
          <a:xfrm>
            <a:off x="3291840" y="4581144"/>
            <a:ext cx="2542032"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Reviews tool outputs, decides if goal is achieved or re-plans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ReAct Agent Pattern</a:t>
            </a:r>
            <a:endParaRPr lang="en-US" sz="2800" dirty="0"/>
          </a:p>
        </p:txBody>
      </p:sp>
      <p:sp>
        <p:nvSpPr>
          <p:cNvPr id="4" name="Text 2"/>
          <p:cNvSpPr/>
          <p:nvPr/>
        </p:nvSpPr>
        <p:spPr>
          <a:xfrm>
            <a:off x="365760" y="594360"/>
            <a:ext cx="8229600" cy="274320"/>
          </a:xfrm>
          <a:prstGeom prst="rect">
            <a:avLst/>
          </a:prstGeom>
          <a:noFill/>
          <a:ln/>
        </p:spPr>
        <p:txBody>
          <a:bodyPr wrap="square" rtlCol="0" anchor="ctr"/>
          <a:lstStyle/>
          <a:p>
            <a:pPr marL="0" indent="0">
              <a:buNone/>
            </a:pPr>
            <a:r>
              <a:rPr lang="en-US" sz="1300" i="1" dirty="0">
                <a:solidFill>
                  <a:srgbClr val="8B5CF6"/>
                </a:solidFill>
                <a:latin typeface="Calibri" pitchFamily="34" charset="0"/>
                <a:ea typeface="Calibri" pitchFamily="34" charset="-122"/>
                <a:cs typeface="Calibri" pitchFamily="34" charset="-120"/>
              </a:rPr>
              <a:t>Reason + Act — The Core Loop Behind Most Agents</a:t>
            </a:r>
            <a:endParaRPr lang="en-US" sz="1300" dirty="0"/>
          </a:p>
        </p:txBody>
      </p:sp>
      <p:sp>
        <p:nvSpPr>
          <p:cNvPr id="5" name="Shape 3"/>
          <p:cNvSpPr/>
          <p:nvPr/>
        </p:nvSpPr>
        <p:spPr>
          <a:xfrm>
            <a:off x="914400" y="1005840"/>
            <a:ext cx="2286000" cy="1188720"/>
          </a:xfrm>
          <a:prstGeom prst="roundRect">
            <a:avLst>
              <a:gd name="adj" fmla="val 11538"/>
            </a:avLst>
          </a:prstGeom>
          <a:solidFill>
            <a:srgbClr val="1E293B"/>
          </a:solidFill>
          <a:ln w="25400">
            <a:solidFill>
              <a:srgbClr val="8B5CF6"/>
            </a:solidFill>
            <a:prstDash val="solid"/>
          </a:ln>
        </p:spPr>
        <p:txBody>
          <a:bodyPr/>
          <a:lstStyle/>
          <a:p>
            <a:endParaRPr lang="en-IN"/>
          </a:p>
        </p:txBody>
      </p:sp>
      <p:sp>
        <p:nvSpPr>
          <p:cNvPr id="6" name="Text 4"/>
          <p:cNvSpPr/>
          <p:nvPr/>
        </p:nvSpPr>
        <p:spPr>
          <a:xfrm>
            <a:off x="914400" y="1143000"/>
            <a:ext cx="2286000" cy="411480"/>
          </a:xfrm>
          <a:prstGeom prst="rect">
            <a:avLst/>
          </a:prstGeom>
          <a:noFill/>
          <a:ln/>
        </p:spPr>
        <p:txBody>
          <a:bodyPr wrap="square" rtlCol="0" anchor="ctr"/>
          <a:lstStyle/>
          <a:p>
            <a:pPr marL="0" indent="0" algn="ctr">
              <a:buNone/>
            </a:pPr>
            <a:r>
              <a:rPr lang="en-US" sz="1500" b="1" dirty="0">
                <a:solidFill>
                  <a:srgbClr val="8B5CF6"/>
                </a:solidFill>
                <a:latin typeface="Calibri" pitchFamily="34" charset="0"/>
                <a:ea typeface="Calibri" pitchFamily="34" charset="-122"/>
                <a:cs typeface="Calibri" pitchFamily="34" charset="-120"/>
              </a:rPr>
              <a:t>THOUGHT</a:t>
            </a:r>
            <a:endParaRPr lang="en-US" sz="1500" dirty="0"/>
          </a:p>
        </p:txBody>
      </p:sp>
      <p:sp>
        <p:nvSpPr>
          <p:cNvPr id="7" name="Text 5"/>
          <p:cNvSpPr/>
          <p:nvPr/>
        </p:nvSpPr>
        <p:spPr>
          <a:xfrm>
            <a:off x="914400" y="1554480"/>
            <a:ext cx="2286000" cy="5029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Reasoning step</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(internal planning)</a:t>
            </a:r>
            <a:endParaRPr lang="en-US" sz="1000" dirty="0"/>
          </a:p>
        </p:txBody>
      </p:sp>
      <p:sp>
        <p:nvSpPr>
          <p:cNvPr id="8" name="Shape 6"/>
          <p:cNvSpPr/>
          <p:nvPr/>
        </p:nvSpPr>
        <p:spPr>
          <a:xfrm>
            <a:off x="3840480" y="1005840"/>
            <a:ext cx="2286000" cy="1188720"/>
          </a:xfrm>
          <a:prstGeom prst="roundRect">
            <a:avLst>
              <a:gd name="adj" fmla="val 11538"/>
            </a:avLst>
          </a:prstGeom>
          <a:solidFill>
            <a:srgbClr val="1E293B"/>
          </a:solidFill>
          <a:ln w="25400">
            <a:solidFill>
              <a:srgbClr val="10B981"/>
            </a:solidFill>
            <a:prstDash val="solid"/>
          </a:ln>
        </p:spPr>
        <p:txBody>
          <a:bodyPr/>
          <a:lstStyle/>
          <a:p>
            <a:endParaRPr lang="en-IN"/>
          </a:p>
        </p:txBody>
      </p:sp>
      <p:sp>
        <p:nvSpPr>
          <p:cNvPr id="9" name="Text 7"/>
          <p:cNvSpPr/>
          <p:nvPr/>
        </p:nvSpPr>
        <p:spPr>
          <a:xfrm>
            <a:off x="3840480" y="1143000"/>
            <a:ext cx="2286000" cy="411480"/>
          </a:xfrm>
          <a:prstGeom prst="rect">
            <a:avLst/>
          </a:prstGeom>
          <a:noFill/>
          <a:ln/>
        </p:spPr>
        <p:txBody>
          <a:bodyPr wrap="square" rtlCol="0" anchor="ctr"/>
          <a:lstStyle/>
          <a:p>
            <a:pPr marL="0" indent="0" algn="ctr">
              <a:buNone/>
            </a:pPr>
            <a:r>
              <a:rPr lang="en-US" sz="1500" b="1" dirty="0">
                <a:solidFill>
                  <a:srgbClr val="10B981"/>
                </a:solidFill>
                <a:latin typeface="Calibri" pitchFamily="34" charset="0"/>
                <a:ea typeface="Calibri" pitchFamily="34" charset="-122"/>
                <a:cs typeface="Calibri" pitchFamily="34" charset="-120"/>
              </a:rPr>
              <a:t>ACTION</a:t>
            </a:r>
            <a:endParaRPr lang="en-US" sz="1500" dirty="0"/>
          </a:p>
        </p:txBody>
      </p:sp>
      <p:sp>
        <p:nvSpPr>
          <p:cNvPr id="10" name="Text 8"/>
          <p:cNvSpPr/>
          <p:nvPr/>
        </p:nvSpPr>
        <p:spPr>
          <a:xfrm>
            <a:off x="3840480" y="1554480"/>
            <a:ext cx="2286000" cy="5029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Call a tool</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(API, DB, search)</a:t>
            </a:r>
            <a:endParaRPr lang="en-US" sz="1000" dirty="0"/>
          </a:p>
        </p:txBody>
      </p:sp>
      <p:sp>
        <p:nvSpPr>
          <p:cNvPr id="11" name="Shape 9"/>
          <p:cNvSpPr/>
          <p:nvPr/>
        </p:nvSpPr>
        <p:spPr>
          <a:xfrm>
            <a:off x="2377440" y="2834640"/>
            <a:ext cx="2286000" cy="1188720"/>
          </a:xfrm>
          <a:prstGeom prst="roundRect">
            <a:avLst>
              <a:gd name="adj" fmla="val 11538"/>
            </a:avLst>
          </a:prstGeom>
          <a:solidFill>
            <a:srgbClr val="1E293B"/>
          </a:solidFill>
          <a:ln w="25400">
            <a:solidFill>
              <a:srgbClr val="F59E0B"/>
            </a:solidFill>
            <a:prstDash val="solid"/>
          </a:ln>
        </p:spPr>
        <p:txBody>
          <a:bodyPr/>
          <a:lstStyle/>
          <a:p>
            <a:endParaRPr lang="en-IN"/>
          </a:p>
        </p:txBody>
      </p:sp>
      <p:sp>
        <p:nvSpPr>
          <p:cNvPr id="12" name="Text 10"/>
          <p:cNvSpPr/>
          <p:nvPr/>
        </p:nvSpPr>
        <p:spPr>
          <a:xfrm>
            <a:off x="2377440" y="2971800"/>
            <a:ext cx="2286000" cy="411480"/>
          </a:xfrm>
          <a:prstGeom prst="rect">
            <a:avLst/>
          </a:prstGeom>
          <a:noFill/>
          <a:ln/>
        </p:spPr>
        <p:txBody>
          <a:bodyPr wrap="square" rtlCol="0" anchor="ctr"/>
          <a:lstStyle/>
          <a:p>
            <a:pPr marL="0" indent="0" algn="ctr">
              <a:buNone/>
            </a:pPr>
            <a:r>
              <a:rPr lang="en-US" sz="1500" b="1" dirty="0">
                <a:solidFill>
                  <a:srgbClr val="F59E0B"/>
                </a:solidFill>
                <a:latin typeface="Calibri" pitchFamily="34" charset="0"/>
                <a:ea typeface="Calibri" pitchFamily="34" charset="-122"/>
                <a:cs typeface="Calibri" pitchFamily="34" charset="-120"/>
              </a:rPr>
              <a:t>OBSERVATION</a:t>
            </a:r>
            <a:endParaRPr lang="en-US" sz="1500" dirty="0"/>
          </a:p>
        </p:txBody>
      </p:sp>
      <p:sp>
        <p:nvSpPr>
          <p:cNvPr id="13" name="Text 11"/>
          <p:cNvSpPr/>
          <p:nvPr/>
        </p:nvSpPr>
        <p:spPr>
          <a:xfrm>
            <a:off x="2377440" y="3383280"/>
            <a:ext cx="2286000" cy="5029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Tool result</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(API response)</a:t>
            </a:r>
            <a:endParaRPr lang="en-US" sz="1000" dirty="0"/>
          </a:p>
        </p:txBody>
      </p:sp>
      <p:sp>
        <p:nvSpPr>
          <p:cNvPr id="14" name="Shape 12"/>
          <p:cNvSpPr/>
          <p:nvPr/>
        </p:nvSpPr>
        <p:spPr>
          <a:xfrm>
            <a:off x="3200400" y="1600200"/>
            <a:ext cx="640080" cy="0"/>
          </a:xfrm>
          <a:prstGeom prst="line">
            <a:avLst/>
          </a:prstGeom>
          <a:noFill/>
          <a:ln w="19050">
            <a:solidFill>
              <a:srgbClr val="8B5CF6"/>
            </a:solidFill>
            <a:prstDash val="solid"/>
          </a:ln>
        </p:spPr>
        <p:txBody>
          <a:bodyPr/>
          <a:lstStyle/>
          <a:p>
            <a:endParaRPr lang="en-IN"/>
          </a:p>
        </p:txBody>
      </p:sp>
      <p:sp>
        <p:nvSpPr>
          <p:cNvPr id="15" name="Shape 13"/>
          <p:cNvSpPr/>
          <p:nvPr/>
        </p:nvSpPr>
        <p:spPr>
          <a:xfrm>
            <a:off x="4983480" y="2194560"/>
            <a:ext cx="0" cy="640080"/>
          </a:xfrm>
          <a:prstGeom prst="line">
            <a:avLst/>
          </a:prstGeom>
          <a:noFill/>
          <a:ln w="19050">
            <a:solidFill>
              <a:srgbClr val="10B981"/>
            </a:solidFill>
            <a:prstDash val="solid"/>
          </a:ln>
        </p:spPr>
        <p:txBody>
          <a:bodyPr/>
          <a:lstStyle/>
          <a:p>
            <a:endParaRPr lang="en-IN"/>
          </a:p>
        </p:txBody>
      </p:sp>
      <p:sp>
        <p:nvSpPr>
          <p:cNvPr id="16" name="Shape 14"/>
          <p:cNvSpPr/>
          <p:nvPr/>
        </p:nvSpPr>
        <p:spPr>
          <a:xfrm>
            <a:off x="2148840" y="3429000"/>
            <a:ext cx="228600" cy="0"/>
          </a:xfrm>
          <a:prstGeom prst="line">
            <a:avLst/>
          </a:prstGeom>
          <a:noFill/>
          <a:ln w="19050">
            <a:solidFill>
              <a:srgbClr val="F59E0B"/>
            </a:solidFill>
            <a:prstDash val="solid"/>
          </a:ln>
        </p:spPr>
        <p:txBody>
          <a:bodyPr/>
          <a:lstStyle/>
          <a:p>
            <a:endParaRPr lang="en-IN"/>
          </a:p>
        </p:txBody>
      </p:sp>
      <p:sp>
        <p:nvSpPr>
          <p:cNvPr id="17" name="Shape 15"/>
          <p:cNvSpPr/>
          <p:nvPr/>
        </p:nvSpPr>
        <p:spPr>
          <a:xfrm>
            <a:off x="1143000" y="2194560"/>
            <a:ext cx="0" cy="640080"/>
          </a:xfrm>
          <a:prstGeom prst="line">
            <a:avLst/>
          </a:prstGeom>
          <a:noFill/>
          <a:ln w="19050">
            <a:solidFill>
              <a:srgbClr val="F59E0B"/>
            </a:solidFill>
            <a:prstDash val="solid"/>
          </a:ln>
        </p:spPr>
        <p:txBody>
          <a:bodyPr/>
          <a:lstStyle/>
          <a:p>
            <a:endParaRPr lang="en-IN"/>
          </a:p>
        </p:txBody>
      </p:sp>
      <p:sp>
        <p:nvSpPr>
          <p:cNvPr id="18" name="Text 16"/>
          <p:cNvSpPr/>
          <p:nvPr/>
        </p:nvSpPr>
        <p:spPr>
          <a:xfrm>
            <a:off x="2743200" y="4206240"/>
            <a:ext cx="3657600" cy="27432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REPEAT UNTIL GOAL ACHIEVED</a:t>
            </a:r>
            <a:endParaRPr lang="en-US" sz="1100" dirty="0"/>
          </a:p>
        </p:txBody>
      </p:sp>
      <p:sp>
        <p:nvSpPr>
          <p:cNvPr id="19" name="Shape 17"/>
          <p:cNvSpPr/>
          <p:nvPr/>
        </p:nvSpPr>
        <p:spPr>
          <a:xfrm>
            <a:off x="6583680" y="914400"/>
            <a:ext cx="2331720" cy="3931920"/>
          </a:xfrm>
          <a:prstGeom prst="roundRect">
            <a:avLst>
              <a:gd name="adj" fmla="val 4706"/>
            </a:avLst>
          </a:prstGeom>
          <a:solidFill>
            <a:srgbClr val="1E293B"/>
          </a:solidFill>
          <a:ln w="12700">
            <a:solidFill>
              <a:srgbClr val="06B6D4"/>
            </a:solidFill>
            <a:prstDash val="solid"/>
          </a:ln>
        </p:spPr>
        <p:txBody>
          <a:bodyPr/>
          <a:lstStyle/>
          <a:p>
            <a:endParaRPr lang="en-IN"/>
          </a:p>
        </p:txBody>
      </p:sp>
      <p:sp>
        <p:nvSpPr>
          <p:cNvPr id="20" name="Text 18"/>
          <p:cNvSpPr/>
          <p:nvPr/>
        </p:nvSpPr>
        <p:spPr>
          <a:xfrm>
            <a:off x="6675120" y="1005840"/>
            <a:ext cx="2148840" cy="320040"/>
          </a:xfrm>
          <a:prstGeom prst="rect">
            <a:avLst/>
          </a:prstGeom>
          <a:noFill/>
          <a:ln/>
        </p:spPr>
        <p:txBody>
          <a:bodyPr wrap="square"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Example Walkthrough</a:t>
            </a:r>
            <a:endParaRPr lang="en-US" sz="1100" dirty="0"/>
          </a:p>
        </p:txBody>
      </p:sp>
      <p:sp>
        <p:nvSpPr>
          <p:cNvPr id="21" name="Text 19"/>
          <p:cNvSpPr/>
          <p:nvPr/>
        </p:nvSpPr>
        <p:spPr>
          <a:xfrm>
            <a:off x="6675120" y="1325880"/>
            <a:ext cx="2148840" cy="411480"/>
          </a:xfrm>
          <a:prstGeom prst="rect">
            <a:avLst/>
          </a:prstGeom>
          <a:noFill/>
          <a:ln/>
        </p:spPr>
        <p:txBody>
          <a:bodyPr wrap="square" rtlCol="0" anchor="ctr"/>
          <a:lstStyle/>
          <a:p>
            <a:pPr marL="0" indent="0">
              <a:buNone/>
            </a:pPr>
            <a:r>
              <a:rPr lang="en-US" sz="950" i="1" dirty="0">
                <a:solidFill>
                  <a:srgbClr val="CBD5E1"/>
                </a:solidFill>
                <a:latin typeface="Calibri" pitchFamily="34" charset="0"/>
                <a:ea typeface="Calibri" pitchFamily="34" charset="-122"/>
                <a:cs typeface="Calibri" pitchFamily="34" charset="-120"/>
              </a:rPr>
              <a:t>Task: What is today's weather in Chennai?</a:t>
            </a:r>
            <a:endParaRPr lang="en-US" sz="950" dirty="0"/>
          </a:p>
        </p:txBody>
      </p:sp>
      <p:sp>
        <p:nvSpPr>
          <p:cNvPr id="22" name="Text 20"/>
          <p:cNvSpPr/>
          <p:nvPr/>
        </p:nvSpPr>
        <p:spPr>
          <a:xfrm>
            <a:off x="6675120" y="1828800"/>
            <a:ext cx="2148840" cy="201168"/>
          </a:xfrm>
          <a:prstGeom prst="rect">
            <a:avLst/>
          </a:prstGeom>
          <a:noFill/>
          <a:ln/>
        </p:spPr>
        <p:txBody>
          <a:bodyPr wrap="square" rtlCol="0" anchor="ctr"/>
          <a:lstStyle/>
          <a:p>
            <a:pPr marL="0" indent="0">
              <a:buNone/>
            </a:pPr>
            <a:r>
              <a:rPr lang="en-US" sz="900" b="1" dirty="0">
                <a:solidFill>
                  <a:srgbClr val="8B5CF6"/>
                </a:solidFill>
                <a:latin typeface="Calibri" pitchFamily="34" charset="0"/>
                <a:ea typeface="Calibri" pitchFamily="34" charset="-122"/>
                <a:cs typeface="Calibri" pitchFamily="34" charset="-120"/>
              </a:rPr>
              <a:t>💭 Thought:</a:t>
            </a:r>
            <a:endParaRPr lang="en-US" sz="900" dirty="0"/>
          </a:p>
        </p:txBody>
      </p:sp>
      <p:sp>
        <p:nvSpPr>
          <p:cNvPr id="23" name="Text 21"/>
          <p:cNvSpPr/>
          <p:nvPr/>
        </p:nvSpPr>
        <p:spPr>
          <a:xfrm>
            <a:off x="6675120" y="2011680"/>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I need to call the weather API for Chennai</a:t>
            </a:r>
            <a:endParaRPr lang="en-US" sz="850" dirty="0"/>
          </a:p>
        </p:txBody>
      </p:sp>
      <p:sp>
        <p:nvSpPr>
          <p:cNvPr id="24" name="Text 22"/>
          <p:cNvSpPr/>
          <p:nvPr/>
        </p:nvSpPr>
        <p:spPr>
          <a:xfrm>
            <a:off x="6675120" y="2258568"/>
            <a:ext cx="2148840" cy="201168"/>
          </a:xfrm>
          <a:prstGeom prst="rect">
            <a:avLst/>
          </a:prstGeom>
          <a:noFill/>
          <a:ln/>
        </p:spPr>
        <p:txBody>
          <a:bodyPr wrap="square"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 Action:</a:t>
            </a:r>
            <a:endParaRPr lang="en-US" sz="900" dirty="0"/>
          </a:p>
        </p:txBody>
      </p:sp>
      <p:sp>
        <p:nvSpPr>
          <p:cNvPr id="25" name="Text 23"/>
          <p:cNvSpPr/>
          <p:nvPr/>
        </p:nvSpPr>
        <p:spPr>
          <a:xfrm>
            <a:off x="6675120" y="2441448"/>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weather_api(city='Chennai')</a:t>
            </a:r>
            <a:endParaRPr lang="en-US" sz="850" dirty="0"/>
          </a:p>
        </p:txBody>
      </p:sp>
      <p:sp>
        <p:nvSpPr>
          <p:cNvPr id="26" name="Text 24"/>
          <p:cNvSpPr/>
          <p:nvPr/>
        </p:nvSpPr>
        <p:spPr>
          <a:xfrm>
            <a:off x="6675120" y="2688336"/>
            <a:ext cx="2148840" cy="201168"/>
          </a:xfrm>
          <a:prstGeom prst="rect">
            <a:avLst/>
          </a:prstGeom>
          <a:noFill/>
          <a:ln/>
        </p:spPr>
        <p:txBody>
          <a:bodyPr wrap="square" rtlCol="0" anchor="ctr"/>
          <a:lstStyle/>
          <a:p>
            <a:pPr marL="0" indent="0">
              <a:buNone/>
            </a:pPr>
            <a:r>
              <a:rPr lang="en-US" sz="900" b="1" dirty="0">
                <a:solidFill>
                  <a:srgbClr val="8B5CF6"/>
                </a:solidFill>
                <a:latin typeface="Calibri" pitchFamily="34" charset="0"/>
                <a:ea typeface="Calibri" pitchFamily="34" charset="-122"/>
                <a:cs typeface="Calibri" pitchFamily="34" charset="-120"/>
              </a:rPr>
              <a:t>👁 Observe:</a:t>
            </a:r>
            <a:endParaRPr lang="en-US" sz="900" dirty="0"/>
          </a:p>
        </p:txBody>
      </p:sp>
      <p:sp>
        <p:nvSpPr>
          <p:cNvPr id="27" name="Text 25"/>
          <p:cNvSpPr/>
          <p:nvPr/>
        </p:nvSpPr>
        <p:spPr>
          <a:xfrm>
            <a:off x="6675120" y="2871216"/>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{'temp': 34, 'humidity': 78}</a:t>
            </a:r>
            <a:endParaRPr lang="en-US" sz="850" dirty="0"/>
          </a:p>
        </p:txBody>
      </p:sp>
      <p:sp>
        <p:nvSpPr>
          <p:cNvPr id="28" name="Text 26"/>
          <p:cNvSpPr/>
          <p:nvPr/>
        </p:nvSpPr>
        <p:spPr>
          <a:xfrm>
            <a:off x="6675120" y="3118104"/>
            <a:ext cx="2148840" cy="201168"/>
          </a:xfrm>
          <a:prstGeom prst="rect">
            <a:avLst/>
          </a:prstGeom>
          <a:noFill/>
          <a:ln/>
        </p:spPr>
        <p:txBody>
          <a:bodyPr wrap="square"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 Thought:</a:t>
            </a:r>
            <a:endParaRPr lang="en-US" sz="900" dirty="0"/>
          </a:p>
        </p:txBody>
      </p:sp>
      <p:sp>
        <p:nvSpPr>
          <p:cNvPr id="29" name="Text 27"/>
          <p:cNvSpPr/>
          <p:nvPr/>
        </p:nvSpPr>
        <p:spPr>
          <a:xfrm>
            <a:off x="6675120" y="3300984"/>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Got data. Can now answer.</a:t>
            </a:r>
            <a:endParaRPr lang="en-US" sz="850" dirty="0"/>
          </a:p>
        </p:txBody>
      </p:sp>
      <p:sp>
        <p:nvSpPr>
          <p:cNvPr id="30" name="Text 28"/>
          <p:cNvSpPr/>
          <p:nvPr/>
        </p:nvSpPr>
        <p:spPr>
          <a:xfrm>
            <a:off x="6675120" y="3547872"/>
            <a:ext cx="2148840" cy="201168"/>
          </a:xfrm>
          <a:prstGeom prst="rect">
            <a:avLst/>
          </a:prstGeom>
          <a:noFill/>
          <a:ln/>
        </p:spPr>
        <p:txBody>
          <a:bodyPr wrap="square" rtlCol="0" anchor="ctr"/>
          <a:lstStyle/>
          <a:p>
            <a:pPr marL="0" indent="0">
              <a:buNone/>
            </a:pPr>
            <a:r>
              <a:rPr lang="en-US" sz="900" b="1" dirty="0">
                <a:solidFill>
                  <a:srgbClr val="8B5CF6"/>
                </a:solidFill>
                <a:latin typeface="Calibri" pitchFamily="34" charset="0"/>
                <a:ea typeface="Calibri" pitchFamily="34" charset="-122"/>
                <a:cs typeface="Calibri" pitchFamily="34" charset="-120"/>
              </a:rPr>
              <a:t>✅ Answer:</a:t>
            </a:r>
            <a:endParaRPr lang="en-US" sz="900" dirty="0"/>
          </a:p>
        </p:txBody>
      </p:sp>
      <p:sp>
        <p:nvSpPr>
          <p:cNvPr id="31" name="Text 29"/>
          <p:cNvSpPr/>
          <p:nvPr/>
        </p:nvSpPr>
        <p:spPr>
          <a:xfrm>
            <a:off x="6675120" y="3730752"/>
            <a:ext cx="2148840" cy="201168"/>
          </a:xfrm>
          <a:prstGeom prst="rect">
            <a:avLst/>
          </a:prstGeom>
          <a:noFill/>
          <a:ln/>
        </p:spPr>
        <p:txBody>
          <a:bodyPr wrap="square" rtlCol="0" anchor="ctr"/>
          <a:lstStyle/>
          <a:p>
            <a:pPr marL="0" indent="0">
              <a:buNone/>
            </a:pPr>
            <a:r>
              <a:rPr lang="en-US" sz="850" i="1" dirty="0">
                <a:solidFill>
                  <a:srgbClr val="CBD5E1"/>
                </a:solidFill>
                <a:latin typeface="Calibri" pitchFamily="34" charset="0"/>
                <a:ea typeface="Calibri" pitchFamily="34" charset="-122"/>
                <a:cs typeface="Calibri" pitchFamily="34" charset="-120"/>
              </a:rPr>
              <a:t>Chennai: 34°C, Humid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Tool Calling</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F59E0B"/>
                </a:solidFill>
                <a:latin typeface="Calibri" pitchFamily="34" charset="0"/>
                <a:ea typeface="Calibri" pitchFamily="34" charset="-122"/>
                <a:cs typeface="Calibri" pitchFamily="34" charset="-120"/>
              </a:rPr>
              <a:t>How Agents interact with the external world</a:t>
            </a:r>
            <a:endParaRPr lang="en-US" sz="1300" dirty="0"/>
          </a:p>
        </p:txBody>
      </p:sp>
      <p:sp>
        <p:nvSpPr>
          <p:cNvPr id="5" name="Shape 3"/>
          <p:cNvSpPr/>
          <p:nvPr/>
        </p:nvSpPr>
        <p:spPr>
          <a:xfrm>
            <a:off x="3474720" y="1828800"/>
            <a:ext cx="2194560" cy="1097280"/>
          </a:xfrm>
          <a:prstGeom prst="roundRect">
            <a:avLst>
              <a:gd name="adj" fmla="val 12500"/>
            </a:avLst>
          </a:prstGeom>
          <a:solidFill>
            <a:srgbClr val="1E3A5F"/>
          </a:solidFill>
          <a:ln w="25400">
            <a:solidFill>
              <a:srgbClr val="06B6D4"/>
            </a:solidFill>
            <a:prstDash val="solid"/>
          </a:ln>
        </p:spPr>
        <p:txBody>
          <a:bodyPr/>
          <a:lstStyle/>
          <a:p>
            <a:endParaRPr lang="en-IN"/>
          </a:p>
        </p:txBody>
      </p:sp>
      <p:sp>
        <p:nvSpPr>
          <p:cNvPr id="6" name="Text 4"/>
          <p:cNvSpPr/>
          <p:nvPr/>
        </p:nvSpPr>
        <p:spPr>
          <a:xfrm>
            <a:off x="3474720" y="1965960"/>
            <a:ext cx="2194560" cy="411480"/>
          </a:xfrm>
          <a:prstGeom prst="rect">
            <a:avLst/>
          </a:prstGeom>
          <a:noFill/>
          <a:ln/>
        </p:spPr>
        <p:txBody>
          <a:bodyPr wrap="square" rtlCol="0" anchor="ctr"/>
          <a:lstStyle/>
          <a:p>
            <a:pPr marL="0" indent="0" algn="ctr">
              <a:buNone/>
            </a:pPr>
            <a:r>
              <a:rPr lang="en-US" sz="1600" b="1" dirty="0">
                <a:solidFill>
                  <a:srgbClr val="06B6D4"/>
                </a:solidFill>
                <a:latin typeface="Calibri" pitchFamily="34" charset="0"/>
                <a:ea typeface="Calibri" pitchFamily="34" charset="-122"/>
                <a:cs typeface="Calibri" pitchFamily="34" charset="-120"/>
              </a:rPr>
              <a:t>🤖 AGENT</a:t>
            </a:r>
            <a:endParaRPr lang="en-US" sz="1600" dirty="0"/>
          </a:p>
        </p:txBody>
      </p:sp>
      <p:sp>
        <p:nvSpPr>
          <p:cNvPr id="7" name="Text 5"/>
          <p:cNvSpPr/>
          <p:nvPr/>
        </p:nvSpPr>
        <p:spPr>
          <a:xfrm>
            <a:off x="3474720" y="2377440"/>
            <a:ext cx="2194560" cy="2743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(LLM Core)</a:t>
            </a:r>
            <a:endParaRPr lang="en-US" sz="1000" dirty="0"/>
          </a:p>
        </p:txBody>
      </p:sp>
      <p:sp>
        <p:nvSpPr>
          <p:cNvPr id="8" name="Shape 6"/>
          <p:cNvSpPr/>
          <p:nvPr/>
        </p:nvSpPr>
        <p:spPr>
          <a:xfrm>
            <a:off x="182880" y="914400"/>
            <a:ext cx="2011680" cy="658368"/>
          </a:xfrm>
          <a:prstGeom prst="roundRect">
            <a:avLst>
              <a:gd name="adj" fmla="val 13889"/>
            </a:avLst>
          </a:prstGeom>
          <a:solidFill>
            <a:srgbClr val="1E293B"/>
          </a:solidFill>
          <a:ln w="12700">
            <a:solidFill>
              <a:srgbClr val="06B6D4"/>
            </a:solidFill>
            <a:prstDash val="solid"/>
          </a:ln>
        </p:spPr>
        <p:txBody>
          <a:bodyPr/>
          <a:lstStyle/>
          <a:p>
            <a:endParaRPr lang="en-IN"/>
          </a:p>
        </p:txBody>
      </p:sp>
      <p:sp>
        <p:nvSpPr>
          <p:cNvPr id="9" name="Text 7"/>
          <p:cNvSpPr/>
          <p:nvPr/>
        </p:nvSpPr>
        <p:spPr>
          <a:xfrm>
            <a:off x="182880" y="1051560"/>
            <a:ext cx="2011680" cy="36576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 Weather API</a:t>
            </a:r>
            <a:endParaRPr lang="en-US" sz="1100" dirty="0"/>
          </a:p>
        </p:txBody>
      </p:sp>
      <p:sp>
        <p:nvSpPr>
          <p:cNvPr id="10" name="Shape 8"/>
          <p:cNvSpPr/>
          <p:nvPr/>
        </p:nvSpPr>
        <p:spPr>
          <a:xfrm>
            <a:off x="2194560" y="1243584"/>
            <a:ext cx="1280160" cy="0"/>
          </a:xfrm>
          <a:prstGeom prst="line">
            <a:avLst/>
          </a:prstGeom>
          <a:noFill/>
          <a:ln w="9525">
            <a:solidFill>
              <a:srgbClr val="06B6D4">
                <a:alpha val="70000"/>
              </a:srgbClr>
            </a:solidFill>
            <a:prstDash val="sysDot"/>
          </a:ln>
        </p:spPr>
        <p:txBody>
          <a:bodyPr/>
          <a:lstStyle/>
          <a:p>
            <a:endParaRPr lang="en-IN"/>
          </a:p>
        </p:txBody>
      </p:sp>
      <p:sp>
        <p:nvSpPr>
          <p:cNvPr id="11" name="Shape 9"/>
          <p:cNvSpPr/>
          <p:nvPr/>
        </p:nvSpPr>
        <p:spPr>
          <a:xfrm>
            <a:off x="182880" y="2194560"/>
            <a:ext cx="201168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12" name="Text 10"/>
          <p:cNvSpPr/>
          <p:nvPr/>
        </p:nvSpPr>
        <p:spPr>
          <a:xfrm>
            <a:off x="182880" y="2331720"/>
            <a:ext cx="2011680"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 Web Search</a:t>
            </a:r>
            <a:endParaRPr lang="en-US" sz="1100" dirty="0"/>
          </a:p>
        </p:txBody>
      </p:sp>
      <p:sp>
        <p:nvSpPr>
          <p:cNvPr id="13" name="Shape 11"/>
          <p:cNvSpPr/>
          <p:nvPr/>
        </p:nvSpPr>
        <p:spPr>
          <a:xfrm>
            <a:off x="2194560" y="2377440"/>
            <a:ext cx="1280160" cy="0"/>
          </a:xfrm>
          <a:prstGeom prst="line">
            <a:avLst/>
          </a:prstGeom>
          <a:noFill/>
          <a:ln w="9525">
            <a:solidFill>
              <a:srgbClr val="8B5CF6">
                <a:alpha val="70000"/>
              </a:srgbClr>
            </a:solidFill>
            <a:prstDash val="sysDot"/>
          </a:ln>
        </p:spPr>
        <p:txBody>
          <a:bodyPr/>
          <a:lstStyle/>
          <a:p>
            <a:endParaRPr lang="en-IN"/>
          </a:p>
        </p:txBody>
      </p:sp>
      <p:sp>
        <p:nvSpPr>
          <p:cNvPr id="14" name="Shape 12"/>
          <p:cNvSpPr/>
          <p:nvPr/>
        </p:nvSpPr>
        <p:spPr>
          <a:xfrm>
            <a:off x="182880" y="3474720"/>
            <a:ext cx="2011680" cy="658368"/>
          </a:xfrm>
          <a:prstGeom prst="roundRect">
            <a:avLst>
              <a:gd name="adj" fmla="val 13889"/>
            </a:avLst>
          </a:prstGeom>
          <a:solidFill>
            <a:srgbClr val="1E293B"/>
          </a:solidFill>
          <a:ln w="12700">
            <a:solidFill>
              <a:srgbClr val="10B981"/>
            </a:solidFill>
            <a:prstDash val="solid"/>
          </a:ln>
        </p:spPr>
        <p:txBody>
          <a:bodyPr/>
          <a:lstStyle/>
          <a:p>
            <a:endParaRPr lang="en-IN"/>
          </a:p>
        </p:txBody>
      </p:sp>
      <p:sp>
        <p:nvSpPr>
          <p:cNvPr id="15" name="Text 13"/>
          <p:cNvSpPr/>
          <p:nvPr/>
        </p:nvSpPr>
        <p:spPr>
          <a:xfrm>
            <a:off x="182880" y="3611880"/>
            <a:ext cx="2011680" cy="36576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 Database</a:t>
            </a:r>
            <a:endParaRPr lang="en-US" sz="1100" dirty="0"/>
          </a:p>
        </p:txBody>
      </p:sp>
      <p:sp>
        <p:nvSpPr>
          <p:cNvPr id="16" name="Shape 14"/>
          <p:cNvSpPr/>
          <p:nvPr/>
        </p:nvSpPr>
        <p:spPr>
          <a:xfrm>
            <a:off x="2194560" y="2377440"/>
            <a:ext cx="1280160" cy="0"/>
          </a:xfrm>
          <a:prstGeom prst="line">
            <a:avLst/>
          </a:prstGeom>
          <a:noFill/>
          <a:ln w="9525">
            <a:solidFill>
              <a:srgbClr val="10B981">
                <a:alpha val="70000"/>
              </a:srgbClr>
            </a:solidFill>
            <a:prstDash val="sysDot"/>
          </a:ln>
        </p:spPr>
        <p:txBody>
          <a:bodyPr/>
          <a:lstStyle/>
          <a:p>
            <a:endParaRPr lang="en-IN"/>
          </a:p>
        </p:txBody>
      </p:sp>
      <p:sp>
        <p:nvSpPr>
          <p:cNvPr id="17" name="Shape 15"/>
          <p:cNvSpPr/>
          <p:nvPr/>
        </p:nvSpPr>
        <p:spPr>
          <a:xfrm>
            <a:off x="6583680" y="914400"/>
            <a:ext cx="2011680" cy="658368"/>
          </a:xfrm>
          <a:prstGeom prst="roundRect">
            <a:avLst>
              <a:gd name="adj" fmla="val 13889"/>
            </a:avLst>
          </a:prstGeom>
          <a:solidFill>
            <a:srgbClr val="1E293B"/>
          </a:solidFill>
          <a:ln w="12700">
            <a:solidFill>
              <a:srgbClr val="F59E0B"/>
            </a:solidFill>
            <a:prstDash val="solid"/>
          </a:ln>
        </p:spPr>
        <p:txBody>
          <a:bodyPr/>
          <a:lstStyle/>
          <a:p>
            <a:endParaRPr lang="en-IN"/>
          </a:p>
        </p:txBody>
      </p:sp>
      <p:sp>
        <p:nvSpPr>
          <p:cNvPr id="18" name="Text 16"/>
          <p:cNvSpPr/>
          <p:nvPr/>
        </p:nvSpPr>
        <p:spPr>
          <a:xfrm>
            <a:off x="6583680" y="1051560"/>
            <a:ext cx="2011680" cy="36576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 Calculator</a:t>
            </a:r>
            <a:endParaRPr lang="en-US" sz="1100" dirty="0"/>
          </a:p>
        </p:txBody>
      </p:sp>
      <p:sp>
        <p:nvSpPr>
          <p:cNvPr id="19" name="Shape 17"/>
          <p:cNvSpPr/>
          <p:nvPr/>
        </p:nvSpPr>
        <p:spPr>
          <a:xfrm>
            <a:off x="5669280" y="1243584"/>
            <a:ext cx="914400" cy="0"/>
          </a:xfrm>
          <a:prstGeom prst="line">
            <a:avLst/>
          </a:prstGeom>
          <a:noFill/>
          <a:ln w="9525">
            <a:solidFill>
              <a:srgbClr val="F59E0B">
                <a:alpha val="70000"/>
              </a:srgbClr>
            </a:solidFill>
            <a:prstDash val="sysDot"/>
          </a:ln>
        </p:spPr>
        <p:txBody>
          <a:bodyPr/>
          <a:lstStyle/>
          <a:p>
            <a:endParaRPr lang="en-IN"/>
          </a:p>
        </p:txBody>
      </p:sp>
      <p:sp>
        <p:nvSpPr>
          <p:cNvPr id="20" name="Shape 18"/>
          <p:cNvSpPr/>
          <p:nvPr/>
        </p:nvSpPr>
        <p:spPr>
          <a:xfrm>
            <a:off x="6583680" y="2194560"/>
            <a:ext cx="2011680" cy="658368"/>
          </a:xfrm>
          <a:prstGeom prst="roundRect">
            <a:avLst>
              <a:gd name="adj" fmla="val 13889"/>
            </a:avLst>
          </a:prstGeom>
          <a:solidFill>
            <a:srgbClr val="1E293B"/>
          </a:solidFill>
          <a:ln w="12700">
            <a:solidFill>
              <a:srgbClr val="EF4444"/>
            </a:solidFill>
            <a:prstDash val="solid"/>
          </a:ln>
        </p:spPr>
        <p:txBody>
          <a:bodyPr/>
          <a:lstStyle/>
          <a:p>
            <a:endParaRPr lang="en-IN"/>
          </a:p>
        </p:txBody>
      </p:sp>
      <p:sp>
        <p:nvSpPr>
          <p:cNvPr id="21" name="Text 19"/>
          <p:cNvSpPr/>
          <p:nvPr/>
        </p:nvSpPr>
        <p:spPr>
          <a:xfrm>
            <a:off x="6583680" y="2331720"/>
            <a:ext cx="2011680" cy="36576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 Email Sender</a:t>
            </a:r>
            <a:endParaRPr lang="en-US" sz="1100" dirty="0"/>
          </a:p>
        </p:txBody>
      </p:sp>
      <p:sp>
        <p:nvSpPr>
          <p:cNvPr id="22" name="Shape 20"/>
          <p:cNvSpPr/>
          <p:nvPr/>
        </p:nvSpPr>
        <p:spPr>
          <a:xfrm>
            <a:off x="5669280" y="2377440"/>
            <a:ext cx="914400" cy="0"/>
          </a:xfrm>
          <a:prstGeom prst="line">
            <a:avLst/>
          </a:prstGeom>
          <a:noFill/>
          <a:ln w="9525">
            <a:solidFill>
              <a:srgbClr val="EF4444">
                <a:alpha val="70000"/>
              </a:srgbClr>
            </a:solidFill>
            <a:prstDash val="sysDot"/>
          </a:ln>
        </p:spPr>
        <p:txBody>
          <a:bodyPr/>
          <a:lstStyle/>
          <a:p>
            <a:endParaRPr lang="en-IN"/>
          </a:p>
        </p:txBody>
      </p:sp>
      <p:sp>
        <p:nvSpPr>
          <p:cNvPr id="23" name="Shape 21"/>
          <p:cNvSpPr/>
          <p:nvPr/>
        </p:nvSpPr>
        <p:spPr>
          <a:xfrm>
            <a:off x="6583680" y="3474720"/>
            <a:ext cx="2011680" cy="658368"/>
          </a:xfrm>
          <a:prstGeom prst="roundRect">
            <a:avLst>
              <a:gd name="adj" fmla="val 13889"/>
            </a:avLst>
          </a:prstGeom>
          <a:solidFill>
            <a:srgbClr val="1E293B"/>
          </a:solidFill>
          <a:ln w="12700">
            <a:solidFill>
              <a:srgbClr val="8B5CF6"/>
            </a:solidFill>
            <a:prstDash val="solid"/>
          </a:ln>
        </p:spPr>
        <p:txBody>
          <a:bodyPr/>
          <a:lstStyle/>
          <a:p>
            <a:endParaRPr lang="en-IN"/>
          </a:p>
        </p:txBody>
      </p:sp>
      <p:sp>
        <p:nvSpPr>
          <p:cNvPr id="24" name="Text 22"/>
          <p:cNvSpPr/>
          <p:nvPr/>
        </p:nvSpPr>
        <p:spPr>
          <a:xfrm>
            <a:off x="6583680" y="3611880"/>
            <a:ext cx="2011680"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 Code Runner</a:t>
            </a:r>
            <a:endParaRPr lang="en-US" sz="1100" dirty="0"/>
          </a:p>
        </p:txBody>
      </p:sp>
      <p:sp>
        <p:nvSpPr>
          <p:cNvPr id="25" name="Shape 23"/>
          <p:cNvSpPr/>
          <p:nvPr/>
        </p:nvSpPr>
        <p:spPr>
          <a:xfrm>
            <a:off x="5669280" y="2377440"/>
            <a:ext cx="914400" cy="0"/>
          </a:xfrm>
          <a:prstGeom prst="line">
            <a:avLst/>
          </a:prstGeom>
          <a:noFill/>
          <a:ln w="9525">
            <a:solidFill>
              <a:srgbClr val="8B5CF6">
                <a:alpha val="70000"/>
              </a:srgbClr>
            </a:solidFill>
            <a:prstDash val="sysDot"/>
          </a:ln>
        </p:spPr>
        <p:txBody>
          <a:bodyPr/>
          <a:lstStyle/>
          <a:p>
            <a:endParaRPr lang="en-IN"/>
          </a:p>
        </p:txBody>
      </p:sp>
      <p:sp>
        <p:nvSpPr>
          <p:cNvPr id="26" name="Shape 24"/>
          <p:cNvSpPr/>
          <p:nvPr/>
        </p:nvSpPr>
        <p:spPr>
          <a:xfrm>
            <a:off x="274320" y="4297680"/>
            <a:ext cx="8595360" cy="685800"/>
          </a:xfrm>
          <a:prstGeom prst="roundRect">
            <a:avLst>
              <a:gd name="adj" fmla="val 13333"/>
            </a:avLst>
          </a:prstGeom>
          <a:solidFill>
            <a:srgbClr val="1E293B"/>
          </a:solidFill>
          <a:ln w="12700">
            <a:solidFill>
              <a:srgbClr val="10B981"/>
            </a:solidFill>
            <a:prstDash val="solid"/>
          </a:ln>
        </p:spPr>
        <p:txBody>
          <a:bodyPr/>
          <a:lstStyle/>
          <a:p>
            <a:endParaRPr lang="en-IN"/>
          </a:p>
        </p:txBody>
      </p:sp>
      <p:sp>
        <p:nvSpPr>
          <p:cNvPr id="27" name="Text 25"/>
          <p:cNvSpPr/>
          <p:nvPr/>
        </p:nvSpPr>
        <p:spPr>
          <a:xfrm>
            <a:off x="457200" y="4389120"/>
            <a:ext cx="1645920" cy="45720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How It Works:  </a:t>
            </a:r>
            <a:endParaRPr lang="en-US" sz="1100" dirty="0"/>
          </a:p>
        </p:txBody>
      </p:sp>
      <p:sp>
        <p:nvSpPr>
          <p:cNvPr id="28" name="Text 26"/>
          <p:cNvSpPr/>
          <p:nvPr/>
        </p:nvSpPr>
        <p:spPr>
          <a:xfrm>
            <a:off x="2011680" y="4407408"/>
            <a:ext cx="6675120" cy="45720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LLM decides tool to call  →  passes structured JSON args  →  tool executes  →  result returned  →  LLM uses result to continue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MCP — Model Context Protocol</a:t>
            </a:r>
            <a:endParaRPr lang="en-US" sz="2800" dirty="0"/>
          </a:p>
        </p:txBody>
      </p:sp>
      <p:sp>
        <p:nvSpPr>
          <p:cNvPr id="4" name="Shape 2"/>
          <p:cNvSpPr/>
          <p:nvPr/>
        </p:nvSpPr>
        <p:spPr>
          <a:xfrm>
            <a:off x="274320" y="685800"/>
            <a:ext cx="8595360" cy="658368"/>
          </a:xfrm>
          <a:prstGeom prst="roundRect">
            <a:avLst>
              <a:gd name="adj" fmla="val 13889"/>
            </a:avLst>
          </a:prstGeom>
          <a:solidFill>
            <a:srgbClr val="0A1828"/>
          </a:solidFill>
          <a:ln w="19050">
            <a:solidFill>
              <a:srgbClr val="8B5CF6"/>
            </a:solidFill>
            <a:prstDash val="solid"/>
          </a:ln>
        </p:spPr>
        <p:txBody>
          <a:bodyPr/>
          <a:lstStyle/>
          <a:p>
            <a:endParaRPr lang="en-IN"/>
          </a:p>
        </p:txBody>
      </p:sp>
      <p:sp>
        <p:nvSpPr>
          <p:cNvPr id="5" name="Text 3"/>
          <p:cNvSpPr/>
          <p:nvPr/>
        </p:nvSpPr>
        <p:spPr>
          <a:xfrm>
            <a:off x="457200" y="758952"/>
            <a:ext cx="8229600" cy="512064"/>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MCP is an open protocol by Anthropic that standardizes how AI models connect to external tools, data sources, and services — like USB for AI.</a:t>
            </a:r>
            <a:endParaRPr lang="en-US" sz="1200" dirty="0"/>
          </a:p>
        </p:txBody>
      </p:sp>
      <p:sp>
        <p:nvSpPr>
          <p:cNvPr id="6" name="Shape 4"/>
          <p:cNvSpPr/>
          <p:nvPr/>
        </p:nvSpPr>
        <p:spPr>
          <a:xfrm>
            <a:off x="274320" y="1463040"/>
            <a:ext cx="2468880" cy="3200400"/>
          </a:xfrm>
          <a:prstGeom prst="roundRect">
            <a:avLst>
              <a:gd name="adj" fmla="val 4444"/>
            </a:avLst>
          </a:prstGeom>
          <a:solidFill>
            <a:srgbClr val="1E293B"/>
          </a:solidFill>
          <a:ln w="19050">
            <a:solidFill>
              <a:srgbClr val="06B6D4"/>
            </a:solidFill>
            <a:prstDash val="solid"/>
          </a:ln>
        </p:spPr>
        <p:txBody>
          <a:bodyPr/>
          <a:lstStyle/>
          <a:p>
            <a:endParaRPr lang="en-IN"/>
          </a:p>
        </p:txBody>
      </p:sp>
      <p:sp>
        <p:nvSpPr>
          <p:cNvPr id="7" name="Text 5"/>
          <p:cNvSpPr/>
          <p:nvPr/>
        </p:nvSpPr>
        <p:spPr>
          <a:xfrm>
            <a:off x="274320" y="1536192"/>
            <a:ext cx="2468880" cy="384048"/>
          </a:xfrm>
          <a:prstGeom prst="rect">
            <a:avLst/>
          </a:prstGeom>
          <a:noFill/>
          <a:ln/>
        </p:spPr>
        <p:txBody>
          <a:bodyPr wrap="square" rtlCol="0" anchor="ctr"/>
          <a:lstStyle/>
          <a:p>
            <a:pPr marL="0" indent="0" algn="ctr">
              <a:buNone/>
            </a:pPr>
            <a:r>
              <a:rPr lang="en-US" sz="1200" b="1" dirty="0">
                <a:solidFill>
                  <a:srgbClr val="06B6D4"/>
                </a:solidFill>
                <a:latin typeface="Calibri" pitchFamily="34" charset="0"/>
                <a:ea typeface="Calibri" pitchFamily="34" charset="-122"/>
                <a:cs typeface="Calibri" pitchFamily="34" charset="-120"/>
              </a:rPr>
              <a:t>MCP CLIENT</a:t>
            </a:r>
            <a:endParaRPr lang="en-US" sz="1200" dirty="0"/>
          </a:p>
        </p:txBody>
      </p:sp>
      <p:sp>
        <p:nvSpPr>
          <p:cNvPr id="8" name="Shape 6"/>
          <p:cNvSpPr/>
          <p:nvPr/>
        </p:nvSpPr>
        <p:spPr>
          <a:xfrm>
            <a:off x="457200" y="2029968"/>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9" name="Text 7"/>
          <p:cNvSpPr/>
          <p:nvPr/>
        </p:nvSpPr>
        <p:spPr>
          <a:xfrm>
            <a:off x="457200" y="2029968"/>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Claude / GPT</a:t>
            </a:r>
            <a:endParaRPr lang="en-US" sz="1050" dirty="0"/>
          </a:p>
        </p:txBody>
      </p:sp>
      <p:sp>
        <p:nvSpPr>
          <p:cNvPr id="10" name="Shape 8"/>
          <p:cNvSpPr/>
          <p:nvPr/>
        </p:nvSpPr>
        <p:spPr>
          <a:xfrm>
            <a:off x="457200" y="2651760"/>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11" name="Text 9"/>
          <p:cNvSpPr/>
          <p:nvPr/>
        </p:nvSpPr>
        <p:spPr>
          <a:xfrm>
            <a:off x="457200" y="2651760"/>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Agent App</a:t>
            </a:r>
            <a:endParaRPr lang="en-US" sz="1050" dirty="0"/>
          </a:p>
        </p:txBody>
      </p:sp>
      <p:sp>
        <p:nvSpPr>
          <p:cNvPr id="12" name="Shape 10"/>
          <p:cNvSpPr/>
          <p:nvPr/>
        </p:nvSpPr>
        <p:spPr>
          <a:xfrm>
            <a:off x="457200" y="3273552"/>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13" name="Text 11"/>
          <p:cNvSpPr/>
          <p:nvPr/>
        </p:nvSpPr>
        <p:spPr>
          <a:xfrm>
            <a:off x="457200" y="3273552"/>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IDE Plugin</a:t>
            </a:r>
            <a:endParaRPr lang="en-US" sz="1050" dirty="0"/>
          </a:p>
        </p:txBody>
      </p:sp>
      <p:sp>
        <p:nvSpPr>
          <p:cNvPr id="14" name="Shape 12"/>
          <p:cNvSpPr/>
          <p:nvPr/>
        </p:nvSpPr>
        <p:spPr>
          <a:xfrm>
            <a:off x="457200" y="3895344"/>
            <a:ext cx="2103120" cy="475488"/>
          </a:xfrm>
          <a:prstGeom prst="roundRect">
            <a:avLst>
              <a:gd name="adj" fmla="val 13462"/>
            </a:avLst>
          </a:prstGeom>
          <a:solidFill>
            <a:srgbClr val="0F172A"/>
          </a:solidFill>
          <a:ln w="6350">
            <a:solidFill>
              <a:srgbClr val="06B6D4"/>
            </a:solidFill>
            <a:prstDash val="solid"/>
          </a:ln>
        </p:spPr>
        <p:txBody>
          <a:bodyPr/>
          <a:lstStyle/>
          <a:p>
            <a:endParaRPr lang="en-IN"/>
          </a:p>
        </p:txBody>
      </p:sp>
      <p:sp>
        <p:nvSpPr>
          <p:cNvPr id="15" name="Text 13"/>
          <p:cNvSpPr/>
          <p:nvPr/>
        </p:nvSpPr>
        <p:spPr>
          <a:xfrm>
            <a:off x="457200" y="3895344"/>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Web UI</a:t>
            </a:r>
            <a:endParaRPr lang="en-US" sz="1050" dirty="0"/>
          </a:p>
        </p:txBody>
      </p:sp>
      <p:sp>
        <p:nvSpPr>
          <p:cNvPr id="16" name="Shape 14"/>
          <p:cNvSpPr/>
          <p:nvPr/>
        </p:nvSpPr>
        <p:spPr>
          <a:xfrm>
            <a:off x="3017520" y="1828800"/>
            <a:ext cx="3108960" cy="2468880"/>
          </a:xfrm>
          <a:prstGeom prst="roundRect">
            <a:avLst>
              <a:gd name="adj" fmla="val 5556"/>
            </a:avLst>
          </a:prstGeom>
          <a:solidFill>
            <a:srgbClr val="0A1828"/>
          </a:solidFill>
          <a:ln w="25400">
            <a:solidFill>
              <a:srgbClr val="8B5CF6"/>
            </a:solidFill>
            <a:prstDash val="solid"/>
          </a:ln>
        </p:spPr>
        <p:txBody>
          <a:bodyPr/>
          <a:lstStyle/>
          <a:p>
            <a:endParaRPr lang="en-IN"/>
          </a:p>
        </p:txBody>
      </p:sp>
      <p:sp>
        <p:nvSpPr>
          <p:cNvPr id="17" name="Text 15"/>
          <p:cNvSpPr/>
          <p:nvPr/>
        </p:nvSpPr>
        <p:spPr>
          <a:xfrm>
            <a:off x="3017520" y="1901952"/>
            <a:ext cx="3108960" cy="384048"/>
          </a:xfrm>
          <a:prstGeom prst="rect">
            <a:avLst/>
          </a:prstGeom>
          <a:noFill/>
          <a:ln/>
        </p:spPr>
        <p:txBody>
          <a:bodyPr wrap="square" rtlCol="0" anchor="ctr"/>
          <a:lstStyle/>
          <a:p>
            <a:pPr marL="0" indent="0" algn="ctr">
              <a:buNone/>
            </a:pPr>
            <a:r>
              <a:rPr lang="en-US" sz="1200" b="1" dirty="0">
                <a:solidFill>
                  <a:srgbClr val="8B5CF6"/>
                </a:solidFill>
                <a:latin typeface="Calibri" pitchFamily="34" charset="0"/>
                <a:ea typeface="Calibri" pitchFamily="34" charset="-122"/>
                <a:cs typeface="Calibri" pitchFamily="34" charset="-120"/>
              </a:rPr>
              <a:t>MCP PROTOCOL</a:t>
            </a:r>
            <a:endParaRPr lang="en-US" sz="1200" dirty="0"/>
          </a:p>
        </p:txBody>
      </p:sp>
      <p:sp>
        <p:nvSpPr>
          <p:cNvPr id="18" name="Shape 16"/>
          <p:cNvSpPr/>
          <p:nvPr/>
        </p:nvSpPr>
        <p:spPr>
          <a:xfrm>
            <a:off x="3246120" y="2377440"/>
            <a:ext cx="2651760" cy="457200"/>
          </a:xfrm>
          <a:prstGeom prst="roundRect">
            <a:avLst>
              <a:gd name="adj" fmla="val 14000"/>
            </a:avLst>
          </a:prstGeom>
          <a:solidFill>
            <a:srgbClr val="1E293B"/>
          </a:solidFill>
          <a:ln w="9525">
            <a:solidFill>
              <a:srgbClr val="10B981"/>
            </a:solidFill>
            <a:prstDash val="solid"/>
          </a:ln>
        </p:spPr>
        <p:txBody>
          <a:bodyPr/>
          <a:lstStyle/>
          <a:p>
            <a:endParaRPr lang="en-IN"/>
          </a:p>
        </p:txBody>
      </p:sp>
      <p:sp>
        <p:nvSpPr>
          <p:cNvPr id="19" name="Text 17"/>
          <p:cNvSpPr/>
          <p:nvPr/>
        </p:nvSpPr>
        <p:spPr>
          <a:xfrm>
            <a:off x="3246120" y="2377440"/>
            <a:ext cx="2651760" cy="457200"/>
          </a:xfrm>
          <a:prstGeom prst="rect">
            <a:avLst/>
          </a:prstGeom>
          <a:noFill/>
          <a:ln/>
        </p:spPr>
        <p:txBody>
          <a:bodyPr wrap="square"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Tools  — executable functions</a:t>
            </a:r>
            <a:endParaRPr lang="en-US" sz="1000" dirty="0"/>
          </a:p>
        </p:txBody>
      </p:sp>
      <p:sp>
        <p:nvSpPr>
          <p:cNvPr id="20" name="Shape 18"/>
          <p:cNvSpPr/>
          <p:nvPr/>
        </p:nvSpPr>
        <p:spPr>
          <a:xfrm>
            <a:off x="3246120" y="2907792"/>
            <a:ext cx="2651760" cy="457200"/>
          </a:xfrm>
          <a:prstGeom prst="roundRect">
            <a:avLst>
              <a:gd name="adj" fmla="val 14000"/>
            </a:avLst>
          </a:prstGeom>
          <a:solidFill>
            <a:srgbClr val="1E293B"/>
          </a:solidFill>
          <a:ln w="9525">
            <a:solidFill>
              <a:srgbClr val="F59E0B"/>
            </a:solidFill>
            <a:prstDash val="solid"/>
          </a:ln>
        </p:spPr>
        <p:txBody>
          <a:bodyPr/>
          <a:lstStyle/>
          <a:p>
            <a:endParaRPr lang="en-IN"/>
          </a:p>
        </p:txBody>
      </p:sp>
      <p:sp>
        <p:nvSpPr>
          <p:cNvPr id="21" name="Text 19"/>
          <p:cNvSpPr/>
          <p:nvPr/>
        </p:nvSpPr>
        <p:spPr>
          <a:xfrm>
            <a:off x="3246120" y="2907792"/>
            <a:ext cx="2651760" cy="457200"/>
          </a:xfrm>
          <a:prstGeom prst="rect">
            <a:avLst/>
          </a:prstGeom>
          <a:noFill/>
          <a:ln/>
        </p:spPr>
        <p:txBody>
          <a:bodyPr wrap="square" rtlCol="0" anchor="ctr"/>
          <a:lstStyle/>
          <a:p>
            <a:pPr marL="0" indent="0" algn="ctr">
              <a:buNone/>
            </a:pPr>
            <a:r>
              <a:rPr lang="en-US" sz="1000" dirty="0">
                <a:solidFill>
                  <a:srgbClr val="F59E0B"/>
                </a:solidFill>
                <a:latin typeface="Calibri" pitchFamily="34" charset="0"/>
                <a:ea typeface="Calibri" pitchFamily="34" charset="-122"/>
                <a:cs typeface="Calibri" pitchFamily="34" charset="-120"/>
              </a:rPr>
              <a:t>Resources — data/files</a:t>
            </a:r>
            <a:endParaRPr lang="en-US" sz="1000" dirty="0"/>
          </a:p>
        </p:txBody>
      </p:sp>
      <p:sp>
        <p:nvSpPr>
          <p:cNvPr id="22" name="Shape 20"/>
          <p:cNvSpPr/>
          <p:nvPr/>
        </p:nvSpPr>
        <p:spPr>
          <a:xfrm>
            <a:off x="3246120" y="3438144"/>
            <a:ext cx="2651760" cy="457200"/>
          </a:xfrm>
          <a:prstGeom prst="roundRect">
            <a:avLst>
              <a:gd name="adj" fmla="val 14000"/>
            </a:avLst>
          </a:prstGeom>
          <a:solidFill>
            <a:srgbClr val="1E293B"/>
          </a:solidFill>
          <a:ln w="9525">
            <a:solidFill>
              <a:srgbClr val="06B6D4"/>
            </a:solidFill>
            <a:prstDash val="solid"/>
          </a:ln>
        </p:spPr>
        <p:txBody>
          <a:bodyPr/>
          <a:lstStyle/>
          <a:p>
            <a:endParaRPr lang="en-IN"/>
          </a:p>
        </p:txBody>
      </p:sp>
      <p:sp>
        <p:nvSpPr>
          <p:cNvPr id="23" name="Text 21"/>
          <p:cNvSpPr/>
          <p:nvPr/>
        </p:nvSpPr>
        <p:spPr>
          <a:xfrm>
            <a:off x="3246120" y="3438144"/>
            <a:ext cx="2651760" cy="457200"/>
          </a:xfrm>
          <a:prstGeom prst="rect">
            <a:avLst/>
          </a:prstGeom>
          <a:noFill/>
          <a:ln/>
        </p:spPr>
        <p:txBody>
          <a:bodyPr wrap="square" rtlCol="0" anchor="ctr"/>
          <a:lstStyle/>
          <a:p>
            <a:pPr marL="0" indent="0" algn="ctr">
              <a:buNone/>
            </a:pPr>
            <a:r>
              <a:rPr lang="en-US" sz="1000" dirty="0">
                <a:solidFill>
                  <a:srgbClr val="06B6D4"/>
                </a:solidFill>
                <a:latin typeface="Calibri" pitchFamily="34" charset="0"/>
                <a:ea typeface="Calibri" pitchFamily="34" charset="-122"/>
                <a:cs typeface="Calibri" pitchFamily="34" charset="-120"/>
              </a:rPr>
              <a:t>Prompts — reusable templates</a:t>
            </a:r>
            <a:endParaRPr lang="en-US" sz="1000" dirty="0"/>
          </a:p>
        </p:txBody>
      </p:sp>
      <p:sp>
        <p:nvSpPr>
          <p:cNvPr id="24" name="Shape 22"/>
          <p:cNvSpPr/>
          <p:nvPr/>
        </p:nvSpPr>
        <p:spPr>
          <a:xfrm>
            <a:off x="6400800" y="1463040"/>
            <a:ext cx="2468880" cy="3200400"/>
          </a:xfrm>
          <a:prstGeom prst="roundRect">
            <a:avLst>
              <a:gd name="adj" fmla="val 4444"/>
            </a:avLst>
          </a:prstGeom>
          <a:solidFill>
            <a:srgbClr val="1E293B"/>
          </a:solidFill>
          <a:ln w="19050">
            <a:solidFill>
              <a:srgbClr val="10B981"/>
            </a:solidFill>
            <a:prstDash val="solid"/>
          </a:ln>
        </p:spPr>
        <p:txBody>
          <a:bodyPr/>
          <a:lstStyle/>
          <a:p>
            <a:endParaRPr lang="en-IN"/>
          </a:p>
        </p:txBody>
      </p:sp>
      <p:sp>
        <p:nvSpPr>
          <p:cNvPr id="25" name="Text 23"/>
          <p:cNvSpPr/>
          <p:nvPr/>
        </p:nvSpPr>
        <p:spPr>
          <a:xfrm>
            <a:off x="6400800" y="1536192"/>
            <a:ext cx="2468880" cy="384048"/>
          </a:xfrm>
          <a:prstGeom prst="rect">
            <a:avLst/>
          </a:prstGeom>
          <a:noFill/>
          <a:ln/>
        </p:spPr>
        <p:txBody>
          <a:bodyPr wrap="square"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MCP SERVER</a:t>
            </a:r>
            <a:endParaRPr lang="en-US" sz="1200" dirty="0"/>
          </a:p>
        </p:txBody>
      </p:sp>
      <p:sp>
        <p:nvSpPr>
          <p:cNvPr id="26" name="Shape 24"/>
          <p:cNvSpPr/>
          <p:nvPr/>
        </p:nvSpPr>
        <p:spPr>
          <a:xfrm>
            <a:off x="6583680" y="2029968"/>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27" name="Text 25"/>
          <p:cNvSpPr/>
          <p:nvPr/>
        </p:nvSpPr>
        <p:spPr>
          <a:xfrm>
            <a:off x="6583680" y="2029968"/>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GitHub</a:t>
            </a:r>
            <a:endParaRPr lang="en-US" sz="1050" dirty="0"/>
          </a:p>
        </p:txBody>
      </p:sp>
      <p:sp>
        <p:nvSpPr>
          <p:cNvPr id="28" name="Shape 26"/>
          <p:cNvSpPr/>
          <p:nvPr/>
        </p:nvSpPr>
        <p:spPr>
          <a:xfrm>
            <a:off x="6583680" y="2651760"/>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29" name="Text 27"/>
          <p:cNvSpPr/>
          <p:nvPr/>
        </p:nvSpPr>
        <p:spPr>
          <a:xfrm>
            <a:off x="6583680" y="2651760"/>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Postgres DB</a:t>
            </a:r>
            <a:endParaRPr lang="en-US" sz="1050" dirty="0"/>
          </a:p>
        </p:txBody>
      </p:sp>
      <p:sp>
        <p:nvSpPr>
          <p:cNvPr id="30" name="Shape 28"/>
          <p:cNvSpPr/>
          <p:nvPr/>
        </p:nvSpPr>
        <p:spPr>
          <a:xfrm>
            <a:off x="6583680" y="3273552"/>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31" name="Text 29"/>
          <p:cNvSpPr/>
          <p:nvPr/>
        </p:nvSpPr>
        <p:spPr>
          <a:xfrm>
            <a:off x="6583680" y="3273552"/>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Slack</a:t>
            </a:r>
            <a:endParaRPr lang="en-US" sz="1050" dirty="0"/>
          </a:p>
        </p:txBody>
      </p:sp>
      <p:sp>
        <p:nvSpPr>
          <p:cNvPr id="32" name="Shape 30"/>
          <p:cNvSpPr/>
          <p:nvPr/>
        </p:nvSpPr>
        <p:spPr>
          <a:xfrm>
            <a:off x="6583680" y="3895344"/>
            <a:ext cx="2103120" cy="475488"/>
          </a:xfrm>
          <a:prstGeom prst="roundRect">
            <a:avLst>
              <a:gd name="adj" fmla="val 13462"/>
            </a:avLst>
          </a:prstGeom>
          <a:solidFill>
            <a:srgbClr val="0F172A"/>
          </a:solidFill>
          <a:ln w="6350">
            <a:solidFill>
              <a:srgbClr val="10B981"/>
            </a:solidFill>
            <a:prstDash val="solid"/>
          </a:ln>
        </p:spPr>
        <p:txBody>
          <a:bodyPr/>
          <a:lstStyle/>
          <a:p>
            <a:endParaRPr lang="en-IN"/>
          </a:p>
        </p:txBody>
      </p:sp>
      <p:sp>
        <p:nvSpPr>
          <p:cNvPr id="33" name="Text 31"/>
          <p:cNvSpPr/>
          <p:nvPr/>
        </p:nvSpPr>
        <p:spPr>
          <a:xfrm>
            <a:off x="6583680" y="3895344"/>
            <a:ext cx="2103120" cy="475488"/>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File System</a:t>
            </a:r>
            <a:endParaRPr lang="en-US" sz="1050" dirty="0"/>
          </a:p>
        </p:txBody>
      </p:sp>
      <p:sp>
        <p:nvSpPr>
          <p:cNvPr id="34" name="Shape 32"/>
          <p:cNvSpPr/>
          <p:nvPr/>
        </p:nvSpPr>
        <p:spPr>
          <a:xfrm>
            <a:off x="2743200" y="3063240"/>
            <a:ext cx="274320" cy="0"/>
          </a:xfrm>
          <a:prstGeom prst="line">
            <a:avLst/>
          </a:prstGeom>
          <a:noFill/>
          <a:ln w="25400">
            <a:solidFill>
              <a:srgbClr val="8B5CF6"/>
            </a:solidFill>
            <a:prstDash val="solid"/>
          </a:ln>
        </p:spPr>
        <p:txBody>
          <a:bodyPr/>
          <a:lstStyle/>
          <a:p>
            <a:endParaRPr lang="en-IN"/>
          </a:p>
        </p:txBody>
      </p:sp>
      <p:sp>
        <p:nvSpPr>
          <p:cNvPr id="35" name="Shape 33"/>
          <p:cNvSpPr/>
          <p:nvPr/>
        </p:nvSpPr>
        <p:spPr>
          <a:xfrm>
            <a:off x="6126480" y="3063240"/>
            <a:ext cx="274320" cy="0"/>
          </a:xfrm>
          <a:prstGeom prst="line">
            <a:avLst/>
          </a:prstGeom>
          <a:noFill/>
          <a:ln w="25400">
            <a:solidFill>
              <a:srgbClr val="8B5CF6"/>
            </a:solidFill>
            <a:prstDash val="soli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RAG — Retrieval Augmented Generation</a:t>
            </a:r>
            <a:endParaRPr lang="en-US" sz="2600" dirty="0"/>
          </a:p>
        </p:txBody>
      </p:sp>
      <p:sp>
        <p:nvSpPr>
          <p:cNvPr id="4" name="Shape 2"/>
          <p:cNvSpPr/>
          <p:nvPr/>
        </p:nvSpPr>
        <p:spPr>
          <a:xfrm>
            <a:off x="274320" y="685800"/>
            <a:ext cx="8595360" cy="548640"/>
          </a:xfrm>
          <a:prstGeom prst="roundRect">
            <a:avLst>
              <a:gd name="adj" fmla="val 13333"/>
            </a:avLst>
          </a:prstGeom>
          <a:solidFill>
            <a:srgbClr val="0A2818"/>
          </a:solidFill>
          <a:ln w="12700">
            <a:solidFill>
              <a:srgbClr val="10B981"/>
            </a:solidFill>
            <a:prstDash val="solid"/>
          </a:ln>
        </p:spPr>
        <p:txBody>
          <a:bodyPr/>
          <a:lstStyle/>
          <a:p>
            <a:endParaRPr lang="en-IN"/>
          </a:p>
        </p:txBody>
      </p:sp>
      <p:sp>
        <p:nvSpPr>
          <p:cNvPr id="5" name="Text 3"/>
          <p:cNvSpPr/>
          <p:nvPr/>
        </p:nvSpPr>
        <p:spPr>
          <a:xfrm>
            <a:off x="457200" y="758952"/>
            <a:ext cx="8229600" cy="402336"/>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RAG enhances LLMs with real-time access to your own documents and data — solving the knowledge cutoff and hallucination problems.</a:t>
            </a:r>
            <a:endParaRPr lang="en-US" sz="1150" dirty="0"/>
          </a:p>
        </p:txBody>
      </p:sp>
      <p:sp>
        <p:nvSpPr>
          <p:cNvPr id="6" name="Text 4"/>
          <p:cNvSpPr/>
          <p:nvPr/>
        </p:nvSpPr>
        <p:spPr>
          <a:xfrm>
            <a:off x="274320" y="1325880"/>
            <a:ext cx="8229600" cy="274320"/>
          </a:xfrm>
          <a:prstGeom prst="rect">
            <a:avLst/>
          </a:prstGeom>
          <a:noFill/>
          <a:ln/>
        </p:spPr>
        <p:txBody>
          <a:bodyPr wrap="square" rtlCol="0" anchor="ctr"/>
          <a:lstStyle/>
          <a:p>
            <a:pPr marL="0" indent="0">
              <a:buNone/>
            </a:pPr>
            <a:r>
              <a:rPr lang="en-US" sz="1100" b="1" i="1" dirty="0">
                <a:solidFill>
                  <a:srgbClr val="94A3B8"/>
                </a:solidFill>
                <a:latin typeface="Calibri" pitchFamily="34" charset="0"/>
                <a:ea typeface="Calibri" pitchFamily="34" charset="-122"/>
                <a:cs typeface="Calibri" pitchFamily="34" charset="-120"/>
              </a:rPr>
              <a:t>INDEXING PIPELINE</a:t>
            </a:r>
            <a:endParaRPr lang="en-US" sz="1100" dirty="0"/>
          </a:p>
        </p:txBody>
      </p:sp>
      <p:sp>
        <p:nvSpPr>
          <p:cNvPr id="7" name="Shape 5"/>
          <p:cNvSpPr/>
          <p:nvPr/>
        </p:nvSpPr>
        <p:spPr>
          <a:xfrm>
            <a:off x="274320" y="1645920"/>
            <a:ext cx="1554480" cy="777240"/>
          </a:xfrm>
          <a:prstGeom prst="roundRect">
            <a:avLst>
              <a:gd name="adj" fmla="val 11765"/>
            </a:avLst>
          </a:prstGeom>
          <a:solidFill>
            <a:srgbClr val="1E293B"/>
          </a:solidFill>
          <a:ln w="19050">
            <a:solidFill>
              <a:srgbClr val="F59E0B"/>
            </a:solidFill>
            <a:prstDash val="solid"/>
          </a:ln>
        </p:spPr>
        <p:txBody>
          <a:bodyPr/>
          <a:lstStyle/>
          <a:p>
            <a:endParaRPr lang="en-IN"/>
          </a:p>
        </p:txBody>
      </p:sp>
      <p:sp>
        <p:nvSpPr>
          <p:cNvPr id="8" name="Text 6"/>
          <p:cNvSpPr/>
          <p:nvPr/>
        </p:nvSpPr>
        <p:spPr>
          <a:xfrm>
            <a:off x="27432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274320" y="1993392"/>
            <a:ext cx="1554480" cy="365760"/>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PDF / Docs</a:t>
            </a:r>
            <a:endParaRPr lang="en-US" sz="950" dirty="0"/>
          </a:p>
        </p:txBody>
      </p:sp>
      <p:sp>
        <p:nvSpPr>
          <p:cNvPr id="10" name="Shape 8"/>
          <p:cNvSpPr/>
          <p:nvPr/>
        </p:nvSpPr>
        <p:spPr>
          <a:xfrm>
            <a:off x="1828800" y="2029968"/>
            <a:ext cx="182880" cy="0"/>
          </a:xfrm>
          <a:prstGeom prst="line">
            <a:avLst/>
          </a:prstGeom>
          <a:noFill/>
          <a:ln w="19050">
            <a:solidFill>
              <a:srgbClr val="94A3B8"/>
            </a:solidFill>
            <a:prstDash val="solid"/>
          </a:ln>
        </p:spPr>
        <p:txBody>
          <a:bodyPr/>
          <a:lstStyle/>
          <a:p>
            <a:endParaRPr lang="en-IN"/>
          </a:p>
        </p:txBody>
      </p:sp>
      <p:sp>
        <p:nvSpPr>
          <p:cNvPr id="11" name="Shape 9"/>
          <p:cNvSpPr/>
          <p:nvPr/>
        </p:nvSpPr>
        <p:spPr>
          <a:xfrm>
            <a:off x="2011680" y="1645920"/>
            <a:ext cx="1554480" cy="777240"/>
          </a:xfrm>
          <a:prstGeom prst="roundRect">
            <a:avLst>
              <a:gd name="adj" fmla="val 11765"/>
            </a:avLst>
          </a:prstGeom>
          <a:solidFill>
            <a:srgbClr val="1E293B"/>
          </a:solidFill>
          <a:ln w="19050">
            <a:solidFill>
              <a:srgbClr val="06B6D4"/>
            </a:solidFill>
            <a:prstDash val="solid"/>
          </a:ln>
        </p:spPr>
        <p:txBody>
          <a:bodyPr/>
          <a:lstStyle/>
          <a:p>
            <a:endParaRPr lang="en-IN"/>
          </a:p>
        </p:txBody>
      </p:sp>
      <p:sp>
        <p:nvSpPr>
          <p:cNvPr id="12" name="Text 10"/>
          <p:cNvSpPr/>
          <p:nvPr/>
        </p:nvSpPr>
        <p:spPr>
          <a:xfrm>
            <a:off x="201168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2011680" y="1993392"/>
            <a:ext cx="1554480" cy="365760"/>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Doc Loader</a:t>
            </a:r>
            <a:endParaRPr lang="en-US" sz="950" dirty="0"/>
          </a:p>
        </p:txBody>
      </p:sp>
      <p:sp>
        <p:nvSpPr>
          <p:cNvPr id="14" name="Shape 12"/>
          <p:cNvSpPr/>
          <p:nvPr/>
        </p:nvSpPr>
        <p:spPr>
          <a:xfrm>
            <a:off x="3566160" y="2029968"/>
            <a:ext cx="182880" cy="0"/>
          </a:xfrm>
          <a:prstGeom prst="line">
            <a:avLst/>
          </a:prstGeom>
          <a:noFill/>
          <a:ln w="19050">
            <a:solidFill>
              <a:srgbClr val="94A3B8"/>
            </a:solidFill>
            <a:prstDash val="solid"/>
          </a:ln>
        </p:spPr>
        <p:txBody>
          <a:bodyPr/>
          <a:lstStyle/>
          <a:p>
            <a:endParaRPr lang="en-IN"/>
          </a:p>
        </p:txBody>
      </p:sp>
      <p:sp>
        <p:nvSpPr>
          <p:cNvPr id="15" name="Shape 13"/>
          <p:cNvSpPr/>
          <p:nvPr/>
        </p:nvSpPr>
        <p:spPr>
          <a:xfrm>
            <a:off x="3749040" y="1645920"/>
            <a:ext cx="1554480" cy="777240"/>
          </a:xfrm>
          <a:prstGeom prst="roundRect">
            <a:avLst>
              <a:gd name="adj" fmla="val 11765"/>
            </a:avLst>
          </a:prstGeom>
          <a:solidFill>
            <a:srgbClr val="1E293B"/>
          </a:solidFill>
          <a:ln w="19050">
            <a:solidFill>
              <a:srgbClr val="8B5CF6"/>
            </a:solidFill>
            <a:prstDash val="solid"/>
          </a:ln>
        </p:spPr>
        <p:txBody>
          <a:bodyPr/>
          <a:lstStyle/>
          <a:p>
            <a:endParaRPr lang="en-IN"/>
          </a:p>
        </p:txBody>
      </p:sp>
      <p:sp>
        <p:nvSpPr>
          <p:cNvPr id="16" name="Text 14"/>
          <p:cNvSpPr/>
          <p:nvPr/>
        </p:nvSpPr>
        <p:spPr>
          <a:xfrm>
            <a:off x="374904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3749040" y="1993392"/>
            <a:ext cx="1554480" cy="365760"/>
          </a:xfrm>
          <a:prstGeom prst="rect">
            <a:avLst/>
          </a:prstGeom>
          <a:noFill/>
          <a:ln/>
        </p:spPr>
        <p:txBody>
          <a:bodyPr wrap="square" rtlCol="0" anchor="ctr"/>
          <a:lstStyle/>
          <a:p>
            <a:pPr marL="0" indent="0" algn="ctr">
              <a:buNone/>
            </a:pPr>
            <a:r>
              <a:rPr lang="en-US" sz="950" b="1" dirty="0">
                <a:solidFill>
                  <a:srgbClr val="8B5CF6"/>
                </a:solidFill>
                <a:latin typeface="Calibri" pitchFamily="34" charset="0"/>
                <a:ea typeface="Calibri" pitchFamily="34" charset="-122"/>
                <a:cs typeface="Calibri" pitchFamily="34" charset="-120"/>
              </a:rPr>
              <a:t>Text Splitter</a:t>
            </a:r>
            <a:endParaRPr lang="en-US" sz="950" dirty="0"/>
          </a:p>
        </p:txBody>
      </p:sp>
      <p:sp>
        <p:nvSpPr>
          <p:cNvPr id="18" name="Shape 16"/>
          <p:cNvSpPr/>
          <p:nvPr/>
        </p:nvSpPr>
        <p:spPr>
          <a:xfrm>
            <a:off x="5303520" y="2029968"/>
            <a:ext cx="182880" cy="0"/>
          </a:xfrm>
          <a:prstGeom prst="line">
            <a:avLst/>
          </a:prstGeom>
          <a:noFill/>
          <a:ln w="19050">
            <a:solidFill>
              <a:srgbClr val="94A3B8"/>
            </a:solidFill>
            <a:prstDash val="solid"/>
          </a:ln>
        </p:spPr>
        <p:txBody>
          <a:bodyPr/>
          <a:lstStyle/>
          <a:p>
            <a:endParaRPr lang="en-IN"/>
          </a:p>
        </p:txBody>
      </p:sp>
      <p:sp>
        <p:nvSpPr>
          <p:cNvPr id="19" name="Shape 17"/>
          <p:cNvSpPr/>
          <p:nvPr/>
        </p:nvSpPr>
        <p:spPr>
          <a:xfrm>
            <a:off x="5486400" y="1645920"/>
            <a:ext cx="1554480" cy="777240"/>
          </a:xfrm>
          <a:prstGeom prst="roundRect">
            <a:avLst>
              <a:gd name="adj" fmla="val 11765"/>
            </a:avLst>
          </a:prstGeom>
          <a:solidFill>
            <a:srgbClr val="1E293B"/>
          </a:solidFill>
          <a:ln w="19050">
            <a:solidFill>
              <a:srgbClr val="10B981"/>
            </a:solidFill>
            <a:prstDash val="solid"/>
          </a:ln>
        </p:spPr>
        <p:txBody>
          <a:bodyPr/>
          <a:lstStyle/>
          <a:p>
            <a:endParaRPr lang="en-IN"/>
          </a:p>
        </p:txBody>
      </p:sp>
      <p:sp>
        <p:nvSpPr>
          <p:cNvPr id="20" name="Text 18"/>
          <p:cNvSpPr/>
          <p:nvPr/>
        </p:nvSpPr>
        <p:spPr>
          <a:xfrm>
            <a:off x="548640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5486400" y="1993392"/>
            <a:ext cx="1554480" cy="36576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Embeddings</a:t>
            </a:r>
            <a:endParaRPr lang="en-US" sz="950" dirty="0"/>
          </a:p>
        </p:txBody>
      </p:sp>
      <p:sp>
        <p:nvSpPr>
          <p:cNvPr id="22" name="Shape 20"/>
          <p:cNvSpPr/>
          <p:nvPr/>
        </p:nvSpPr>
        <p:spPr>
          <a:xfrm>
            <a:off x="7040880" y="2029968"/>
            <a:ext cx="182880" cy="0"/>
          </a:xfrm>
          <a:prstGeom prst="line">
            <a:avLst/>
          </a:prstGeom>
          <a:noFill/>
          <a:ln w="19050">
            <a:solidFill>
              <a:srgbClr val="94A3B8"/>
            </a:solidFill>
            <a:prstDash val="solid"/>
          </a:ln>
        </p:spPr>
        <p:txBody>
          <a:bodyPr/>
          <a:lstStyle/>
          <a:p>
            <a:endParaRPr lang="en-IN"/>
          </a:p>
        </p:txBody>
      </p:sp>
      <p:sp>
        <p:nvSpPr>
          <p:cNvPr id="23" name="Shape 21"/>
          <p:cNvSpPr/>
          <p:nvPr/>
        </p:nvSpPr>
        <p:spPr>
          <a:xfrm>
            <a:off x="7223760" y="1645920"/>
            <a:ext cx="1554480" cy="777240"/>
          </a:xfrm>
          <a:prstGeom prst="roundRect">
            <a:avLst>
              <a:gd name="adj" fmla="val 11765"/>
            </a:avLst>
          </a:prstGeom>
          <a:solidFill>
            <a:srgbClr val="1E293B"/>
          </a:solidFill>
          <a:ln w="19050">
            <a:solidFill>
              <a:srgbClr val="EF4444"/>
            </a:solidFill>
            <a:prstDash val="solid"/>
          </a:ln>
        </p:spPr>
        <p:txBody>
          <a:bodyPr/>
          <a:lstStyle/>
          <a:p>
            <a:endParaRPr lang="en-IN"/>
          </a:p>
        </p:txBody>
      </p:sp>
      <p:sp>
        <p:nvSpPr>
          <p:cNvPr id="24" name="Text 22"/>
          <p:cNvSpPr/>
          <p:nvPr/>
        </p:nvSpPr>
        <p:spPr>
          <a:xfrm>
            <a:off x="7223760" y="166420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7223760" y="1993392"/>
            <a:ext cx="1554480" cy="365760"/>
          </a:xfrm>
          <a:prstGeom prst="rect">
            <a:avLst/>
          </a:prstGeom>
          <a:noFill/>
          <a:ln/>
        </p:spPr>
        <p:txBody>
          <a:bodyPr wrap="square" rtlCol="0" anchor="ctr"/>
          <a:lstStyle/>
          <a:p>
            <a:pPr marL="0" indent="0" algn="ctr">
              <a:buNone/>
            </a:pPr>
            <a:r>
              <a:rPr lang="en-US" sz="950" b="1" dirty="0">
                <a:solidFill>
                  <a:srgbClr val="EF4444"/>
                </a:solidFill>
                <a:latin typeface="Calibri" pitchFamily="34" charset="0"/>
                <a:ea typeface="Calibri" pitchFamily="34" charset="-122"/>
                <a:cs typeface="Calibri" pitchFamily="34" charset="-120"/>
              </a:rPr>
              <a:t>Vector DB</a:t>
            </a:r>
            <a:endParaRPr lang="en-US" sz="950" dirty="0"/>
          </a:p>
        </p:txBody>
      </p:sp>
      <p:sp>
        <p:nvSpPr>
          <p:cNvPr id="26" name="Text 24"/>
          <p:cNvSpPr/>
          <p:nvPr/>
        </p:nvSpPr>
        <p:spPr>
          <a:xfrm>
            <a:off x="274320" y="2560320"/>
            <a:ext cx="8229600" cy="274320"/>
          </a:xfrm>
          <a:prstGeom prst="rect">
            <a:avLst/>
          </a:prstGeom>
          <a:noFill/>
          <a:ln/>
        </p:spPr>
        <p:txBody>
          <a:bodyPr wrap="square" rtlCol="0" anchor="ctr"/>
          <a:lstStyle/>
          <a:p>
            <a:pPr marL="0" indent="0">
              <a:buNone/>
            </a:pPr>
            <a:r>
              <a:rPr lang="en-US" sz="1100" b="1" i="1" dirty="0">
                <a:solidFill>
                  <a:srgbClr val="94A3B8"/>
                </a:solidFill>
                <a:latin typeface="Calibri" pitchFamily="34" charset="0"/>
                <a:ea typeface="Calibri" pitchFamily="34" charset="-122"/>
                <a:cs typeface="Calibri" pitchFamily="34" charset="-120"/>
              </a:rPr>
              <a:t>RETRIEVAL + GENERATION</a:t>
            </a:r>
            <a:endParaRPr lang="en-US" sz="1100" dirty="0"/>
          </a:p>
        </p:txBody>
      </p:sp>
      <p:sp>
        <p:nvSpPr>
          <p:cNvPr id="27" name="Shape 25"/>
          <p:cNvSpPr/>
          <p:nvPr/>
        </p:nvSpPr>
        <p:spPr>
          <a:xfrm>
            <a:off x="274320" y="2880360"/>
            <a:ext cx="1554480" cy="777240"/>
          </a:xfrm>
          <a:prstGeom prst="roundRect">
            <a:avLst>
              <a:gd name="adj" fmla="val 11765"/>
            </a:avLst>
          </a:prstGeom>
          <a:solidFill>
            <a:srgbClr val="1E293B"/>
          </a:solidFill>
          <a:ln w="19050">
            <a:solidFill>
              <a:srgbClr val="06B6D4"/>
            </a:solidFill>
            <a:prstDash val="solid"/>
          </a:ln>
        </p:spPr>
        <p:txBody>
          <a:bodyPr/>
          <a:lstStyle/>
          <a:p>
            <a:endParaRPr lang="en-IN"/>
          </a:p>
        </p:txBody>
      </p:sp>
      <p:sp>
        <p:nvSpPr>
          <p:cNvPr id="28" name="Text 26"/>
          <p:cNvSpPr/>
          <p:nvPr/>
        </p:nvSpPr>
        <p:spPr>
          <a:xfrm>
            <a:off x="27432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274320" y="3227832"/>
            <a:ext cx="1554480" cy="365760"/>
          </a:xfrm>
          <a:prstGeom prst="rect">
            <a:avLst/>
          </a:prstGeom>
          <a:noFill/>
          <a:ln/>
        </p:spPr>
        <p:txBody>
          <a:bodyPr wrap="square" rtlCol="0" anchor="ctr"/>
          <a:lstStyle/>
          <a:p>
            <a:pPr marL="0" indent="0" algn="ctr">
              <a:buNone/>
            </a:pPr>
            <a:r>
              <a:rPr lang="en-US" sz="950" b="1" dirty="0">
                <a:solidFill>
                  <a:srgbClr val="06B6D4"/>
                </a:solidFill>
                <a:latin typeface="Calibri" pitchFamily="34" charset="0"/>
                <a:ea typeface="Calibri" pitchFamily="34" charset="-122"/>
                <a:cs typeface="Calibri" pitchFamily="34" charset="-120"/>
              </a:rPr>
              <a:t>User Query</a:t>
            </a:r>
            <a:endParaRPr lang="en-US" sz="950" dirty="0"/>
          </a:p>
        </p:txBody>
      </p:sp>
      <p:sp>
        <p:nvSpPr>
          <p:cNvPr id="30" name="Shape 28"/>
          <p:cNvSpPr/>
          <p:nvPr/>
        </p:nvSpPr>
        <p:spPr>
          <a:xfrm>
            <a:off x="1828800" y="3264408"/>
            <a:ext cx="182880" cy="0"/>
          </a:xfrm>
          <a:prstGeom prst="line">
            <a:avLst/>
          </a:prstGeom>
          <a:noFill/>
          <a:ln w="19050">
            <a:solidFill>
              <a:srgbClr val="94A3B8"/>
            </a:solidFill>
            <a:prstDash val="solid"/>
          </a:ln>
        </p:spPr>
        <p:txBody>
          <a:bodyPr/>
          <a:lstStyle/>
          <a:p>
            <a:endParaRPr lang="en-IN"/>
          </a:p>
        </p:txBody>
      </p:sp>
      <p:sp>
        <p:nvSpPr>
          <p:cNvPr id="31" name="Shape 29"/>
          <p:cNvSpPr/>
          <p:nvPr/>
        </p:nvSpPr>
        <p:spPr>
          <a:xfrm>
            <a:off x="2011680" y="2880360"/>
            <a:ext cx="1554480" cy="777240"/>
          </a:xfrm>
          <a:prstGeom prst="roundRect">
            <a:avLst>
              <a:gd name="adj" fmla="val 11765"/>
            </a:avLst>
          </a:prstGeom>
          <a:solidFill>
            <a:srgbClr val="1E293B"/>
          </a:solidFill>
          <a:ln w="19050">
            <a:solidFill>
              <a:srgbClr val="10B981"/>
            </a:solidFill>
            <a:prstDash val="solid"/>
          </a:ln>
        </p:spPr>
        <p:txBody>
          <a:bodyPr/>
          <a:lstStyle/>
          <a:p>
            <a:endParaRPr lang="en-IN"/>
          </a:p>
        </p:txBody>
      </p:sp>
      <p:sp>
        <p:nvSpPr>
          <p:cNvPr id="32" name="Text 30"/>
          <p:cNvSpPr/>
          <p:nvPr/>
        </p:nvSpPr>
        <p:spPr>
          <a:xfrm>
            <a:off x="201168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2011680" y="3227832"/>
            <a:ext cx="1554480" cy="36576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Embeddings</a:t>
            </a:r>
            <a:endParaRPr lang="en-US" sz="950" dirty="0"/>
          </a:p>
        </p:txBody>
      </p:sp>
      <p:sp>
        <p:nvSpPr>
          <p:cNvPr id="34" name="Shape 32"/>
          <p:cNvSpPr/>
          <p:nvPr/>
        </p:nvSpPr>
        <p:spPr>
          <a:xfrm>
            <a:off x="3566160" y="3264408"/>
            <a:ext cx="182880" cy="0"/>
          </a:xfrm>
          <a:prstGeom prst="line">
            <a:avLst/>
          </a:prstGeom>
          <a:noFill/>
          <a:ln w="19050">
            <a:solidFill>
              <a:srgbClr val="94A3B8"/>
            </a:solidFill>
            <a:prstDash val="solid"/>
          </a:ln>
        </p:spPr>
        <p:txBody>
          <a:bodyPr/>
          <a:lstStyle/>
          <a:p>
            <a:endParaRPr lang="en-IN"/>
          </a:p>
        </p:txBody>
      </p:sp>
      <p:sp>
        <p:nvSpPr>
          <p:cNvPr id="35" name="Shape 33"/>
          <p:cNvSpPr/>
          <p:nvPr/>
        </p:nvSpPr>
        <p:spPr>
          <a:xfrm>
            <a:off x="3749040" y="2880360"/>
            <a:ext cx="1554480" cy="777240"/>
          </a:xfrm>
          <a:prstGeom prst="roundRect">
            <a:avLst>
              <a:gd name="adj" fmla="val 11765"/>
            </a:avLst>
          </a:prstGeom>
          <a:solidFill>
            <a:srgbClr val="1E293B"/>
          </a:solidFill>
          <a:ln w="19050">
            <a:solidFill>
              <a:srgbClr val="8B5CF6"/>
            </a:solidFill>
            <a:prstDash val="solid"/>
          </a:ln>
        </p:spPr>
        <p:txBody>
          <a:bodyPr/>
          <a:lstStyle/>
          <a:p>
            <a:endParaRPr lang="en-IN"/>
          </a:p>
        </p:txBody>
      </p:sp>
      <p:sp>
        <p:nvSpPr>
          <p:cNvPr id="36" name="Text 34"/>
          <p:cNvSpPr/>
          <p:nvPr/>
        </p:nvSpPr>
        <p:spPr>
          <a:xfrm>
            <a:off x="374904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7" name="Text 35"/>
          <p:cNvSpPr/>
          <p:nvPr/>
        </p:nvSpPr>
        <p:spPr>
          <a:xfrm>
            <a:off x="3749040" y="3227832"/>
            <a:ext cx="1554480" cy="365760"/>
          </a:xfrm>
          <a:prstGeom prst="rect">
            <a:avLst/>
          </a:prstGeom>
          <a:noFill/>
          <a:ln/>
        </p:spPr>
        <p:txBody>
          <a:bodyPr wrap="square" rtlCol="0" anchor="ctr"/>
          <a:lstStyle/>
          <a:p>
            <a:pPr marL="0" indent="0" algn="ctr">
              <a:buNone/>
            </a:pPr>
            <a:r>
              <a:rPr lang="en-US" sz="950" b="1" dirty="0">
                <a:solidFill>
                  <a:srgbClr val="8B5CF6"/>
                </a:solidFill>
                <a:latin typeface="Calibri" pitchFamily="34" charset="0"/>
                <a:ea typeface="Calibri" pitchFamily="34" charset="-122"/>
                <a:cs typeface="Calibri" pitchFamily="34" charset="-120"/>
              </a:rPr>
              <a:t>Retriever</a:t>
            </a:r>
            <a:endParaRPr lang="en-US" sz="950" dirty="0"/>
          </a:p>
        </p:txBody>
      </p:sp>
      <p:sp>
        <p:nvSpPr>
          <p:cNvPr id="38" name="Shape 36"/>
          <p:cNvSpPr/>
          <p:nvPr/>
        </p:nvSpPr>
        <p:spPr>
          <a:xfrm>
            <a:off x="5303520" y="3264408"/>
            <a:ext cx="182880" cy="0"/>
          </a:xfrm>
          <a:prstGeom prst="line">
            <a:avLst/>
          </a:prstGeom>
          <a:noFill/>
          <a:ln w="19050">
            <a:solidFill>
              <a:srgbClr val="94A3B8"/>
            </a:solidFill>
            <a:prstDash val="solid"/>
          </a:ln>
        </p:spPr>
        <p:txBody>
          <a:bodyPr/>
          <a:lstStyle/>
          <a:p>
            <a:endParaRPr lang="en-IN"/>
          </a:p>
        </p:txBody>
      </p:sp>
      <p:sp>
        <p:nvSpPr>
          <p:cNvPr id="39" name="Shape 37"/>
          <p:cNvSpPr/>
          <p:nvPr/>
        </p:nvSpPr>
        <p:spPr>
          <a:xfrm>
            <a:off x="5486400" y="2880360"/>
            <a:ext cx="1554480" cy="777240"/>
          </a:xfrm>
          <a:prstGeom prst="roundRect">
            <a:avLst>
              <a:gd name="adj" fmla="val 11765"/>
            </a:avLst>
          </a:prstGeom>
          <a:solidFill>
            <a:srgbClr val="1E293B"/>
          </a:solidFill>
          <a:ln w="19050">
            <a:solidFill>
              <a:srgbClr val="F59E0B"/>
            </a:solidFill>
            <a:prstDash val="solid"/>
          </a:ln>
        </p:spPr>
        <p:txBody>
          <a:bodyPr/>
          <a:lstStyle/>
          <a:p>
            <a:endParaRPr lang="en-IN"/>
          </a:p>
        </p:txBody>
      </p:sp>
      <p:sp>
        <p:nvSpPr>
          <p:cNvPr id="40" name="Text 38"/>
          <p:cNvSpPr/>
          <p:nvPr/>
        </p:nvSpPr>
        <p:spPr>
          <a:xfrm>
            <a:off x="548640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1" name="Text 39"/>
          <p:cNvSpPr/>
          <p:nvPr/>
        </p:nvSpPr>
        <p:spPr>
          <a:xfrm>
            <a:off x="5486400" y="3227832"/>
            <a:ext cx="1554480" cy="365760"/>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LLM</a:t>
            </a:r>
            <a:endParaRPr lang="en-US" sz="950" dirty="0"/>
          </a:p>
        </p:txBody>
      </p:sp>
      <p:sp>
        <p:nvSpPr>
          <p:cNvPr id="42" name="Shape 40"/>
          <p:cNvSpPr/>
          <p:nvPr/>
        </p:nvSpPr>
        <p:spPr>
          <a:xfrm>
            <a:off x="7040880" y="3264408"/>
            <a:ext cx="182880" cy="0"/>
          </a:xfrm>
          <a:prstGeom prst="line">
            <a:avLst/>
          </a:prstGeom>
          <a:noFill/>
          <a:ln w="19050">
            <a:solidFill>
              <a:srgbClr val="94A3B8"/>
            </a:solidFill>
            <a:prstDash val="solid"/>
          </a:ln>
        </p:spPr>
        <p:txBody>
          <a:bodyPr/>
          <a:lstStyle/>
          <a:p>
            <a:endParaRPr lang="en-IN"/>
          </a:p>
        </p:txBody>
      </p:sp>
      <p:sp>
        <p:nvSpPr>
          <p:cNvPr id="43" name="Shape 41"/>
          <p:cNvSpPr/>
          <p:nvPr/>
        </p:nvSpPr>
        <p:spPr>
          <a:xfrm>
            <a:off x="7223760" y="2880360"/>
            <a:ext cx="1554480" cy="777240"/>
          </a:xfrm>
          <a:prstGeom prst="roundRect">
            <a:avLst>
              <a:gd name="adj" fmla="val 11765"/>
            </a:avLst>
          </a:prstGeom>
          <a:solidFill>
            <a:srgbClr val="1E293B"/>
          </a:solidFill>
          <a:ln w="19050">
            <a:solidFill>
              <a:srgbClr val="EF4444"/>
            </a:solidFill>
            <a:prstDash val="solid"/>
          </a:ln>
        </p:spPr>
        <p:txBody>
          <a:bodyPr/>
          <a:lstStyle/>
          <a:p>
            <a:endParaRPr lang="en-IN"/>
          </a:p>
        </p:txBody>
      </p:sp>
      <p:sp>
        <p:nvSpPr>
          <p:cNvPr id="44" name="Text 42"/>
          <p:cNvSpPr/>
          <p:nvPr/>
        </p:nvSpPr>
        <p:spPr>
          <a:xfrm>
            <a:off x="7223760" y="2898648"/>
            <a:ext cx="1554480" cy="32004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5" name="Text 43"/>
          <p:cNvSpPr/>
          <p:nvPr/>
        </p:nvSpPr>
        <p:spPr>
          <a:xfrm>
            <a:off x="7223760" y="3227832"/>
            <a:ext cx="1554480" cy="365760"/>
          </a:xfrm>
          <a:prstGeom prst="rect">
            <a:avLst/>
          </a:prstGeom>
          <a:noFill/>
          <a:ln/>
        </p:spPr>
        <p:txBody>
          <a:bodyPr wrap="square" rtlCol="0" anchor="ctr"/>
          <a:lstStyle/>
          <a:p>
            <a:pPr marL="0" indent="0" algn="ctr">
              <a:buNone/>
            </a:pPr>
            <a:r>
              <a:rPr lang="en-US" sz="950" b="1" dirty="0">
                <a:solidFill>
                  <a:srgbClr val="EF4444"/>
                </a:solidFill>
                <a:latin typeface="Calibri" pitchFamily="34" charset="0"/>
                <a:ea typeface="Calibri" pitchFamily="34" charset="-122"/>
                <a:cs typeface="Calibri" pitchFamily="34" charset="-120"/>
              </a:rPr>
              <a:t>Response</a:t>
            </a:r>
            <a:endParaRPr lang="en-US" sz="950" dirty="0"/>
          </a:p>
        </p:txBody>
      </p:sp>
      <p:sp>
        <p:nvSpPr>
          <p:cNvPr id="46" name="Shape 44"/>
          <p:cNvSpPr/>
          <p:nvPr/>
        </p:nvSpPr>
        <p:spPr>
          <a:xfrm>
            <a:off x="8366760" y="2029968"/>
            <a:ext cx="0" cy="850392"/>
          </a:xfrm>
          <a:prstGeom prst="line">
            <a:avLst/>
          </a:prstGeom>
          <a:noFill/>
          <a:ln w="19050">
            <a:solidFill>
              <a:srgbClr val="EF4444"/>
            </a:solidFill>
            <a:prstDash val="dash"/>
          </a:ln>
        </p:spPr>
        <p:txBody>
          <a:bodyPr/>
          <a:lstStyle/>
          <a:p>
            <a:endParaRPr lang="en-IN"/>
          </a:p>
        </p:txBody>
      </p:sp>
      <p:sp>
        <p:nvSpPr>
          <p:cNvPr id="47" name="Text 45"/>
          <p:cNvSpPr/>
          <p:nvPr/>
        </p:nvSpPr>
        <p:spPr>
          <a:xfrm>
            <a:off x="7772400" y="2468880"/>
            <a:ext cx="1280160" cy="365760"/>
          </a:xfrm>
          <a:prstGeom prst="rect">
            <a:avLst/>
          </a:prstGeom>
          <a:noFill/>
          <a:ln/>
        </p:spPr>
        <p:txBody>
          <a:bodyPr wrap="square" rtlCol="0" anchor="ctr"/>
          <a:lstStyle/>
          <a:p>
            <a:pPr marL="0" indent="0" algn="ctr">
              <a:buNone/>
            </a:pPr>
            <a:r>
              <a:rPr lang="en-US" sz="800" i="1" dirty="0">
                <a:solidFill>
                  <a:srgbClr val="EF4444"/>
                </a:solidFill>
                <a:latin typeface="Calibri" pitchFamily="34" charset="0"/>
                <a:ea typeface="Calibri" pitchFamily="34" charset="-122"/>
                <a:cs typeface="Calibri" pitchFamily="34" charset="-120"/>
              </a:rPr>
              <a:t>↕ Vector DB used for both</a:t>
            </a:r>
            <a:endParaRPr lang="en-US" sz="800" dirty="0"/>
          </a:p>
        </p:txBody>
      </p:sp>
      <p:sp>
        <p:nvSpPr>
          <p:cNvPr id="48" name="Shape 46"/>
          <p:cNvSpPr/>
          <p:nvPr/>
        </p:nvSpPr>
        <p:spPr>
          <a:xfrm>
            <a:off x="274320" y="3794760"/>
            <a:ext cx="8595360" cy="1143000"/>
          </a:xfrm>
          <a:prstGeom prst="roundRect">
            <a:avLst>
              <a:gd name="adj" fmla="val 8000"/>
            </a:avLst>
          </a:prstGeom>
          <a:solidFill>
            <a:srgbClr val="1E293B"/>
          </a:solidFill>
          <a:ln w="12700">
            <a:solidFill>
              <a:srgbClr val="10B981"/>
            </a:solidFill>
            <a:prstDash val="solid"/>
          </a:ln>
        </p:spPr>
        <p:txBody>
          <a:bodyPr/>
          <a:lstStyle/>
          <a:p>
            <a:endParaRPr lang="en-IN"/>
          </a:p>
        </p:txBody>
      </p:sp>
      <p:sp>
        <p:nvSpPr>
          <p:cNvPr id="49" name="Text 47"/>
          <p:cNvSpPr/>
          <p:nvPr/>
        </p:nvSpPr>
        <p:spPr>
          <a:xfrm>
            <a:off x="457200" y="3858768"/>
            <a:ext cx="1828800" cy="34747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Why RAG?</a:t>
            </a:r>
            <a:endParaRPr lang="en-US" sz="1200" dirty="0"/>
          </a:p>
        </p:txBody>
      </p:sp>
      <p:sp>
        <p:nvSpPr>
          <p:cNvPr id="50" name="Text 48"/>
          <p:cNvSpPr/>
          <p:nvPr/>
        </p:nvSpPr>
        <p:spPr>
          <a:xfrm>
            <a:off x="457200" y="425196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No knowledge cutoff — use live docs</a:t>
            </a:r>
            <a:endParaRPr lang="en-US" sz="1050" dirty="0"/>
          </a:p>
        </p:txBody>
      </p:sp>
      <p:sp>
        <p:nvSpPr>
          <p:cNvPr id="51" name="Text 49"/>
          <p:cNvSpPr/>
          <p:nvPr/>
        </p:nvSpPr>
        <p:spPr>
          <a:xfrm>
            <a:off x="4754880" y="425196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Reduces hallucinations</a:t>
            </a:r>
            <a:endParaRPr lang="en-US" sz="1050" dirty="0"/>
          </a:p>
        </p:txBody>
      </p:sp>
      <p:sp>
        <p:nvSpPr>
          <p:cNvPr id="52" name="Text 50"/>
          <p:cNvSpPr/>
          <p:nvPr/>
        </p:nvSpPr>
        <p:spPr>
          <a:xfrm>
            <a:off x="457200" y="463600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Cite sources with context</a:t>
            </a:r>
            <a:endParaRPr lang="en-US" sz="1050" dirty="0"/>
          </a:p>
        </p:txBody>
      </p:sp>
      <p:sp>
        <p:nvSpPr>
          <p:cNvPr id="53" name="Text 51"/>
          <p:cNvSpPr/>
          <p:nvPr/>
        </p:nvSpPr>
        <p:spPr>
          <a:xfrm>
            <a:off x="4754880" y="463600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No need to retrain the model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Embeddings &amp; Vector Stores</a:t>
            </a:r>
            <a:endParaRPr lang="en-US" sz="2800" dirty="0"/>
          </a:p>
        </p:txBody>
      </p:sp>
      <p:sp>
        <p:nvSpPr>
          <p:cNvPr id="4" name="Shape 2"/>
          <p:cNvSpPr/>
          <p:nvPr/>
        </p:nvSpPr>
        <p:spPr>
          <a:xfrm>
            <a:off x="274320" y="713232"/>
            <a:ext cx="4114800" cy="4206240"/>
          </a:xfrm>
          <a:prstGeom prst="roundRect">
            <a:avLst>
              <a:gd name="adj" fmla="val 2667"/>
            </a:avLst>
          </a:prstGeom>
          <a:solidFill>
            <a:srgbClr val="1E293B"/>
          </a:solidFill>
          <a:ln w="12700">
            <a:solidFill>
              <a:srgbClr val="F59E0B"/>
            </a:solidFill>
            <a:prstDash val="solid"/>
          </a:ln>
        </p:spPr>
        <p:txBody>
          <a:bodyPr/>
          <a:lstStyle/>
          <a:p>
            <a:endParaRPr lang="en-IN"/>
          </a:p>
        </p:txBody>
      </p:sp>
      <p:sp>
        <p:nvSpPr>
          <p:cNvPr id="5" name="Text 3"/>
          <p:cNvSpPr/>
          <p:nvPr/>
        </p:nvSpPr>
        <p:spPr>
          <a:xfrm>
            <a:off x="411480" y="822960"/>
            <a:ext cx="3840480" cy="36576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What are Embeddings?</a:t>
            </a:r>
            <a:endParaRPr lang="en-US" sz="1400" dirty="0"/>
          </a:p>
        </p:txBody>
      </p:sp>
      <p:sp>
        <p:nvSpPr>
          <p:cNvPr id="6" name="Text 4"/>
          <p:cNvSpPr/>
          <p:nvPr/>
        </p:nvSpPr>
        <p:spPr>
          <a:xfrm>
            <a:off x="411480" y="1234440"/>
            <a:ext cx="3840480" cy="5486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Embeddings convert text into numerical vectors that capture semantic meaning. Similar sentences → similar vectors.</a:t>
            </a:r>
            <a:endParaRPr lang="en-US" sz="1050" dirty="0"/>
          </a:p>
        </p:txBody>
      </p:sp>
      <p:sp>
        <p:nvSpPr>
          <p:cNvPr id="7" name="Shape 5"/>
          <p:cNvSpPr/>
          <p:nvPr/>
        </p:nvSpPr>
        <p:spPr>
          <a:xfrm>
            <a:off x="411480" y="1874520"/>
            <a:ext cx="3840480" cy="749808"/>
          </a:xfrm>
          <a:prstGeom prst="roundRect">
            <a:avLst>
              <a:gd name="adj" fmla="val 8537"/>
            </a:avLst>
          </a:prstGeom>
          <a:solidFill>
            <a:srgbClr val="0F172A"/>
          </a:solidFill>
          <a:ln w="9525">
            <a:solidFill>
              <a:srgbClr val="06B6D4"/>
            </a:solidFill>
            <a:prstDash val="solid"/>
          </a:ln>
        </p:spPr>
        <p:txBody>
          <a:bodyPr/>
          <a:lstStyle/>
          <a:p>
            <a:endParaRPr lang="en-IN"/>
          </a:p>
        </p:txBody>
      </p:sp>
      <p:sp>
        <p:nvSpPr>
          <p:cNvPr id="8" name="Text 6"/>
          <p:cNvSpPr/>
          <p:nvPr/>
        </p:nvSpPr>
        <p:spPr>
          <a:xfrm>
            <a:off x="548640" y="1920240"/>
            <a:ext cx="3566160" cy="274320"/>
          </a:xfrm>
          <a:prstGeom prst="rect">
            <a:avLst/>
          </a:prstGeom>
          <a:noFill/>
          <a:ln/>
        </p:spPr>
        <p:txBody>
          <a:bodyPr wrap="square" rtlCol="0" anchor="ctr"/>
          <a:lstStyle/>
          <a:p>
            <a:pPr marL="0" indent="0">
              <a:buNone/>
            </a:pPr>
            <a:r>
              <a:rPr lang="en-US" sz="1000" b="1" i="1" dirty="0">
                <a:solidFill>
                  <a:srgbClr val="06B6D4"/>
                </a:solidFill>
                <a:latin typeface="Calibri" pitchFamily="34" charset="0"/>
                <a:ea typeface="Calibri" pitchFamily="34" charset="-122"/>
                <a:cs typeface="Calibri" pitchFamily="34" charset="-120"/>
              </a:rPr>
              <a:t>"Cat sleeps on sofa"</a:t>
            </a:r>
            <a:endParaRPr lang="en-US" sz="1000" dirty="0"/>
          </a:p>
        </p:txBody>
      </p:sp>
      <p:sp>
        <p:nvSpPr>
          <p:cNvPr id="9" name="Text 7"/>
          <p:cNvSpPr/>
          <p:nvPr/>
        </p:nvSpPr>
        <p:spPr>
          <a:xfrm>
            <a:off x="548640" y="2194560"/>
            <a:ext cx="356616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 [0.82, 0.15, -0.34, ...]</a:t>
            </a:r>
            <a:endParaRPr lang="en-US" sz="900" dirty="0"/>
          </a:p>
        </p:txBody>
      </p:sp>
      <p:sp>
        <p:nvSpPr>
          <p:cNvPr id="10" name="Shape 8"/>
          <p:cNvSpPr/>
          <p:nvPr/>
        </p:nvSpPr>
        <p:spPr>
          <a:xfrm>
            <a:off x="411480" y="2770632"/>
            <a:ext cx="3840480" cy="749808"/>
          </a:xfrm>
          <a:prstGeom prst="roundRect">
            <a:avLst>
              <a:gd name="adj" fmla="val 8537"/>
            </a:avLst>
          </a:prstGeom>
          <a:solidFill>
            <a:srgbClr val="0F172A"/>
          </a:solidFill>
          <a:ln w="9525">
            <a:solidFill>
              <a:srgbClr val="10B981"/>
            </a:solidFill>
            <a:prstDash val="solid"/>
          </a:ln>
        </p:spPr>
        <p:txBody>
          <a:bodyPr/>
          <a:lstStyle/>
          <a:p>
            <a:endParaRPr lang="en-IN"/>
          </a:p>
        </p:txBody>
      </p:sp>
      <p:sp>
        <p:nvSpPr>
          <p:cNvPr id="11" name="Text 9"/>
          <p:cNvSpPr/>
          <p:nvPr/>
        </p:nvSpPr>
        <p:spPr>
          <a:xfrm>
            <a:off x="548640" y="2816352"/>
            <a:ext cx="3566160" cy="274320"/>
          </a:xfrm>
          <a:prstGeom prst="rect">
            <a:avLst/>
          </a:prstGeom>
          <a:noFill/>
          <a:ln/>
        </p:spPr>
        <p:txBody>
          <a:bodyPr wrap="square" rtlCol="0" anchor="ctr"/>
          <a:lstStyle/>
          <a:p>
            <a:pPr marL="0" indent="0">
              <a:buNone/>
            </a:pPr>
            <a:r>
              <a:rPr lang="en-US" sz="1000" b="1" i="1" dirty="0">
                <a:solidFill>
                  <a:srgbClr val="10B981"/>
                </a:solidFill>
                <a:latin typeface="Calibri" pitchFamily="34" charset="0"/>
                <a:ea typeface="Calibri" pitchFamily="34" charset="-122"/>
                <a:cs typeface="Calibri" pitchFamily="34" charset="-120"/>
              </a:rPr>
              <a:t>"Kitten rests on couch"</a:t>
            </a:r>
            <a:endParaRPr lang="en-US" sz="1000" dirty="0"/>
          </a:p>
        </p:txBody>
      </p:sp>
      <p:sp>
        <p:nvSpPr>
          <p:cNvPr id="12" name="Text 10"/>
          <p:cNvSpPr/>
          <p:nvPr/>
        </p:nvSpPr>
        <p:spPr>
          <a:xfrm>
            <a:off x="548640" y="3090672"/>
            <a:ext cx="356616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 [0.79, 0.17, -0.31, ...]</a:t>
            </a:r>
            <a:endParaRPr lang="en-US" sz="900" dirty="0"/>
          </a:p>
        </p:txBody>
      </p:sp>
      <p:sp>
        <p:nvSpPr>
          <p:cNvPr id="13" name="Shape 11"/>
          <p:cNvSpPr/>
          <p:nvPr/>
        </p:nvSpPr>
        <p:spPr>
          <a:xfrm>
            <a:off x="411480" y="3666744"/>
            <a:ext cx="3840480" cy="749808"/>
          </a:xfrm>
          <a:prstGeom prst="roundRect">
            <a:avLst>
              <a:gd name="adj" fmla="val 8537"/>
            </a:avLst>
          </a:prstGeom>
          <a:solidFill>
            <a:srgbClr val="0F172A"/>
          </a:solidFill>
          <a:ln w="9525">
            <a:solidFill>
              <a:srgbClr val="EF4444"/>
            </a:solidFill>
            <a:prstDash val="solid"/>
          </a:ln>
        </p:spPr>
        <p:txBody>
          <a:bodyPr/>
          <a:lstStyle/>
          <a:p>
            <a:endParaRPr lang="en-IN"/>
          </a:p>
        </p:txBody>
      </p:sp>
      <p:sp>
        <p:nvSpPr>
          <p:cNvPr id="14" name="Text 12"/>
          <p:cNvSpPr/>
          <p:nvPr/>
        </p:nvSpPr>
        <p:spPr>
          <a:xfrm>
            <a:off x="548640" y="3712464"/>
            <a:ext cx="3566160" cy="274320"/>
          </a:xfrm>
          <a:prstGeom prst="rect">
            <a:avLst/>
          </a:prstGeom>
          <a:noFill/>
          <a:ln/>
        </p:spPr>
        <p:txBody>
          <a:bodyPr wrap="square" rtlCol="0" anchor="ctr"/>
          <a:lstStyle/>
          <a:p>
            <a:pPr marL="0" indent="0">
              <a:buNone/>
            </a:pPr>
            <a:r>
              <a:rPr lang="en-US" sz="1000" b="1" i="1" dirty="0">
                <a:solidFill>
                  <a:srgbClr val="EF4444"/>
                </a:solidFill>
                <a:latin typeface="Calibri" pitchFamily="34" charset="0"/>
                <a:ea typeface="Calibri" pitchFamily="34" charset="-122"/>
                <a:cs typeface="Calibri" pitchFamily="34" charset="-120"/>
              </a:rPr>
              <a:t>"Stock market crash"</a:t>
            </a:r>
            <a:endParaRPr lang="en-US" sz="1000" dirty="0"/>
          </a:p>
        </p:txBody>
      </p:sp>
      <p:sp>
        <p:nvSpPr>
          <p:cNvPr id="15" name="Text 13"/>
          <p:cNvSpPr/>
          <p:nvPr/>
        </p:nvSpPr>
        <p:spPr>
          <a:xfrm>
            <a:off x="548640" y="3986784"/>
            <a:ext cx="356616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 [-0.42, 0.91, 0.12, ...]</a:t>
            </a:r>
            <a:endParaRPr lang="en-US" sz="900" dirty="0"/>
          </a:p>
        </p:txBody>
      </p:sp>
      <p:sp>
        <p:nvSpPr>
          <p:cNvPr id="16" name="Text 14"/>
          <p:cNvSpPr/>
          <p:nvPr/>
        </p:nvSpPr>
        <p:spPr>
          <a:xfrm>
            <a:off x="411480" y="4553712"/>
            <a:ext cx="3840480" cy="274320"/>
          </a:xfrm>
          <a:prstGeom prst="rect">
            <a:avLst/>
          </a:prstGeom>
          <a:noFill/>
          <a:ln/>
        </p:spPr>
        <p:txBody>
          <a:bodyPr wrap="square" rtlCol="0" anchor="ctr"/>
          <a:lstStyle/>
          <a:p>
            <a:pPr marL="0" indent="0">
              <a:buNone/>
            </a:pPr>
            <a:r>
              <a:rPr lang="en-US" sz="900" i="1" dirty="0">
                <a:solidFill>
                  <a:srgbClr val="10B981"/>
                </a:solidFill>
                <a:latin typeface="Calibri" pitchFamily="34" charset="0"/>
                <a:ea typeface="Calibri" pitchFamily="34" charset="-122"/>
                <a:cs typeface="Calibri" pitchFamily="34" charset="-120"/>
              </a:rPr>
              <a:t>↕ High similarity (0.97 cosine)  ↕ Low similarity with stock</a:t>
            </a:r>
            <a:endParaRPr lang="en-US" sz="900" dirty="0"/>
          </a:p>
        </p:txBody>
      </p:sp>
      <p:sp>
        <p:nvSpPr>
          <p:cNvPr id="17" name="Shape 15"/>
          <p:cNvSpPr/>
          <p:nvPr/>
        </p:nvSpPr>
        <p:spPr>
          <a:xfrm>
            <a:off x="4663440" y="713232"/>
            <a:ext cx="4206240" cy="2057400"/>
          </a:xfrm>
          <a:prstGeom prst="roundRect">
            <a:avLst>
              <a:gd name="adj" fmla="val 5333"/>
            </a:avLst>
          </a:prstGeom>
          <a:solidFill>
            <a:srgbClr val="1E293B"/>
          </a:solidFill>
          <a:ln w="19050">
            <a:solidFill>
              <a:srgbClr val="8B5CF6"/>
            </a:solidFill>
            <a:prstDash val="solid"/>
          </a:ln>
        </p:spPr>
        <p:txBody>
          <a:bodyPr/>
          <a:lstStyle/>
          <a:p>
            <a:endParaRPr lang="en-IN"/>
          </a:p>
        </p:txBody>
      </p:sp>
      <p:sp>
        <p:nvSpPr>
          <p:cNvPr id="18" name="Text 16"/>
          <p:cNvSpPr/>
          <p:nvPr/>
        </p:nvSpPr>
        <p:spPr>
          <a:xfrm>
            <a:off x="4800600" y="804672"/>
            <a:ext cx="2286000" cy="365760"/>
          </a:xfrm>
          <a:prstGeom prst="rect">
            <a:avLst/>
          </a:prstGeom>
          <a:noFill/>
          <a:ln/>
        </p:spPr>
        <p:txBody>
          <a:bodyPr wrap="square"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FAISS</a:t>
            </a:r>
            <a:endParaRPr lang="en-US" sz="1600" dirty="0"/>
          </a:p>
        </p:txBody>
      </p:sp>
      <p:sp>
        <p:nvSpPr>
          <p:cNvPr id="19" name="Text 17"/>
          <p:cNvSpPr/>
          <p:nvPr/>
        </p:nvSpPr>
        <p:spPr>
          <a:xfrm>
            <a:off x="7132320" y="822960"/>
            <a:ext cx="1645920" cy="329184"/>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by Meta</a:t>
            </a:r>
            <a:endParaRPr lang="en-US" sz="1000" dirty="0"/>
          </a:p>
        </p:txBody>
      </p:sp>
      <p:sp>
        <p:nvSpPr>
          <p:cNvPr id="20" name="Text 18"/>
          <p:cNvSpPr/>
          <p:nvPr/>
        </p:nvSpPr>
        <p:spPr>
          <a:xfrm>
            <a:off x="4800600" y="1243584"/>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In-memory vector store</a:t>
            </a:r>
            <a:endParaRPr lang="en-US" sz="1000" dirty="0"/>
          </a:p>
        </p:txBody>
      </p:sp>
      <p:sp>
        <p:nvSpPr>
          <p:cNvPr id="21" name="Text 19"/>
          <p:cNvSpPr/>
          <p:nvPr/>
        </p:nvSpPr>
        <p:spPr>
          <a:xfrm>
            <a:off x="4800600" y="1536192"/>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Extremely fast similarity search</a:t>
            </a:r>
            <a:endParaRPr lang="en-US" sz="1000" dirty="0"/>
          </a:p>
        </p:txBody>
      </p:sp>
      <p:sp>
        <p:nvSpPr>
          <p:cNvPr id="22" name="Text 20"/>
          <p:cNvSpPr/>
          <p:nvPr/>
        </p:nvSpPr>
        <p:spPr>
          <a:xfrm>
            <a:off x="4800600" y="1828800"/>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Best for prototyping &amp; research</a:t>
            </a:r>
            <a:endParaRPr lang="en-US" sz="1000" dirty="0"/>
          </a:p>
        </p:txBody>
      </p:sp>
      <p:sp>
        <p:nvSpPr>
          <p:cNvPr id="23" name="Text 21"/>
          <p:cNvSpPr/>
          <p:nvPr/>
        </p:nvSpPr>
        <p:spPr>
          <a:xfrm>
            <a:off x="4800600" y="2121408"/>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No persistence by default</a:t>
            </a:r>
            <a:endParaRPr lang="en-US" sz="1000" dirty="0"/>
          </a:p>
        </p:txBody>
      </p:sp>
      <p:sp>
        <p:nvSpPr>
          <p:cNvPr id="24" name="Text 22"/>
          <p:cNvSpPr/>
          <p:nvPr/>
        </p:nvSpPr>
        <p:spPr>
          <a:xfrm>
            <a:off x="4800600" y="2414016"/>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Use: quick RAG prototypes</a:t>
            </a:r>
            <a:endParaRPr lang="en-US" sz="1000" dirty="0"/>
          </a:p>
        </p:txBody>
      </p:sp>
      <p:sp>
        <p:nvSpPr>
          <p:cNvPr id="25" name="Shape 23"/>
          <p:cNvSpPr/>
          <p:nvPr/>
        </p:nvSpPr>
        <p:spPr>
          <a:xfrm>
            <a:off x="4663440" y="2953512"/>
            <a:ext cx="4206240" cy="2057400"/>
          </a:xfrm>
          <a:prstGeom prst="roundRect">
            <a:avLst>
              <a:gd name="adj" fmla="val 5333"/>
            </a:avLst>
          </a:prstGeom>
          <a:solidFill>
            <a:srgbClr val="1E293B"/>
          </a:solidFill>
          <a:ln w="19050">
            <a:solidFill>
              <a:srgbClr val="10B981"/>
            </a:solidFill>
            <a:prstDash val="solid"/>
          </a:ln>
        </p:spPr>
        <p:txBody>
          <a:bodyPr/>
          <a:lstStyle/>
          <a:p>
            <a:endParaRPr lang="en-IN"/>
          </a:p>
        </p:txBody>
      </p:sp>
      <p:sp>
        <p:nvSpPr>
          <p:cNvPr id="26" name="Text 24"/>
          <p:cNvSpPr/>
          <p:nvPr/>
        </p:nvSpPr>
        <p:spPr>
          <a:xfrm>
            <a:off x="4800600" y="3044952"/>
            <a:ext cx="2286000" cy="365760"/>
          </a:xfrm>
          <a:prstGeom prst="rect">
            <a:avLst/>
          </a:prstGeom>
          <a:noFill/>
          <a:ln/>
        </p:spPr>
        <p:txBody>
          <a:bodyPr wrap="square"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ChromaDB</a:t>
            </a:r>
            <a:endParaRPr lang="en-US" sz="1600" dirty="0"/>
          </a:p>
        </p:txBody>
      </p:sp>
      <p:sp>
        <p:nvSpPr>
          <p:cNvPr id="27" name="Text 25"/>
          <p:cNvSpPr/>
          <p:nvPr/>
        </p:nvSpPr>
        <p:spPr>
          <a:xfrm>
            <a:off x="7132320" y="3063240"/>
            <a:ext cx="1645920" cy="329184"/>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Open Source</a:t>
            </a:r>
            <a:endParaRPr lang="en-US" sz="1000" dirty="0"/>
          </a:p>
        </p:txBody>
      </p:sp>
      <p:sp>
        <p:nvSpPr>
          <p:cNvPr id="28" name="Text 26"/>
          <p:cNvSpPr/>
          <p:nvPr/>
        </p:nvSpPr>
        <p:spPr>
          <a:xfrm>
            <a:off x="4800600" y="3483864"/>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Full-featured vector DB</a:t>
            </a:r>
            <a:endParaRPr lang="en-US" sz="1000" dirty="0"/>
          </a:p>
        </p:txBody>
      </p:sp>
      <p:sp>
        <p:nvSpPr>
          <p:cNvPr id="29" name="Text 27"/>
          <p:cNvSpPr/>
          <p:nvPr/>
        </p:nvSpPr>
        <p:spPr>
          <a:xfrm>
            <a:off x="4800600" y="3776472"/>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Metadata filtering support</a:t>
            </a:r>
            <a:endParaRPr lang="en-US" sz="1000" dirty="0"/>
          </a:p>
        </p:txBody>
      </p:sp>
      <p:sp>
        <p:nvSpPr>
          <p:cNvPr id="30" name="Text 28"/>
          <p:cNvSpPr/>
          <p:nvPr/>
        </p:nvSpPr>
        <p:spPr>
          <a:xfrm>
            <a:off x="4800600" y="4069080"/>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Persistent storage built-in</a:t>
            </a:r>
            <a:endParaRPr lang="en-US" sz="1000" dirty="0"/>
          </a:p>
        </p:txBody>
      </p:sp>
      <p:sp>
        <p:nvSpPr>
          <p:cNvPr id="31" name="Text 29"/>
          <p:cNvSpPr/>
          <p:nvPr/>
        </p:nvSpPr>
        <p:spPr>
          <a:xfrm>
            <a:off x="4800600" y="4361688"/>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Easy LangChain integration</a:t>
            </a:r>
            <a:endParaRPr lang="en-US" sz="1000" dirty="0"/>
          </a:p>
        </p:txBody>
      </p:sp>
      <p:sp>
        <p:nvSpPr>
          <p:cNvPr id="32" name="Text 30"/>
          <p:cNvSpPr/>
          <p:nvPr/>
        </p:nvSpPr>
        <p:spPr>
          <a:xfrm>
            <a:off x="4800600" y="4654296"/>
            <a:ext cx="3931920" cy="27432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Use: production RAG apps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Document Loaders &amp; Text Splitting</a:t>
            </a:r>
            <a:endParaRPr lang="en-US" sz="2800" dirty="0"/>
          </a:p>
        </p:txBody>
      </p:sp>
      <p:sp>
        <p:nvSpPr>
          <p:cNvPr id="4" name="Shape 2"/>
          <p:cNvSpPr/>
          <p:nvPr/>
        </p:nvSpPr>
        <p:spPr>
          <a:xfrm>
            <a:off x="274320" y="713232"/>
            <a:ext cx="4023360" cy="2286000"/>
          </a:xfrm>
          <a:prstGeom prst="roundRect">
            <a:avLst>
              <a:gd name="adj" fmla="val 4800"/>
            </a:avLst>
          </a:prstGeom>
          <a:solidFill>
            <a:srgbClr val="1E293B"/>
          </a:solidFill>
          <a:ln w="12700">
            <a:solidFill>
              <a:srgbClr val="06B6D4"/>
            </a:solidFill>
            <a:prstDash val="solid"/>
          </a:ln>
        </p:spPr>
        <p:txBody>
          <a:bodyPr/>
          <a:lstStyle/>
          <a:p>
            <a:endParaRPr lang="en-IN"/>
          </a:p>
        </p:txBody>
      </p:sp>
      <p:sp>
        <p:nvSpPr>
          <p:cNvPr id="5" name="Text 3"/>
          <p:cNvSpPr/>
          <p:nvPr/>
        </p:nvSpPr>
        <p:spPr>
          <a:xfrm>
            <a:off x="411480" y="822960"/>
            <a:ext cx="3749040" cy="365760"/>
          </a:xfrm>
          <a:prstGeom prst="rect">
            <a:avLst/>
          </a:prstGeom>
          <a:noFill/>
          <a:ln/>
        </p:spPr>
        <p:txBody>
          <a:bodyPr wrap="square" rtlCol="0" anchor="ctr"/>
          <a:lstStyle/>
          <a:p>
            <a:pPr marL="0" indent="0">
              <a:buNone/>
            </a:pPr>
            <a:r>
              <a:rPr lang="en-US" sz="1400" b="1" dirty="0">
                <a:solidFill>
                  <a:srgbClr val="06B6D4"/>
                </a:solidFill>
                <a:latin typeface="Calibri" pitchFamily="34" charset="0"/>
                <a:ea typeface="Calibri" pitchFamily="34" charset="-122"/>
                <a:cs typeface="Calibri" pitchFamily="34" charset="-120"/>
              </a:rPr>
              <a:t>Document Loaders</a:t>
            </a:r>
            <a:endParaRPr lang="en-US" sz="1400" dirty="0"/>
          </a:p>
        </p:txBody>
      </p:sp>
      <p:sp>
        <p:nvSpPr>
          <p:cNvPr id="6" name="Text 4"/>
          <p:cNvSpPr/>
          <p:nvPr/>
        </p:nvSpPr>
        <p:spPr>
          <a:xfrm>
            <a:off x="411480" y="1188720"/>
            <a:ext cx="3749040" cy="256032"/>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Load different file types into LangChain</a:t>
            </a:r>
            <a:endParaRPr lang="en-US" sz="1000" dirty="0"/>
          </a:p>
        </p:txBody>
      </p:sp>
      <p:sp>
        <p:nvSpPr>
          <p:cNvPr id="7" name="Shape 5"/>
          <p:cNvSpPr/>
          <p:nvPr/>
        </p:nvSpPr>
        <p:spPr>
          <a:xfrm>
            <a:off x="411480" y="1554480"/>
            <a:ext cx="1828800" cy="566928"/>
          </a:xfrm>
          <a:prstGeom prst="roundRect">
            <a:avLst>
              <a:gd name="adj" fmla="val 11290"/>
            </a:avLst>
          </a:prstGeom>
          <a:solidFill>
            <a:srgbClr val="0F172A"/>
          </a:solidFill>
          <a:ln w="9525">
            <a:solidFill>
              <a:srgbClr val="F59E0B"/>
            </a:solidFill>
            <a:prstDash val="solid"/>
          </a:ln>
        </p:spPr>
        <p:txBody>
          <a:bodyPr/>
          <a:lstStyle/>
          <a:p>
            <a:endParaRPr lang="en-IN"/>
          </a:p>
        </p:txBody>
      </p:sp>
      <p:sp>
        <p:nvSpPr>
          <p:cNvPr id="8" name="Text 6"/>
          <p:cNvSpPr/>
          <p:nvPr/>
        </p:nvSpPr>
        <p:spPr>
          <a:xfrm>
            <a:off x="411480" y="1600200"/>
            <a:ext cx="1828800" cy="256032"/>
          </a:xfrm>
          <a:prstGeom prst="rect">
            <a:avLst/>
          </a:prstGeom>
          <a:noFill/>
          <a:ln/>
        </p:spPr>
        <p:txBody>
          <a:bodyPr wrap="square"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 PDF Loader</a:t>
            </a:r>
            <a:endParaRPr lang="en-US" sz="1000" dirty="0"/>
          </a:p>
        </p:txBody>
      </p:sp>
      <p:sp>
        <p:nvSpPr>
          <p:cNvPr id="9" name="Text 7"/>
          <p:cNvSpPr/>
          <p:nvPr/>
        </p:nvSpPr>
        <p:spPr>
          <a:xfrm>
            <a:off x="411480" y="1847088"/>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PyPDFLoader</a:t>
            </a:r>
            <a:endParaRPr lang="en-US" sz="850" dirty="0"/>
          </a:p>
        </p:txBody>
      </p:sp>
      <p:sp>
        <p:nvSpPr>
          <p:cNvPr id="10" name="Shape 8"/>
          <p:cNvSpPr/>
          <p:nvPr/>
        </p:nvSpPr>
        <p:spPr>
          <a:xfrm>
            <a:off x="2331720" y="1554480"/>
            <a:ext cx="1828800" cy="566928"/>
          </a:xfrm>
          <a:prstGeom prst="roundRect">
            <a:avLst>
              <a:gd name="adj" fmla="val 11290"/>
            </a:avLst>
          </a:prstGeom>
          <a:solidFill>
            <a:srgbClr val="0F172A"/>
          </a:solidFill>
          <a:ln w="9525">
            <a:solidFill>
              <a:srgbClr val="10B981"/>
            </a:solidFill>
            <a:prstDash val="solid"/>
          </a:ln>
        </p:spPr>
        <p:txBody>
          <a:bodyPr/>
          <a:lstStyle/>
          <a:p>
            <a:endParaRPr lang="en-IN"/>
          </a:p>
        </p:txBody>
      </p:sp>
      <p:sp>
        <p:nvSpPr>
          <p:cNvPr id="11" name="Text 9"/>
          <p:cNvSpPr/>
          <p:nvPr/>
        </p:nvSpPr>
        <p:spPr>
          <a:xfrm>
            <a:off x="2331720" y="1600200"/>
            <a:ext cx="1828800" cy="256032"/>
          </a:xfrm>
          <a:prstGeom prst="rect">
            <a:avLst/>
          </a:prstGeom>
          <a:noFill/>
          <a:ln/>
        </p:spPr>
        <p:txBody>
          <a:bodyPr wrap="square"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CSV Loader</a:t>
            </a:r>
            <a:endParaRPr lang="en-US" sz="1000" dirty="0"/>
          </a:p>
        </p:txBody>
      </p:sp>
      <p:sp>
        <p:nvSpPr>
          <p:cNvPr id="12" name="Text 10"/>
          <p:cNvSpPr/>
          <p:nvPr/>
        </p:nvSpPr>
        <p:spPr>
          <a:xfrm>
            <a:off x="2331720" y="1847088"/>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CSVLoader</a:t>
            </a:r>
            <a:endParaRPr lang="en-US" sz="850" dirty="0"/>
          </a:p>
        </p:txBody>
      </p:sp>
      <p:sp>
        <p:nvSpPr>
          <p:cNvPr id="13" name="Shape 11"/>
          <p:cNvSpPr/>
          <p:nvPr/>
        </p:nvSpPr>
        <p:spPr>
          <a:xfrm>
            <a:off x="411480" y="2212848"/>
            <a:ext cx="1828800" cy="566928"/>
          </a:xfrm>
          <a:prstGeom prst="roundRect">
            <a:avLst>
              <a:gd name="adj" fmla="val 11290"/>
            </a:avLst>
          </a:prstGeom>
          <a:solidFill>
            <a:srgbClr val="0F172A"/>
          </a:solidFill>
          <a:ln w="9525">
            <a:solidFill>
              <a:srgbClr val="8B5CF6"/>
            </a:solidFill>
            <a:prstDash val="solid"/>
          </a:ln>
        </p:spPr>
        <p:txBody>
          <a:bodyPr/>
          <a:lstStyle/>
          <a:p>
            <a:endParaRPr lang="en-IN"/>
          </a:p>
        </p:txBody>
      </p:sp>
      <p:sp>
        <p:nvSpPr>
          <p:cNvPr id="14" name="Text 12"/>
          <p:cNvSpPr/>
          <p:nvPr/>
        </p:nvSpPr>
        <p:spPr>
          <a:xfrm>
            <a:off x="411480" y="2258568"/>
            <a:ext cx="1828800" cy="256032"/>
          </a:xfrm>
          <a:prstGeom prst="rect">
            <a:avLst/>
          </a:prstGeom>
          <a:noFill/>
          <a:ln/>
        </p:spPr>
        <p:txBody>
          <a:bodyPr wrap="square" rtlCol="0" anchor="ctr"/>
          <a:lstStyle/>
          <a:p>
            <a:pPr marL="0" indent="0" algn="ctr">
              <a:buNone/>
            </a:pPr>
            <a:r>
              <a:rPr lang="en-US" sz="1000" b="1" dirty="0">
                <a:solidFill>
                  <a:srgbClr val="8B5CF6"/>
                </a:solidFill>
                <a:latin typeface="Calibri" pitchFamily="34" charset="0"/>
                <a:ea typeface="Calibri" pitchFamily="34" charset="-122"/>
                <a:cs typeface="Calibri" pitchFamily="34" charset="-120"/>
              </a:rPr>
              <a:t>📝 Word Loader</a:t>
            </a:r>
            <a:endParaRPr lang="en-US" sz="1000" dirty="0"/>
          </a:p>
        </p:txBody>
      </p:sp>
      <p:sp>
        <p:nvSpPr>
          <p:cNvPr id="15" name="Text 13"/>
          <p:cNvSpPr/>
          <p:nvPr/>
        </p:nvSpPr>
        <p:spPr>
          <a:xfrm>
            <a:off x="411480" y="2505456"/>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Docx2txtLoader</a:t>
            </a:r>
            <a:endParaRPr lang="en-US" sz="850" dirty="0"/>
          </a:p>
        </p:txBody>
      </p:sp>
      <p:sp>
        <p:nvSpPr>
          <p:cNvPr id="16" name="Shape 14"/>
          <p:cNvSpPr/>
          <p:nvPr/>
        </p:nvSpPr>
        <p:spPr>
          <a:xfrm>
            <a:off x="2331720" y="2212848"/>
            <a:ext cx="1828800" cy="566928"/>
          </a:xfrm>
          <a:prstGeom prst="roundRect">
            <a:avLst>
              <a:gd name="adj" fmla="val 11290"/>
            </a:avLst>
          </a:prstGeom>
          <a:solidFill>
            <a:srgbClr val="0F172A"/>
          </a:solidFill>
          <a:ln w="9525">
            <a:solidFill>
              <a:srgbClr val="06B6D4"/>
            </a:solidFill>
            <a:prstDash val="solid"/>
          </a:ln>
        </p:spPr>
        <p:txBody>
          <a:bodyPr/>
          <a:lstStyle/>
          <a:p>
            <a:endParaRPr lang="en-IN"/>
          </a:p>
        </p:txBody>
      </p:sp>
      <p:sp>
        <p:nvSpPr>
          <p:cNvPr id="17" name="Text 15"/>
          <p:cNvSpPr/>
          <p:nvPr/>
        </p:nvSpPr>
        <p:spPr>
          <a:xfrm>
            <a:off x="2331720" y="2258568"/>
            <a:ext cx="1828800" cy="256032"/>
          </a:xfrm>
          <a:prstGeom prst="rect">
            <a:avLst/>
          </a:prstGeom>
          <a:noFill/>
          <a:ln/>
        </p:spPr>
        <p:txBody>
          <a:bodyPr wrap="square" rtlCol="0" anchor="ctr"/>
          <a:lstStyle/>
          <a:p>
            <a:pPr marL="0" indent="0" algn="ctr">
              <a:buNone/>
            </a:pPr>
            <a:r>
              <a:rPr lang="en-US" sz="1000" b="1" dirty="0">
                <a:solidFill>
                  <a:srgbClr val="06B6D4"/>
                </a:solidFill>
                <a:latin typeface="Calibri" pitchFamily="34" charset="0"/>
                <a:ea typeface="Calibri" pitchFamily="34" charset="-122"/>
                <a:cs typeface="Calibri" pitchFamily="34" charset="-120"/>
              </a:rPr>
              <a:t>🌐 Web Loader</a:t>
            </a:r>
            <a:endParaRPr lang="en-US" sz="1000" dirty="0"/>
          </a:p>
        </p:txBody>
      </p:sp>
      <p:sp>
        <p:nvSpPr>
          <p:cNvPr id="18" name="Text 16"/>
          <p:cNvSpPr/>
          <p:nvPr/>
        </p:nvSpPr>
        <p:spPr>
          <a:xfrm>
            <a:off x="2331720" y="2505456"/>
            <a:ext cx="1828800" cy="201168"/>
          </a:xfrm>
          <a:prstGeom prst="rect">
            <a:avLst/>
          </a:prstGeom>
          <a:noFill/>
          <a:ln/>
        </p:spPr>
        <p:txBody>
          <a:bodyPr wrap="square"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WebBaseLoader</a:t>
            </a:r>
            <a:endParaRPr lang="en-US" sz="850" dirty="0"/>
          </a:p>
        </p:txBody>
      </p:sp>
      <p:sp>
        <p:nvSpPr>
          <p:cNvPr id="19" name="Shape 17"/>
          <p:cNvSpPr/>
          <p:nvPr/>
        </p:nvSpPr>
        <p:spPr>
          <a:xfrm>
            <a:off x="4572000" y="713232"/>
            <a:ext cx="4297680" cy="2286000"/>
          </a:xfrm>
          <a:prstGeom prst="roundRect">
            <a:avLst>
              <a:gd name="adj" fmla="val 4800"/>
            </a:avLst>
          </a:prstGeom>
          <a:solidFill>
            <a:srgbClr val="1E293B"/>
          </a:solidFill>
          <a:ln w="12700">
            <a:solidFill>
              <a:srgbClr val="10B981"/>
            </a:solidFill>
            <a:prstDash val="solid"/>
          </a:ln>
        </p:spPr>
        <p:txBody>
          <a:bodyPr/>
          <a:lstStyle/>
          <a:p>
            <a:endParaRPr lang="en-IN"/>
          </a:p>
        </p:txBody>
      </p:sp>
      <p:sp>
        <p:nvSpPr>
          <p:cNvPr id="20" name="Text 18"/>
          <p:cNvSpPr/>
          <p:nvPr/>
        </p:nvSpPr>
        <p:spPr>
          <a:xfrm>
            <a:off x="4709160" y="822960"/>
            <a:ext cx="4023360" cy="36576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Recursive Character Text Splitter</a:t>
            </a:r>
            <a:endParaRPr lang="en-US" sz="1300" dirty="0"/>
          </a:p>
        </p:txBody>
      </p:sp>
      <p:sp>
        <p:nvSpPr>
          <p:cNvPr id="21" name="Shape 19"/>
          <p:cNvSpPr/>
          <p:nvPr/>
        </p:nvSpPr>
        <p:spPr>
          <a:xfrm>
            <a:off x="4709160" y="1234440"/>
            <a:ext cx="4023360" cy="365760"/>
          </a:xfrm>
          <a:prstGeom prst="roundRect">
            <a:avLst>
              <a:gd name="adj" fmla="val 15000"/>
            </a:avLst>
          </a:prstGeom>
          <a:solidFill>
            <a:srgbClr val="082830"/>
          </a:solidFill>
          <a:ln w="6350">
            <a:solidFill>
              <a:srgbClr val="10B981"/>
            </a:solidFill>
            <a:prstDash val="solid"/>
          </a:ln>
        </p:spPr>
        <p:txBody>
          <a:bodyPr/>
          <a:lstStyle/>
          <a:p>
            <a:endParaRPr lang="en-IN"/>
          </a:p>
        </p:txBody>
      </p:sp>
      <p:sp>
        <p:nvSpPr>
          <p:cNvPr id="22" name="Text 20"/>
          <p:cNvSpPr/>
          <p:nvPr/>
        </p:nvSpPr>
        <p:spPr>
          <a:xfrm>
            <a:off x="4709160" y="1234440"/>
            <a:ext cx="4023360" cy="365760"/>
          </a:xfrm>
          <a:prstGeom prst="rect">
            <a:avLst/>
          </a:prstGeom>
          <a:noFill/>
          <a:ln/>
        </p:spPr>
        <p:txBody>
          <a:bodyPr wrap="square"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Chunk Size: 1000 chars  |  Overlap: 200 chars</a:t>
            </a:r>
            <a:endParaRPr lang="en-US" sz="1000" dirty="0"/>
          </a:p>
        </p:txBody>
      </p:sp>
      <p:sp>
        <p:nvSpPr>
          <p:cNvPr id="23" name="Shape 21"/>
          <p:cNvSpPr/>
          <p:nvPr/>
        </p:nvSpPr>
        <p:spPr>
          <a:xfrm>
            <a:off x="4709160" y="1691640"/>
            <a:ext cx="4023360" cy="329184"/>
          </a:xfrm>
          <a:prstGeom prst="roundRect">
            <a:avLst>
              <a:gd name="adj" fmla="val 13889"/>
            </a:avLst>
          </a:prstGeom>
          <a:solidFill>
            <a:srgbClr val="1A3A5A"/>
          </a:solidFill>
          <a:ln w="6350">
            <a:solidFill>
              <a:srgbClr val="06B6D4"/>
            </a:solidFill>
            <a:prstDash val="solid"/>
          </a:ln>
        </p:spPr>
        <p:txBody>
          <a:bodyPr/>
          <a:lstStyle/>
          <a:p>
            <a:endParaRPr lang="en-IN"/>
          </a:p>
        </p:txBody>
      </p:sp>
      <p:sp>
        <p:nvSpPr>
          <p:cNvPr id="24" name="Text 22"/>
          <p:cNvSpPr/>
          <p:nvPr/>
        </p:nvSpPr>
        <p:spPr>
          <a:xfrm>
            <a:off x="4709160" y="1691640"/>
            <a:ext cx="4023360" cy="329184"/>
          </a:xfrm>
          <a:prstGeom prst="rect">
            <a:avLst/>
          </a:prstGeom>
          <a:noFill/>
          <a:ln/>
        </p:spPr>
        <p:txBody>
          <a:bodyPr wrap="square" rtlCol="0" anchor="ctr"/>
          <a:lstStyle/>
          <a:p>
            <a:pPr marL="0" indent="0" algn="ctr">
              <a:buNone/>
            </a:pPr>
            <a:r>
              <a:rPr lang="en-US" sz="950" dirty="0">
                <a:solidFill>
                  <a:srgbClr val="06B6D4"/>
                </a:solidFill>
                <a:latin typeface="Calibri" pitchFamily="34" charset="0"/>
                <a:ea typeface="Calibri" pitchFamily="34" charset="-122"/>
                <a:cs typeface="Calibri" pitchFamily="34" charset="-120"/>
              </a:rPr>
              <a:t>Full Document (e.g. 5000 chars)</a:t>
            </a:r>
            <a:endParaRPr lang="en-US" sz="950" dirty="0"/>
          </a:p>
        </p:txBody>
      </p:sp>
      <p:sp>
        <p:nvSpPr>
          <p:cNvPr id="25" name="Shape 23"/>
          <p:cNvSpPr/>
          <p:nvPr/>
        </p:nvSpPr>
        <p:spPr>
          <a:xfrm>
            <a:off x="4709160" y="2121408"/>
            <a:ext cx="1188720" cy="658368"/>
          </a:xfrm>
          <a:prstGeom prst="roundRect">
            <a:avLst>
              <a:gd name="adj" fmla="val 8333"/>
            </a:avLst>
          </a:prstGeom>
          <a:solidFill>
            <a:srgbClr val="0F172A"/>
          </a:solidFill>
          <a:ln w="9525">
            <a:solidFill>
              <a:srgbClr val="10B981"/>
            </a:solidFill>
            <a:prstDash val="solid"/>
          </a:ln>
        </p:spPr>
        <p:txBody>
          <a:bodyPr/>
          <a:lstStyle/>
          <a:p>
            <a:endParaRPr lang="en-IN"/>
          </a:p>
        </p:txBody>
      </p:sp>
      <p:sp>
        <p:nvSpPr>
          <p:cNvPr id="26" name="Text 24"/>
          <p:cNvSpPr/>
          <p:nvPr/>
        </p:nvSpPr>
        <p:spPr>
          <a:xfrm>
            <a:off x="4709160" y="2194560"/>
            <a:ext cx="1188720" cy="27432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Chunk 1</a:t>
            </a:r>
            <a:endParaRPr lang="en-US" sz="950" dirty="0"/>
          </a:p>
        </p:txBody>
      </p:sp>
      <p:sp>
        <p:nvSpPr>
          <p:cNvPr id="27" name="Text 25"/>
          <p:cNvSpPr/>
          <p:nvPr/>
        </p:nvSpPr>
        <p:spPr>
          <a:xfrm>
            <a:off x="4709160" y="2468880"/>
            <a:ext cx="1188720" cy="237744"/>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1000 chars</a:t>
            </a:r>
            <a:endParaRPr lang="en-US" sz="850" dirty="0"/>
          </a:p>
        </p:txBody>
      </p:sp>
      <p:sp>
        <p:nvSpPr>
          <p:cNvPr id="28" name="Shape 26"/>
          <p:cNvSpPr/>
          <p:nvPr/>
        </p:nvSpPr>
        <p:spPr>
          <a:xfrm>
            <a:off x="6035040" y="2121408"/>
            <a:ext cx="1188720" cy="658368"/>
          </a:xfrm>
          <a:prstGeom prst="roundRect">
            <a:avLst>
              <a:gd name="adj" fmla="val 8333"/>
            </a:avLst>
          </a:prstGeom>
          <a:solidFill>
            <a:srgbClr val="0F172A"/>
          </a:solidFill>
          <a:ln w="9525">
            <a:solidFill>
              <a:srgbClr val="10B981"/>
            </a:solidFill>
            <a:prstDash val="solid"/>
          </a:ln>
        </p:spPr>
        <p:txBody>
          <a:bodyPr/>
          <a:lstStyle/>
          <a:p>
            <a:endParaRPr lang="en-IN"/>
          </a:p>
        </p:txBody>
      </p:sp>
      <p:sp>
        <p:nvSpPr>
          <p:cNvPr id="29" name="Text 27"/>
          <p:cNvSpPr/>
          <p:nvPr/>
        </p:nvSpPr>
        <p:spPr>
          <a:xfrm>
            <a:off x="6035040" y="2194560"/>
            <a:ext cx="1188720" cy="27432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Chunk 2</a:t>
            </a:r>
            <a:endParaRPr lang="en-US" sz="950" dirty="0"/>
          </a:p>
        </p:txBody>
      </p:sp>
      <p:sp>
        <p:nvSpPr>
          <p:cNvPr id="30" name="Text 28"/>
          <p:cNvSpPr/>
          <p:nvPr/>
        </p:nvSpPr>
        <p:spPr>
          <a:xfrm>
            <a:off x="6035040" y="2468880"/>
            <a:ext cx="1188720" cy="237744"/>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1000 chars</a:t>
            </a:r>
            <a:endParaRPr lang="en-US" sz="850" dirty="0"/>
          </a:p>
        </p:txBody>
      </p:sp>
      <p:sp>
        <p:nvSpPr>
          <p:cNvPr id="31" name="Shape 29"/>
          <p:cNvSpPr/>
          <p:nvPr/>
        </p:nvSpPr>
        <p:spPr>
          <a:xfrm>
            <a:off x="7360920" y="2121408"/>
            <a:ext cx="1188720" cy="658368"/>
          </a:xfrm>
          <a:prstGeom prst="roundRect">
            <a:avLst>
              <a:gd name="adj" fmla="val 8333"/>
            </a:avLst>
          </a:prstGeom>
          <a:solidFill>
            <a:srgbClr val="0F172A"/>
          </a:solidFill>
          <a:ln w="9525">
            <a:solidFill>
              <a:srgbClr val="10B981"/>
            </a:solidFill>
            <a:prstDash val="solid"/>
          </a:ln>
        </p:spPr>
        <p:txBody>
          <a:bodyPr/>
          <a:lstStyle/>
          <a:p>
            <a:endParaRPr lang="en-IN"/>
          </a:p>
        </p:txBody>
      </p:sp>
      <p:sp>
        <p:nvSpPr>
          <p:cNvPr id="32" name="Text 30"/>
          <p:cNvSpPr/>
          <p:nvPr/>
        </p:nvSpPr>
        <p:spPr>
          <a:xfrm>
            <a:off x="7360920" y="2194560"/>
            <a:ext cx="1188720" cy="274320"/>
          </a:xfrm>
          <a:prstGeom prst="rect">
            <a:avLst/>
          </a:prstGeom>
          <a:noFill/>
          <a:ln/>
        </p:spPr>
        <p:txBody>
          <a:bodyPr wrap="square"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Chunk 3</a:t>
            </a:r>
            <a:endParaRPr lang="en-US" sz="950" dirty="0"/>
          </a:p>
        </p:txBody>
      </p:sp>
      <p:sp>
        <p:nvSpPr>
          <p:cNvPr id="33" name="Text 31"/>
          <p:cNvSpPr/>
          <p:nvPr/>
        </p:nvSpPr>
        <p:spPr>
          <a:xfrm>
            <a:off x="7360920" y="2468880"/>
            <a:ext cx="1188720" cy="237744"/>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1000 chars</a:t>
            </a:r>
            <a:endParaRPr lang="en-US" sz="850" dirty="0"/>
          </a:p>
        </p:txBody>
      </p:sp>
      <p:sp>
        <p:nvSpPr>
          <p:cNvPr id="34" name="Text 32"/>
          <p:cNvSpPr/>
          <p:nvPr/>
        </p:nvSpPr>
        <p:spPr>
          <a:xfrm>
            <a:off x="5760720" y="2423160"/>
            <a:ext cx="2286000" cy="274320"/>
          </a:xfrm>
          <a:prstGeom prst="rect">
            <a:avLst/>
          </a:prstGeom>
          <a:noFill/>
          <a:ln/>
        </p:spPr>
        <p:txBody>
          <a:bodyPr wrap="square" rtlCol="0" anchor="ctr"/>
          <a:lstStyle/>
          <a:p>
            <a:pPr marL="0" indent="0" algn="ctr">
              <a:buNone/>
            </a:pPr>
            <a:r>
              <a:rPr lang="en-US" sz="850" i="1" dirty="0">
                <a:solidFill>
                  <a:srgbClr val="F59E0B"/>
                </a:solidFill>
                <a:latin typeface="Calibri" pitchFamily="34" charset="0"/>
                <a:ea typeface="Calibri" pitchFamily="34" charset="-122"/>
                <a:cs typeface="Calibri" pitchFamily="34" charset="-120"/>
              </a:rPr>
              <a:t>←200→  overlap preserves context</a:t>
            </a:r>
            <a:endParaRPr lang="en-US" sz="850" dirty="0"/>
          </a:p>
        </p:txBody>
      </p:sp>
      <p:sp>
        <p:nvSpPr>
          <p:cNvPr id="35" name="Shape 33"/>
          <p:cNvSpPr/>
          <p:nvPr/>
        </p:nvSpPr>
        <p:spPr>
          <a:xfrm>
            <a:off x="274320" y="3108960"/>
            <a:ext cx="8595360" cy="1810512"/>
          </a:xfrm>
          <a:prstGeom prst="roundRect">
            <a:avLst>
              <a:gd name="adj" fmla="val 6061"/>
            </a:avLst>
          </a:prstGeom>
          <a:solidFill>
            <a:srgbClr val="1E293B"/>
          </a:solidFill>
          <a:ln w="12700">
            <a:solidFill>
              <a:srgbClr val="F59E0B"/>
            </a:solidFill>
            <a:prstDash val="solid"/>
          </a:ln>
        </p:spPr>
        <p:txBody>
          <a:bodyPr/>
          <a:lstStyle/>
          <a:p>
            <a:endParaRPr lang="en-IN"/>
          </a:p>
        </p:txBody>
      </p:sp>
      <p:sp>
        <p:nvSpPr>
          <p:cNvPr id="36" name="Text 34"/>
          <p:cNvSpPr/>
          <p:nvPr/>
        </p:nvSpPr>
        <p:spPr>
          <a:xfrm>
            <a:off x="457200" y="3200400"/>
            <a:ext cx="3657600" cy="347472"/>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Why Chunking is Critical</a:t>
            </a:r>
            <a:endParaRPr lang="en-US" sz="1400" dirty="0"/>
          </a:p>
        </p:txBody>
      </p:sp>
      <p:sp>
        <p:nvSpPr>
          <p:cNvPr id="37" name="Text 35"/>
          <p:cNvSpPr/>
          <p:nvPr/>
        </p:nvSpPr>
        <p:spPr>
          <a:xfrm>
            <a:off x="457200" y="361188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LLMs have limited context windows (e.g. 128K tokens)</a:t>
            </a:r>
            <a:endParaRPr lang="en-US" sz="1050" dirty="0"/>
          </a:p>
        </p:txBody>
      </p:sp>
      <p:sp>
        <p:nvSpPr>
          <p:cNvPr id="38" name="Text 36"/>
          <p:cNvSpPr/>
          <p:nvPr/>
        </p:nvSpPr>
        <p:spPr>
          <a:xfrm>
            <a:off x="4754880" y="3611880"/>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Smaller chunks = more precise retrieval</a:t>
            </a:r>
            <a:endParaRPr lang="en-US" sz="1050" dirty="0"/>
          </a:p>
        </p:txBody>
      </p:sp>
      <p:sp>
        <p:nvSpPr>
          <p:cNvPr id="39" name="Text 37"/>
          <p:cNvSpPr/>
          <p:nvPr/>
        </p:nvSpPr>
        <p:spPr>
          <a:xfrm>
            <a:off x="457200" y="399592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Overlap prevents losing meaning at boundaries</a:t>
            </a:r>
            <a:endParaRPr lang="en-US" sz="1050" dirty="0"/>
          </a:p>
        </p:txBody>
      </p:sp>
      <p:sp>
        <p:nvSpPr>
          <p:cNvPr id="40" name="Text 38"/>
          <p:cNvSpPr/>
          <p:nvPr/>
        </p:nvSpPr>
        <p:spPr>
          <a:xfrm>
            <a:off x="4754880" y="3995928"/>
            <a:ext cx="4114800" cy="347472"/>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  Better vector quality from focused text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LangChain Framework</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10B981"/>
                </a:solidFill>
                <a:latin typeface="Calibri" pitchFamily="34" charset="0"/>
                <a:ea typeface="Calibri" pitchFamily="34" charset="-122"/>
                <a:cs typeface="Calibri" pitchFamily="34" charset="-120"/>
              </a:rPr>
              <a:t>The most popular framework for building LLM-powered applications and agents</a:t>
            </a:r>
            <a:endParaRPr lang="en-US" sz="1200" dirty="0"/>
          </a:p>
        </p:txBody>
      </p:sp>
      <p:sp>
        <p:nvSpPr>
          <p:cNvPr id="5" name="Shape 3"/>
          <p:cNvSpPr/>
          <p:nvPr/>
        </p:nvSpPr>
        <p:spPr>
          <a:xfrm>
            <a:off x="274320" y="960120"/>
            <a:ext cx="1993392" cy="1691640"/>
          </a:xfrm>
          <a:prstGeom prst="roundRect">
            <a:avLst>
              <a:gd name="adj" fmla="val 6486"/>
            </a:avLst>
          </a:prstGeom>
          <a:solidFill>
            <a:srgbClr val="1E293B"/>
          </a:solidFill>
          <a:ln w="19050">
            <a:solidFill>
              <a:srgbClr val="F59E0B"/>
            </a:solidFill>
            <a:prstDash val="solid"/>
          </a:ln>
        </p:spPr>
        <p:txBody>
          <a:bodyPr/>
          <a:lstStyle/>
          <a:p>
            <a:endParaRPr lang="en-IN"/>
          </a:p>
        </p:txBody>
      </p:sp>
      <p:sp>
        <p:nvSpPr>
          <p:cNvPr id="6" name="Text 4"/>
          <p:cNvSpPr/>
          <p:nvPr/>
        </p:nvSpPr>
        <p:spPr>
          <a:xfrm>
            <a:off x="274320"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274320" y="1554480"/>
            <a:ext cx="1993392" cy="36576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Document Loaders</a:t>
            </a:r>
            <a:endParaRPr lang="en-US" sz="1100" dirty="0"/>
          </a:p>
        </p:txBody>
      </p:sp>
      <p:sp>
        <p:nvSpPr>
          <p:cNvPr id="8" name="Text 6"/>
          <p:cNvSpPr/>
          <p:nvPr/>
        </p:nvSpPr>
        <p:spPr>
          <a:xfrm>
            <a:off x="365760"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Load PDFs, CSVs, Web pages, Word docs</a:t>
            </a:r>
            <a:endParaRPr lang="en-US" sz="900" dirty="0"/>
          </a:p>
        </p:txBody>
      </p:sp>
      <p:sp>
        <p:nvSpPr>
          <p:cNvPr id="9" name="Shape 7"/>
          <p:cNvSpPr/>
          <p:nvPr/>
        </p:nvSpPr>
        <p:spPr>
          <a:xfrm>
            <a:off x="2450592" y="960120"/>
            <a:ext cx="1993392" cy="1691640"/>
          </a:xfrm>
          <a:prstGeom prst="roundRect">
            <a:avLst>
              <a:gd name="adj" fmla="val 6486"/>
            </a:avLst>
          </a:prstGeom>
          <a:solidFill>
            <a:srgbClr val="1E293B"/>
          </a:solidFill>
          <a:ln w="19050">
            <a:solidFill>
              <a:srgbClr val="06B6D4"/>
            </a:solidFill>
            <a:prstDash val="solid"/>
          </a:ln>
        </p:spPr>
        <p:txBody>
          <a:bodyPr/>
          <a:lstStyle/>
          <a:p>
            <a:endParaRPr lang="en-IN"/>
          </a:p>
        </p:txBody>
      </p:sp>
      <p:sp>
        <p:nvSpPr>
          <p:cNvPr id="10" name="Text 8"/>
          <p:cNvSpPr/>
          <p:nvPr/>
        </p:nvSpPr>
        <p:spPr>
          <a:xfrm>
            <a:off x="2450592"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2450592" y="1554480"/>
            <a:ext cx="1993392" cy="36576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Text Splitters</a:t>
            </a:r>
            <a:endParaRPr lang="en-US" sz="1100" dirty="0"/>
          </a:p>
        </p:txBody>
      </p:sp>
      <p:sp>
        <p:nvSpPr>
          <p:cNvPr id="12" name="Text 10"/>
          <p:cNvSpPr/>
          <p:nvPr/>
        </p:nvSpPr>
        <p:spPr>
          <a:xfrm>
            <a:off x="2542032"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Chunk documents into manageable pieces</a:t>
            </a:r>
            <a:endParaRPr lang="en-US" sz="900" dirty="0"/>
          </a:p>
        </p:txBody>
      </p:sp>
      <p:sp>
        <p:nvSpPr>
          <p:cNvPr id="13" name="Shape 11"/>
          <p:cNvSpPr/>
          <p:nvPr/>
        </p:nvSpPr>
        <p:spPr>
          <a:xfrm>
            <a:off x="4626864" y="960120"/>
            <a:ext cx="1993392" cy="1691640"/>
          </a:xfrm>
          <a:prstGeom prst="roundRect">
            <a:avLst>
              <a:gd name="adj" fmla="val 6486"/>
            </a:avLst>
          </a:prstGeom>
          <a:solidFill>
            <a:srgbClr val="1E293B"/>
          </a:solidFill>
          <a:ln w="19050">
            <a:solidFill>
              <a:srgbClr val="8B5CF6"/>
            </a:solidFill>
            <a:prstDash val="solid"/>
          </a:ln>
        </p:spPr>
        <p:txBody>
          <a:bodyPr/>
          <a:lstStyle/>
          <a:p>
            <a:endParaRPr lang="en-IN"/>
          </a:p>
        </p:txBody>
      </p:sp>
      <p:sp>
        <p:nvSpPr>
          <p:cNvPr id="14" name="Text 12"/>
          <p:cNvSpPr/>
          <p:nvPr/>
        </p:nvSpPr>
        <p:spPr>
          <a:xfrm>
            <a:off x="4626864"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4626864" y="1554480"/>
            <a:ext cx="1993392"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Embeddings</a:t>
            </a:r>
            <a:endParaRPr lang="en-US" sz="1100" dirty="0"/>
          </a:p>
        </p:txBody>
      </p:sp>
      <p:sp>
        <p:nvSpPr>
          <p:cNvPr id="16" name="Text 14"/>
          <p:cNvSpPr/>
          <p:nvPr/>
        </p:nvSpPr>
        <p:spPr>
          <a:xfrm>
            <a:off x="4718304"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Convert text to semantic vectors</a:t>
            </a:r>
            <a:endParaRPr lang="en-US" sz="900" dirty="0"/>
          </a:p>
        </p:txBody>
      </p:sp>
      <p:sp>
        <p:nvSpPr>
          <p:cNvPr id="17" name="Shape 15"/>
          <p:cNvSpPr/>
          <p:nvPr/>
        </p:nvSpPr>
        <p:spPr>
          <a:xfrm>
            <a:off x="6803136" y="960120"/>
            <a:ext cx="1993392" cy="1691640"/>
          </a:xfrm>
          <a:prstGeom prst="roundRect">
            <a:avLst>
              <a:gd name="adj" fmla="val 6486"/>
            </a:avLst>
          </a:prstGeom>
          <a:solidFill>
            <a:srgbClr val="1E293B"/>
          </a:solidFill>
          <a:ln w="19050">
            <a:solidFill>
              <a:srgbClr val="10B981"/>
            </a:solidFill>
            <a:prstDash val="solid"/>
          </a:ln>
        </p:spPr>
        <p:txBody>
          <a:bodyPr/>
          <a:lstStyle/>
          <a:p>
            <a:endParaRPr lang="en-IN"/>
          </a:p>
        </p:txBody>
      </p:sp>
      <p:sp>
        <p:nvSpPr>
          <p:cNvPr id="18" name="Text 16"/>
          <p:cNvSpPr/>
          <p:nvPr/>
        </p:nvSpPr>
        <p:spPr>
          <a:xfrm>
            <a:off x="6803136" y="109728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6803136" y="1554480"/>
            <a:ext cx="1993392" cy="36576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Vector Stores</a:t>
            </a:r>
            <a:endParaRPr lang="en-US" sz="1100" dirty="0"/>
          </a:p>
        </p:txBody>
      </p:sp>
      <p:sp>
        <p:nvSpPr>
          <p:cNvPr id="20" name="Text 18"/>
          <p:cNvSpPr/>
          <p:nvPr/>
        </p:nvSpPr>
        <p:spPr>
          <a:xfrm>
            <a:off x="6894576" y="196596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FAISS, ChromaDB, Pinecone storage</a:t>
            </a:r>
            <a:endParaRPr lang="en-US" sz="900" dirty="0"/>
          </a:p>
        </p:txBody>
      </p:sp>
      <p:sp>
        <p:nvSpPr>
          <p:cNvPr id="21" name="Shape 19"/>
          <p:cNvSpPr/>
          <p:nvPr/>
        </p:nvSpPr>
        <p:spPr>
          <a:xfrm>
            <a:off x="274320" y="2834640"/>
            <a:ext cx="1993392" cy="1691640"/>
          </a:xfrm>
          <a:prstGeom prst="roundRect">
            <a:avLst>
              <a:gd name="adj" fmla="val 6486"/>
            </a:avLst>
          </a:prstGeom>
          <a:solidFill>
            <a:srgbClr val="1E293B"/>
          </a:solidFill>
          <a:ln w="19050">
            <a:solidFill>
              <a:srgbClr val="EF4444"/>
            </a:solidFill>
            <a:prstDash val="solid"/>
          </a:ln>
        </p:spPr>
        <p:txBody>
          <a:bodyPr/>
          <a:lstStyle/>
          <a:p>
            <a:endParaRPr lang="en-IN"/>
          </a:p>
        </p:txBody>
      </p:sp>
      <p:sp>
        <p:nvSpPr>
          <p:cNvPr id="22" name="Text 20"/>
          <p:cNvSpPr/>
          <p:nvPr/>
        </p:nvSpPr>
        <p:spPr>
          <a:xfrm>
            <a:off x="274320"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274320" y="3429000"/>
            <a:ext cx="1993392" cy="36576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Retrievers</a:t>
            </a:r>
            <a:endParaRPr lang="en-US" sz="1100" dirty="0"/>
          </a:p>
        </p:txBody>
      </p:sp>
      <p:sp>
        <p:nvSpPr>
          <p:cNvPr id="24" name="Text 22"/>
          <p:cNvSpPr/>
          <p:nvPr/>
        </p:nvSpPr>
        <p:spPr>
          <a:xfrm>
            <a:off x="365760"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Fetch relevant chunks from vector store</a:t>
            </a:r>
            <a:endParaRPr lang="en-US" sz="900" dirty="0"/>
          </a:p>
        </p:txBody>
      </p:sp>
      <p:sp>
        <p:nvSpPr>
          <p:cNvPr id="25" name="Shape 23"/>
          <p:cNvSpPr/>
          <p:nvPr/>
        </p:nvSpPr>
        <p:spPr>
          <a:xfrm>
            <a:off x="2450592" y="2834640"/>
            <a:ext cx="1993392" cy="1691640"/>
          </a:xfrm>
          <a:prstGeom prst="roundRect">
            <a:avLst>
              <a:gd name="adj" fmla="val 6486"/>
            </a:avLst>
          </a:prstGeom>
          <a:solidFill>
            <a:srgbClr val="1E293B"/>
          </a:solidFill>
          <a:ln w="19050">
            <a:solidFill>
              <a:srgbClr val="06B6D4"/>
            </a:solidFill>
            <a:prstDash val="solid"/>
          </a:ln>
        </p:spPr>
        <p:txBody>
          <a:bodyPr/>
          <a:lstStyle/>
          <a:p>
            <a:endParaRPr lang="en-IN"/>
          </a:p>
        </p:txBody>
      </p:sp>
      <p:sp>
        <p:nvSpPr>
          <p:cNvPr id="26" name="Text 24"/>
          <p:cNvSpPr/>
          <p:nvPr/>
        </p:nvSpPr>
        <p:spPr>
          <a:xfrm>
            <a:off x="2450592"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2450592" y="3429000"/>
            <a:ext cx="1993392" cy="36576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Chains</a:t>
            </a:r>
            <a:endParaRPr lang="en-US" sz="1100" dirty="0"/>
          </a:p>
        </p:txBody>
      </p:sp>
      <p:sp>
        <p:nvSpPr>
          <p:cNvPr id="28" name="Text 26"/>
          <p:cNvSpPr/>
          <p:nvPr/>
        </p:nvSpPr>
        <p:spPr>
          <a:xfrm>
            <a:off x="2542032"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Sequence of LLM calls and operations</a:t>
            </a:r>
            <a:endParaRPr lang="en-US" sz="900" dirty="0"/>
          </a:p>
        </p:txBody>
      </p:sp>
      <p:sp>
        <p:nvSpPr>
          <p:cNvPr id="29" name="Shape 27"/>
          <p:cNvSpPr/>
          <p:nvPr/>
        </p:nvSpPr>
        <p:spPr>
          <a:xfrm>
            <a:off x="4626864" y="2834640"/>
            <a:ext cx="1993392" cy="1691640"/>
          </a:xfrm>
          <a:prstGeom prst="roundRect">
            <a:avLst>
              <a:gd name="adj" fmla="val 6486"/>
            </a:avLst>
          </a:prstGeom>
          <a:solidFill>
            <a:srgbClr val="1E293B"/>
          </a:solidFill>
          <a:ln w="19050">
            <a:solidFill>
              <a:srgbClr val="8B5CF6"/>
            </a:solidFill>
            <a:prstDash val="solid"/>
          </a:ln>
        </p:spPr>
        <p:txBody>
          <a:bodyPr/>
          <a:lstStyle/>
          <a:p>
            <a:endParaRPr lang="en-IN"/>
          </a:p>
        </p:txBody>
      </p:sp>
      <p:sp>
        <p:nvSpPr>
          <p:cNvPr id="30" name="Text 28"/>
          <p:cNvSpPr/>
          <p:nvPr/>
        </p:nvSpPr>
        <p:spPr>
          <a:xfrm>
            <a:off x="4626864"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1" name="Text 29"/>
          <p:cNvSpPr/>
          <p:nvPr/>
        </p:nvSpPr>
        <p:spPr>
          <a:xfrm>
            <a:off x="4626864" y="3429000"/>
            <a:ext cx="1993392" cy="36576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Agents</a:t>
            </a:r>
            <a:endParaRPr lang="en-US" sz="1100" dirty="0"/>
          </a:p>
        </p:txBody>
      </p:sp>
      <p:sp>
        <p:nvSpPr>
          <p:cNvPr id="32" name="Text 30"/>
          <p:cNvSpPr/>
          <p:nvPr/>
        </p:nvSpPr>
        <p:spPr>
          <a:xfrm>
            <a:off x="4718304"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ReAct agents with tool calling</a:t>
            </a:r>
            <a:endParaRPr lang="en-US" sz="900" dirty="0"/>
          </a:p>
        </p:txBody>
      </p:sp>
      <p:sp>
        <p:nvSpPr>
          <p:cNvPr id="33" name="Shape 31"/>
          <p:cNvSpPr/>
          <p:nvPr/>
        </p:nvSpPr>
        <p:spPr>
          <a:xfrm>
            <a:off x="6803136" y="2834640"/>
            <a:ext cx="1993392" cy="1691640"/>
          </a:xfrm>
          <a:prstGeom prst="roundRect">
            <a:avLst>
              <a:gd name="adj" fmla="val 6486"/>
            </a:avLst>
          </a:prstGeom>
          <a:solidFill>
            <a:srgbClr val="1E293B"/>
          </a:solidFill>
          <a:ln w="19050">
            <a:solidFill>
              <a:srgbClr val="F59E0B"/>
            </a:solidFill>
            <a:prstDash val="solid"/>
          </a:ln>
        </p:spPr>
        <p:txBody>
          <a:bodyPr/>
          <a:lstStyle/>
          <a:p>
            <a:endParaRPr lang="en-IN"/>
          </a:p>
        </p:txBody>
      </p:sp>
      <p:sp>
        <p:nvSpPr>
          <p:cNvPr id="34" name="Text 32"/>
          <p:cNvSpPr/>
          <p:nvPr/>
        </p:nvSpPr>
        <p:spPr>
          <a:xfrm>
            <a:off x="6803136" y="2971800"/>
            <a:ext cx="1993392"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5" name="Text 33"/>
          <p:cNvSpPr/>
          <p:nvPr/>
        </p:nvSpPr>
        <p:spPr>
          <a:xfrm>
            <a:off x="6803136" y="3429000"/>
            <a:ext cx="1993392" cy="36576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Memory</a:t>
            </a:r>
            <a:endParaRPr lang="en-US" sz="1100" dirty="0"/>
          </a:p>
        </p:txBody>
      </p:sp>
      <p:sp>
        <p:nvSpPr>
          <p:cNvPr id="36" name="Text 34"/>
          <p:cNvSpPr/>
          <p:nvPr/>
        </p:nvSpPr>
        <p:spPr>
          <a:xfrm>
            <a:off x="6894576" y="3840480"/>
            <a:ext cx="1828800" cy="566928"/>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ConversationBufferMemory, VectorMemory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LangGraph — Stateful Agent Workflows</a:t>
            </a:r>
            <a:endParaRPr lang="en-US" sz="2700" dirty="0"/>
          </a:p>
        </p:txBody>
      </p:sp>
      <p:sp>
        <p:nvSpPr>
          <p:cNvPr id="4" name="Shape 2"/>
          <p:cNvSpPr/>
          <p:nvPr/>
        </p:nvSpPr>
        <p:spPr>
          <a:xfrm>
            <a:off x="274320" y="713232"/>
            <a:ext cx="1737360" cy="457200"/>
          </a:xfrm>
          <a:prstGeom prst="rect">
            <a:avLst/>
          </a:prstGeom>
          <a:solidFill>
            <a:srgbClr val="0EA5E9"/>
          </a:solidFill>
          <a:ln w="6350">
            <a:solidFill>
              <a:srgbClr val="0369A1"/>
            </a:solidFill>
            <a:prstDash val="solid"/>
          </a:ln>
        </p:spPr>
        <p:txBody>
          <a:bodyPr/>
          <a:lstStyle/>
          <a:p>
            <a:endParaRPr lang="en-IN"/>
          </a:p>
        </p:txBody>
      </p:sp>
      <p:sp>
        <p:nvSpPr>
          <p:cNvPr id="5" name="Text 3"/>
          <p:cNvSpPr/>
          <p:nvPr/>
        </p:nvSpPr>
        <p:spPr>
          <a:xfrm>
            <a:off x="365760" y="713232"/>
            <a:ext cx="155448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Aspect</a:t>
            </a:r>
            <a:endParaRPr lang="en-US" sz="1200" dirty="0"/>
          </a:p>
        </p:txBody>
      </p:sp>
      <p:sp>
        <p:nvSpPr>
          <p:cNvPr id="6" name="Shape 4"/>
          <p:cNvSpPr/>
          <p:nvPr/>
        </p:nvSpPr>
        <p:spPr>
          <a:xfrm>
            <a:off x="2286000" y="713232"/>
            <a:ext cx="2560320" cy="457200"/>
          </a:xfrm>
          <a:prstGeom prst="rect">
            <a:avLst/>
          </a:prstGeom>
          <a:solidFill>
            <a:srgbClr val="0EA5E9"/>
          </a:solidFill>
          <a:ln w="6350">
            <a:solidFill>
              <a:srgbClr val="0369A1"/>
            </a:solidFill>
            <a:prstDash val="solid"/>
          </a:ln>
        </p:spPr>
        <p:txBody>
          <a:bodyPr/>
          <a:lstStyle/>
          <a:p>
            <a:endParaRPr lang="en-IN"/>
          </a:p>
        </p:txBody>
      </p:sp>
      <p:sp>
        <p:nvSpPr>
          <p:cNvPr id="7" name="Text 5"/>
          <p:cNvSpPr/>
          <p:nvPr/>
        </p:nvSpPr>
        <p:spPr>
          <a:xfrm>
            <a:off x="2377440" y="713232"/>
            <a:ext cx="23774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LangChain</a:t>
            </a:r>
            <a:endParaRPr lang="en-US" sz="1200" dirty="0"/>
          </a:p>
        </p:txBody>
      </p:sp>
      <p:sp>
        <p:nvSpPr>
          <p:cNvPr id="8" name="Shape 6"/>
          <p:cNvSpPr/>
          <p:nvPr/>
        </p:nvSpPr>
        <p:spPr>
          <a:xfrm>
            <a:off x="5029200" y="713232"/>
            <a:ext cx="3931920" cy="457200"/>
          </a:xfrm>
          <a:prstGeom prst="rect">
            <a:avLst/>
          </a:prstGeom>
          <a:solidFill>
            <a:srgbClr val="0EA5E9"/>
          </a:solidFill>
          <a:ln w="6350">
            <a:solidFill>
              <a:srgbClr val="0369A1"/>
            </a:solidFill>
            <a:prstDash val="solid"/>
          </a:ln>
        </p:spPr>
        <p:txBody>
          <a:bodyPr/>
          <a:lstStyle/>
          <a:p>
            <a:endParaRPr lang="en-IN"/>
          </a:p>
        </p:txBody>
      </p:sp>
      <p:sp>
        <p:nvSpPr>
          <p:cNvPr id="9" name="Text 7"/>
          <p:cNvSpPr/>
          <p:nvPr/>
        </p:nvSpPr>
        <p:spPr>
          <a:xfrm>
            <a:off x="5120640" y="713232"/>
            <a:ext cx="37490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LangGraph</a:t>
            </a:r>
            <a:endParaRPr lang="en-US" sz="1200" dirty="0"/>
          </a:p>
        </p:txBody>
      </p:sp>
      <p:sp>
        <p:nvSpPr>
          <p:cNvPr id="10" name="Shape 8"/>
          <p:cNvSpPr/>
          <p:nvPr/>
        </p:nvSpPr>
        <p:spPr>
          <a:xfrm>
            <a:off x="274320" y="1188720"/>
            <a:ext cx="1737360" cy="457200"/>
          </a:xfrm>
          <a:prstGeom prst="rect">
            <a:avLst/>
          </a:prstGeom>
          <a:solidFill>
            <a:srgbClr val="172032"/>
          </a:solidFill>
          <a:ln w="6350">
            <a:solidFill>
              <a:srgbClr val="0369A1"/>
            </a:solidFill>
            <a:prstDash val="solid"/>
          </a:ln>
        </p:spPr>
        <p:txBody>
          <a:bodyPr/>
          <a:lstStyle/>
          <a:p>
            <a:endParaRPr lang="en-IN"/>
          </a:p>
        </p:txBody>
      </p:sp>
      <p:sp>
        <p:nvSpPr>
          <p:cNvPr id="11" name="Text 9"/>
          <p:cNvSpPr/>
          <p:nvPr/>
        </p:nvSpPr>
        <p:spPr>
          <a:xfrm>
            <a:off x="365760" y="1188720"/>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Type</a:t>
            </a:r>
            <a:endParaRPr lang="en-US" sz="1100" dirty="0"/>
          </a:p>
        </p:txBody>
      </p:sp>
      <p:sp>
        <p:nvSpPr>
          <p:cNvPr id="12" name="Shape 10"/>
          <p:cNvSpPr/>
          <p:nvPr/>
        </p:nvSpPr>
        <p:spPr>
          <a:xfrm>
            <a:off x="2286000" y="1188720"/>
            <a:ext cx="2560320" cy="457200"/>
          </a:xfrm>
          <a:prstGeom prst="rect">
            <a:avLst/>
          </a:prstGeom>
          <a:solidFill>
            <a:srgbClr val="172032"/>
          </a:solidFill>
          <a:ln w="6350">
            <a:solidFill>
              <a:srgbClr val="0369A1"/>
            </a:solidFill>
            <a:prstDash val="solid"/>
          </a:ln>
        </p:spPr>
        <p:txBody>
          <a:bodyPr/>
          <a:lstStyle/>
          <a:p>
            <a:endParaRPr lang="en-IN"/>
          </a:p>
        </p:txBody>
      </p:sp>
      <p:sp>
        <p:nvSpPr>
          <p:cNvPr id="13" name="Text 11"/>
          <p:cNvSpPr/>
          <p:nvPr/>
        </p:nvSpPr>
        <p:spPr>
          <a:xfrm>
            <a:off x="2377440" y="1188720"/>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Linear chains</a:t>
            </a:r>
            <a:endParaRPr lang="en-US" sz="1100" dirty="0"/>
          </a:p>
        </p:txBody>
      </p:sp>
      <p:sp>
        <p:nvSpPr>
          <p:cNvPr id="14" name="Shape 12"/>
          <p:cNvSpPr/>
          <p:nvPr/>
        </p:nvSpPr>
        <p:spPr>
          <a:xfrm>
            <a:off x="5029200" y="1188720"/>
            <a:ext cx="3931920" cy="457200"/>
          </a:xfrm>
          <a:prstGeom prst="rect">
            <a:avLst/>
          </a:prstGeom>
          <a:solidFill>
            <a:srgbClr val="172032"/>
          </a:solidFill>
          <a:ln w="6350">
            <a:solidFill>
              <a:srgbClr val="0369A1"/>
            </a:solidFill>
            <a:prstDash val="solid"/>
          </a:ln>
        </p:spPr>
        <p:txBody>
          <a:bodyPr/>
          <a:lstStyle/>
          <a:p>
            <a:endParaRPr lang="en-IN"/>
          </a:p>
        </p:txBody>
      </p:sp>
      <p:sp>
        <p:nvSpPr>
          <p:cNvPr id="15" name="Text 13"/>
          <p:cNvSpPr/>
          <p:nvPr/>
        </p:nvSpPr>
        <p:spPr>
          <a:xfrm>
            <a:off x="5120640" y="1188720"/>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Graph / DAG workflows</a:t>
            </a:r>
            <a:endParaRPr lang="en-US" sz="1100" dirty="0"/>
          </a:p>
        </p:txBody>
      </p:sp>
      <p:sp>
        <p:nvSpPr>
          <p:cNvPr id="16" name="Shape 14"/>
          <p:cNvSpPr/>
          <p:nvPr/>
        </p:nvSpPr>
        <p:spPr>
          <a:xfrm>
            <a:off x="274320" y="1664208"/>
            <a:ext cx="1737360" cy="457200"/>
          </a:xfrm>
          <a:prstGeom prst="rect">
            <a:avLst/>
          </a:prstGeom>
          <a:solidFill>
            <a:srgbClr val="1E293B"/>
          </a:solidFill>
          <a:ln w="6350">
            <a:solidFill>
              <a:srgbClr val="0369A1"/>
            </a:solidFill>
            <a:prstDash val="solid"/>
          </a:ln>
        </p:spPr>
        <p:txBody>
          <a:bodyPr/>
          <a:lstStyle/>
          <a:p>
            <a:endParaRPr lang="en-IN"/>
          </a:p>
        </p:txBody>
      </p:sp>
      <p:sp>
        <p:nvSpPr>
          <p:cNvPr id="17" name="Text 15"/>
          <p:cNvSpPr/>
          <p:nvPr/>
        </p:nvSpPr>
        <p:spPr>
          <a:xfrm>
            <a:off x="365760" y="1664208"/>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State</a:t>
            </a:r>
            <a:endParaRPr lang="en-US" sz="1100" dirty="0"/>
          </a:p>
        </p:txBody>
      </p:sp>
      <p:sp>
        <p:nvSpPr>
          <p:cNvPr id="18" name="Shape 16"/>
          <p:cNvSpPr/>
          <p:nvPr/>
        </p:nvSpPr>
        <p:spPr>
          <a:xfrm>
            <a:off x="2286000" y="1664208"/>
            <a:ext cx="2560320" cy="457200"/>
          </a:xfrm>
          <a:prstGeom prst="rect">
            <a:avLst/>
          </a:prstGeom>
          <a:solidFill>
            <a:srgbClr val="1E293B"/>
          </a:solidFill>
          <a:ln w="6350">
            <a:solidFill>
              <a:srgbClr val="0369A1"/>
            </a:solidFill>
            <a:prstDash val="solid"/>
          </a:ln>
        </p:spPr>
        <p:txBody>
          <a:bodyPr/>
          <a:lstStyle/>
          <a:p>
            <a:endParaRPr lang="en-IN"/>
          </a:p>
        </p:txBody>
      </p:sp>
      <p:sp>
        <p:nvSpPr>
          <p:cNvPr id="19" name="Text 17"/>
          <p:cNvSpPr/>
          <p:nvPr/>
        </p:nvSpPr>
        <p:spPr>
          <a:xfrm>
            <a:off x="2377440" y="1664208"/>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Stateless</a:t>
            </a:r>
            <a:endParaRPr lang="en-US" sz="1100" dirty="0"/>
          </a:p>
        </p:txBody>
      </p:sp>
      <p:sp>
        <p:nvSpPr>
          <p:cNvPr id="20" name="Shape 18"/>
          <p:cNvSpPr/>
          <p:nvPr/>
        </p:nvSpPr>
        <p:spPr>
          <a:xfrm>
            <a:off x="5029200" y="1664208"/>
            <a:ext cx="3931920" cy="457200"/>
          </a:xfrm>
          <a:prstGeom prst="rect">
            <a:avLst/>
          </a:prstGeom>
          <a:solidFill>
            <a:srgbClr val="1E293B"/>
          </a:solidFill>
          <a:ln w="6350">
            <a:solidFill>
              <a:srgbClr val="0369A1"/>
            </a:solidFill>
            <a:prstDash val="solid"/>
          </a:ln>
        </p:spPr>
        <p:txBody>
          <a:bodyPr/>
          <a:lstStyle/>
          <a:p>
            <a:endParaRPr lang="en-IN"/>
          </a:p>
        </p:txBody>
      </p:sp>
      <p:sp>
        <p:nvSpPr>
          <p:cNvPr id="21" name="Text 19"/>
          <p:cNvSpPr/>
          <p:nvPr/>
        </p:nvSpPr>
        <p:spPr>
          <a:xfrm>
            <a:off x="5120640" y="1664208"/>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Stateful (checkpointing)</a:t>
            </a:r>
            <a:endParaRPr lang="en-US" sz="1100" dirty="0"/>
          </a:p>
        </p:txBody>
      </p:sp>
      <p:sp>
        <p:nvSpPr>
          <p:cNvPr id="22" name="Shape 20"/>
          <p:cNvSpPr/>
          <p:nvPr/>
        </p:nvSpPr>
        <p:spPr>
          <a:xfrm>
            <a:off x="274320" y="2139696"/>
            <a:ext cx="1737360" cy="457200"/>
          </a:xfrm>
          <a:prstGeom prst="rect">
            <a:avLst/>
          </a:prstGeom>
          <a:solidFill>
            <a:srgbClr val="172032"/>
          </a:solidFill>
          <a:ln w="6350">
            <a:solidFill>
              <a:srgbClr val="0369A1"/>
            </a:solidFill>
            <a:prstDash val="solid"/>
          </a:ln>
        </p:spPr>
        <p:txBody>
          <a:bodyPr/>
          <a:lstStyle/>
          <a:p>
            <a:endParaRPr lang="en-IN"/>
          </a:p>
        </p:txBody>
      </p:sp>
      <p:sp>
        <p:nvSpPr>
          <p:cNvPr id="23" name="Text 21"/>
          <p:cNvSpPr/>
          <p:nvPr/>
        </p:nvSpPr>
        <p:spPr>
          <a:xfrm>
            <a:off x="365760" y="2139696"/>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Flow</a:t>
            </a:r>
            <a:endParaRPr lang="en-US" sz="1100" dirty="0"/>
          </a:p>
        </p:txBody>
      </p:sp>
      <p:sp>
        <p:nvSpPr>
          <p:cNvPr id="24" name="Shape 22"/>
          <p:cNvSpPr/>
          <p:nvPr/>
        </p:nvSpPr>
        <p:spPr>
          <a:xfrm>
            <a:off x="2286000" y="2139696"/>
            <a:ext cx="2560320" cy="457200"/>
          </a:xfrm>
          <a:prstGeom prst="rect">
            <a:avLst/>
          </a:prstGeom>
          <a:solidFill>
            <a:srgbClr val="172032"/>
          </a:solidFill>
          <a:ln w="6350">
            <a:solidFill>
              <a:srgbClr val="0369A1"/>
            </a:solidFill>
            <a:prstDash val="solid"/>
          </a:ln>
        </p:spPr>
        <p:txBody>
          <a:bodyPr/>
          <a:lstStyle/>
          <a:p>
            <a:endParaRPr lang="en-IN"/>
          </a:p>
        </p:txBody>
      </p:sp>
      <p:sp>
        <p:nvSpPr>
          <p:cNvPr id="25" name="Text 23"/>
          <p:cNvSpPr/>
          <p:nvPr/>
        </p:nvSpPr>
        <p:spPr>
          <a:xfrm>
            <a:off x="2377440" y="2139696"/>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Sequential</a:t>
            </a:r>
            <a:endParaRPr lang="en-US" sz="1100" dirty="0"/>
          </a:p>
        </p:txBody>
      </p:sp>
      <p:sp>
        <p:nvSpPr>
          <p:cNvPr id="26" name="Shape 24"/>
          <p:cNvSpPr/>
          <p:nvPr/>
        </p:nvSpPr>
        <p:spPr>
          <a:xfrm>
            <a:off x="5029200" y="2139696"/>
            <a:ext cx="3931920" cy="457200"/>
          </a:xfrm>
          <a:prstGeom prst="rect">
            <a:avLst/>
          </a:prstGeom>
          <a:solidFill>
            <a:srgbClr val="172032"/>
          </a:solidFill>
          <a:ln w="6350">
            <a:solidFill>
              <a:srgbClr val="0369A1"/>
            </a:solidFill>
            <a:prstDash val="solid"/>
          </a:ln>
        </p:spPr>
        <p:txBody>
          <a:bodyPr/>
          <a:lstStyle/>
          <a:p>
            <a:endParaRPr lang="en-IN"/>
          </a:p>
        </p:txBody>
      </p:sp>
      <p:sp>
        <p:nvSpPr>
          <p:cNvPr id="27" name="Text 25"/>
          <p:cNvSpPr/>
          <p:nvPr/>
        </p:nvSpPr>
        <p:spPr>
          <a:xfrm>
            <a:off x="5120640" y="2139696"/>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Conditional branches</a:t>
            </a:r>
            <a:endParaRPr lang="en-US" sz="1100" dirty="0"/>
          </a:p>
        </p:txBody>
      </p:sp>
      <p:sp>
        <p:nvSpPr>
          <p:cNvPr id="28" name="Shape 26"/>
          <p:cNvSpPr/>
          <p:nvPr/>
        </p:nvSpPr>
        <p:spPr>
          <a:xfrm>
            <a:off x="274320" y="2615184"/>
            <a:ext cx="1737360" cy="457200"/>
          </a:xfrm>
          <a:prstGeom prst="rect">
            <a:avLst/>
          </a:prstGeom>
          <a:solidFill>
            <a:srgbClr val="1E293B"/>
          </a:solidFill>
          <a:ln w="6350">
            <a:solidFill>
              <a:srgbClr val="0369A1"/>
            </a:solidFill>
            <a:prstDash val="solid"/>
          </a:ln>
        </p:spPr>
        <p:txBody>
          <a:bodyPr/>
          <a:lstStyle/>
          <a:p>
            <a:endParaRPr lang="en-IN"/>
          </a:p>
        </p:txBody>
      </p:sp>
      <p:sp>
        <p:nvSpPr>
          <p:cNvPr id="29" name="Text 27"/>
          <p:cNvSpPr/>
          <p:nvPr/>
        </p:nvSpPr>
        <p:spPr>
          <a:xfrm>
            <a:off x="365760" y="2615184"/>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Multi-Agent</a:t>
            </a:r>
            <a:endParaRPr lang="en-US" sz="1100" dirty="0"/>
          </a:p>
        </p:txBody>
      </p:sp>
      <p:sp>
        <p:nvSpPr>
          <p:cNvPr id="30" name="Shape 28"/>
          <p:cNvSpPr/>
          <p:nvPr/>
        </p:nvSpPr>
        <p:spPr>
          <a:xfrm>
            <a:off x="2286000" y="2615184"/>
            <a:ext cx="2560320" cy="457200"/>
          </a:xfrm>
          <a:prstGeom prst="rect">
            <a:avLst/>
          </a:prstGeom>
          <a:solidFill>
            <a:srgbClr val="1E293B"/>
          </a:solidFill>
          <a:ln w="6350">
            <a:solidFill>
              <a:srgbClr val="0369A1"/>
            </a:solidFill>
            <a:prstDash val="solid"/>
          </a:ln>
        </p:spPr>
        <p:txBody>
          <a:bodyPr/>
          <a:lstStyle/>
          <a:p>
            <a:endParaRPr lang="en-IN"/>
          </a:p>
        </p:txBody>
      </p:sp>
      <p:sp>
        <p:nvSpPr>
          <p:cNvPr id="31" name="Text 29"/>
          <p:cNvSpPr/>
          <p:nvPr/>
        </p:nvSpPr>
        <p:spPr>
          <a:xfrm>
            <a:off x="2377440" y="2615184"/>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Limited</a:t>
            </a:r>
            <a:endParaRPr lang="en-US" sz="1100" dirty="0"/>
          </a:p>
        </p:txBody>
      </p:sp>
      <p:sp>
        <p:nvSpPr>
          <p:cNvPr id="32" name="Shape 30"/>
          <p:cNvSpPr/>
          <p:nvPr/>
        </p:nvSpPr>
        <p:spPr>
          <a:xfrm>
            <a:off x="5029200" y="2615184"/>
            <a:ext cx="3931920" cy="457200"/>
          </a:xfrm>
          <a:prstGeom prst="rect">
            <a:avLst/>
          </a:prstGeom>
          <a:solidFill>
            <a:srgbClr val="1E293B"/>
          </a:solidFill>
          <a:ln w="6350">
            <a:solidFill>
              <a:srgbClr val="0369A1"/>
            </a:solidFill>
            <a:prstDash val="solid"/>
          </a:ln>
        </p:spPr>
        <p:txBody>
          <a:bodyPr/>
          <a:lstStyle/>
          <a:p>
            <a:endParaRPr lang="en-IN"/>
          </a:p>
        </p:txBody>
      </p:sp>
      <p:sp>
        <p:nvSpPr>
          <p:cNvPr id="33" name="Text 31"/>
          <p:cNvSpPr/>
          <p:nvPr/>
        </p:nvSpPr>
        <p:spPr>
          <a:xfrm>
            <a:off x="5120640" y="2615184"/>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First-class support</a:t>
            </a:r>
            <a:endParaRPr lang="en-US" sz="1100" dirty="0"/>
          </a:p>
        </p:txBody>
      </p:sp>
      <p:sp>
        <p:nvSpPr>
          <p:cNvPr id="34" name="Shape 32"/>
          <p:cNvSpPr/>
          <p:nvPr/>
        </p:nvSpPr>
        <p:spPr>
          <a:xfrm>
            <a:off x="274320" y="3090672"/>
            <a:ext cx="1737360" cy="457200"/>
          </a:xfrm>
          <a:prstGeom prst="rect">
            <a:avLst/>
          </a:prstGeom>
          <a:solidFill>
            <a:srgbClr val="172032"/>
          </a:solidFill>
          <a:ln w="6350">
            <a:solidFill>
              <a:srgbClr val="0369A1"/>
            </a:solidFill>
            <a:prstDash val="solid"/>
          </a:ln>
        </p:spPr>
        <p:txBody>
          <a:bodyPr/>
          <a:lstStyle/>
          <a:p>
            <a:endParaRPr lang="en-IN"/>
          </a:p>
        </p:txBody>
      </p:sp>
      <p:sp>
        <p:nvSpPr>
          <p:cNvPr id="35" name="Text 33"/>
          <p:cNvSpPr/>
          <p:nvPr/>
        </p:nvSpPr>
        <p:spPr>
          <a:xfrm>
            <a:off x="365760" y="3090672"/>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Cycles</a:t>
            </a:r>
            <a:endParaRPr lang="en-US" sz="1100" dirty="0"/>
          </a:p>
        </p:txBody>
      </p:sp>
      <p:sp>
        <p:nvSpPr>
          <p:cNvPr id="36" name="Shape 34"/>
          <p:cNvSpPr/>
          <p:nvPr/>
        </p:nvSpPr>
        <p:spPr>
          <a:xfrm>
            <a:off x="2286000" y="3090672"/>
            <a:ext cx="2560320" cy="457200"/>
          </a:xfrm>
          <a:prstGeom prst="rect">
            <a:avLst/>
          </a:prstGeom>
          <a:solidFill>
            <a:srgbClr val="172032"/>
          </a:solidFill>
          <a:ln w="6350">
            <a:solidFill>
              <a:srgbClr val="0369A1"/>
            </a:solidFill>
            <a:prstDash val="solid"/>
          </a:ln>
        </p:spPr>
        <p:txBody>
          <a:bodyPr/>
          <a:lstStyle/>
          <a:p>
            <a:endParaRPr lang="en-IN"/>
          </a:p>
        </p:txBody>
      </p:sp>
      <p:sp>
        <p:nvSpPr>
          <p:cNvPr id="37" name="Text 35"/>
          <p:cNvSpPr/>
          <p:nvPr/>
        </p:nvSpPr>
        <p:spPr>
          <a:xfrm>
            <a:off x="2377440" y="3090672"/>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Not supported</a:t>
            </a:r>
            <a:endParaRPr lang="en-US" sz="1100" dirty="0"/>
          </a:p>
        </p:txBody>
      </p:sp>
      <p:sp>
        <p:nvSpPr>
          <p:cNvPr id="38" name="Shape 36"/>
          <p:cNvSpPr/>
          <p:nvPr/>
        </p:nvSpPr>
        <p:spPr>
          <a:xfrm>
            <a:off x="5029200" y="3090672"/>
            <a:ext cx="3931920" cy="457200"/>
          </a:xfrm>
          <a:prstGeom prst="rect">
            <a:avLst/>
          </a:prstGeom>
          <a:solidFill>
            <a:srgbClr val="172032"/>
          </a:solidFill>
          <a:ln w="6350">
            <a:solidFill>
              <a:srgbClr val="0369A1"/>
            </a:solidFill>
            <a:prstDash val="solid"/>
          </a:ln>
        </p:spPr>
        <p:txBody>
          <a:bodyPr/>
          <a:lstStyle/>
          <a:p>
            <a:endParaRPr lang="en-IN"/>
          </a:p>
        </p:txBody>
      </p:sp>
      <p:sp>
        <p:nvSpPr>
          <p:cNvPr id="39" name="Text 37"/>
          <p:cNvSpPr/>
          <p:nvPr/>
        </p:nvSpPr>
        <p:spPr>
          <a:xfrm>
            <a:off x="5120640" y="3090672"/>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Supports loops / cycles</a:t>
            </a:r>
            <a:endParaRPr lang="en-US" sz="1100" dirty="0"/>
          </a:p>
        </p:txBody>
      </p:sp>
      <p:sp>
        <p:nvSpPr>
          <p:cNvPr id="40" name="Shape 38"/>
          <p:cNvSpPr/>
          <p:nvPr/>
        </p:nvSpPr>
        <p:spPr>
          <a:xfrm>
            <a:off x="274320" y="3566160"/>
            <a:ext cx="1737360" cy="457200"/>
          </a:xfrm>
          <a:prstGeom prst="rect">
            <a:avLst/>
          </a:prstGeom>
          <a:solidFill>
            <a:srgbClr val="1E293B"/>
          </a:solidFill>
          <a:ln w="6350">
            <a:solidFill>
              <a:srgbClr val="0369A1"/>
            </a:solidFill>
            <a:prstDash val="solid"/>
          </a:ln>
        </p:spPr>
        <p:txBody>
          <a:bodyPr/>
          <a:lstStyle/>
          <a:p>
            <a:endParaRPr lang="en-IN"/>
          </a:p>
        </p:txBody>
      </p:sp>
      <p:sp>
        <p:nvSpPr>
          <p:cNvPr id="41" name="Text 39"/>
          <p:cNvSpPr/>
          <p:nvPr/>
        </p:nvSpPr>
        <p:spPr>
          <a:xfrm>
            <a:off x="365760" y="3566160"/>
            <a:ext cx="1554480" cy="45720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Best For</a:t>
            </a:r>
            <a:endParaRPr lang="en-US" sz="1100" dirty="0"/>
          </a:p>
        </p:txBody>
      </p:sp>
      <p:sp>
        <p:nvSpPr>
          <p:cNvPr id="42" name="Shape 40"/>
          <p:cNvSpPr/>
          <p:nvPr/>
        </p:nvSpPr>
        <p:spPr>
          <a:xfrm>
            <a:off x="2286000" y="3566160"/>
            <a:ext cx="2560320" cy="457200"/>
          </a:xfrm>
          <a:prstGeom prst="rect">
            <a:avLst/>
          </a:prstGeom>
          <a:solidFill>
            <a:srgbClr val="1E293B"/>
          </a:solidFill>
          <a:ln w="6350">
            <a:solidFill>
              <a:srgbClr val="0369A1"/>
            </a:solidFill>
            <a:prstDash val="solid"/>
          </a:ln>
        </p:spPr>
        <p:txBody>
          <a:bodyPr/>
          <a:lstStyle/>
          <a:p>
            <a:endParaRPr lang="en-IN"/>
          </a:p>
        </p:txBody>
      </p:sp>
      <p:sp>
        <p:nvSpPr>
          <p:cNvPr id="43" name="Text 41"/>
          <p:cNvSpPr/>
          <p:nvPr/>
        </p:nvSpPr>
        <p:spPr>
          <a:xfrm>
            <a:off x="2377440" y="3566160"/>
            <a:ext cx="2377440" cy="45720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Simple pipelines</a:t>
            </a:r>
            <a:endParaRPr lang="en-US" sz="1100" dirty="0"/>
          </a:p>
        </p:txBody>
      </p:sp>
      <p:sp>
        <p:nvSpPr>
          <p:cNvPr id="44" name="Shape 42"/>
          <p:cNvSpPr/>
          <p:nvPr/>
        </p:nvSpPr>
        <p:spPr>
          <a:xfrm>
            <a:off x="5029200" y="3566160"/>
            <a:ext cx="3931920" cy="457200"/>
          </a:xfrm>
          <a:prstGeom prst="rect">
            <a:avLst/>
          </a:prstGeom>
          <a:solidFill>
            <a:srgbClr val="1E293B"/>
          </a:solidFill>
          <a:ln w="6350">
            <a:solidFill>
              <a:srgbClr val="0369A1"/>
            </a:solidFill>
            <a:prstDash val="solid"/>
          </a:ln>
        </p:spPr>
        <p:txBody>
          <a:bodyPr/>
          <a:lstStyle/>
          <a:p>
            <a:endParaRPr lang="en-IN"/>
          </a:p>
        </p:txBody>
      </p:sp>
      <p:sp>
        <p:nvSpPr>
          <p:cNvPr id="45" name="Text 43"/>
          <p:cNvSpPr/>
          <p:nvPr/>
        </p:nvSpPr>
        <p:spPr>
          <a:xfrm>
            <a:off x="5120640" y="3566160"/>
            <a:ext cx="3749040" cy="457200"/>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Complex agent workflows</a:t>
            </a:r>
            <a:endParaRPr lang="en-US" sz="1100" dirty="0"/>
          </a:p>
        </p:txBody>
      </p:sp>
      <p:sp>
        <p:nvSpPr>
          <p:cNvPr id="46" name="Shape 44"/>
          <p:cNvSpPr/>
          <p:nvPr/>
        </p:nvSpPr>
        <p:spPr>
          <a:xfrm>
            <a:off x="274320" y="4096512"/>
            <a:ext cx="8595360" cy="914400"/>
          </a:xfrm>
          <a:prstGeom prst="roundRect">
            <a:avLst>
              <a:gd name="adj" fmla="val 10000"/>
            </a:avLst>
          </a:prstGeom>
          <a:solidFill>
            <a:srgbClr val="1E293B"/>
          </a:solidFill>
          <a:ln w="12700">
            <a:solidFill>
              <a:srgbClr val="8B5CF6"/>
            </a:solidFill>
            <a:prstDash val="solid"/>
          </a:ln>
        </p:spPr>
        <p:txBody>
          <a:bodyPr/>
          <a:lstStyle/>
          <a:p>
            <a:endParaRPr lang="en-IN"/>
          </a:p>
        </p:txBody>
      </p:sp>
      <p:sp>
        <p:nvSpPr>
          <p:cNvPr id="47" name="Text 45"/>
          <p:cNvSpPr/>
          <p:nvPr/>
        </p:nvSpPr>
        <p:spPr>
          <a:xfrm>
            <a:off x="457200" y="4169664"/>
            <a:ext cx="2286000" cy="320040"/>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LangGraph Key Concepts:</a:t>
            </a:r>
            <a:endParaRPr lang="en-US" sz="1200" dirty="0"/>
          </a:p>
        </p:txBody>
      </p:sp>
      <p:sp>
        <p:nvSpPr>
          <p:cNvPr id="48" name="Text 46"/>
          <p:cNvSpPr/>
          <p:nvPr/>
        </p:nvSpPr>
        <p:spPr>
          <a:xfrm>
            <a:off x="45720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State — typed dict shared across nodes</a:t>
            </a:r>
            <a:endParaRPr lang="en-US" sz="1000" dirty="0"/>
          </a:p>
        </p:txBody>
      </p:sp>
      <p:sp>
        <p:nvSpPr>
          <p:cNvPr id="49" name="Text 47"/>
          <p:cNvSpPr/>
          <p:nvPr/>
        </p:nvSpPr>
        <p:spPr>
          <a:xfrm>
            <a:off x="475488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Nodes — agent/tool/function steps</a:t>
            </a:r>
            <a:endParaRPr lang="en-US" sz="1000" dirty="0"/>
          </a:p>
        </p:txBody>
      </p:sp>
      <p:sp>
        <p:nvSpPr>
          <p:cNvPr id="50" name="Text 48"/>
          <p:cNvSpPr/>
          <p:nvPr/>
        </p:nvSpPr>
        <p:spPr>
          <a:xfrm>
            <a:off x="45720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Edges — conditional routing between nodes</a:t>
            </a:r>
            <a:endParaRPr lang="en-US" sz="1000" dirty="0"/>
          </a:p>
        </p:txBody>
      </p:sp>
      <p:sp>
        <p:nvSpPr>
          <p:cNvPr id="51" name="Text 49"/>
          <p:cNvSpPr/>
          <p:nvPr/>
        </p:nvSpPr>
        <p:spPr>
          <a:xfrm>
            <a:off x="4754880" y="4526280"/>
            <a:ext cx="4114800" cy="329184"/>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Checkpoints — resume from any state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w="12700">
            <a:solidFill>
              <a:srgbClr val="EF444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Agent Memory</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EF4444"/>
                </a:solidFill>
                <a:latin typeface="Calibri" pitchFamily="34" charset="0"/>
                <a:ea typeface="Calibri" pitchFamily="34" charset="-122"/>
                <a:cs typeface="Calibri" pitchFamily="34" charset="-120"/>
              </a:rPr>
              <a:t>How agents remember context across interactions</a:t>
            </a:r>
            <a:endParaRPr lang="en-US" sz="1300" dirty="0"/>
          </a:p>
        </p:txBody>
      </p:sp>
      <p:sp>
        <p:nvSpPr>
          <p:cNvPr id="5" name="Shape 3"/>
          <p:cNvSpPr/>
          <p:nvPr/>
        </p:nvSpPr>
        <p:spPr>
          <a:xfrm>
            <a:off x="274320" y="960120"/>
            <a:ext cx="4114800" cy="1719072"/>
          </a:xfrm>
          <a:prstGeom prst="roundRect">
            <a:avLst>
              <a:gd name="adj" fmla="val 6383"/>
            </a:avLst>
          </a:prstGeom>
          <a:solidFill>
            <a:srgbClr val="1E293B"/>
          </a:solidFill>
          <a:ln w="19050">
            <a:solidFill>
              <a:srgbClr val="06B6D4"/>
            </a:solidFill>
            <a:prstDash val="solid"/>
          </a:ln>
        </p:spPr>
        <p:txBody>
          <a:bodyPr/>
          <a:lstStyle/>
          <a:p>
            <a:endParaRPr lang="en-IN"/>
          </a:p>
        </p:txBody>
      </p:sp>
      <p:sp>
        <p:nvSpPr>
          <p:cNvPr id="6" name="Text 4"/>
          <p:cNvSpPr/>
          <p:nvPr/>
        </p:nvSpPr>
        <p:spPr>
          <a:xfrm>
            <a:off x="411480" y="1051560"/>
            <a:ext cx="3840480" cy="384048"/>
          </a:xfrm>
          <a:prstGeom prst="rect">
            <a:avLst/>
          </a:prstGeom>
          <a:noFill/>
          <a:ln/>
        </p:spPr>
        <p:txBody>
          <a:bodyPr wrap="square" rtlCol="0" anchor="ctr"/>
          <a:lstStyle/>
          <a:p>
            <a:pPr marL="0" indent="0">
              <a:buNone/>
            </a:pPr>
            <a:r>
              <a:rPr lang="en-US" sz="1300" b="1" dirty="0">
                <a:solidFill>
                  <a:srgbClr val="06B6D4"/>
                </a:solidFill>
                <a:latin typeface="Calibri" pitchFamily="34" charset="0"/>
                <a:ea typeface="Calibri" pitchFamily="34" charset="-122"/>
                <a:cs typeface="Calibri" pitchFamily="34" charset="-120"/>
              </a:rPr>
              <a:t>⚡  Short-Term Memory</a:t>
            </a:r>
            <a:endParaRPr lang="en-US" sz="1300" dirty="0"/>
          </a:p>
        </p:txBody>
      </p:sp>
      <p:sp>
        <p:nvSpPr>
          <p:cNvPr id="7" name="Text 5"/>
          <p:cNvSpPr/>
          <p:nvPr/>
        </p:nvSpPr>
        <p:spPr>
          <a:xfrm>
            <a:off x="411480" y="143560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In-context storage</a:t>
            </a:r>
            <a:endParaRPr lang="en-US" sz="1000" dirty="0"/>
          </a:p>
        </p:txBody>
      </p:sp>
      <p:sp>
        <p:nvSpPr>
          <p:cNvPr id="8" name="Text 6"/>
          <p:cNvSpPr/>
          <p:nvPr/>
        </p:nvSpPr>
        <p:spPr>
          <a:xfrm>
            <a:off x="411480" y="170992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Conversation history in current session. Stored in LLM context window. Cleared when session ends. Example: ConversationBufferMemory in LangChain.</a:t>
            </a:r>
            <a:endParaRPr lang="en-US" sz="950" dirty="0"/>
          </a:p>
        </p:txBody>
      </p:sp>
      <p:sp>
        <p:nvSpPr>
          <p:cNvPr id="9" name="Shape 7"/>
          <p:cNvSpPr/>
          <p:nvPr/>
        </p:nvSpPr>
        <p:spPr>
          <a:xfrm>
            <a:off x="4754880" y="960120"/>
            <a:ext cx="4114800" cy="1719072"/>
          </a:xfrm>
          <a:prstGeom prst="roundRect">
            <a:avLst>
              <a:gd name="adj" fmla="val 6383"/>
            </a:avLst>
          </a:prstGeom>
          <a:solidFill>
            <a:srgbClr val="1E293B"/>
          </a:solidFill>
          <a:ln w="19050">
            <a:solidFill>
              <a:srgbClr val="10B981"/>
            </a:solidFill>
            <a:prstDash val="solid"/>
          </a:ln>
        </p:spPr>
        <p:txBody>
          <a:bodyPr/>
          <a:lstStyle/>
          <a:p>
            <a:endParaRPr lang="en-IN"/>
          </a:p>
        </p:txBody>
      </p:sp>
      <p:sp>
        <p:nvSpPr>
          <p:cNvPr id="10" name="Text 8"/>
          <p:cNvSpPr/>
          <p:nvPr/>
        </p:nvSpPr>
        <p:spPr>
          <a:xfrm>
            <a:off x="4892040" y="1051560"/>
            <a:ext cx="3840480" cy="384048"/>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  Long-Term Memory</a:t>
            </a:r>
            <a:endParaRPr lang="en-US" sz="1300" dirty="0"/>
          </a:p>
        </p:txBody>
      </p:sp>
      <p:sp>
        <p:nvSpPr>
          <p:cNvPr id="11" name="Text 9"/>
          <p:cNvSpPr/>
          <p:nvPr/>
        </p:nvSpPr>
        <p:spPr>
          <a:xfrm>
            <a:off x="4892040" y="143560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Persistent storage</a:t>
            </a:r>
            <a:endParaRPr lang="en-US" sz="1000" dirty="0"/>
          </a:p>
        </p:txBody>
      </p:sp>
      <p:sp>
        <p:nvSpPr>
          <p:cNvPr id="12" name="Text 10"/>
          <p:cNvSpPr/>
          <p:nvPr/>
        </p:nvSpPr>
        <p:spPr>
          <a:xfrm>
            <a:off x="4892040" y="170992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User preferences, past interactions. Stored in databases (Redis, DynamoDB). Persists across sessions. Example: summarized conversation history.</a:t>
            </a:r>
            <a:endParaRPr lang="en-US" sz="950" dirty="0"/>
          </a:p>
        </p:txBody>
      </p:sp>
      <p:sp>
        <p:nvSpPr>
          <p:cNvPr id="13" name="Shape 11"/>
          <p:cNvSpPr/>
          <p:nvPr/>
        </p:nvSpPr>
        <p:spPr>
          <a:xfrm>
            <a:off x="274320" y="2834640"/>
            <a:ext cx="4114800" cy="1719072"/>
          </a:xfrm>
          <a:prstGeom prst="roundRect">
            <a:avLst>
              <a:gd name="adj" fmla="val 6383"/>
            </a:avLst>
          </a:prstGeom>
          <a:solidFill>
            <a:srgbClr val="1E293B"/>
          </a:solidFill>
          <a:ln w="19050">
            <a:solidFill>
              <a:srgbClr val="8B5CF6"/>
            </a:solidFill>
            <a:prstDash val="solid"/>
          </a:ln>
        </p:spPr>
        <p:txBody>
          <a:bodyPr/>
          <a:lstStyle/>
          <a:p>
            <a:endParaRPr lang="en-IN"/>
          </a:p>
        </p:txBody>
      </p:sp>
      <p:sp>
        <p:nvSpPr>
          <p:cNvPr id="14" name="Text 12"/>
          <p:cNvSpPr/>
          <p:nvPr/>
        </p:nvSpPr>
        <p:spPr>
          <a:xfrm>
            <a:off x="411480" y="2926080"/>
            <a:ext cx="3840480" cy="384048"/>
          </a:xfrm>
          <a:prstGeom prst="rect">
            <a:avLst/>
          </a:prstGeom>
          <a:noFill/>
          <a:ln/>
        </p:spPr>
        <p:txBody>
          <a:bodyPr wrap="square"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  Semantic / Vector Memory</a:t>
            </a:r>
            <a:endParaRPr lang="en-US" sz="1300" dirty="0"/>
          </a:p>
        </p:txBody>
      </p:sp>
      <p:sp>
        <p:nvSpPr>
          <p:cNvPr id="15" name="Text 13"/>
          <p:cNvSpPr/>
          <p:nvPr/>
        </p:nvSpPr>
        <p:spPr>
          <a:xfrm>
            <a:off x="411480" y="331012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Embeddings-based</a:t>
            </a:r>
            <a:endParaRPr lang="en-US" sz="1000" dirty="0"/>
          </a:p>
        </p:txBody>
      </p:sp>
      <p:sp>
        <p:nvSpPr>
          <p:cNvPr id="16" name="Text 14"/>
          <p:cNvSpPr/>
          <p:nvPr/>
        </p:nvSpPr>
        <p:spPr>
          <a:xfrm>
            <a:off x="411480" y="358444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Past messages stored as embeddings. Retrieves relevant memories by similarity. Used when context window is too small. Example: VectorStoreRetrieverMemory.</a:t>
            </a:r>
            <a:endParaRPr lang="en-US" sz="950" dirty="0"/>
          </a:p>
        </p:txBody>
      </p:sp>
      <p:sp>
        <p:nvSpPr>
          <p:cNvPr id="17" name="Shape 15"/>
          <p:cNvSpPr/>
          <p:nvPr/>
        </p:nvSpPr>
        <p:spPr>
          <a:xfrm>
            <a:off x="4754880" y="2834640"/>
            <a:ext cx="4114800" cy="1719072"/>
          </a:xfrm>
          <a:prstGeom prst="roundRect">
            <a:avLst>
              <a:gd name="adj" fmla="val 6383"/>
            </a:avLst>
          </a:prstGeom>
          <a:solidFill>
            <a:srgbClr val="1E293B"/>
          </a:solidFill>
          <a:ln w="19050">
            <a:solidFill>
              <a:srgbClr val="F59E0B"/>
            </a:solidFill>
            <a:prstDash val="solid"/>
          </a:ln>
        </p:spPr>
        <p:txBody>
          <a:bodyPr/>
          <a:lstStyle/>
          <a:p>
            <a:endParaRPr lang="en-IN"/>
          </a:p>
        </p:txBody>
      </p:sp>
      <p:sp>
        <p:nvSpPr>
          <p:cNvPr id="18" name="Text 16"/>
          <p:cNvSpPr/>
          <p:nvPr/>
        </p:nvSpPr>
        <p:spPr>
          <a:xfrm>
            <a:off x="4892040" y="2926080"/>
            <a:ext cx="3840480" cy="38404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Episodic Memory</a:t>
            </a:r>
            <a:endParaRPr lang="en-US" sz="1300" dirty="0"/>
          </a:p>
        </p:txBody>
      </p:sp>
      <p:sp>
        <p:nvSpPr>
          <p:cNvPr id="19" name="Text 17"/>
          <p:cNvSpPr/>
          <p:nvPr/>
        </p:nvSpPr>
        <p:spPr>
          <a:xfrm>
            <a:off x="4892040" y="3310128"/>
            <a:ext cx="384048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Task &amp; event history</a:t>
            </a:r>
            <a:endParaRPr lang="en-US" sz="1000" dirty="0"/>
          </a:p>
        </p:txBody>
      </p:sp>
      <p:sp>
        <p:nvSpPr>
          <p:cNvPr id="20" name="Text 18"/>
          <p:cNvSpPr/>
          <p:nvPr/>
        </p:nvSpPr>
        <p:spPr>
          <a:xfrm>
            <a:off x="4892040" y="3584448"/>
            <a:ext cx="3840480" cy="86868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Stores sequences of past actions and outcomes. Helps agent learn from past mistakes. Used in multi-agent and long-horizon tasks.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Multi-Agent Systems</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06B6D4"/>
                </a:solidFill>
                <a:latin typeface="Calibri" pitchFamily="34" charset="0"/>
                <a:ea typeface="Calibri" pitchFamily="34" charset="-122"/>
                <a:cs typeface="Calibri" pitchFamily="34" charset="-120"/>
              </a:rPr>
              <a:t>Multiple specialized agents working together to solve complex problems</a:t>
            </a:r>
            <a:endParaRPr lang="en-US" sz="1200" dirty="0"/>
          </a:p>
        </p:txBody>
      </p:sp>
      <p:sp>
        <p:nvSpPr>
          <p:cNvPr id="5" name="Shape 3"/>
          <p:cNvSpPr/>
          <p:nvPr/>
        </p:nvSpPr>
        <p:spPr>
          <a:xfrm>
            <a:off x="3383280" y="2011680"/>
            <a:ext cx="2377440" cy="1005840"/>
          </a:xfrm>
          <a:prstGeom prst="ellipse">
            <a:avLst/>
          </a:prstGeom>
          <a:solidFill>
            <a:srgbClr val="06B6D4"/>
          </a:solidFill>
          <a:ln w="12700">
            <a:solidFill>
              <a:srgbClr val="06B6D4"/>
            </a:solidFill>
            <a:prstDash val="solid"/>
          </a:ln>
        </p:spPr>
        <p:txBody>
          <a:bodyPr/>
          <a:lstStyle/>
          <a:p>
            <a:endParaRPr lang="en-IN"/>
          </a:p>
        </p:txBody>
      </p:sp>
      <p:sp>
        <p:nvSpPr>
          <p:cNvPr id="6" name="Text 4"/>
          <p:cNvSpPr/>
          <p:nvPr/>
        </p:nvSpPr>
        <p:spPr>
          <a:xfrm>
            <a:off x="3383280" y="2011680"/>
            <a:ext cx="2377440" cy="100584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 COORDINATOR</a:t>
            </a:r>
            <a:endParaRPr lang="en-US" sz="1200" dirty="0"/>
          </a:p>
          <a:p>
            <a:pPr marL="0" indent="0" algn="ctr">
              <a:buNone/>
            </a:pPr>
            <a:r>
              <a:rPr lang="en-US" sz="1200" b="1" dirty="0">
                <a:solidFill>
                  <a:srgbClr val="0F172A"/>
                </a:solidFill>
                <a:latin typeface="Calibri" pitchFamily="34" charset="0"/>
                <a:ea typeface="Calibri" pitchFamily="34" charset="-122"/>
                <a:cs typeface="Calibri" pitchFamily="34" charset="-120"/>
              </a:rPr>
              <a:t>AGENT</a:t>
            </a:r>
            <a:endParaRPr lang="en-US" sz="1200" dirty="0"/>
          </a:p>
        </p:txBody>
      </p:sp>
      <p:sp>
        <p:nvSpPr>
          <p:cNvPr id="7" name="Shape 5"/>
          <p:cNvSpPr/>
          <p:nvPr/>
        </p:nvSpPr>
        <p:spPr>
          <a:xfrm>
            <a:off x="365760" y="1097280"/>
            <a:ext cx="2011680" cy="914400"/>
          </a:xfrm>
          <a:prstGeom prst="roundRect">
            <a:avLst>
              <a:gd name="adj" fmla="val 12000"/>
            </a:avLst>
          </a:prstGeom>
          <a:solidFill>
            <a:srgbClr val="1E293B"/>
          </a:solidFill>
          <a:ln w="19050">
            <a:solidFill>
              <a:srgbClr val="8B5CF6"/>
            </a:solidFill>
            <a:prstDash val="solid"/>
          </a:ln>
        </p:spPr>
        <p:txBody>
          <a:bodyPr/>
          <a:lstStyle/>
          <a:p>
            <a:endParaRPr lang="en-IN"/>
          </a:p>
        </p:txBody>
      </p:sp>
      <p:sp>
        <p:nvSpPr>
          <p:cNvPr id="8" name="Text 6"/>
          <p:cNvSpPr/>
          <p:nvPr/>
        </p:nvSpPr>
        <p:spPr>
          <a:xfrm>
            <a:off x="365760" y="1234440"/>
            <a:ext cx="2011680" cy="640080"/>
          </a:xfrm>
          <a:prstGeom prst="rect">
            <a:avLst/>
          </a:prstGeom>
          <a:noFill/>
          <a:ln/>
        </p:spPr>
        <p:txBody>
          <a:bodyPr wrap="square"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 Research</a:t>
            </a:r>
            <a:endParaRPr lang="en-US" sz="1150" dirty="0"/>
          </a:p>
          <a:p>
            <a:pPr marL="0" indent="0" algn="ctr">
              <a:buNone/>
            </a:pPr>
            <a:r>
              <a:rPr lang="en-US" sz="1150" b="1" dirty="0">
                <a:solidFill>
                  <a:srgbClr val="8B5CF6"/>
                </a:solidFill>
                <a:latin typeface="Calibri" pitchFamily="34" charset="0"/>
                <a:ea typeface="Calibri" pitchFamily="34" charset="-122"/>
                <a:cs typeface="Calibri" pitchFamily="34" charset="-120"/>
              </a:rPr>
              <a:t>Agent</a:t>
            </a:r>
            <a:endParaRPr lang="en-US" sz="1150" dirty="0"/>
          </a:p>
        </p:txBody>
      </p:sp>
      <p:sp>
        <p:nvSpPr>
          <p:cNvPr id="9" name="Shape 7"/>
          <p:cNvSpPr/>
          <p:nvPr/>
        </p:nvSpPr>
        <p:spPr>
          <a:xfrm>
            <a:off x="2377440" y="1554480"/>
            <a:ext cx="1005840" cy="0"/>
          </a:xfrm>
          <a:prstGeom prst="line">
            <a:avLst/>
          </a:prstGeom>
          <a:noFill/>
          <a:ln w="12700">
            <a:solidFill>
              <a:srgbClr val="8B5CF6"/>
            </a:solidFill>
            <a:prstDash val="sysDot"/>
          </a:ln>
        </p:spPr>
        <p:txBody>
          <a:bodyPr/>
          <a:lstStyle/>
          <a:p>
            <a:endParaRPr lang="en-IN"/>
          </a:p>
        </p:txBody>
      </p:sp>
      <p:sp>
        <p:nvSpPr>
          <p:cNvPr id="10" name="Shape 8"/>
          <p:cNvSpPr/>
          <p:nvPr/>
        </p:nvSpPr>
        <p:spPr>
          <a:xfrm>
            <a:off x="365760" y="2926080"/>
            <a:ext cx="2011680" cy="914400"/>
          </a:xfrm>
          <a:prstGeom prst="roundRect">
            <a:avLst>
              <a:gd name="adj" fmla="val 12000"/>
            </a:avLst>
          </a:prstGeom>
          <a:solidFill>
            <a:srgbClr val="1E293B"/>
          </a:solidFill>
          <a:ln w="19050">
            <a:solidFill>
              <a:srgbClr val="10B981"/>
            </a:solidFill>
            <a:prstDash val="solid"/>
          </a:ln>
        </p:spPr>
        <p:txBody>
          <a:bodyPr/>
          <a:lstStyle/>
          <a:p>
            <a:endParaRPr lang="en-IN"/>
          </a:p>
        </p:txBody>
      </p:sp>
      <p:sp>
        <p:nvSpPr>
          <p:cNvPr id="11" name="Text 9"/>
          <p:cNvSpPr/>
          <p:nvPr/>
        </p:nvSpPr>
        <p:spPr>
          <a:xfrm>
            <a:off x="365760" y="3063240"/>
            <a:ext cx="2011680" cy="640080"/>
          </a:xfrm>
          <a:prstGeom prst="rect">
            <a:avLst/>
          </a:prstGeom>
          <a:noFill/>
          <a:ln/>
        </p:spPr>
        <p:txBody>
          <a:bodyPr wrap="square"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 Planner</a:t>
            </a:r>
            <a:endParaRPr lang="en-US" sz="1150" dirty="0"/>
          </a:p>
          <a:p>
            <a:pPr marL="0" indent="0" algn="ctr">
              <a:buNone/>
            </a:pPr>
            <a:r>
              <a:rPr lang="en-US" sz="1150" b="1" dirty="0">
                <a:solidFill>
                  <a:srgbClr val="10B981"/>
                </a:solidFill>
                <a:latin typeface="Calibri" pitchFamily="34" charset="0"/>
                <a:ea typeface="Calibri" pitchFamily="34" charset="-122"/>
                <a:cs typeface="Calibri" pitchFamily="34" charset="-120"/>
              </a:rPr>
              <a:t>Agent</a:t>
            </a:r>
            <a:endParaRPr lang="en-US" sz="1150" dirty="0"/>
          </a:p>
        </p:txBody>
      </p:sp>
      <p:sp>
        <p:nvSpPr>
          <p:cNvPr id="12" name="Shape 10"/>
          <p:cNvSpPr/>
          <p:nvPr/>
        </p:nvSpPr>
        <p:spPr>
          <a:xfrm>
            <a:off x="2377440" y="2514600"/>
            <a:ext cx="1005840" cy="0"/>
          </a:xfrm>
          <a:prstGeom prst="line">
            <a:avLst/>
          </a:prstGeom>
          <a:noFill/>
          <a:ln w="12700">
            <a:solidFill>
              <a:srgbClr val="10B981"/>
            </a:solidFill>
            <a:prstDash val="sysDot"/>
          </a:ln>
        </p:spPr>
        <p:txBody>
          <a:bodyPr/>
          <a:lstStyle/>
          <a:p>
            <a:endParaRPr lang="en-IN"/>
          </a:p>
        </p:txBody>
      </p:sp>
      <p:sp>
        <p:nvSpPr>
          <p:cNvPr id="13" name="Shape 11"/>
          <p:cNvSpPr/>
          <p:nvPr/>
        </p:nvSpPr>
        <p:spPr>
          <a:xfrm>
            <a:off x="6583680" y="1097280"/>
            <a:ext cx="2011680" cy="914400"/>
          </a:xfrm>
          <a:prstGeom prst="roundRect">
            <a:avLst>
              <a:gd name="adj" fmla="val 12000"/>
            </a:avLst>
          </a:prstGeom>
          <a:solidFill>
            <a:srgbClr val="1E293B"/>
          </a:solidFill>
          <a:ln w="19050">
            <a:solidFill>
              <a:srgbClr val="F59E0B"/>
            </a:solidFill>
            <a:prstDash val="solid"/>
          </a:ln>
        </p:spPr>
        <p:txBody>
          <a:bodyPr/>
          <a:lstStyle/>
          <a:p>
            <a:endParaRPr lang="en-IN"/>
          </a:p>
        </p:txBody>
      </p:sp>
      <p:sp>
        <p:nvSpPr>
          <p:cNvPr id="14" name="Text 12"/>
          <p:cNvSpPr/>
          <p:nvPr/>
        </p:nvSpPr>
        <p:spPr>
          <a:xfrm>
            <a:off x="6583680" y="1234440"/>
            <a:ext cx="2011680" cy="640080"/>
          </a:xfrm>
          <a:prstGeom prst="rect">
            <a:avLst/>
          </a:prstGeom>
          <a:noFill/>
          <a:ln/>
        </p:spPr>
        <p:txBody>
          <a:bodyPr wrap="square" rtlCol="0" anchor="ctr"/>
          <a:lstStyle/>
          <a:p>
            <a:pPr marL="0" indent="0" algn="ctr">
              <a:buNone/>
            </a:pPr>
            <a:r>
              <a:rPr lang="en-US" sz="1150" b="1" dirty="0">
                <a:solidFill>
                  <a:srgbClr val="F59E0B"/>
                </a:solidFill>
                <a:latin typeface="Calibri" pitchFamily="34" charset="0"/>
                <a:ea typeface="Calibri" pitchFamily="34" charset="-122"/>
                <a:cs typeface="Calibri" pitchFamily="34" charset="-120"/>
              </a:rPr>
              <a:t>✍️ Writer</a:t>
            </a:r>
            <a:endParaRPr lang="en-US" sz="1150" dirty="0"/>
          </a:p>
          <a:p>
            <a:pPr marL="0" indent="0" algn="ctr">
              <a:buNone/>
            </a:pPr>
            <a:r>
              <a:rPr lang="en-US" sz="1150" b="1" dirty="0">
                <a:solidFill>
                  <a:srgbClr val="F59E0B"/>
                </a:solidFill>
                <a:latin typeface="Calibri" pitchFamily="34" charset="0"/>
                <a:ea typeface="Calibri" pitchFamily="34" charset="-122"/>
                <a:cs typeface="Calibri" pitchFamily="34" charset="-120"/>
              </a:rPr>
              <a:t>Agent</a:t>
            </a:r>
            <a:endParaRPr lang="en-US" sz="1150" dirty="0"/>
          </a:p>
        </p:txBody>
      </p:sp>
      <p:sp>
        <p:nvSpPr>
          <p:cNvPr id="15" name="Shape 13"/>
          <p:cNvSpPr/>
          <p:nvPr/>
        </p:nvSpPr>
        <p:spPr>
          <a:xfrm>
            <a:off x="5760720" y="1554480"/>
            <a:ext cx="822960" cy="0"/>
          </a:xfrm>
          <a:prstGeom prst="line">
            <a:avLst/>
          </a:prstGeom>
          <a:noFill/>
          <a:ln w="12700">
            <a:solidFill>
              <a:srgbClr val="F59E0B"/>
            </a:solidFill>
            <a:prstDash val="sysDot"/>
          </a:ln>
        </p:spPr>
        <p:txBody>
          <a:bodyPr/>
          <a:lstStyle/>
          <a:p>
            <a:endParaRPr lang="en-IN"/>
          </a:p>
        </p:txBody>
      </p:sp>
      <p:sp>
        <p:nvSpPr>
          <p:cNvPr id="16" name="Shape 14"/>
          <p:cNvSpPr/>
          <p:nvPr/>
        </p:nvSpPr>
        <p:spPr>
          <a:xfrm>
            <a:off x="6583680" y="2926080"/>
            <a:ext cx="2011680" cy="914400"/>
          </a:xfrm>
          <a:prstGeom prst="roundRect">
            <a:avLst>
              <a:gd name="adj" fmla="val 12000"/>
            </a:avLst>
          </a:prstGeom>
          <a:solidFill>
            <a:srgbClr val="1E293B"/>
          </a:solidFill>
          <a:ln w="19050">
            <a:solidFill>
              <a:srgbClr val="EF4444"/>
            </a:solidFill>
            <a:prstDash val="solid"/>
          </a:ln>
        </p:spPr>
        <p:txBody>
          <a:bodyPr/>
          <a:lstStyle/>
          <a:p>
            <a:endParaRPr lang="en-IN"/>
          </a:p>
        </p:txBody>
      </p:sp>
      <p:sp>
        <p:nvSpPr>
          <p:cNvPr id="17" name="Text 15"/>
          <p:cNvSpPr/>
          <p:nvPr/>
        </p:nvSpPr>
        <p:spPr>
          <a:xfrm>
            <a:off x="6583680" y="3063240"/>
            <a:ext cx="2011680" cy="640080"/>
          </a:xfrm>
          <a:prstGeom prst="rect">
            <a:avLst/>
          </a:prstGeom>
          <a:noFill/>
          <a:ln/>
        </p:spPr>
        <p:txBody>
          <a:bodyPr wrap="square" rtlCol="0" anchor="ctr"/>
          <a:lstStyle/>
          <a:p>
            <a:pPr marL="0" indent="0" algn="ctr">
              <a:buNone/>
            </a:pPr>
            <a:r>
              <a:rPr lang="en-US" sz="1150" b="1" dirty="0">
                <a:solidFill>
                  <a:srgbClr val="EF4444"/>
                </a:solidFill>
                <a:latin typeface="Calibri" pitchFamily="34" charset="0"/>
                <a:ea typeface="Calibri" pitchFamily="34" charset="-122"/>
                <a:cs typeface="Calibri" pitchFamily="34" charset="-120"/>
              </a:rPr>
              <a:t>⚙️ Execution</a:t>
            </a:r>
            <a:endParaRPr lang="en-US" sz="1150" dirty="0"/>
          </a:p>
          <a:p>
            <a:pPr marL="0" indent="0" algn="ctr">
              <a:buNone/>
            </a:pPr>
            <a:r>
              <a:rPr lang="en-US" sz="1150" b="1" dirty="0">
                <a:solidFill>
                  <a:srgbClr val="EF4444"/>
                </a:solidFill>
                <a:latin typeface="Calibri" pitchFamily="34" charset="0"/>
                <a:ea typeface="Calibri" pitchFamily="34" charset="-122"/>
                <a:cs typeface="Calibri" pitchFamily="34" charset="-120"/>
              </a:rPr>
              <a:t>Agent</a:t>
            </a:r>
            <a:endParaRPr lang="en-US" sz="1150" dirty="0"/>
          </a:p>
        </p:txBody>
      </p:sp>
      <p:sp>
        <p:nvSpPr>
          <p:cNvPr id="18" name="Shape 16"/>
          <p:cNvSpPr/>
          <p:nvPr/>
        </p:nvSpPr>
        <p:spPr>
          <a:xfrm>
            <a:off x="5760720" y="2514600"/>
            <a:ext cx="822960" cy="0"/>
          </a:xfrm>
          <a:prstGeom prst="line">
            <a:avLst/>
          </a:prstGeom>
          <a:noFill/>
          <a:ln w="12700">
            <a:solidFill>
              <a:srgbClr val="EF4444"/>
            </a:solidFill>
            <a:prstDash val="sysDot"/>
          </a:ln>
        </p:spPr>
        <p:txBody>
          <a:bodyPr/>
          <a:lstStyle/>
          <a:p>
            <a:endParaRPr lang="en-IN"/>
          </a:p>
        </p:txBody>
      </p:sp>
      <p:sp>
        <p:nvSpPr>
          <p:cNvPr id="19" name="Shape 17"/>
          <p:cNvSpPr/>
          <p:nvPr/>
        </p:nvSpPr>
        <p:spPr>
          <a:xfrm>
            <a:off x="274320" y="4160520"/>
            <a:ext cx="8595360" cy="868680"/>
          </a:xfrm>
          <a:prstGeom prst="roundRect">
            <a:avLst>
              <a:gd name="adj" fmla="val 10526"/>
            </a:avLst>
          </a:prstGeom>
          <a:solidFill>
            <a:srgbClr val="1E293B"/>
          </a:solidFill>
          <a:ln w="12700">
            <a:solidFill>
              <a:srgbClr val="10B981"/>
            </a:solidFill>
            <a:prstDash val="solid"/>
          </a:ln>
        </p:spPr>
        <p:txBody>
          <a:bodyPr/>
          <a:lstStyle/>
          <a:p>
            <a:endParaRPr lang="en-IN"/>
          </a:p>
        </p:txBody>
      </p:sp>
      <p:sp>
        <p:nvSpPr>
          <p:cNvPr id="20" name="Text 18"/>
          <p:cNvSpPr/>
          <p:nvPr/>
        </p:nvSpPr>
        <p:spPr>
          <a:xfrm>
            <a:off x="457200" y="4233672"/>
            <a:ext cx="3657600" cy="310896"/>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Real-World Example: AI Research Assistant</a:t>
            </a:r>
            <a:endParaRPr lang="en-US" sz="1200" dirty="0"/>
          </a:p>
        </p:txBody>
      </p:sp>
      <p:sp>
        <p:nvSpPr>
          <p:cNvPr id="21" name="Text 19"/>
          <p:cNvSpPr/>
          <p:nvPr/>
        </p:nvSpPr>
        <p:spPr>
          <a:xfrm>
            <a:off x="457200" y="4544568"/>
            <a:ext cx="8229600" cy="420624"/>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User: Write a detailed report on EV market trends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 Research Agent searches web → Writer Agent drafts → Planner Agent structures → Execution Agent emails final report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Agentic AI — End-to-End Architecture</a:t>
            </a:r>
            <a:endParaRPr lang="en-US" sz="2600" dirty="0"/>
          </a:p>
        </p:txBody>
      </p:sp>
      <p:sp>
        <p:nvSpPr>
          <p:cNvPr id="4" name="Shape 2"/>
          <p:cNvSpPr/>
          <p:nvPr/>
        </p:nvSpPr>
        <p:spPr>
          <a:xfrm>
            <a:off x="1371600" y="713232"/>
            <a:ext cx="6400800" cy="530352"/>
          </a:xfrm>
          <a:prstGeom prst="roundRect">
            <a:avLst>
              <a:gd name="adj" fmla="val 13793"/>
            </a:avLst>
          </a:prstGeom>
          <a:solidFill>
            <a:srgbClr val="1E293B"/>
          </a:solidFill>
          <a:ln w="19050">
            <a:solidFill>
              <a:srgbClr val="06B6D4"/>
            </a:solidFill>
            <a:prstDash val="solid"/>
          </a:ln>
        </p:spPr>
        <p:txBody>
          <a:bodyPr/>
          <a:lstStyle/>
          <a:p>
            <a:endParaRPr lang="en-IN"/>
          </a:p>
        </p:txBody>
      </p:sp>
      <p:sp>
        <p:nvSpPr>
          <p:cNvPr id="5" name="Text 3"/>
          <p:cNvSpPr/>
          <p:nvPr/>
        </p:nvSpPr>
        <p:spPr>
          <a:xfrm>
            <a:off x="1508760" y="786384"/>
            <a:ext cx="3200400" cy="347472"/>
          </a:xfrm>
          <a:prstGeom prst="rect">
            <a:avLst/>
          </a:prstGeom>
          <a:noFill/>
          <a:ln/>
        </p:spPr>
        <p:txBody>
          <a:bodyPr wrap="square"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 USER</a:t>
            </a:r>
            <a:endParaRPr lang="en-US" sz="1200" dirty="0"/>
          </a:p>
        </p:txBody>
      </p:sp>
      <p:sp>
        <p:nvSpPr>
          <p:cNvPr id="6" name="Text 4"/>
          <p:cNvSpPr/>
          <p:nvPr/>
        </p:nvSpPr>
        <p:spPr>
          <a:xfrm>
            <a:off x="4754880" y="804672"/>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Natural language request</a:t>
            </a:r>
            <a:endParaRPr lang="en-US" sz="1000" dirty="0"/>
          </a:p>
        </p:txBody>
      </p:sp>
      <p:sp>
        <p:nvSpPr>
          <p:cNvPr id="7" name="Shape 5"/>
          <p:cNvSpPr/>
          <p:nvPr/>
        </p:nvSpPr>
        <p:spPr>
          <a:xfrm>
            <a:off x="4572000" y="1243584"/>
            <a:ext cx="0" cy="109728"/>
          </a:xfrm>
          <a:prstGeom prst="line">
            <a:avLst/>
          </a:prstGeom>
          <a:noFill/>
          <a:ln w="19050">
            <a:solidFill>
              <a:srgbClr val="06B6D4"/>
            </a:solidFill>
            <a:prstDash val="solid"/>
          </a:ln>
        </p:spPr>
        <p:txBody>
          <a:bodyPr/>
          <a:lstStyle/>
          <a:p>
            <a:endParaRPr lang="en-IN"/>
          </a:p>
        </p:txBody>
      </p:sp>
      <p:sp>
        <p:nvSpPr>
          <p:cNvPr id="8" name="Shape 6"/>
          <p:cNvSpPr/>
          <p:nvPr/>
        </p:nvSpPr>
        <p:spPr>
          <a:xfrm>
            <a:off x="1371600" y="1325880"/>
            <a:ext cx="6400800" cy="530352"/>
          </a:xfrm>
          <a:prstGeom prst="roundRect">
            <a:avLst>
              <a:gd name="adj" fmla="val 13793"/>
            </a:avLst>
          </a:prstGeom>
          <a:solidFill>
            <a:srgbClr val="162030"/>
          </a:solidFill>
          <a:ln w="19050">
            <a:solidFill>
              <a:srgbClr val="8B5CF6"/>
            </a:solidFill>
            <a:prstDash val="solid"/>
          </a:ln>
        </p:spPr>
        <p:txBody>
          <a:bodyPr/>
          <a:lstStyle/>
          <a:p>
            <a:endParaRPr lang="en-IN"/>
          </a:p>
        </p:txBody>
      </p:sp>
      <p:sp>
        <p:nvSpPr>
          <p:cNvPr id="9" name="Text 7"/>
          <p:cNvSpPr/>
          <p:nvPr/>
        </p:nvSpPr>
        <p:spPr>
          <a:xfrm>
            <a:off x="1508760" y="1399032"/>
            <a:ext cx="3200400" cy="347472"/>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AGENT CORE</a:t>
            </a:r>
            <a:endParaRPr lang="en-US" sz="1200" dirty="0"/>
          </a:p>
        </p:txBody>
      </p:sp>
      <p:sp>
        <p:nvSpPr>
          <p:cNvPr id="10" name="Text 8"/>
          <p:cNvSpPr/>
          <p:nvPr/>
        </p:nvSpPr>
        <p:spPr>
          <a:xfrm>
            <a:off x="4754880" y="1417320"/>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Orchestration &amp; ReAct loop</a:t>
            </a:r>
            <a:endParaRPr lang="en-US" sz="1000" dirty="0"/>
          </a:p>
        </p:txBody>
      </p:sp>
      <p:sp>
        <p:nvSpPr>
          <p:cNvPr id="11" name="Shape 9"/>
          <p:cNvSpPr/>
          <p:nvPr/>
        </p:nvSpPr>
        <p:spPr>
          <a:xfrm>
            <a:off x="4572000" y="1856232"/>
            <a:ext cx="0" cy="109728"/>
          </a:xfrm>
          <a:prstGeom prst="line">
            <a:avLst/>
          </a:prstGeom>
          <a:noFill/>
          <a:ln w="19050">
            <a:solidFill>
              <a:srgbClr val="8B5CF6"/>
            </a:solidFill>
            <a:prstDash val="solid"/>
          </a:ln>
        </p:spPr>
        <p:txBody>
          <a:bodyPr/>
          <a:lstStyle/>
          <a:p>
            <a:endParaRPr lang="en-IN"/>
          </a:p>
        </p:txBody>
      </p:sp>
      <p:sp>
        <p:nvSpPr>
          <p:cNvPr id="12" name="Shape 10"/>
          <p:cNvSpPr/>
          <p:nvPr/>
        </p:nvSpPr>
        <p:spPr>
          <a:xfrm>
            <a:off x="1371600" y="1938528"/>
            <a:ext cx="6400800" cy="530352"/>
          </a:xfrm>
          <a:prstGeom prst="roundRect">
            <a:avLst>
              <a:gd name="adj" fmla="val 13793"/>
            </a:avLst>
          </a:prstGeom>
          <a:solidFill>
            <a:srgbClr val="1E293B"/>
          </a:solidFill>
          <a:ln w="19050">
            <a:solidFill>
              <a:srgbClr val="10B981"/>
            </a:solidFill>
            <a:prstDash val="solid"/>
          </a:ln>
        </p:spPr>
        <p:txBody>
          <a:bodyPr/>
          <a:lstStyle/>
          <a:p>
            <a:endParaRPr lang="en-IN"/>
          </a:p>
        </p:txBody>
      </p:sp>
      <p:sp>
        <p:nvSpPr>
          <p:cNvPr id="13" name="Text 11"/>
          <p:cNvSpPr/>
          <p:nvPr/>
        </p:nvSpPr>
        <p:spPr>
          <a:xfrm>
            <a:off x="1508760" y="2011680"/>
            <a:ext cx="3200400" cy="34747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PLANNER</a:t>
            </a:r>
            <a:endParaRPr lang="en-US" sz="1200" dirty="0"/>
          </a:p>
        </p:txBody>
      </p:sp>
      <p:sp>
        <p:nvSpPr>
          <p:cNvPr id="14" name="Text 12"/>
          <p:cNvSpPr/>
          <p:nvPr/>
        </p:nvSpPr>
        <p:spPr>
          <a:xfrm>
            <a:off x="4754880" y="2029968"/>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Break into sub-tasks</a:t>
            </a:r>
            <a:endParaRPr lang="en-US" sz="1000" dirty="0"/>
          </a:p>
        </p:txBody>
      </p:sp>
      <p:sp>
        <p:nvSpPr>
          <p:cNvPr id="15" name="Shape 13"/>
          <p:cNvSpPr/>
          <p:nvPr/>
        </p:nvSpPr>
        <p:spPr>
          <a:xfrm>
            <a:off x="4572000" y="2468880"/>
            <a:ext cx="0" cy="109728"/>
          </a:xfrm>
          <a:prstGeom prst="line">
            <a:avLst/>
          </a:prstGeom>
          <a:noFill/>
          <a:ln w="19050">
            <a:solidFill>
              <a:srgbClr val="10B981"/>
            </a:solidFill>
            <a:prstDash val="solid"/>
          </a:ln>
        </p:spPr>
        <p:txBody>
          <a:bodyPr/>
          <a:lstStyle/>
          <a:p>
            <a:endParaRPr lang="en-IN"/>
          </a:p>
        </p:txBody>
      </p:sp>
      <p:sp>
        <p:nvSpPr>
          <p:cNvPr id="16" name="Shape 14"/>
          <p:cNvSpPr/>
          <p:nvPr/>
        </p:nvSpPr>
        <p:spPr>
          <a:xfrm>
            <a:off x="1371600" y="2551176"/>
            <a:ext cx="6400800" cy="530352"/>
          </a:xfrm>
          <a:prstGeom prst="roundRect">
            <a:avLst>
              <a:gd name="adj" fmla="val 13793"/>
            </a:avLst>
          </a:prstGeom>
          <a:solidFill>
            <a:srgbClr val="162030"/>
          </a:solidFill>
          <a:ln w="19050">
            <a:solidFill>
              <a:srgbClr val="F59E0B"/>
            </a:solidFill>
            <a:prstDash val="solid"/>
          </a:ln>
        </p:spPr>
        <p:txBody>
          <a:bodyPr/>
          <a:lstStyle/>
          <a:p>
            <a:endParaRPr lang="en-IN"/>
          </a:p>
        </p:txBody>
      </p:sp>
      <p:sp>
        <p:nvSpPr>
          <p:cNvPr id="17" name="Text 15"/>
          <p:cNvSpPr/>
          <p:nvPr/>
        </p:nvSpPr>
        <p:spPr>
          <a:xfrm>
            <a:off x="1508760" y="2624328"/>
            <a:ext cx="3200400" cy="34747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 TOOLS &amp; MCP</a:t>
            </a:r>
            <a:endParaRPr lang="en-US" sz="1200" dirty="0"/>
          </a:p>
        </p:txBody>
      </p:sp>
      <p:sp>
        <p:nvSpPr>
          <p:cNvPr id="18" name="Text 16"/>
          <p:cNvSpPr/>
          <p:nvPr/>
        </p:nvSpPr>
        <p:spPr>
          <a:xfrm>
            <a:off x="4754880" y="2642616"/>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APIs, Search, Code, DB</a:t>
            </a:r>
            <a:endParaRPr lang="en-US" sz="1000" dirty="0"/>
          </a:p>
        </p:txBody>
      </p:sp>
      <p:sp>
        <p:nvSpPr>
          <p:cNvPr id="19" name="Shape 17"/>
          <p:cNvSpPr/>
          <p:nvPr/>
        </p:nvSpPr>
        <p:spPr>
          <a:xfrm>
            <a:off x="4572000" y="3081528"/>
            <a:ext cx="0" cy="109728"/>
          </a:xfrm>
          <a:prstGeom prst="line">
            <a:avLst/>
          </a:prstGeom>
          <a:noFill/>
          <a:ln w="19050">
            <a:solidFill>
              <a:srgbClr val="F59E0B"/>
            </a:solidFill>
            <a:prstDash val="solid"/>
          </a:ln>
        </p:spPr>
        <p:txBody>
          <a:bodyPr/>
          <a:lstStyle/>
          <a:p>
            <a:endParaRPr lang="en-IN"/>
          </a:p>
        </p:txBody>
      </p:sp>
      <p:sp>
        <p:nvSpPr>
          <p:cNvPr id="20" name="Shape 18"/>
          <p:cNvSpPr/>
          <p:nvPr/>
        </p:nvSpPr>
        <p:spPr>
          <a:xfrm>
            <a:off x="1371600" y="3163824"/>
            <a:ext cx="6400800" cy="530352"/>
          </a:xfrm>
          <a:prstGeom prst="roundRect">
            <a:avLst>
              <a:gd name="adj" fmla="val 13793"/>
            </a:avLst>
          </a:prstGeom>
          <a:solidFill>
            <a:srgbClr val="1E293B"/>
          </a:solidFill>
          <a:ln w="19050">
            <a:solidFill>
              <a:srgbClr val="EF4444"/>
            </a:solidFill>
            <a:prstDash val="solid"/>
          </a:ln>
        </p:spPr>
        <p:txBody>
          <a:bodyPr/>
          <a:lstStyle/>
          <a:p>
            <a:endParaRPr lang="en-IN"/>
          </a:p>
        </p:txBody>
      </p:sp>
      <p:sp>
        <p:nvSpPr>
          <p:cNvPr id="21" name="Text 19"/>
          <p:cNvSpPr/>
          <p:nvPr/>
        </p:nvSpPr>
        <p:spPr>
          <a:xfrm>
            <a:off x="1508760" y="3236976"/>
            <a:ext cx="3200400" cy="347472"/>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MEMORY</a:t>
            </a:r>
            <a:endParaRPr lang="en-US" sz="1200" dirty="0"/>
          </a:p>
        </p:txBody>
      </p:sp>
      <p:sp>
        <p:nvSpPr>
          <p:cNvPr id="22" name="Text 20"/>
          <p:cNvSpPr/>
          <p:nvPr/>
        </p:nvSpPr>
        <p:spPr>
          <a:xfrm>
            <a:off x="4754880" y="3255264"/>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Short-term + Long-term + Vector</a:t>
            </a:r>
            <a:endParaRPr lang="en-US" sz="1000" dirty="0"/>
          </a:p>
        </p:txBody>
      </p:sp>
      <p:sp>
        <p:nvSpPr>
          <p:cNvPr id="23" name="Shape 21"/>
          <p:cNvSpPr/>
          <p:nvPr/>
        </p:nvSpPr>
        <p:spPr>
          <a:xfrm>
            <a:off x="4572000" y="3694176"/>
            <a:ext cx="0" cy="109728"/>
          </a:xfrm>
          <a:prstGeom prst="line">
            <a:avLst/>
          </a:prstGeom>
          <a:noFill/>
          <a:ln w="19050">
            <a:solidFill>
              <a:srgbClr val="EF4444"/>
            </a:solidFill>
            <a:prstDash val="solid"/>
          </a:ln>
        </p:spPr>
        <p:txBody>
          <a:bodyPr/>
          <a:lstStyle/>
          <a:p>
            <a:endParaRPr lang="en-IN"/>
          </a:p>
        </p:txBody>
      </p:sp>
      <p:sp>
        <p:nvSpPr>
          <p:cNvPr id="24" name="Shape 22"/>
          <p:cNvSpPr/>
          <p:nvPr/>
        </p:nvSpPr>
        <p:spPr>
          <a:xfrm>
            <a:off x="1371600" y="3776472"/>
            <a:ext cx="6400800" cy="530352"/>
          </a:xfrm>
          <a:prstGeom prst="roundRect">
            <a:avLst>
              <a:gd name="adj" fmla="val 13793"/>
            </a:avLst>
          </a:prstGeom>
          <a:solidFill>
            <a:srgbClr val="162030"/>
          </a:solidFill>
          <a:ln w="19050">
            <a:solidFill>
              <a:srgbClr val="10B981"/>
            </a:solidFill>
            <a:prstDash val="solid"/>
          </a:ln>
        </p:spPr>
        <p:txBody>
          <a:bodyPr/>
          <a:lstStyle/>
          <a:p>
            <a:endParaRPr lang="en-IN"/>
          </a:p>
        </p:txBody>
      </p:sp>
      <p:sp>
        <p:nvSpPr>
          <p:cNvPr id="25" name="Text 23"/>
          <p:cNvSpPr/>
          <p:nvPr/>
        </p:nvSpPr>
        <p:spPr>
          <a:xfrm>
            <a:off x="1508760" y="3849624"/>
            <a:ext cx="3200400" cy="34747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RAG + VECTOR DB</a:t>
            </a:r>
            <a:endParaRPr lang="en-US" sz="1200" dirty="0"/>
          </a:p>
        </p:txBody>
      </p:sp>
      <p:sp>
        <p:nvSpPr>
          <p:cNvPr id="26" name="Text 24"/>
          <p:cNvSpPr/>
          <p:nvPr/>
        </p:nvSpPr>
        <p:spPr>
          <a:xfrm>
            <a:off x="4754880" y="3867912"/>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ChromaDB / FAISS / Pinecone</a:t>
            </a:r>
            <a:endParaRPr lang="en-US" sz="1000" dirty="0"/>
          </a:p>
        </p:txBody>
      </p:sp>
      <p:sp>
        <p:nvSpPr>
          <p:cNvPr id="27" name="Shape 25"/>
          <p:cNvSpPr/>
          <p:nvPr/>
        </p:nvSpPr>
        <p:spPr>
          <a:xfrm>
            <a:off x="4572000" y="4306824"/>
            <a:ext cx="0" cy="109728"/>
          </a:xfrm>
          <a:prstGeom prst="line">
            <a:avLst/>
          </a:prstGeom>
          <a:noFill/>
          <a:ln w="19050">
            <a:solidFill>
              <a:srgbClr val="10B981"/>
            </a:solidFill>
            <a:prstDash val="solid"/>
          </a:ln>
        </p:spPr>
        <p:txBody>
          <a:bodyPr/>
          <a:lstStyle/>
          <a:p>
            <a:endParaRPr lang="en-IN"/>
          </a:p>
        </p:txBody>
      </p:sp>
      <p:sp>
        <p:nvSpPr>
          <p:cNvPr id="28" name="Shape 26"/>
          <p:cNvSpPr/>
          <p:nvPr/>
        </p:nvSpPr>
        <p:spPr>
          <a:xfrm>
            <a:off x="1371600" y="4389120"/>
            <a:ext cx="6400800" cy="530352"/>
          </a:xfrm>
          <a:prstGeom prst="roundRect">
            <a:avLst>
              <a:gd name="adj" fmla="val 13793"/>
            </a:avLst>
          </a:prstGeom>
          <a:solidFill>
            <a:srgbClr val="1E293B"/>
          </a:solidFill>
          <a:ln w="19050">
            <a:solidFill>
              <a:srgbClr val="8B5CF6"/>
            </a:solidFill>
            <a:prstDash val="solid"/>
          </a:ln>
        </p:spPr>
        <p:txBody>
          <a:bodyPr/>
          <a:lstStyle/>
          <a:p>
            <a:endParaRPr lang="en-IN"/>
          </a:p>
        </p:txBody>
      </p:sp>
      <p:sp>
        <p:nvSpPr>
          <p:cNvPr id="29" name="Text 27"/>
          <p:cNvSpPr/>
          <p:nvPr/>
        </p:nvSpPr>
        <p:spPr>
          <a:xfrm>
            <a:off x="1508760" y="4462272"/>
            <a:ext cx="3200400" cy="347472"/>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LLM (GPT/Claude/Llama)</a:t>
            </a:r>
            <a:endParaRPr lang="en-US" sz="1200" dirty="0"/>
          </a:p>
        </p:txBody>
      </p:sp>
      <p:sp>
        <p:nvSpPr>
          <p:cNvPr id="30" name="Text 28"/>
          <p:cNvSpPr/>
          <p:nvPr/>
        </p:nvSpPr>
        <p:spPr>
          <a:xfrm>
            <a:off x="4754880" y="4480560"/>
            <a:ext cx="2834640" cy="347472"/>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Core reasoning engine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Agentic AI on AWS</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F59E0B"/>
                </a:solidFill>
                <a:latin typeface="Calibri" pitchFamily="34" charset="0"/>
                <a:ea typeface="Calibri" pitchFamily="34" charset="-122"/>
                <a:cs typeface="Calibri" pitchFamily="34" charset="-120"/>
              </a:rPr>
              <a:t>Amazon Bedrock — Fully managed foundation models &amp; agent infrastructure</a:t>
            </a:r>
            <a:endParaRPr lang="en-US" sz="1200" dirty="0"/>
          </a:p>
        </p:txBody>
      </p:sp>
      <p:sp>
        <p:nvSpPr>
          <p:cNvPr id="5" name="Shape 3"/>
          <p:cNvSpPr/>
          <p:nvPr/>
        </p:nvSpPr>
        <p:spPr>
          <a:xfrm>
            <a:off x="274320" y="960120"/>
            <a:ext cx="2743200" cy="1170432"/>
          </a:xfrm>
          <a:prstGeom prst="roundRect">
            <a:avLst>
              <a:gd name="adj" fmla="val 7813"/>
            </a:avLst>
          </a:prstGeom>
          <a:solidFill>
            <a:srgbClr val="1E293B"/>
          </a:solidFill>
          <a:ln w="12700">
            <a:solidFill>
              <a:srgbClr val="F59E0B"/>
            </a:solidFill>
            <a:prstDash val="solid"/>
          </a:ln>
        </p:spPr>
        <p:txBody>
          <a:bodyPr/>
          <a:lstStyle/>
          <a:p>
            <a:endParaRPr lang="en-IN"/>
          </a:p>
        </p:txBody>
      </p:sp>
      <p:sp>
        <p:nvSpPr>
          <p:cNvPr id="6" name="Text 4"/>
          <p:cNvSpPr/>
          <p:nvPr/>
        </p:nvSpPr>
        <p:spPr>
          <a:xfrm>
            <a:off x="384048" y="1051560"/>
            <a:ext cx="2542032" cy="36576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Amazon Bedrock</a:t>
            </a:r>
            <a:endParaRPr lang="en-US" sz="1150" dirty="0"/>
          </a:p>
        </p:txBody>
      </p:sp>
      <p:sp>
        <p:nvSpPr>
          <p:cNvPr id="7" name="Text 5"/>
          <p:cNvSpPr/>
          <p:nvPr/>
        </p:nvSpPr>
        <p:spPr>
          <a:xfrm>
            <a:off x="384048" y="1463040"/>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Foundation Models (Claude, Llama, Titan)</a:t>
            </a:r>
            <a:endParaRPr lang="en-US" sz="950" dirty="0"/>
          </a:p>
        </p:txBody>
      </p:sp>
      <p:sp>
        <p:nvSpPr>
          <p:cNvPr id="8" name="Shape 6"/>
          <p:cNvSpPr/>
          <p:nvPr/>
        </p:nvSpPr>
        <p:spPr>
          <a:xfrm>
            <a:off x="3182112" y="960120"/>
            <a:ext cx="2743200" cy="1170432"/>
          </a:xfrm>
          <a:prstGeom prst="roundRect">
            <a:avLst>
              <a:gd name="adj" fmla="val 7813"/>
            </a:avLst>
          </a:prstGeom>
          <a:solidFill>
            <a:srgbClr val="1E293B"/>
          </a:solidFill>
          <a:ln w="12700">
            <a:solidFill>
              <a:srgbClr val="06B6D4"/>
            </a:solidFill>
            <a:prstDash val="solid"/>
          </a:ln>
        </p:spPr>
        <p:txBody>
          <a:bodyPr/>
          <a:lstStyle/>
          <a:p>
            <a:endParaRPr lang="en-IN"/>
          </a:p>
        </p:txBody>
      </p:sp>
      <p:sp>
        <p:nvSpPr>
          <p:cNvPr id="9" name="Text 7"/>
          <p:cNvSpPr/>
          <p:nvPr/>
        </p:nvSpPr>
        <p:spPr>
          <a:xfrm>
            <a:off x="3291840" y="1051560"/>
            <a:ext cx="2542032" cy="365760"/>
          </a:xfrm>
          <a:prstGeom prst="rect">
            <a:avLst/>
          </a:prstGeom>
          <a:noFill/>
          <a:ln/>
        </p:spPr>
        <p:txBody>
          <a:bodyPr wrap="square" rtlCol="0" anchor="ctr"/>
          <a:lstStyle/>
          <a:p>
            <a:pPr marL="0" indent="0">
              <a:buNone/>
            </a:pPr>
            <a:r>
              <a:rPr lang="en-US" sz="1150" b="1" dirty="0">
                <a:solidFill>
                  <a:srgbClr val="06B6D4"/>
                </a:solidFill>
                <a:latin typeface="Calibri" pitchFamily="34" charset="0"/>
                <a:ea typeface="Calibri" pitchFamily="34" charset="-122"/>
                <a:cs typeface="Calibri" pitchFamily="34" charset="-120"/>
              </a:rPr>
              <a:t>🤖 Bedrock Agents</a:t>
            </a:r>
            <a:endParaRPr lang="en-US" sz="1150" dirty="0"/>
          </a:p>
        </p:txBody>
      </p:sp>
      <p:sp>
        <p:nvSpPr>
          <p:cNvPr id="10" name="Text 8"/>
          <p:cNvSpPr/>
          <p:nvPr/>
        </p:nvSpPr>
        <p:spPr>
          <a:xfrm>
            <a:off x="3291840" y="1463040"/>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Fully managed ReAct agents + tool use</a:t>
            </a:r>
            <a:endParaRPr lang="en-US" sz="950" dirty="0"/>
          </a:p>
        </p:txBody>
      </p:sp>
      <p:sp>
        <p:nvSpPr>
          <p:cNvPr id="11" name="Shape 9"/>
          <p:cNvSpPr/>
          <p:nvPr/>
        </p:nvSpPr>
        <p:spPr>
          <a:xfrm>
            <a:off x="6089904" y="960120"/>
            <a:ext cx="2743200" cy="1170432"/>
          </a:xfrm>
          <a:prstGeom prst="roundRect">
            <a:avLst>
              <a:gd name="adj" fmla="val 7813"/>
            </a:avLst>
          </a:prstGeom>
          <a:solidFill>
            <a:srgbClr val="1E293B"/>
          </a:solidFill>
          <a:ln w="12700">
            <a:solidFill>
              <a:srgbClr val="10B981"/>
            </a:solidFill>
            <a:prstDash val="solid"/>
          </a:ln>
        </p:spPr>
        <p:txBody>
          <a:bodyPr/>
          <a:lstStyle/>
          <a:p>
            <a:endParaRPr lang="en-IN"/>
          </a:p>
        </p:txBody>
      </p:sp>
      <p:sp>
        <p:nvSpPr>
          <p:cNvPr id="12" name="Text 10"/>
          <p:cNvSpPr/>
          <p:nvPr/>
        </p:nvSpPr>
        <p:spPr>
          <a:xfrm>
            <a:off x="6199632" y="1051560"/>
            <a:ext cx="2542032" cy="365760"/>
          </a:xfrm>
          <a:prstGeom prst="rect">
            <a:avLst/>
          </a:prstGeom>
          <a:noFill/>
          <a:ln/>
        </p:spPr>
        <p:txBody>
          <a:bodyPr wrap="square"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Titan Embeddings</a:t>
            </a:r>
            <a:endParaRPr lang="en-US" sz="1150" dirty="0"/>
          </a:p>
        </p:txBody>
      </p:sp>
      <p:sp>
        <p:nvSpPr>
          <p:cNvPr id="13" name="Text 11"/>
          <p:cNvSpPr/>
          <p:nvPr/>
        </p:nvSpPr>
        <p:spPr>
          <a:xfrm>
            <a:off x="6199632" y="1463040"/>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AWS embeddings for RAG workloads</a:t>
            </a:r>
            <a:endParaRPr lang="en-US" sz="950" dirty="0"/>
          </a:p>
        </p:txBody>
      </p:sp>
      <p:sp>
        <p:nvSpPr>
          <p:cNvPr id="14" name="Shape 12"/>
          <p:cNvSpPr/>
          <p:nvPr/>
        </p:nvSpPr>
        <p:spPr>
          <a:xfrm>
            <a:off x="274320" y="2258568"/>
            <a:ext cx="2743200" cy="1170432"/>
          </a:xfrm>
          <a:prstGeom prst="roundRect">
            <a:avLst>
              <a:gd name="adj" fmla="val 7813"/>
            </a:avLst>
          </a:prstGeom>
          <a:solidFill>
            <a:srgbClr val="1E293B"/>
          </a:solidFill>
          <a:ln w="12700">
            <a:solidFill>
              <a:srgbClr val="8B5CF6"/>
            </a:solidFill>
            <a:prstDash val="solid"/>
          </a:ln>
        </p:spPr>
        <p:txBody>
          <a:bodyPr/>
          <a:lstStyle/>
          <a:p>
            <a:endParaRPr lang="en-IN"/>
          </a:p>
        </p:txBody>
      </p:sp>
      <p:sp>
        <p:nvSpPr>
          <p:cNvPr id="15" name="Text 13"/>
          <p:cNvSpPr/>
          <p:nvPr/>
        </p:nvSpPr>
        <p:spPr>
          <a:xfrm>
            <a:off x="384048" y="2350008"/>
            <a:ext cx="2542032" cy="365760"/>
          </a:xfrm>
          <a:prstGeom prst="rect">
            <a:avLst/>
          </a:prstGeom>
          <a:noFill/>
          <a:ln/>
        </p:spPr>
        <p:txBody>
          <a:bodyPr wrap="square" rtlCol="0" anchor="ctr"/>
          <a:lstStyle/>
          <a:p>
            <a:pPr marL="0" indent="0">
              <a:buNone/>
            </a:pPr>
            <a:r>
              <a:rPr lang="en-US" sz="1150" b="1" dirty="0">
                <a:solidFill>
                  <a:srgbClr val="8B5CF6"/>
                </a:solidFill>
                <a:latin typeface="Calibri" pitchFamily="34" charset="0"/>
                <a:ea typeface="Calibri" pitchFamily="34" charset="-122"/>
                <a:cs typeface="Calibri" pitchFamily="34" charset="-120"/>
              </a:rPr>
              <a:t>📚 Knowledge Bases</a:t>
            </a:r>
            <a:endParaRPr lang="en-US" sz="1150" dirty="0"/>
          </a:p>
        </p:txBody>
      </p:sp>
      <p:sp>
        <p:nvSpPr>
          <p:cNvPr id="16" name="Text 14"/>
          <p:cNvSpPr/>
          <p:nvPr/>
        </p:nvSpPr>
        <p:spPr>
          <a:xfrm>
            <a:off x="384048" y="2761488"/>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Managed RAG with S3 + vector store</a:t>
            </a:r>
            <a:endParaRPr lang="en-US" sz="950" dirty="0"/>
          </a:p>
        </p:txBody>
      </p:sp>
      <p:sp>
        <p:nvSpPr>
          <p:cNvPr id="17" name="Shape 15"/>
          <p:cNvSpPr/>
          <p:nvPr/>
        </p:nvSpPr>
        <p:spPr>
          <a:xfrm>
            <a:off x="3182112" y="2258568"/>
            <a:ext cx="2743200" cy="1170432"/>
          </a:xfrm>
          <a:prstGeom prst="roundRect">
            <a:avLst>
              <a:gd name="adj" fmla="val 7813"/>
            </a:avLst>
          </a:prstGeom>
          <a:solidFill>
            <a:srgbClr val="1E293B"/>
          </a:solidFill>
          <a:ln w="12700">
            <a:solidFill>
              <a:srgbClr val="EF4444"/>
            </a:solidFill>
            <a:prstDash val="solid"/>
          </a:ln>
        </p:spPr>
        <p:txBody>
          <a:bodyPr/>
          <a:lstStyle/>
          <a:p>
            <a:endParaRPr lang="en-IN"/>
          </a:p>
        </p:txBody>
      </p:sp>
      <p:sp>
        <p:nvSpPr>
          <p:cNvPr id="18" name="Text 16"/>
          <p:cNvSpPr/>
          <p:nvPr/>
        </p:nvSpPr>
        <p:spPr>
          <a:xfrm>
            <a:off x="3291840" y="2350008"/>
            <a:ext cx="2542032" cy="365760"/>
          </a:xfrm>
          <a:prstGeom prst="rect">
            <a:avLst/>
          </a:prstGeom>
          <a:noFill/>
          <a:ln/>
        </p:spPr>
        <p:txBody>
          <a:bodyPr wrap="square"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 AWS Lambda</a:t>
            </a:r>
            <a:endParaRPr lang="en-US" sz="1150" dirty="0"/>
          </a:p>
        </p:txBody>
      </p:sp>
      <p:sp>
        <p:nvSpPr>
          <p:cNvPr id="19" name="Text 17"/>
          <p:cNvSpPr/>
          <p:nvPr/>
        </p:nvSpPr>
        <p:spPr>
          <a:xfrm>
            <a:off x="3291840" y="2761488"/>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Serverless tool execution for agents</a:t>
            </a:r>
            <a:endParaRPr lang="en-US" sz="950" dirty="0"/>
          </a:p>
        </p:txBody>
      </p:sp>
      <p:sp>
        <p:nvSpPr>
          <p:cNvPr id="20" name="Shape 18"/>
          <p:cNvSpPr/>
          <p:nvPr/>
        </p:nvSpPr>
        <p:spPr>
          <a:xfrm>
            <a:off x="6089904" y="2258568"/>
            <a:ext cx="2743200" cy="1170432"/>
          </a:xfrm>
          <a:prstGeom prst="roundRect">
            <a:avLst>
              <a:gd name="adj" fmla="val 7813"/>
            </a:avLst>
          </a:prstGeom>
          <a:solidFill>
            <a:srgbClr val="1E293B"/>
          </a:solidFill>
          <a:ln w="12700">
            <a:solidFill>
              <a:srgbClr val="F59E0B"/>
            </a:solidFill>
            <a:prstDash val="solid"/>
          </a:ln>
        </p:spPr>
        <p:txBody>
          <a:bodyPr/>
          <a:lstStyle/>
          <a:p>
            <a:endParaRPr lang="en-IN"/>
          </a:p>
        </p:txBody>
      </p:sp>
      <p:sp>
        <p:nvSpPr>
          <p:cNvPr id="21" name="Text 19"/>
          <p:cNvSpPr/>
          <p:nvPr/>
        </p:nvSpPr>
        <p:spPr>
          <a:xfrm>
            <a:off x="6199632" y="2350008"/>
            <a:ext cx="2542032" cy="36576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Amazon S3</a:t>
            </a:r>
            <a:endParaRPr lang="en-US" sz="1150" dirty="0"/>
          </a:p>
        </p:txBody>
      </p:sp>
      <p:sp>
        <p:nvSpPr>
          <p:cNvPr id="22" name="Text 20"/>
          <p:cNvSpPr/>
          <p:nvPr/>
        </p:nvSpPr>
        <p:spPr>
          <a:xfrm>
            <a:off x="6199632" y="2761488"/>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Document storage for RAG indexing</a:t>
            </a:r>
            <a:endParaRPr lang="en-US" sz="950" dirty="0"/>
          </a:p>
        </p:txBody>
      </p:sp>
      <p:sp>
        <p:nvSpPr>
          <p:cNvPr id="23" name="Shape 21"/>
          <p:cNvSpPr/>
          <p:nvPr/>
        </p:nvSpPr>
        <p:spPr>
          <a:xfrm>
            <a:off x="274320" y="3557016"/>
            <a:ext cx="2743200" cy="1170432"/>
          </a:xfrm>
          <a:prstGeom prst="roundRect">
            <a:avLst>
              <a:gd name="adj" fmla="val 7813"/>
            </a:avLst>
          </a:prstGeom>
          <a:solidFill>
            <a:srgbClr val="1E293B"/>
          </a:solidFill>
          <a:ln w="12700">
            <a:solidFill>
              <a:srgbClr val="06B6D4"/>
            </a:solidFill>
            <a:prstDash val="solid"/>
          </a:ln>
        </p:spPr>
        <p:txBody>
          <a:bodyPr/>
          <a:lstStyle/>
          <a:p>
            <a:endParaRPr lang="en-IN"/>
          </a:p>
        </p:txBody>
      </p:sp>
      <p:sp>
        <p:nvSpPr>
          <p:cNvPr id="24" name="Text 22"/>
          <p:cNvSpPr/>
          <p:nvPr/>
        </p:nvSpPr>
        <p:spPr>
          <a:xfrm>
            <a:off x="384048" y="3648456"/>
            <a:ext cx="2542032" cy="365760"/>
          </a:xfrm>
          <a:prstGeom prst="rect">
            <a:avLst/>
          </a:prstGeom>
          <a:noFill/>
          <a:ln/>
        </p:spPr>
        <p:txBody>
          <a:bodyPr wrap="square" rtlCol="0" anchor="ctr"/>
          <a:lstStyle/>
          <a:p>
            <a:pPr marL="0" indent="0">
              <a:buNone/>
            </a:pPr>
            <a:r>
              <a:rPr lang="en-US" sz="1150" b="1" dirty="0">
                <a:solidFill>
                  <a:srgbClr val="06B6D4"/>
                </a:solidFill>
                <a:latin typeface="Calibri" pitchFamily="34" charset="0"/>
                <a:ea typeface="Calibri" pitchFamily="34" charset="-122"/>
                <a:cs typeface="Calibri" pitchFamily="34" charset="-120"/>
              </a:rPr>
              <a:t>🔗 API Gateway</a:t>
            </a:r>
            <a:endParaRPr lang="en-US" sz="1150" dirty="0"/>
          </a:p>
        </p:txBody>
      </p:sp>
      <p:sp>
        <p:nvSpPr>
          <p:cNvPr id="25" name="Text 23"/>
          <p:cNvSpPr/>
          <p:nvPr/>
        </p:nvSpPr>
        <p:spPr>
          <a:xfrm>
            <a:off x="384048" y="4059936"/>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Expose agents as REST endpoints</a:t>
            </a:r>
            <a:endParaRPr lang="en-US" sz="950" dirty="0"/>
          </a:p>
        </p:txBody>
      </p:sp>
      <p:sp>
        <p:nvSpPr>
          <p:cNvPr id="26" name="Shape 24"/>
          <p:cNvSpPr/>
          <p:nvPr/>
        </p:nvSpPr>
        <p:spPr>
          <a:xfrm>
            <a:off x="3182112" y="3557016"/>
            <a:ext cx="2743200" cy="1170432"/>
          </a:xfrm>
          <a:prstGeom prst="roundRect">
            <a:avLst>
              <a:gd name="adj" fmla="val 7813"/>
            </a:avLst>
          </a:prstGeom>
          <a:solidFill>
            <a:srgbClr val="1E293B"/>
          </a:solidFill>
          <a:ln w="12700">
            <a:solidFill>
              <a:srgbClr val="8B5CF6"/>
            </a:solidFill>
            <a:prstDash val="solid"/>
          </a:ln>
        </p:spPr>
        <p:txBody>
          <a:bodyPr/>
          <a:lstStyle/>
          <a:p>
            <a:endParaRPr lang="en-IN"/>
          </a:p>
        </p:txBody>
      </p:sp>
      <p:sp>
        <p:nvSpPr>
          <p:cNvPr id="27" name="Text 25"/>
          <p:cNvSpPr/>
          <p:nvPr/>
        </p:nvSpPr>
        <p:spPr>
          <a:xfrm>
            <a:off x="3291840" y="3648456"/>
            <a:ext cx="2542032" cy="365760"/>
          </a:xfrm>
          <a:prstGeom prst="rect">
            <a:avLst/>
          </a:prstGeom>
          <a:noFill/>
          <a:ln/>
        </p:spPr>
        <p:txBody>
          <a:bodyPr wrap="square" rtlCol="0" anchor="ctr"/>
          <a:lstStyle/>
          <a:p>
            <a:pPr marL="0" indent="0">
              <a:buNone/>
            </a:pPr>
            <a:r>
              <a:rPr lang="en-US" sz="1150" b="1" dirty="0">
                <a:solidFill>
                  <a:srgbClr val="8B5CF6"/>
                </a:solidFill>
                <a:latin typeface="Calibri" pitchFamily="34" charset="0"/>
                <a:ea typeface="Calibri" pitchFamily="34" charset="-122"/>
                <a:cs typeface="Calibri" pitchFamily="34" charset="-120"/>
              </a:rPr>
              <a:t>💾 DynamoDB</a:t>
            </a:r>
            <a:endParaRPr lang="en-US" sz="1150" dirty="0"/>
          </a:p>
        </p:txBody>
      </p:sp>
      <p:sp>
        <p:nvSpPr>
          <p:cNvPr id="28" name="Text 26"/>
          <p:cNvSpPr/>
          <p:nvPr/>
        </p:nvSpPr>
        <p:spPr>
          <a:xfrm>
            <a:off x="3291840" y="4059936"/>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Agent memory &amp; conversation history</a:t>
            </a:r>
            <a:endParaRPr lang="en-US" sz="950" dirty="0"/>
          </a:p>
        </p:txBody>
      </p:sp>
      <p:sp>
        <p:nvSpPr>
          <p:cNvPr id="29" name="Shape 27"/>
          <p:cNvSpPr/>
          <p:nvPr/>
        </p:nvSpPr>
        <p:spPr>
          <a:xfrm>
            <a:off x="6089904" y="3557016"/>
            <a:ext cx="2743200" cy="1170432"/>
          </a:xfrm>
          <a:prstGeom prst="roundRect">
            <a:avLst>
              <a:gd name="adj" fmla="val 7813"/>
            </a:avLst>
          </a:prstGeom>
          <a:solidFill>
            <a:srgbClr val="1E293B"/>
          </a:solidFill>
          <a:ln w="12700">
            <a:solidFill>
              <a:srgbClr val="10B981"/>
            </a:solidFill>
            <a:prstDash val="solid"/>
          </a:ln>
        </p:spPr>
        <p:txBody>
          <a:bodyPr/>
          <a:lstStyle/>
          <a:p>
            <a:endParaRPr lang="en-IN"/>
          </a:p>
        </p:txBody>
      </p:sp>
      <p:sp>
        <p:nvSpPr>
          <p:cNvPr id="30" name="Text 28"/>
          <p:cNvSpPr/>
          <p:nvPr/>
        </p:nvSpPr>
        <p:spPr>
          <a:xfrm>
            <a:off x="6199632" y="3648456"/>
            <a:ext cx="2542032" cy="365760"/>
          </a:xfrm>
          <a:prstGeom prst="rect">
            <a:avLst/>
          </a:prstGeom>
          <a:noFill/>
          <a:ln/>
        </p:spPr>
        <p:txBody>
          <a:bodyPr wrap="square"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CloudWatch</a:t>
            </a:r>
            <a:endParaRPr lang="en-US" sz="1150" dirty="0"/>
          </a:p>
        </p:txBody>
      </p:sp>
      <p:sp>
        <p:nvSpPr>
          <p:cNvPr id="31" name="Text 29"/>
          <p:cNvSpPr/>
          <p:nvPr/>
        </p:nvSpPr>
        <p:spPr>
          <a:xfrm>
            <a:off x="6199632" y="4059936"/>
            <a:ext cx="2542032" cy="56692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Monitoring, logging, tracing agents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Use Case: EV Charging Portal</a:t>
            </a:r>
            <a:endParaRPr lang="en-US" sz="26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Multi-Agent system for a smart EV charging platform</a:t>
            </a:r>
            <a:endParaRPr lang="en-US" sz="1300" dirty="0"/>
          </a:p>
        </p:txBody>
      </p:sp>
      <p:sp>
        <p:nvSpPr>
          <p:cNvPr id="5" name="Shape 3"/>
          <p:cNvSpPr/>
          <p:nvPr/>
        </p:nvSpPr>
        <p:spPr>
          <a:xfrm>
            <a:off x="274320" y="960120"/>
            <a:ext cx="2743200" cy="1664208"/>
          </a:xfrm>
          <a:prstGeom prst="roundRect">
            <a:avLst>
              <a:gd name="adj" fmla="val 6593"/>
            </a:avLst>
          </a:prstGeom>
          <a:solidFill>
            <a:srgbClr val="1E293B"/>
          </a:solidFill>
          <a:ln w="19050">
            <a:solidFill>
              <a:srgbClr val="06B6D4"/>
            </a:solidFill>
            <a:prstDash val="solid"/>
          </a:ln>
        </p:spPr>
        <p:txBody>
          <a:bodyPr/>
          <a:lstStyle/>
          <a:p>
            <a:endParaRPr lang="en-IN"/>
          </a:p>
        </p:txBody>
      </p:sp>
      <p:sp>
        <p:nvSpPr>
          <p:cNvPr id="6" name="Text 4"/>
          <p:cNvSpPr/>
          <p:nvPr/>
        </p:nvSpPr>
        <p:spPr>
          <a:xfrm>
            <a:off x="274320" y="1033272"/>
            <a:ext cx="2743200" cy="685800"/>
          </a:xfrm>
          <a:prstGeom prst="rect">
            <a:avLst/>
          </a:prstGeom>
          <a:noFill/>
          <a:ln/>
        </p:spPr>
        <p:txBody>
          <a:bodyPr wrap="square" rtlCol="0" anchor="ctr"/>
          <a:lstStyle/>
          <a:p>
            <a:pPr marL="0" indent="0" algn="ctr">
              <a:buNone/>
            </a:pPr>
            <a:r>
              <a:rPr lang="en-US" sz="1100" b="1" dirty="0">
                <a:solidFill>
                  <a:srgbClr val="06B6D4"/>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06B6D4"/>
                </a:solidFill>
                <a:latin typeface="Calibri" pitchFamily="34" charset="0"/>
                <a:ea typeface="Calibri" pitchFamily="34" charset="-122"/>
                <a:cs typeface="Calibri" pitchFamily="34" charset="-120"/>
              </a:rPr>
              <a:t>Charging Station</a:t>
            </a:r>
            <a:endParaRPr lang="en-US" sz="1100" dirty="0"/>
          </a:p>
          <a:p>
            <a:pPr marL="0" indent="0" algn="ctr">
              <a:buNone/>
            </a:pPr>
            <a:r>
              <a:rPr lang="en-US" sz="1100" b="1" dirty="0">
                <a:solidFill>
                  <a:srgbClr val="06B6D4"/>
                </a:solidFill>
                <a:latin typeface="Calibri" pitchFamily="34" charset="0"/>
                <a:ea typeface="Calibri" pitchFamily="34" charset="-122"/>
                <a:cs typeface="Calibri" pitchFamily="34" charset="-120"/>
              </a:rPr>
              <a:t>Recommendation</a:t>
            </a:r>
            <a:endParaRPr lang="en-US" sz="1100" dirty="0"/>
          </a:p>
        </p:txBody>
      </p:sp>
      <p:sp>
        <p:nvSpPr>
          <p:cNvPr id="7" name="Text 5"/>
          <p:cNvSpPr/>
          <p:nvPr/>
        </p:nvSpPr>
        <p:spPr>
          <a:xfrm>
            <a:off x="384048" y="17830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Finds nearest available charger using location &amp; vehicle type</a:t>
            </a:r>
            <a:endParaRPr lang="en-US" sz="950" dirty="0"/>
          </a:p>
        </p:txBody>
      </p:sp>
      <p:sp>
        <p:nvSpPr>
          <p:cNvPr id="8" name="Shape 6"/>
          <p:cNvSpPr/>
          <p:nvPr/>
        </p:nvSpPr>
        <p:spPr>
          <a:xfrm>
            <a:off x="3182112" y="960120"/>
            <a:ext cx="2743200" cy="1664208"/>
          </a:xfrm>
          <a:prstGeom prst="roundRect">
            <a:avLst>
              <a:gd name="adj" fmla="val 6593"/>
            </a:avLst>
          </a:prstGeom>
          <a:solidFill>
            <a:srgbClr val="1E293B"/>
          </a:solidFill>
          <a:ln w="19050">
            <a:solidFill>
              <a:srgbClr val="10B981"/>
            </a:solidFill>
            <a:prstDash val="solid"/>
          </a:ln>
        </p:spPr>
        <p:txBody>
          <a:bodyPr/>
          <a:lstStyle/>
          <a:p>
            <a:endParaRPr lang="en-IN"/>
          </a:p>
        </p:txBody>
      </p:sp>
      <p:sp>
        <p:nvSpPr>
          <p:cNvPr id="9" name="Text 7"/>
          <p:cNvSpPr/>
          <p:nvPr/>
        </p:nvSpPr>
        <p:spPr>
          <a:xfrm>
            <a:off x="3182112" y="1033272"/>
            <a:ext cx="2743200" cy="68580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10B981"/>
                </a:solidFill>
                <a:latin typeface="Calibri" pitchFamily="34" charset="0"/>
                <a:ea typeface="Calibri" pitchFamily="34" charset="-122"/>
                <a:cs typeface="Calibri" pitchFamily="34" charset="-120"/>
              </a:rPr>
              <a:t>Slot Booking</a:t>
            </a:r>
            <a:endParaRPr lang="en-US" sz="1100" dirty="0"/>
          </a:p>
          <a:p>
            <a:pPr marL="0" indent="0" algn="ctr">
              <a:buNone/>
            </a:pPr>
            <a:r>
              <a:rPr lang="en-US" sz="1100" b="1" dirty="0">
                <a:solidFill>
                  <a:srgbClr val="10B981"/>
                </a:solidFill>
                <a:latin typeface="Calibri" pitchFamily="34" charset="0"/>
                <a:ea typeface="Calibri" pitchFamily="34" charset="-122"/>
                <a:cs typeface="Calibri" pitchFamily="34" charset="-120"/>
              </a:rPr>
              <a:t>Agent</a:t>
            </a:r>
            <a:endParaRPr lang="en-US" sz="1100" dirty="0"/>
          </a:p>
        </p:txBody>
      </p:sp>
      <p:sp>
        <p:nvSpPr>
          <p:cNvPr id="10" name="Text 8"/>
          <p:cNvSpPr/>
          <p:nvPr/>
        </p:nvSpPr>
        <p:spPr>
          <a:xfrm>
            <a:off x="3291840" y="17830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Books time slots, sends confirmation, handles rescheduling</a:t>
            </a:r>
            <a:endParaRPr lang="en-US" sz="950" dirty="0"/>
          </a:p>
        </p:txBody>
      </p:sp>
      <p:sp>
        <p:nvSpPr>
          <p:cNvPr id="11" name="Shape 9"/>
          <p:cNvSpPr/>
          <p:nvPr/>
        </p:nvSpPr>
        <p:spPr>
          <a:xfrm>
            <a:off x="6089904" y="960120"/>
            <a:ext cx="2743200" cy="1664208"/>
          </a:xfrm>
          <a:prstGeom prst="roundRect">
            <a:avLst>
              <a:gd name="adj" fmla="val 6593"/>
            </a:avLst>
          </a:prstGeom>
          <a:solidFill>
            <a:srgbClr val="1E293B"/>
          </a:solidFill>
          <a:ln w="19050">
            <a:solidFill>
              <a:srgbClr val="8B5CF6"/>
            </a:solidFill>
            <a:prstDash val="solid"/>
          </a:ln>
        </p:spPr>
        <p:txBody>
          <a:bodyPr/>
          <a:lstStyle/>
          <a:p>
            <a:endParaRPr lang="en-IN"/>
          </a:p>
        </p:txBody>
      </p:sp>
      <p:sp>
        <p:nvSpPr>
          <p:cNvPr id="12" name="Text 10"/>
          <p:cNvSpPr/>
          <p:nvPr/>
        </p:nvSpPr>
        <p:spPr>
          <a:xfrm>
            <a:off x="6089904" y="1033272"/>
            <a:ext cx="2743200" cy="685800"/>
          </a:xfrm>
          <a:prstGeom prst="rect">
            <a:avLst/>
          </a:prstGeom>
          <a:noFill/>
          <a:ln/>
        </p:spPr>
        <p:txBody>
          <a:bodyPr wrap="square" rtlCol="0" anchor="ctr"/>
          <a:lstStyle/>
          <a:p>
            <a:pPr marL="0" indent="0" algn="ctr">
              <a:buNone/>
            </a:pPr>
            <a:r>
              <a:rPr lang="en-US" sz="1100" b="1" dirty="0">
                <a:solidFill>
                  <a:srgbClr val="8B5CF6"/>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8B5CF6"/>
                </a:solidFill>
                <a:latin typeface="Calibri" pitchFamily="34" charset="0"/>
                <a:ea typeface="Calibri" pitchFamily="34" charset="-122"/>
                <a:cs typeface="Calibri" pitchFamily="34" charset="-120"/>
              </a:rPr>
              <a:t>EV Trip</a:t>
            </a:r>
            <a:endParaRPr lang="en-US" sz="1100" dirty="0"/>
          </a:p>
          <a:p>
            <a:pPr marL="0" indent="0" algn="ctr">
              <a:buNone/>
            </a:pPr>
            <a:r>
              <a:rPr lang="en-US" sz="1100" b="1" dirty="0">
                <a:solidFill>
                  <a:srgbClr val="8B5CF6"/>
                </a:solidFill>
                <a:latin typeface="Calibri" pitchFamily="34" charset="0"/>
                <a:ea typeface="Calibri" pitchFamily="34" charset="-122"/>
                <a:cs typeface="Calibri" pitchFamily="34" charset="-120"/>
              </a:rPr>
              <a:t>Planning</a:t>
            </a:r>
            <a:endParaRPr lang="en-US" sz="1100" dirty="0"/>
          </a:p>
        </p:txBody>
      </p:sp>
      <p:sp>
        <p:nvSpPr>
          <p:cNvPr id="13" name="Text 11"/>
          <p:cNvSpPr/>
          <p:nvPr/>
        </p:nvSpPr>
        <p:spPr>
          <a:xfrm>
            <a:off x="6199632" y="17830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Plans routes with charging stops, estimates travel time</a:t>
            </a:r>
            <a:endParaRPr lang="en-US" sz="950" dirty="0"/>
          </a:p>
        </p:txBody>
      </p:sp>
      <p:sp>
        <p:nvSpPr>
          <p:cNvPr id="14" name="Shape 12"/>
          <p:cNvSpPr/>
          <p:nvPr/>
        </p:nvSpPr>
        <p:spPr>
          <a:xfrm>
            <a:off x="274320" y="2788920"/>
            <a:ext cx="2743200" cy="1664208"/>
          </a:xfrm>
          <a:prstGeom prst="roundRect">
            <a:avLst>
              <a:gd name="adj" fmla="val 6593"/>
            </a:avLst>
          </a:prstGeom>
          <a:solidFill>
            <a:srgbClr val="1E293B"/>
          </a:solidFill>
          <a:ln w="19050">
            <a:solidFill>
              <a:srgbClr val="F59E0B"/>
            </a:solidFill>
            <a:prstDash val="solid"/>
          </a:ln>
        </p:spPr>
        <p:txBody>
          <a:bodyPr/>
          <a:lstStyle/>
          <a:p>
            <a:endParaRPr lang="en-IN"/>
          </a:p>
        </p:txBody>
      </p:sp>
      <p:sp>
        <p:nvSpPr>
          <p:cNvPr id="15" name="Text 13"/>
          <p:cNvSpPr/>
          <p:nvPr/>
        </p:nvSpPr>
        <p:spPr>
          <a:xfrm>
            <a:off x="274320" y="2862072"/>
            <a:ext cx="2743200" cy="68580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59E0B"/>
                </a:solidFill>
                <a:latin typeface="Calibri" pitchFamily="34" charset="0"/>
                <a:ea typeface="Calibri" pitchFamily="34" charset="-122"/>
                <a:cs typeface="Calibri" pitchFamily="34" charset="-120"/>
              </a:rPr>
              <a:t>Predictive</a:t>
            </a:r>
            <a:endParaRPr lang="en-US" sz="1100" dirty="0"/>
          </a:p>
          <a:p>
            <a:pPr marL="0" indent="0" algn="ctr">
              <a:buNone/>
            </a:pPr>
            <a:r>
              <a:rPr lang="en-US" sz="1100" b="1" dirty="0">
                <a:solidFill>
                  <a:srgbClr val="F59E0B"/>
                </a:solidFill>
                <a:latin typeface="Calibri" pitchFamily="34" charset="0"/>
                <a:ea typeface="Calibri" pitchFamily="34" charset="-122"/>
                <a:cs typeface="Calibri" pitchFamily="34" charset="-120"/>
              </a:rPr>
              <a:t>Maintenance</a:t>
            </a:r>
            <a:endParaRPr lang="en-US" sz="1100" dirty="0"/>
          </a:p>
        </p:txBody>
      </p:sp>
      <p:sp>
        <p:nvSpPr>
          <p:cNvPr id="16" name="Text 14"/>
          <p:cNvSpPr/>
          <p:nvPr/>
        </p:nvSpPr>
        <p:spPr>
          <a:xfrm>
            <a:off x="384048" y="36118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Alerts for charger faults, schedules technician visits</a:t>
            </a:r>
            <a:endParaRPr lang="en-US" sz="950" dirty="0"/>
          </a:p>
        </p:txBody>
      </p:sp>
      <p:sp>
        <p:nvSpPr>
          <p:cNvPr id="17" name="Shape 15"/>
          <p:cNvSpPr/>
          <p:nvPr/>
        </p:nvSpPr>
        <p:spPr>
          <a:xfrm>
            <a:off x="3182112" y="2788920"/>
            <a:ext cx="2743200" cy="1664208"/>
          </a:xfrm>
          <a:prstGeom prst="roundRect">
            <a:avLst>
              <a:gd name="adj" fmla="val 6593"/>
            </a:avLst>
          </a:prstGeom>
          <a:solidFill>
            <a:srgbClr val="1E293B"/>
          </a:solidFill>
          <a:ln w="19050">
            <a:solidFill>
              <a:srgbClr val="EF4444"/>
            </a:solidFill>
            <a:prstDash val="solid"/>
          </a:ln>
        </p:spPr>
        <p:txBody>
          <a:bodyPr/>
          <a:lstStyle/>
          <a:p>
            <a:endParaRPr lang="en-IN"/>
          </a:p>
        </p:txBody>
      </p:sp>
      <p:sp>
        <p:nvSpPr>
          <p:cNvPr id="18" name="Text 16"/>
          <p:cNvSpPr/>
          <p:nvPr/>
        </p:nvSpPr>
        <p:spPr>
          <a:xfrm>
            <a:off x="3182112" y="2862072"/>
            <a:ext cx="2743200" cy="68580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EF4444"/>
                </a:solidFill>
                <a:latin typeface="Calibri" pitchFamily="34" charset="0"/>
                <a:ea typeface="Calibri" pitchFamily="34" charset="-122"/>
                <a:cs typeface="Calibri" pitchFamily="34" charset="-120"/>
              </a:rPr>
              <a:t>Customer</a:t>
            </a:r>
            <a:endParaRPr lang="en-US" sz="1100" dirty="0"/>
          </a:p>
          <a:p>
            <a:pPr marL="0" indent="0" algn="ctr">
              <a:buNone/>
            </a:pPr>
            <a:r>
              <a:rPr lang="en-US" sz="1100" b="1" dirty="0">
                <a:solidFill>
                  <a:srgbClr val="EF4444"/>
                </a:solidFill>
                <a:latin typeface="Calibri" pitchFamily="34" charset="0"/>
                <a:ea typeface="Calibri" pitchFamily="34" charset="-122"/>
                <a:cs typeface="Calibri" pitchFamily="34" charset="-120"/>
              </a:rPr>
              <a:t>Support Agent</a:t>
            </a:r>
            <a:endParaRPr lang="en-US" sz="1100" dirty="0"/>
          </a:p>
        </p:txBody>
      </p:sp>
      <p:sp>
        <p:nvSpPr>
          <p:cNvPr id="19" name="Text 17"/>
          <p:cNvSpPr/>
          <p:nvPr/>
        </p:nvSpPr>
        <p:spPr>
          <a:xfrm>
            <a:off x="3291840" y="3611880"/>
            <a:ext cx="2542032" cy="73152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Handles billing, complaints, FAQ with memory of user history</a:t>
            </a:r>
            <a:endParaRPr lang="en-US" sz="950" dirty="0"/>
          </a:p>
        </p:txBody>
      </p:sp>
      <p:sp>
        <p:nvSpPr>
          <p:cNvPr id="20" name="Shape 18"/>
          <p:cNvSpPr/>
          <p:nvPr/>
        </p:nvSpPr>
        <p:spPr>
          <a:xfrm>
            <a:off x="274320" y="4681728"/>
            <a:ext cx="8595360" cy="365760"/>
          </a:xfrm>
          <a:prstGeom prst="roundRect">
            <a:avLst>
              <a:gd name="adj" fmla="val 17500"/>
            </a:avLst>
          </a:prstGeom>
          <a:solidFill>
            <a:srgbClr val="0A1828"/>
          </a:solidFill>
          <a:ln w="12700">
            <a:solidFill>
              <a:srgbClr val="06B6D4"/>
            </a:solidFill>
            <a:prstDash val="solid"/>
          </a:ln>
        </p:spPr>
        <p:txBody>
          <a:bodyPr/>
          <a:lstStyle/>
          <a:p>
            <a:endParaRPr lang="en-IN"/>
          </a:p>
        </p:txBody>
      </p:sp>
      <p:sp>
        <p:nvSpPr>
          <p:cNvPr id="21" name="Text 19"/>
          <p:cNvSpPr/>
          <p:nvPr/>
        </p:nvSpPr>
        <p:spPr>
          <a:xfrm>
            <a:off x="457200" y="4709160"/>
            <a:ext cx="8229600" cy="310896"/>
          </a:xfrm>
          <a:prstGeom prst="rect">
            <a:avLst/>
          </a:prstGeom>
          <a:noFill/>
          <a:ln/>
        </p:spPr>
        <p:txBody>
          <a:bodyPr wrap="square" rtlCol="0" anchor="ctr"/>
          <a:lstStyle/>
          <a:p>
            <a:pPr marL="0" indent="0" algn="ctr">
              <a:buNone/>
            </a:pPr>
            <a:r>
              <a:rPr lang="en-US" sz="1000" dirty="0">
                <a:solidFill>
                  <a:srgbClr val="06B6D4"/>
                </a:solidFill>
                <a:latin typeface="Calibri" pitchFamily="34" charset="0"/>
                <a:ea typeface="Calibri" pitchFamily="34" charset="-122"/>
                <a:cs typeface="Calibri" pitchFamily="34" charset="-120"/>
              </a:rPr>
              <a:t>User → Coordinator Agent → Charging Tool → Booking Tool → Maps API → Database → Response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Interview Q&amp;A — Part 1</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8B5CF6"/>
                </a:solidFill>
                <a:latin typeface="Calibri" pitchFamily="34" charset="0"/>
                <a:ea typeface="Calibri" pitchFamily="34" charset="-122"/>
                <a:cs typeface="Calibri" pitchFamily="34" charset="-120"/>
              </a:rPr>
              <a:t>Core concepts &amp; definitions (Questions 1–10)</a:t>
            </a:r>
            <a:endParaRPr lang="en-US" sz="1300" dirty="0"/>
          </a:p>
        </p:txBody>
      </p:sp>
      <p:sp>
        <p:nvSpPr>
          <p:cNvPr id="5" name="Shape 3"/>
          <p:cNvSpPr/>
          <p:nvPr/>
        </p:nvSpPr>
        <p:spPr>
          <a:xfrm>
            <a:off x="274320" y="960120"/>
            <a:ext cx="8595360" cy="749808"/>
          </a:xfrm>
          <a:prstGeom prst="roundRect">
            <a:avLst>
              <a:gd name="adj" fmla="val 9756"/>
            </a:avLst>
          </a:prstGeom>
          <a:solidFill>
            <a:srgbClr val="1E293B"/>
          </a:solidFill>
          <a:ln w="9525">
            <a:solidFill>
              <a:srgbClr val="8B5CF6"/>
            </a:solidFill>
            <a:prstDash val="solid"/>
          </a:ln>
        </p:spPr>
        <p:txBody>
          <a:bodyPr/>
          <a:lstStyle/>
          <a:p>
            <a:endParaRPr lang="en-IN"/>
          </a:p>
        </p:txBody>
      </p:sp>
      <p:sp>
        <p:nvSpPr>
          <p:cNvPr id="6" name="Shape 4"/>
          <p:cNvSpPr/>
          <p:nvPr/>
        </p:nvSpPr>
        <p:spPr>
          <a:xfrm>
            <a:off x="384048" y="1133856"/>
            <a:ext cx="402336" cy="402336"/>
          </a:xfrm>
          <a:prstGeom prst="ellipse">
            <a:avLst/>
          </a:prstGeom>
          <a:solidFill>
            <a:srgbClr val="8B5CF6"/>
          </a:solidFill>
          <a:ln w="12700">
            <a:solidFill>
              <a:srgbClr val="8B5CF6"/>
            </a:solidFill>
            <a:prstDash val="solid"/>
          </a:ln>
        </p:spPr>
        <p:txBody>
          <a:bodyPr/>
          <a:lstStyle/>
          <a:p>
            <a:endParaRPr lang="en-IN"/>
          </a:p>
        </p:txBody>
      </p:sp>
      <p:sp>
        <p:nvSpPr>
          <p:cNvPr id="7" name="Text 5"/>
          <p:cNvSpPr/>
          <p:nvPr/>
        </p:nvSpPr>
        <p:spPr>
          <a:xfrm>
            <a:off x="384048" y="113385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a:t>
            </a:r>
            <a:endParaRPr lang="en-US" sz="900" dirty="0"/>
          </a:p>
        </p:txBody>
      </p:sp>
      <p:sp>
        <p:nvSpPr>
          <p:cNvPr id="8" name="Text 6"/>
          <p:cNvSpPr/>
          <p:nvPr/>
        </p:nvSpPr>
        <p:spPr>
          <a:xfrm>
            <a:off x="914400" y="101498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an AI Agent?</a:t>
            </a:r>
            <a:endParaRPr lang="en-US" sz="1150" dirty="0"/>
          </a:p>
        </p:txBody>
      </p:sp>
      <p:sp>
        <p:nvSpPr>
          <p:cNvPr id="9" name="Text 7"/>
          <p:cNvSpPr/>
          <p:nvPr/>
        </p:nvSpPr>
        <p:spPr>
          <a:xfrm>
            <a:off x="914400" y="130759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An autonomous system that perceives its environment, plans actions, uses tools, and executes steps to achieve a goal — without needing human approval for each step.</a:t>
            </a:r>
            <a:endParaRPr lang="en-US" sz="1000" dirty="0"/>
          </a:p>
        </p:txBody>
      </p:sp>
      <p:sp>
        <p:nvSpPr>
          <p:cNvPr id="10" name="Shape 8"/>
          <p:cNvSpPr/>
          <p:nvPr/>
        </p:nvSpPr>
        <p:spPr>
          <a:xfrm>
            <a:off x="274320" y="178308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11" name="Shape 9"/>
          <p:cNvSpPr/>
          <p:nvPr/>
        </p:nvSpPr>
        <p:spPr>
          <a:xfrm>
            <a:off x="384048" y="1956816"/>
            <a:ext cx="402336" cy="402336"/>
          </a:xfrm>
          <a:prstGeom prst="ellipse">
            <a:avLst/>
          </a:prstGeom>
          <a:solidFill>
            <a:srgbClr val="8B5CF6"/>
          </a:solidFill>
          <a:ln w="12700">
            <a:solidFill>
              <a:srgbClr val="8B5CF6"/>
            </a:solidFill>
            <a:prstDash val="solid"/>
          </a:ln>
        </p:spPr>
        <p:txBody>
          <a:bodyPr/>
          <a:lstStyle/>
          <a:p>
            <a:endParaRPr lang="en-IN"/>
          </a:p>
        </p:txBody>
      </p:sp>
      <p:sp>
        <p:nvSpPr>
          <p:cNvPr id="12" name="Text 10"/>
          <p:cNvSpPr/>
          <p:nvPr/>
        </p:nvSpPr>
        <p:spPr>
          <a:xfrm>
            <a:off x="384048" y="195681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a:t>
            </a:r>
            <a:endParaRPr lang="en-US" sz="900" dirty="0"/>
          </a:p>
        </p:txBody>
      </p:sp>
      <p:sp>
        <p:nvSpPr>
          <p:cNvPr id="13" name="Text 11"/>
          <p:cNvSpPr/>
          <p:nvPr/>
        </p:nvSpPr>
        <p:spPr>
          <a:xfrm>
            <a:off x="914400" y="183794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Difference: GenAI vs Agentic AI?</a:t>
            </a:r>
            <a:endParaRPr lang="en-US" sz="1150" dirty="0"/>
          </a:p>
        </p:txBody>
      </p:sp>
      <p:sp>
        <p:nvSpPr>
          <p:cNvPr id="14" name="Text 12"/>
          <p:cNvSpPr/>
          <p:nvPr/>
        </p:nvSpPr>
        <p:spPr>
          <a:xfrm>
            <a:off x="914400" y="213055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GenAI passively responds to prompts. Agentic AI proactively plans, uses tools, maintains memory, and takes multi-step autonomous actions to complete goals.</a:t>
            </a:r>
            <a:endParaRPr lang="en-US" sz="1000" dirty="0"/>
          </a:p>
        </p:txBody>
      </p:sp>
      <p:sp>
        <p:nvSpPr>
          <p:cNvPr id="15" name="Shape 13"/>
          <p:cNvSpPr/>
          <p:nvPr/>
        </p:nvSpPr>
        <p:spPr>
          <a:xfrm>
            <a:off x="274320" y="2606040"/>
            <a:ext cx="8595360" cy="749808"/>
          </a:xfrm>
          <a:prstGeom prst="roundRect">
            <a:avLst>
              <a:gd name="adj" fmla="val 9756"/>
            </a:avLst>
          </a:prstGeom>
          <a:solidFill>
            <a:srgbClr val="1E293B"/>
          </a:solidFill>
          <a:ln w="9525">
            <a:solidFill>
              <a:srgbClr val="8B5CF6"/>
            </a:solidFill>
            <a:prstDash val="solid"/>
          </a:ln>
        </p:spPr>
        <p:txBody>
          <a:bodyPr/>
          <a:lstStyle/>
          <a:p>
            <a:endParaRPr lang="en-IN"/>
          </a:p>
        </p:txBody>
      </p:sp>
      <p:sp>
        <p:nvSpPr>
          <p:cNvPr id="16" name="Shape 14"/>
          <p:cNvSpPr/>
          <p:nvPr/>
        </p:nvSpPr>
        <p:spPr>
          <a:xfrm>
            <a:off x="384048" y="2779776"/>
            <a:ext cx="402336" cy="402336"/>
          </a:xfrm>
          <a:prstGeom prst="ellipse">
            <a:avLst/>
          </a:prstGeom>
          <a:solidFill>
            <a:srgbClr val="8B5CF6"/>
          </a:solidFill>
          <a:ln w="12700">
            <a:solidFill>
              <a:srgbClr val="8B5CF6"/>
            </a:solidFill>
            <a:prstDash val="solid"/>
          </a:ln>
        </p:spPr>
        <p:txBody>
          <a:bodyPr/>
          <a:lstStyle/>
          <a:p>
            <a:endParaRPr lang="en-IN"/>
          </a:p>
        </p:txBody>
      </p:sp>
      <p:sp>
        <p:nvSpPr>
          <p:cNvPr id="17" name="Text 15"/>
          <p:cNvSpPr/>
          <p:nvPr/>
        </p:nvSpPr>
        <p:spPr>
          <a:xfrm>
            <a:off x="384048" y="277977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Q3</a:t>
            </a:r>
            <a:endParaRPr lang="en-US" sz="900" dirty="0"/>
          </a:p>
        </p:txBody>
      </p:sp>
      <p:sp>
        <p:nvSpPr>
          <p:cNvPr id="18" name="Text 16"/>
          <p:cNvSpPr/>
          <p:nvPr/>
        </p:nvSpPr>
        <p:spPr>
          <a:xfrm>
            <a:off x="914400" y="266090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the ReAct pattern?</a:t>
            </a:r>
            <a:endParaRPr lang="en-US" sz="1150" dirty="0"/>
          </a:p>
        </p:txBody>
      </p:sp>
      <p:sp>
        <p:nvSpPr>
          <p:cNvPr id="19" name="Text 17"/>
          <p:cNvSpPr/>
          <p:nvPr/>
        </p:nvSpPr>
        <p:spPr>
          <a:xfrm>
            <a:off x="914400" y="295351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ReAct = Reasoning + Acting. The agent alternates: Thought (plan next step) → Action (call tool) → Observation (review result) → repeat until goal is reached.</a:t>
            </a:r>
            <a:endParaRPr lang="en-US" sz="1000" dirty="0"/>
          </a:p>
        </p:txBody>
      </p:sp>
      <p:sp>
        <p:nvSpPr>
          <p:cNvPr id="20" name="Shape 18"/>
          <p:cNvSpPr/>
          <p:nvPr/>
        </p:nvSpPr>
        <p:spPr>
          <a:xfrm>
            <a:off x="274320" y="342900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21" name="Shape 19"/>
          <p:cNvSpPr/>
          <p:nvPr/>
        </p:nvSpPr>
        <p:spPr>
          <a:xfrm>
            <a:off x="384048" y="3602736"/>
            <a:ext cx="402336" cy="402336"/>
          </a:xfrm>
          <a:prstGeom prst="ellipse">
            <a:avLst/>
          </a:prstGeom>
          <a:solidFill>
            <a:srgbClr val="8B5CF6"/>
          </a:solidFill>
          <a:ln w="12700">
            <a:solidFill>
              <a:srgbClr val="8B5CF6"/>
            </a:solidFill>
            <a:prstDash val="solid"/>
          </a:ln>
        </p:spPr>
        <p:txBody>
          <a:bodyPr/>
          <a:lstStyle/>
          <a:p>
            <a:endParaRPr lang="en-IN"/>
          </a:p>
        </p:txBody>
      </p:sp>
      <p:sp>
        <p:nvSpPr>
          <p:cNvPr id="22" name="Text 20"/>
          <p:cNvSpPr/>
          <p:nvPr/>
        </p:nvSpPr>
        <p:spPr>
          <a:xfrm>
            <a:off x="384048" y="360273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Q4</a:t>
            </a:r>
            <a:endParaRPr lang="en-US" sz="900" dirty="0"/>
          </a:p>
        </p:txBody>
      </p:sp>
      <p:sp>
        <p:nvSpPr>
          <p:cNvPr id="23" name="Text 21"/>
          <p:cNvSpPr/>
          <p:nvPr/>
        </p:nvSpPr>
        <p:spPr>
          <a:xfrm>
            <a:off x="914400" y="348386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RAG and why use it?</a:t>
            </a:r>
            <a:endParaRPr lang="en-US" sz="1150" dirty="0"/>
          </a:p>
        </p:txBody>
      </p:sp>
      <p:sp>
        <p:nvSpPr>
          <p:cNvPr id="24" name="Text 22"/>
          <p:cNvSpPr/>
          <p:nvPr/>
        </p:nvSpPr>
        <p:spPr>
          <a:xfrm>
            <a:off x="914400" y="377647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RAG = Retrieval Augmented Generation. It fetches relevant documents from a vector DB and includes them as context for the LLM, reducing hallucinations and knowledge cutoff issues.</a:t>
            </a:r>
            <a:endParaRPr lang="en-US" sz="1000" dirty="0"/>
          </a:p>
        </p:txBody>
      </p:sp>
      <p:sp>
        <p:nvSpPr>
          <p:cNvPr id="25" name="Shape 23"/>
          <p:cNvSpPr/>
          <p:nvPr/>
        </p:nvSpPr>
        <p:spPr>
          <a:xfrm>
            <a:off x="274320" y="4251960"/>
            <a:ext cx="8595360" cy="749808"/>
          </a:xfrm>
          <a:prstGeom prst="roundRect">
            <a:avLst>
              <a:gd name="adj" fmla="val 9756"/>
            </a:avLst>
          </a:prstGeom>
          <a:solidFill>
            <a:srgbClr val="1E293B"/>
          </a:solidFill>
          <a:ln w="9525">
            <a:solidFill>
              <a:srgbClr val="8B5CF6"/>
            </a:solidFill>
            <a:prstDash val="solid"/>
          </a:ln>
        </p:spPr>
        <p:txBody>
          <a:bodyPr/>
          <a:lstStyle/>
          <a:p>
            <a:endParaRPr lang="en-IN"/>
          </a:p>
        </p:txBody>
      </p:sp>
      <p:sp>
        <p:nvSpPr>
          <p:cNvPr id="26" name="Shape 24"/>
          <p:cNvSpPr/>
          <p:nvPr/>
        </p:nvSpPr>
        <p:spPr>
          <a:xfrm>
            <a:off x="384048" y="4425696"/>
            <a:ext cx="402336" cy="402336"/>
          </a:xfrm>
          <a:prstGeom prst="ellipse">
            <a:avLst/>
          </a:prstGeom>
          <a:solidFill>
            <a:srgbClr val="8B5CF6"/>
          </a:solidFill>
          <a:ln w="12700">
            <a:solidFill>
              <a:srgbClr val="8B5CF6"/>
            </a:solidFill>
            <a:prstDash val="solid"/>
          </a:ln>
        </p:spPr>
        <p:txBody>
          <a:bodyPr/>
          <a:lstStyle/>
          <a:p>
            <a:endParaRPr lang="en-IN"/>
          </a:p>
        </p:txBody>
      </p:sp>
      <p:sp>
        <p:nvSpPr>
          <p:cNvPr id="27" name="Text 25"/>
          <p:cNvSpPr/>
          <p:nvPr/>
        </p:nvSpPr>
        <p:spPr>
          <a:xfrm>
            <a:off x="384048" y="442569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Q5</a:t>
            </a:r>
            <a:endParaRPr lang="en-US" sz="900" dirty="0"/>
          </a:p>
        </p:txBody>
      </p:sp>
      <p:sp>
        <p:nvSpPr>
          <p:cNvPr id="28" name="Text 26"/>
          <p:cNvSpPr/>
          <p:nvPr/>
        </p:nvSpPr>
        <p:spPr>
          <a:xfrm>
            <a:off x="914400" y="430682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MCP?</a:t>
            </a:r>
            <a:endParaRPr lang="en-US" sz="1150" dirty="0"/>
          </a:p>
        </p:txBody>
      </p:sp>
      <p:sp>
        <p:nvSpPr>
          <p:cNvPr id="29" name="Text 27"/>
          <p:cNvSpPr/>
          <p:nvPr/>
        </p:nvSpPr>
        <p:spPr>
          <a:xfrm>
            <a:off x="914400" y="459943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Model Context Protocol — an open standard by Anthropic that lets AI models connect to external tools and data sources through a universal client-server protocol.</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Interview Q&amp;A — Part 2</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10B981"/>
                </a:solidFill>
                <a:latin typeface="Calibri" pitchFamily="34" charset="0"/>
                <a:ea typeface="Calibri" pitchFamily="34" charset="-122"/>
                <a:cs typeface="Calibri" pitchFamily="34" charset="-120"/>
              </a:rPr>
              <a:t>RAG, Embeddings &amp; Vector Databases (Questions 11–20)</a:t>
            </a:r>
            <a:endParaRPr lang="en-US" sz="1300" dirty="0"/>
          </a:p>
        </p:txBody>
      </p:sp>
      <p:sp>
        <p:nvSpPr>
          <p:cNvPr id="5" name="Shape 3"/>
          <p:cNvSpPr/>
          <p:nvPr/>
        </p:nvSpPr>
        <p:spPr>
          <a:xfrm>
            <a:off x="274320" y="960120"/>
            <a:ext cx="8595360" cy="749808"/>
          </a:xfrm>
          <a:prstGeom prst="roundRect">
            <a:avLst>
              <a:gd name="adj" fmla="val 9756"/>
            </a:avLst>
          </a:prstGeom>
          <a:solidFill>
            <a:srgbClr val="1E293B"/>
          </a:solidFill>
          <a:ln w="9525">
            <a:solidFill>
              <a:srgbClr val="10B981"/>
            </a:solidFill>
            <a:prstDash val="solid"/>
          </a:ln>
        </p:spPr>
        <p:txBody>
          <a:bodyPr/>
          <a:lstStyle/>
          <a:p>
            <a:endParaRPr lang="en-IN"/>
          </a:p>
        </p:txBody>
      </p:sp>
      <p:sp>
        <p:nvSpPr>
          <p:cNvPr id="6" name="Shape 4"/>
          <p:cNvSpPr/>
          <p:nvPr/>
        </p:nvSpPr>
        <p:spPr>
          <a:xfrm>
            <a:off x="384048" y="1133856"/>
            <a:ext cx="402336" cy="402336"/>
          </a:xfrm>
          <a:prstGeom prst="ellipse">
            <a:avLst/>
          </a:prstGeom>
          <a:solidFill>
            <a:srgbClr val="10B981"/>
          </a:solidFill>
          <a:ln w="12700">
            <a:solidFill>
              <a:srgbClr val="10B981"/>
            </a:solidFill>
            <a:prstDash val="solid"/>
          </a:ln>
        </p:spPr>
        <p:txBody>
          <a:bodyPr/>
          <a:lstStyle/>
          <a:p>
            <a:endParaRPr lang="en-IN"/>
          </a:p>
        </p:txBody>
      </p:sp>
      <p:sp>
        <p:nvSpPr>
          <p:cNvPr id="7" name="Text 5"/>
          <p:cNvSpPr/>
          <p:nvPr/>
        </p:nvSpPr>
        <p:spPr>
          <a:xfrm>
            <a:off x="384048" y="113385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Q6</a:t>
            </a:r>
            <a:endParaRPr lang="en-US" sz="900" dirty="0"/>
          </a:p>
        </p:txBody>
      </p:sp>
      <p:sp>
        <p:nvSpPr>
          <p:cNvPr id="8" name="Text 6"/>
          <p:cNvSpPr/>
          <p:nvPr/>
        </p:nvSpPr>
        <p:spPr>
          <a:xfrm>
            <a:off x="914400" y="101498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chunking and why is it needed?</a:t>
            </a:r>
            <a:endParaRPr lang="en-US" sz="1150" dirty="0"/>
          </a:p>
        </p:txBody>
      </p:sp>
      <p:sp>
        <p:nvSpPr>
          <p:cNvPr id="9" name="Text 7"/>
          <p:cNvSpPr/>
          <p:nvPr/>
        </p:nvSpPr>
        <p:spPr>
          <a:xfrm>
            <a:off x="914400" y="130759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Splitting documents into smaller pieces (chunks) so embeddings are more precise and fit LLM context windows. Overlap preserves context between chunks.</a:t>
            </a:r>
            <a:endParaRPr lang="en-US" sz="1000" dirty="0"/>
          </a:p>
        </p:txBody>
      </p:sp>
      <p:sp>
        <p:nvSpPr>
          <p:cNvPr id="10" name="Shape 8"/>
          <p:cNvSpPr/>
          <p:nvPr/>
        </p:nvSpPr>
        <p:spPr>
          <a:xfrm>
            <a:off x="274320" y="1783080"/>
            <a:ext cx="8595360" cy="749808"/>
          </a:xfrm>
          <a:prstGeom prst="roundRect">
            <a:avLst>
              <a:gd name="adj" fmla="val 9756"/>
            </a:avLst>
          </a:prstGeom>
          <a:solidFill>
            <a:srgbClr val="1E293B"/>
          </a:solidFill>
          <a:ln w="9525">
            <a:solidFill>
              <a:srgbClr val="F59E0B"/>
            </a:solidFill>
            <a:prstDash val="solid"/>
          </a:ln>
        </p:spPr>
        <p:txBody>
          <a:bodyPr/>
          <a:lstStyle/>
          <a:p>
            <a:endParaRPr lang="en-IN"/>
          </a:p>
        </p:txBody>
      </p:sp>
      <p:sp>
        <p:nvSpPr>
          <p:cNvPr id="11" name="Shape 9"/>
          <p:cNvSpPr/>
          <p:nvPr/>
        </p:nvSpPr>
        <p:spPr>
          <a:xfrm>
            <a:off x="384048" y="1956816"/>
            <a:ext cx="402336" cy="402336"/>
          </a:xfrm>
          <a:prstGeom prst="ellipse">
            <a:avLst/>
          </a:prstGeom>
          <a:solidFill>
            <a:srgbClr val="10B981"/>
          </a:solidFill>
          <a:ln w="12700">
            <a:solidFill>
              <a:srgbClr val="10B981"/>
            </a:solidFill>
            <a:prstDash val="solid"/>
          </a:ln>
        </p:spPr>
        <p:txBody>
          <a:bodyPr/>
          <a:lstStyle/>
          <a:p>
            <a:endParaRPr lang="en-IN"/>
          </a:p>
        </p:txBody>
      </p:sp>
      <p:sp>
        <p:nvSpPr>
          <p:cNvPr id="12" name="Text 10"/>
          <p:cNvSpPr/>
          <p:nvPr/>
        </p:nvSpPr>
        <p:spPr>
          <a:xfrm>
            <a:off x="384048" y="195681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Q7</a:t>
            </a:r>
            <a:endParaRPr lang="en-US" sz="900" dirty="0"/>
          </a:p>
        </p:txBody>
      </p:sp>
      <p:sp>
        <p:nvSpPr>
          <p:cNvPr id="13" name="Text 11"/>
          <p:cNvSpPr/>
          <p:nvPr/>
        </p:nvSpPr>
        <p:spPr>
          <a:xfrm>
            <a:off x="914400" y="183794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FAISS vs ChromaDB — key differences?</a:t>
            </a:r>
            <a:endParaRPr lang="en-US" sz="1150" dirty="0"/>
          </a:p>
        </p:txBody>
      </p:sp>
      <p:sp>
        <p:nvSpPr>
          <p:cNvPr id="14" name="Text 12"/>
          <p:cNvSpPr/>
          <p:nvPr/>
        </p:nvSpPr>
        <p:spPr>
          <a:xfrm>
            <a:off x="914400" y="213055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FAISS is in-memory and ultra-fast (for prototypes). ChromaDB has persistence, metadata filtering, and is production-ready for RAG applications.</a:t>
            </a:r>
            <a:endParaRPr lang="en-US" sz="1000" dirty="0"/>
          </a:p>
        </p:txBody>
      </p:sp>
      <p:sp>
        <p:nvSpPr>
          <p:cNvPr id="15" name="Shape 13"/>
          <p:cNvSpPr/>
          <p:nvPr/>
        </p:nvSpPr>
        <p:spPr>
          <a:xfrm>
            <a:off x="274320" y="2606040"/>
            <a:ext cx="8595360" cy="749808"/>
          </a:xfrm>
          <a:prstGeom prst="roundRect">
            <a:avLst>
              <a:gd name="adj" fmla="val 9756"/>
            </a:avLst>
          </a:prstGeom>
          <a:solidFill>
            <a:srgbClr val="1E293B"/>
          </a:solidFill>
          <a:ln w="9525">
            <a:solidFill>
              <a:srgbClr val="10B981"/>
            </a:solidFill>
            <a:prstDash val="solid"/>
          </a:ln>
        </p:spPr>
        <p:txBody>
          <a:bodyPr/>
          <a:lstStyle/>
          <a:p>
            <a:endParaRPr lang="en-IN"/>
          </a:p>
        </p:txBody>
      </p:sp>
      <p:sp>
        <p:nvSpPr>
          <p:cNvPr id="16" name="Shape 14"/>
          <p:cNvSpPr/>
          <p:nvPr/>
        </p:nvSpPr>
        <p:spPr>
          <a:xfrm>
            <a:off x="384048" y="2779776"/>
            <a:ext cx="402336" cy="402336"/>
          </a:xfrm>
          <a:prstGeom prst="ellipse">
            <a:avLst/>
          </a:prstGeom>
          <a:solidFill>
            <a:srgbClr val="10B981"/>
          </a:solidFill>
          <a:ln w="12700">
            <a:solidFill>
              <a:srgbClr val="10B981"/>
            </a:solidFill>
            <a:prstDash val="solid"/>
          </a:ln>
        </p:spPr>
        <p:txBody>
          <a:bodyPr/>
          <a:lstStyle/>
          <a:p>
            <a:endParaRPr lang="en-IN"/>
          </a:p>
        </p:txBody>
      </p:sp>
      <p:sp>
        <p:nvSpPr>
          <p:cNvPr id="17" name="Text 15"/>
          <p:cNvSpPr/>
          <p:nvPr/>
        </p:nvSpPr>
        <p:spPr>
          <a:xfrm>
            <a:off x="384048" y="277977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Q8</a:t>
            </a:r>
            <a:endParaRPr lang="en-US" sz="900" dirty="0"/>
          </a:p>
        </p:txBody>
      </p:sp>
      <p:sp>
        <p:nvSpPr>
          <p:cNvPr id="18" name="Text 16"/>
          <p:cNvSpPr/>
          <p:nvPr/>
        </p:nvSpPr>
        <p:spPr>
          <a:xfrm>
            <a:off x="914400" y="266090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are embeddings?</a:t>
            </a:r>
            <a:endParaRPr lang="en-US" sz="1150" dirty="0"/>
          </a:p>
        </p:txBody>
      </p:sp>
      <p:sp>
        <p:nvSpPr>
          <p:cNvPr id="19" name="Text 17"/>
          <p:cNvSpPr/>
          <p:nvPr/>
        </p:nvSpPr>
        <p:spPr>
          <a:xfrm>
            <a:off x="914400" y="295351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Numerical vector representations of text where semantic similarity = geometric proximity. Similar sentences produce similar vectors measured by cosine distance.</a:t>
            </a:r>
            <a:endParaRPr lang="en-US" sz="1000" dirty="0"/>
          </a:p>
        </p:txBody>
      </p:sp>
      <p:sp>
        <p:nvSpPr>
          <p:cNvPr id="20" name="Shape 18"/>
          <p:cNvSpPr/>
          <p:nvPr/>
        </p:nvSpPr>
        <p:spPr>
          <a:xfrm>
            <a:off x="274320" y="3429000"/>
            <a:ext cx="8595360" cy="749808"/>
          </a:xfrm>
          <a:prstGeom prst="roundRect">
            <a:avLst>
              <a:gd name="adj" fmla="val 9756"/>
            </a:avLst>
          </a:prstGeom>
          <a:solidFill>
            <a:srgbClr val="1E293B"/>
          </a:solidFill>
          <a:ln w="9525">
            <a:solidFill>
              <a:srgbClr val="F59E0B"/>
            </a:solidFill>
            <a:prstDash val="solid"/>
          </a:ln>
        </p:spPr>
        <p:txBody>
          <a:bodyPr/>
          <a:lstStyle/>
          <a:p>
            <a:endParaRPr lang="en-IN"/>
          </a:p>
        </p:txBody>
      </p:sp>
      <p:sp>
        <p:nvSpPr>
          <p:cNvPr id="21" name="Shape 19"/>
          <p:cNvSpPr/>
          <p:nvPr/>
        </p:nvSpPr>
        <p:spPr>
          <a:xfrm>
            <a:off x="384048" y="3602736"/>
            <a:ext cx="402336" cy="402336"/>
          </a:xfrm>
          <a:prstGeom prst="ellipse">
            <a:avLst/>
          </a:prstGeom>
          <a:solidFill>
            <a:srgbClr val="10B981"/>
          </a:solidFill>
          <a:ln w="12700">
            <a:solidFill>
              <a:srgbClr val="10B981"/>
            </a:solidFill>
            <a:prstDash val="solid"/>
          </a:ln>
        </p:spPr>
        <p:txBody>
          <a:bodyPr/>
          <a:lstStyle/>
          <a:p>
            <a:endParaRPr lang="en-IN"/>
          </a:p>
        </p:txBody>
      </p:sp>
      <p:sp>
        <p:nvSpPr>
          <p:cNvPr id="22" name="Text 20"/>
          <p:cNvSpPr/>
          <p:nvPr/>
        </p:nvSpPr>
        <p:spPr>
          <a:xfrm>
            <a:off x="384048" y="360273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Q9</a:t>
            </a:r>
            <a:endParaRPr lang="en-US" sz="900" dirty="0"/>
          </a:p>
        </p:txBody>
      </p:sp>
      <p:sp>
        <p:nvSpPr>
          <p:cNvPr id="23" name="Text 21"/>
          <p:cNvSpPr/>
          <p:nvPr/>
        </p:nvSpPr>
        <p:spPr>
          <a:xfrm>
            <a:off x="914400" y="348386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Multi-Query Retrieval?</a:t>
            </a:r>
            <a:endParaRPr lang="en-US" sz="1150" dirty="0"/>
          </a:p>
        </p:txBody>
      </p:sp>
      <p:sp>
        <p:nvSpPr>
          <p:cNvPr id="24" name="Text 22"/>
          <p:cNvSpPr/>
          <p:nvPr/>
        </p:nvSpPr>
        <p:spPr>
          <a:xfrm>
            <a:off x="914400" y="377647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Instead of one query, the LLM generates multiple rephrased queries to retrieve more diverse and relevant chunks from the vector store, improving recall.</a:t>
            </a:r>
            <a:endParaRPr lang="en-US" sz="1000" dirty="0"/>
          </a:p>
        </p:txBody>
      </p:sp>
      <p:sp>
        <p:nvSpPr>
          <p:cNvPr id="25" name="Shape 23"/>
          <p:cNvSpPr/>
          <p:nvPr/>
        </p:nvSpPr>
        <p:spPr>
          <a:xfrm>
            <a:off x="274320" y="4251960"/>
            <a:ext cx="8595360" cy="749808"/>
          </a:xfrm>
          <a:prstGeom prst="roundRect">
            <a:avLst>
              <a:gd name="adj" fmla="val 9756"/>
            </a:avLst>
          </a:prstGeom>
          <a:solidFill>
            <a:srgbClr val="1E293B"/>
          </a:solidFill>
          <a:ln w="9525">
            <a:solidFill>
              <a:srgbClr val="10B981"/>
            </a:solidFill>
            <a:prstDash val="solid"/>
          </a:ln>
        </p:spPr>
        <p:txBody>
          <a:bodyPr/>
          <a:lstStyle/>
          <a:p>
            <a:endParaRPr lang="en-IN"/>
          </a:p>
        </p:txBody>
      </p:sp>
      <p:sp>
        <p:nvSpPr>
          <p:cNvPr id="26" name="Shape 24"/>
          <p:cNvSpPr/>
          <p:nvPr/>
        </p:nvSpPr>
        <p:spPr>
          <a:xfrm>
            <a:off x="384048" y="4425696"/>
            <a:ext cx="402336" cy="402336"/>
          </a:xfrm>
          <a:prstGeom prst="ellipse">
            <a:avLst/>
          </a:prstGeom>
          <a:solidFill>
            <a:srgbClr val="10B981"/>
          </a:solidFill>
          <a:ln w="12700">
            <a:solidFill>
              <a:srgbClr val="10B981"/>
            </a:solidFill>
            <a:prstDash val="solid"/>
          </a:ln>
        </p:spPr>
        <p:txBody>
          <a:bodyPr/>
          <a:lstStyle/>
          <a:p>
            <a:endParaRPr lang="en-IN"/>
          </a:p>
        </p:txBody>
      </p:sp>
      <p:sp>
        <p:nvSpPr>
          <p:cNvPr id="27" name="Text 25"/>
          <p:cNvSpPr/>
          <p:nvPr/>
        </p:nvSpPr>
        <p:spPr>
          <a:xfrm>
            <a:off x="384048" y="442569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Q10</a:t>
            </a:r>
            <a:endParaRPr lang="en-US" sz="900" dirty="0"/>
          </a:p>
        </p:txBody>
      </p:sp>
      <p:sp>
        <p:nvSpPr>
          <p:cNvPr id="28" name="Text 26"/>
          <p:cNvSpPr/>
          <p:nvPr/>
        </p:nvSpPr>
        <p:spPr>
          <a:xfrm>
            <a:off x="914400" y="430682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LangChain used for?</a:t>
            </a:r>
            <a:endParaRPr lang="en-US" sz="1150" dirty="0"/>
          </a:p>
        </p:txBody>
      </p:sp>
      <p:sp>
        <p:nvSpPr>
          <p:cNvPr id="29" name="Text 27"/>
          <p:cNvSpPr/>
          <p:nvPr/>
        </p:nvSpPr>
        <p:spPr>
          <a:xfrm>
            <a:off x="914400" y="459943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LangChain is a framework that chains together: document loaders, text splitters, embeddings, vector stores, retrievers, LLMs, and agents into complete AI pipelines.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Interview Q&amp;A — Part 3</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F59E0B"/>
                </a:solidFill>
                <a:latin typeface="Calibri" pitchFamily="34" charset="0"/>
                <a:ea typeface="Calibri" pitchFamily="34" charset="-122"/>
                <a:cs typeface="Calibri" pitchFamily="34" charset="-120"/>
              </a:rPr>
              <a:t>LangGraph, Memory &amp; Multi-Agent (Questions 21–30)</a:t>
            </a:r>
            <a:endParaRPr lang="en-US" sz="1300" dirty="0"/>
          </a:p>
        </p:txBody>
      </p:sp>
      <p:sp>
        <p:nvSpPr>
          <p:cNvPr id="5" name="Shape 3"/>
          <p:cNvSpPr/>
          <p:nvPr/>
        </p:nvSpPr>
        <p:spPr>
          <a:xfrm>
            <a:off x="274320" y="960120"/>
            <a:ext cx="8595360" cy="749808"/>
          </a:xfrm>
          <a:prstGeom prst="roundRect">
            <a:avLst>
              <a:gd name="adj" fmla="val 9756"/>
            </a:avLst>
          </a:prstGeom>
          <a:solidFill>
            <a:srgbClr val="1E293B"/>
          </a:solidFill>
          <a:ln w="9525">
            <a:solidFill>
              <a:srgbClr val="F59E0B"/>
            </a:solidFill>
            <a:prstDash val="solid"/>
          </a:ln>
        </p:spPr>
        <p:txBody>
          <a:bodyPr/>
          <a:lstStyle/>
          <a:p>
            <a:endParaRPr lang="en-IN"/>
          </a:p>
        </p:txBody>
      </p:sp>
      <p:sp>
        <p:nvSpPr>
          <p:cNvPr id="6" name="Shape 4"/>
          <p:cNvSpPr/>
          <p:nvPr/>
        </p:nvSpPr>
        <p:spPr>
          <a:xfrm>
            <a:off x="384048" y="1133856"/>
            <a:ext cx="402336" cy="402336"/>
          </a:xfrm>
          <a:prstGeom prst="ellipse">
            <a:avLst/>
          </a:prstGeom>
          <a:solidFill>
            <a:srgbClr val="F59E0B"/>
          </a:solidFill>
          <a:ln w="12700">
            <a:solidFill>
              <a:srgbClr val="F59E0B"/>
            </a:solidFill>
            <a:prstDash val="solid"/>
          </a:ln>
        </p:spPr>
        <p:txBody>
          <a:bodyPr/>
          <a:lstStyle/>
          <a:p>
            <a:endParaRPr lang="en-IN"/>
          </a:p>
        </p:txBody>
      </p:sp>
      <p:sp>
        <p:nvSpPr>
          <p:cNvPr id="7" name="Text 5"/>
          <p:cNvSpPr/>
          <p:nvPr/>
        </p:nvSpPr>
        <p:spPr>
          <a:xfrm>
            <a:off x="384048" y="113385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Q11</a:t>
            </a:r>
            <a:endParaRPr lang="en-US" sz="900" dirty="0"/>
          </a:p>
        </p:txBody>
      </p:sp>
      <p:sp>
        <p:nvSpPr>
          <p:cNvPr id="8" name="Text 6"/>
          <p:cNvSpPr/>
          <p:nvPr/>
        </p:nvSpPr>
        <p:spPr>
          <a:xfrm>
            <a:off x="914400" y="101498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LangChain vs LangGraph?</a:t>
            </a:r>
            <a:endParaRPr lang="en-US" sz="1150" dirty="0"/>
          </a:p>
        </p:txBody>
      </p:sp>
      <p:sp>
        <p:nvSpPr>
          <p:cNvPr id="9" name="Text 7"/>
          <p:cNvSpPr/>
          <p:nvPr/>
        </p:nvSpPr>
        <p:spPr>
          <a:xfrm>
            <a:off x="914400" y="130759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LangChain is for linear pipelines. LangGraph adds stateful workflows, conditional branching, cycles (retry loops), and first-class multi-agent coordination.</a:t>
            </a:r>
            <a:endParaRPr lang="en-US" sz="1000" dirty="0"/>
          </a:p>
        </p:txBody>
      </p:sp>
      <p:sp>
        <p:nvSpPr>
          <p:cNvPr id="10" name="Shape 8"/>
          <p:cNvSpPr/>
          <p:nvPr/>
        </p:nvSpPr>
        <p:spPr>
          <a:xfrm>
            <a:off x="274320" y="178308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11" name="Shape 9"/>
          <p:cNvSpPr/>
          <p:nvPr/>
        </p:nvSpPr>
        <p:spPr>
          <a:xfrm>
            <a:off x="384048" y="1956816"/>
            <a:ext cx="402336" cy="402336"/>
          </a:xfrm>
          <a:prstGeom prst="ellipse">
            <a:avLst/>
          </a:prstGeom>
          <a:solidFill>
            <a:srgbClr val="F59E0B"/>
          </a:solidFill>
          <a:ln w="12700">
            <a:solidFill>
              <a:srgbClr val="F59E0B"/>
            </a:solidFill>
            <a:prstDash val="solid"/>
          </a:ln>
        </p:spPr>
        <p:txBody>
          <a:bodyPr/>
          <a:lstStyle/>
          <a:p>
            <a:endParaRPr lang="en-IN"/>
          </a:p>
        </p:txBody>
      </p:sp>
      <p:sp>
        <p:nvSpPr>
          <p:cNvPr id="12" name="Text 10"/>
          <p:cNvSpPr/>
          <p:nvPr/>
        </p:nvSpPr>
        <p:spPr>
          <a:xfrm>
            <a:off x="384048" y="195681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Q12</a:t>
            </a:r>
            <a:endParaRPr lang="en-US" sz="900" dirty="0"/>
          </a:p>
        </p:txBody>
      </p:sp>
      <p:sp>
        <p:nvSpPr>
          <p:cNvPr id="13" name="Text 11"/>
          <p:cNvSpPr/>
          <p:nvPr/>
        </p:nvSpPr>
        <p:spPr>
          <a:xfrm>
            <a:off x="914400" y="183794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are agent memory types?</a:t>
            </a:r>
            <a:endParaRPr lang="en-US" sz="1150" dirty="0"/>
          </a:p>
        </p:txBody>
      </p:sp>
      <p:sp>
        <p:nvSpPr>
          <p:cNvPr id="14" name="Text 12"/>
          <p:cNvSpPr/>
          <p:nvPr/>
        </p:nvSpPr>
        <p:spPr>
          <a:xfrm>
            <a:off x="914400" y="213055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Short-term (in-context buffer), Long-term (DB-persisted), Semantic/Vector (embedding-based retrieval), Episodic (event/action history).</a:t>
            </a:r>
            <a:endParaRPr lang="en-US" sz="1000" dirty="0"/>
          </a:p>
        </p:txBody>
      </p:sp>
      <p:sp>
        <p:nvSpPr>
          <p:cNvPr id="15" name="Shape 13"/>
          <p:cNvSpPr/>
          <p:nvPr/>
        </p:nvSpPr>
        <p:spPr>
          <a:xfrm>
            <a:off x="274320" y="2606040"/>
            <a:ext cx="8595360" cy="749808"/>
          </a:xfrm>
          <a:prstGeom prst="roundRect">
            <a:avLst>
              <a:gd name="adj" fmla="val 9756"/>
            </a:avLst>
          </a:prstGeom>
          <a:solidFill>
            <a:srgbClr val="1E293B"/>
          </a:solidFill>
          <a:ln w="9525">
            <a:solidFill>
              <a:srgbClr val="F59E0B"/>
            </a:solidFill>
            <a:prstDash val="solid"/>
          </a:ln>
        </p:spPr>
        <p:txBody>
          <a:bodyPr/>
          <a:lstStyle/>
          <a:p>
            <a:endParaRPr lang="en-IN"/>
          </a:p>
        </p:txBody>
      </p:sp>
      <p:sp>
        <p:nvSpPr>
          <p:cNvPr id="16" name="Shape 14"/>
          <p:cNvSpPr/>
          <p:nvPr/>
        </p:nvSpPr>
        <p:spPr>
          <a:xfrm>
            <a:off x="384048" y="2779776"/>
            <a:ext cx="402336" cy="402336"/>
          </a:xfrm>
          <a:prstGeom prst="ellipse">
            <a:avLst/>
          </a:prstGeom>
          <a:solidFill>
            <a:srgbClr val="F59E0B"/>
          </a:solidFill>
          <a:ln w="12700">
            <a:solidFill>
              <a:srgbClr val="F59E0B"/>
            </a:solidFill>
            <a:prstDash val="solid"/>
          </a:ln>
        </p:spPr>
        <p:txBody>
          <a:bodyPr/>
          <a:lstStyle/>
          <a:p>
            <a:endParaRPr lang="en-IN"/>
          </a:p>
        </p:txBody>
      </p:sp>
      <p:sp>
        <p:nvSpPr>
          <p:cNvPr id="17" name="Text 15"/>
          <p:cNvSpPr/>
          <p:nvPr/>
        </p:nvSpPr>
        <p:spPr>
          <a:xfrm>
            <a:off x="384048" y="277977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Q13</a:t>
            </a:r>
            <a:endParaRPr lang="en-US" sz="900" dirty="0"/>
          </a:p>
        </p:txBody>
      </p:sp>
      <p:sp>
        <p:nvSpPr>
          <p:cNvPr id="18" name="Text 16"/>
          <p:cNvSpPr/>
          <p:nvPr/>
        </p:nvSpPr>
        <p:spPr>
          <a:xfrm>
            <a:off x="914400" y="266090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a Vector Database?</a:t>
            </a:r>
            <a:endParaRPr lang="en-US" sz="1150" dirty="0"/>
          </a:p>
        </p:txBody>
      </p:sp>
      <p:sp>
        <p:nvSpPr>
          <p:cNvPr id="19" name="Text 17"/>
          <p:cNvSpPr/>
          <p:nvPr/>
        </p:nvSpPr>
        <p:spPr>
          <a:xfrm>
            <a:off x="914400" y="295351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 database optimized for storing and querying high-dimensional embedding vectors. Supports similarity search (cosine, L2). Examples: Pinecone, Weaviate, Qdrant.</a:t>
            </a:r>
            <a:endParaRPr lang="en-US" sz="1000" dirty="0"/>
          </a:p>
        </p:txBody>
      </p:sp>
      <p:sp>
        <p:nvSpPr>
          <p:cNvPr id="20" name="Shape 18"/>
          <p:cNvSpPr/>
          <p:nvPr/>
        </p:nvSpPr>
        <p:spPr>
          <a:xfrm>
            <a:off x="274320" y="342900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21" name="Shape 19"/>
          <p:cNvSpPr/>
          <p:nvPr/>
        </p:nvSpPr>
        <p:spPr>
          <a:xfrm>
            <a:off x="384048" y="3602736"/>
            <a:ext cx="402336" cy="402336"/>
          </a:xfrm>
          <a:prstGeom prst="ellipse">
            <a:avLst/>
          </a:prstGeom>
          <a:solidFill>
            <a:srgbClr val="F59E0B"/>
          </a:solidFill>
          <a:ln w="12700">
            <a:solidFill>
              <a:srgbClr val="F59E0B"/>
            </a:solidFill>
            <a:prstDash val="solid"/>
          </a:ln>
        </p:spPr>
        <p:txBody>
          <a:bodyPr/>
          <a:lstStyle/>
          <a:p>
            <a:endParaRPr lang="en-IN"/>
          </a:p>
        </p:txBody>
      </p:sp>
      <p:sp>
        <p:nvSpPr>
          <p:cNvPr id="22" name="Text 20"/>
          <p:cNvSpPr/>
          <p:nvPr/>
        </p:nvSpPr>
        <p:spPr>
          <a:xfrm>
            <a:off x="384048" y="360273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Q14</a:t>
            </a:r>
            <a:endParaRPr lang="en-US" sz="900" dirty="0"/>
          </a:p>
        </p:txBody>
      </p:sp>
      <p:sp>
        <p:nvSpPr>
          <p:cNvPr id="23" name="Text 21"/>
          <p:cNvSpPr/>
          <p:nvPr/>
        </p:nvSpPr>
        <p:spPr>
          <a:xfrm>
            <a:off x="914400" y="348386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How does Tool Calling work in LLMs?</a:t>
            </a:r>
            <a:endParaRPr lang="en-US" sz="1150" dirty="0"/>
          </a:p>
        </p:txBody>
      </p:sp>
      <p:sp>
        <p:nvSpPr>
          <p:cNvPr id="24" name="Text 22"/>
          <p:cNvSpPr/>
          <p:nvPr/>
        </p:nvSpPr>
        <p:spPr>
          <a:xfrm>
            <a:off x="914400" y="377647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The LLM sees tool definitions (JSON schema). It decides which tool to call and outputs structured JSON arguments. The framework executes the tool and returns the result.</a:t>
            </a:r>
            <a:endParaRPr lang="en-US" sz="1000" dirty="0"/>
          </a:p>
        </p:txBody>
      </p:sp>
      <p:sp>
        <p:nvSpPr>
          <p:cNvPr id="25" name="Shape 23"/>
          <p:cNvSpPr/>
          <p:nvPr/>
        </p:nvSpPr>
        <p:spPr>
          <a:xfrm>
            <a:off x="274320" y="4251960"/>
            <a:ext cx="8595360" cy="749808"/>
          </a:xfrm>
          <a:prstGeom prst="roundRect">
            <a:avLst>
              <a:gd name="adj" fmla="val 9756"/>
            </a:avLst>
          </a:prstGeom>
          <a:solidFill>
            <a:srgbClr val="1E293B"/>
          </a:solidFill>
          <a:ln w="9525">
            <a:solidFill>
              <a:srgbClr val="F59E0B"/>
            </a:solidFill>
            <a:prstDash val="solid"/>
          </a:ln>
        </p:spPr>
        <p:txBody>
          <a:bodyPr/>
          <a:lstStyle/>
          <a:p>
            <a:endParaRPr lang="en-IN"/>
          </a:p>
        </p:txBody>
      </p:sp>
      <p:sp>
        <p:nvSpPr>
          <p:cNvPr id="26" name="Shape 24"/>
          <p:cNvSpPr/>
          <p:nvPr/>
        </p:nvSpPr>
        <p:spPr>
          <a:xfrm>
            <a:off x="384048" y="4425696"/>
            <a:ext cx="402336" cy="402336"/>
          </a:xfrm>
          <a:prstGeom prst="ellipse">
            <a:avLst/>
          </a:prstGeom>
          <a:solidFill>
            <a:srgbClr val="F59E0B"/>
          </a:solidFill>
          <a:ln w="12700">
            <a:solidFill>
              <a:srgbClr val="F59E0B"/>
            </a:solidFill>
            <a:prstDash val="solid"/>
          </a:ln>
        </p:spPr>
        <p:txBody>
          <a:bodyPr/>
          <a:lstStyle/>
          <a:p>
            <a:endParaRPr lang="en-IN"/>
          </a:p>
        </p:txBody>
      </p:sp>
      <p:sp>
        <p:nvSpPr>
          <p:cNvPr id="27" name="Text 25"/>
          <p:cNvSpPr/>
          <p:nvPr/>
        </p:nvSpPr>
        <p:spPr>
          <a:xfrm>
            <a:off x="384048" y="442569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Q15</a:t>
            </a:r>
            <a:endParaRPr lang="en-US" sz="900" dirty="0"/>
          </a:p>
        </p:txBody>
      </p:sp>
      <p:sp>
        <p:nvSpPr>
          <p:cNvPr id="28" name="Text 26"/>
          <p:cNvSpPr/>
          <p:nvPr/>
        </p:nvSpPr>
        <p:spPr>
          <a:xfrm>
            <a:off x="914400" y="430682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Amazon Bedrock?</a:t>
            </a:r>
            <a:endParaRPr lang="en-US" sz="1150" dirty="0"/>
          </a:p>
        </p:txBody>
      </p:sp>
      <p:sp>
        <p:nvSpPr>
          <p:cNvPr id="29" name="Text 27"/>
          <p:cNvSpPr/>
          <p:nvPr/>
        </p:nvSpPr>
        <p:spPr>
          <a:xfrm>
            <a:off x="914400" y="459943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AWS managed service that provides access to foundation models (Claude, Llama, Titan) and includes Bedrock Agents — a managed ReAct agent with knowledge bases and tool use.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Interview Q&amp;A — Part 4</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300" i="1" dirty="0">
                <a:solidFill>
                  <a:srgbClr val="06B6D4"/>
                </a:solidFill>
                <a:latin typeface="Calibri" pitchFamily="34" charset="0"/>
                <a:ea typeface="Calibri" pitchFamily="34" charset="-122"/>
                <a:cs typeface="Calibri" pitchFamily="34" charset="-120"/>
              </a:rPr>
              <a:t>Advanced scenarios &amp; design questions (Q16–30)</a:t>
            </a:r>
            <a:endParaRPr lang="en-US" sz="1300" dirty="0"/>
          </a:p>
        </p:txBody>
      </p:sp>
      <p:sp>
        <p:nvSpPr>
          <p:cNvPr id="5" name="Shape 3"/>
          <p:cNvSpPr/>
          <p:nvPr/>
        </p:nvSpPr>
        <p:spPr>
          <a:xfrm>
            <a:off x="274320" y="96012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6" name="Shape 4"/>
          <p:cNvSpPr/>
          <p:nvPr/>
        </p:nvSpPr>
        <p:spPr>
          <a:xfrm>
            <a:off x="384048" y="1133856"/>
            <a:ext cx="402336" cy="402336"/>
          </a:xfrm>
          <a:prstGeom prst="ellipse">
            <a:avLst/>
          </a:prstGeom>
          <a:solidFill>
            <a:srgbClr val="06B6D4"/>
          </a:solidFill>
          <a:ln w="12700">
            <a:solidFill>
              <a:srgbClr val="06B6D4"/>
            </a:solidFill>
            <a:prstDash val="solid"/>
          </a:ln>
        </p:spPr>
        <p:txBody>
          <a:bodyPr/>
          <a:lstStyle/>
          <a:p>
            <a:endParaRPr lang="en-IN"/>
          </a:p>
        </p:txBody>
      </p:sp>
      <p:sp>
        <p:nvSpPr>
          <p:cNvPr id="7" name="Text 5"/>
          <p:cNvSpPr/>
          <p:nvPr/>
        </p:nvSpPr>
        <p:spPr>
          <a:xfrm>
            <a:off x="384048" y="113385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Q16</a:t>
            </a:r>
            <a:endParaRPr lang="en-US" sz="900" dirty="0"/>
          </a:p>
        </p:txBody>
      </p:sp>
      <p:sp>
        <p:nvSpPr>
          <p:cNvPr id="8" name="Text 6"/>
          <p:cNvSpPr/>
          <p:nvPr/>
        </p:nvSpPr>
        <p:spPr>
          <a:xfrm>
            <a:off x="914400" y="101498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How do you prevent agent hallucinations?</a:t>
            </a:r>
            <a:endParaRPr lang="en-US" sz="1150" dirty="0"/>
          </a:p>
        </p:txBody>
      </p:sp>
      <p:sp>
        <p:nvSpPr>
          <p:cNvPr id="9" name="Text 7"/>
          <p:cNvSpPr/>
          <p:nvPr/>
        </p:nvSpPr>
        <p:spPr>
          <a:xfrm>
            <a:off x="914400" y="130759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Use RAG (grounding in real docs), add output validation tools, prompt with 'say I don't know if unsure', use lower temperature, and include citation requirements.</a:t>
            </a:r>
            <a:endParaRPr lang="en-US" sz="1000" dirty="0"/>
          </a:p>
        </p:txBody>
      </p:sp>
      <p:sp>
        <p:nvSpPr>
          <p:cNvPr id="10" name="Shape 8"/>
          <p:cNvSpPr/>
          <p:nvPr/>
        </p:nvSpPr>
        <p:spPr>
          <a:xfrm>
            <a:off x="274320" y="1783080"/>
            <a:ext cx="8595360" cy="749808"/>
          </a:xfrm>
          <a:prstGeom prst="roundRect">
            <a:avLst>
              <a:gd name="adj" fmla="val 9756"/>
            </a:avLst>
          </a:prstGeom>
          <a:solidFill>
            <a:srgbClr val="1E293B"/>
          </a:solidFill>
          <a:ln w="9525">
            <a:solidFill>
              <a:srgbClr val="10B981"/>
            </a:solidFill>
            <a:prstDash val="solid"/>
          </a:ln>
        </p:spPr>
        <p:txBody>
          <a:bodyPr/>
          <a:lstStyle/>
          <a:p>
            <a:endParaRPr lang="en-IN"/>
          </a:p>
        </p:txBody>
      </p:sp>
      <p:sp>
        <p:nvSpPr>
          <p:cNvPr id="11" name="Shape 9"/>
          <p:cNvSpPr/>
          <p:nvPr/>
        </p:nvSpPr>
        <p:spPr>
          <a:xfrm>
            <a:off x="384048" y="1956816"/>
            <a:ext cx="402336" cy="402336"/>
          </a:xfrm>
          <a:prstGeom prst="ellipse">
            <a:avLst/>
          </a:prstGeom>
          <a:solidFill>
            <a:srgbClr val="06B6D4"/>
          </a:solidFill>
          <a:ln w="12700">
            <a:solidFill>
              <a:srgbClr val="06B6D4"/>
            </a:solidFill>
            <a:prstDash val="solid"/>
          </a:ln>
        </p:spPr>
        <p:txBody>
          <a:bodyPr/>
          <a:lstStyle/>
          <a:p>
            <a:endParaRPr lang="en-IN"/>
          </a:p>
        </p:txBody>
      </p:sp>
      <p:sp>
        <p:nvSpPr>
          <p:cNvPr id="12" name="Text 10"/>
          <p:cNvSpPr/>
          <p:nvPr/>
        </p:nvSpPr>
        <p:spPr>
          <a:xfrm>
            <a:off x="384048" y="195681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Q17</a:t>
            </a:r>
            <a:endParaRPr lang="en-US" sz="900" dirty="0"/>
          </a:p>
        </p:txBody>
      </p:sp>
      <p:sp>
        <p:nvSpPr>
          <p:cNvPr id="13" name="Text 11"/>
          <p:cNvSpPr/>
          <p:nvPr/>
        </p:nvSpPr>
        <p:spPr>
          <a:xfrm>
            <a:off x="914400" y="183794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the difference between a Chain and an Agent?</a:t>
            </a:r>
            <a:endParaRPr lang="en-US" sz="1150" dirty="0"/>
          </a:p>
        </p:txBody>
      </p:sp>
      <p:sp>
        <p:nvSpPr>
          <p:cNvPr id="14" name="Text 12"/>
          <p:cNvSpPr/>
          <p:nvPr/>
        </p:nvSpPr>
        <p:spPr>
          <a:xfrm>
            <a:off x="914400" y="213055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 Chain has a fixed predefined sequence of steps. An Agent dynamically decides which steps and tools to use at runtime based on the current context and goal.</a:t>
            </a:r>
            <a:endParaRPr lang="en-US" sz="1000" dirty="0"/>
          </a:p>
        </p:txBody>
      </p:sp>
      <p:sp>
        <p:nvSpPr>
          <p:cNvPr id="15" name="Shape 13"/>
          <p:cNvSpPr/>
          <p:nvPr/>
        </p:nvSpPr>
        <p:spPr>
          <a:xfrm>
            <a:off x="274320" y="260604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16" name="Shape 14"/>
          <p:cNvSpPr/>
          <p:nvPr/>
        </p:nvSpPr>
        <p:spPr>
          <a:xfrm>
            <a:off x="384048" y="2779776"/>
            <a:ext cx="402336" cy="402336"/>
          </a:xfrm>
          <a:prstGeom prst="ellipse">
            <a:avLst/>
          </a:prstGeom>
          <a:solidFill>
            <a:srgbClr val="06B6D4"/>
          </a:solidFill>
          <a:ln w="12700">
            <a:solidFill>
              <a:srgbClr val="06B6D4"/>
            </a:solidFill>
            <a:prstDash val="solid"/>
          </a:ln>
        </p:spPr>
        <p:txBody>
          <a:bodyPr/>
          <a:lstStyle/>
          <a:p>
            <a:endParaRPr lang="en-IN"/>
          </a:p>
        </p:txBody>
      </p:sp>
      <p:sp>
        <p:nvSpPr>
          <p:cNvPr id="17" name="Text 15"/>
          <p:cNvSpPr/>
          <p:nvPr/>
        </p:nvSpPr>
        <p:spPr>
          <a:xfrm>
            <a:off x="384048" y="277977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Q18</a:t>
            </a:r>
            <a:endParaRPr lang="en-US" sz="900" dirty="0"/>
          </a:p>
        </p:txBody>
      </p:sp>
      <p:sp>
        <p:nvSpPr>
          <p:cNvPr id="18" name="Text 16"/>
          <p:cNvSpPr/>
          <p:nvPr/>
        </p:nvSpPr>
        <p:spPr>
          <a:xfrm>
            <a:off x="914400" y="266090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Explain agent evaluation/testing approach.</a:t>
            </a:r>
            <a:endParaRPr lang="en-US" sz="1150" dirty="0"/>
          </a:p>
        </p:txBody>
      </p:sp>
      <p:sp>
        <p:nvSpPr>
          <p:cNvPr id="19" name="Text 17"/>
          <p:cNvSpPr/>
          <p:nvPr/>
        </p:nvSpPr>
        <p:spPr>
          <a:xfrm>
            <a:off x="914400" y="295351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Test each tool independently. Use golden-set QA pairs. Measure: tool selection accuracy, answer faithfulness, latency, context relevance. Use LangSmith for tracing.</a:t>
            </a:r>
            <a:endParaRPr lang="en-US" sz="1000" dirty="0"/>
          </a:p>
        </p:txBody>
      </p:sp>
      <p:sp>
        <p:nvSpPr>
          <p:cNvPr id="20" name="Shape 18"/>
          <p:cNvSpPr/>
          <p:nvPr/>
        </p:nvSpPr>
        <p:spPr>
          <a:xfrm>
            <a:off x="274320" y="3429000"/>
            <a:ext cx="8595360" cy="749808"/>
          </a:xfrm>
          <a:prstGeom prst="roundRect">
            <a:avLst>
              <a:gd name="adj" fmla="val 9756"/>
            </a:avLst>
          </a:prstGeom>
          <a:solidFill>
            <a:srgbClr val="1E293B"/>
          </a:solidFill>
          <a:ln w="9525">
            <a:solidFill>
              <a:srgbClr val="10B981"/>
            </a:solidFill>
            <a:prstDash val="solid"/>
          </a:ln>
        </p:spPr>
        <p:txBody>
          <a:bodyPr/>
          <a:lstStyle/>
          <a:p>
            <a:endParaRPr lang="en-IN"/>
          </a:p>
        </p:txBody>
      </p:sp>
      <p:sp>
        <p:nvSpPr>
          <p:cNvPr id="21" name="Shape 19"/>
          <p:cNvSpPr/>
          <p:nvPr/>
        </p:nvSpPr>
        <p:spPr>
          <a:xfrm>
            <a:off x="384048" y="3602736"/>
            <a:ext cx="402336" cy="402336"/>
          </a:xfrm>
          <a:prstGeom prst="ellipse">
            <a:avLst/>
          </a:prstGeom>
          <a:solidFill>
            <a:srgbClr val="06B6D4"/>
          </a:solidFill>
          <a:ln w="12700">
            <a:solidFill>
              <a:srgbClr val="06B6D4"/>
            </a:solidFill>
            <a:prstDash val="solid"/>
          </a:ln>
        </p:spPr>
        <p:txBody>
          <a:bodyPr/>
          <a:lstStyle/>
          <a:p>
            <a:endParaRPr lang="en-IN"/>
          </a:p>
        </p:txBody>
      </p:sp>
      <p:sp>
        <p:nvSpPr>
          <p:cNvPr id="22" name="Text 20"/>
          <p:cNvSpPr/>
          <p:nvPr/>
        </p:nvSpPr>
        <p:spPr>
          <a:xfrm>
            <a:off x="384048" y="360273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Q19</a:t>
            </a:r>
            <a:endParaRPr lang="en-US" sz="900" dirty="0"/>
          </a:p>
        </p:txBody>
      </p:sp>
      <p:sp>
        <p:nvSpPr>
          <p:cNvPr id="23" name="Text 21"/>
          <p:cNvSpPr/>
          <p:nvPr/>
        </p:nvSpPr>
        <p:spPr>
          <a:xfrm>
            <a:off x="914400" y="348386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How does LangGraph handle errors/retries?</a:t>
            </a:r>
            <a:endParaRPr lang="en-US" sz="1150" dirty="0"/>
          </a:p>
        </p:txBody>
      </p:sp>
      <p:sp>
        <p:nvSpPr>
          <p:cNvPr id="24" name="Text 22"/>
          <p:cNvSpPr/>
          <p:nvPr/>
        </p:nvSpPr>
        <p:spPr>
          <a:xfrm>
            <a:off x="914400" y="377647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Graph edges can be conditional. On error, route back to a previous node. Use checkpointing to save state at each step and resume from last successful checkpoint.</a:t>
            </a:r>
            <a:endParaRPr lang="en-US" sz="1000" dirty="0"/>
          </a:p>
        </p:txBody>
      </p:sp>
      <p:sp>
        <p:nvSpPr>
          <p:cNvPr id="25" name="Shape 23"/>
          <p:cNvSpPr/>
          <p:nvPr/>
        </p:nvSpPr>
        <p:spPr>
          <a:xfrm>
            <a:off x="274320" y="425196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26" name="Shape 24"/>
          <p:cNvSpPr/>
          <p:nvPr/>
        </p:nvSpPr>
        <p:spPr>
          <a:xfrm>
            <a:off x="384048" y="4425696"/>
            <a:ext cx="402336" cy="402336"/>
          </a:xfrm>
          <a:prstGeom prst="ellipse">
            <a:avLst/>
          </a:prstGeom>
          <a:solidFill>
            <a:srgbClr val="06B6D4"/>
          </a:solidFill>
          <a:ln w="12700">
            <a:solidFill>
              <a:srgbClr val="06B6D4"/>
            </a:solidFill>
            <a:prstDash val="solid"/>
          </a:ln>
        </p:spPr>
        <p:txBody>
          <a:bodyPr/>
          <a:lstStyle/>
          <a:p>
            <a:endParaRPr lang="en-IN"/>
          </a:p>
        </p:txBody>
      </p:sp>
      <p:sp>
        <p:nvSpPr>
          <p:cNvPr id="27" name="Text 25"/>
          <p:cNvSpPr/>
          <p:nvPr/>
        </p:nvSpPr>
        <p:spPr>
          <a:xfrm>
            <a:off x="384048" y="442569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Q20</a:t>
            </a:r>
            <a:endParaRPr lang="en-US" sz="900" dirty="0"/>
          </a:p>
        </p:txBody>
      </p:sp>
      <p:sp>
        <p:nvSpPr>
          <p:cNvPr id="28" name="Text 26"/>
          <p:cNvSpPr/>
          <p:nvPr/>
        </p:nvSpPr>
        <p:spPr>
          <a:xfrm>
            <a:off x="914400" y="430682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Design a Customer Support Agentic System.</a:t>
            </a:r>
            <a:endParaRPr lang="en-US" sz="1150" dirty="0"/>
          </a:p>
        </p:txBody>
      </p:sp>
      <p:sp>
        <p:nvSpPr>
          <p:cNvPr id="29" name="Text 27"/>
          <p:cNvSpPr/>
          <p:nvPr/>
        </p:nvSpPr>
        <p:spPr>
          <a:xfrm>
            <a:off x="914400" y="459943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Coordinator Agent → Intent Classifier → RAG Tool (knowledge base) → CRM Tool → Escalation Tool → Response Generator. Memory stores ticket history. SLA tracking node.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w="12700">
            <a:solidFill>
              <a:srgbClr val="EF444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Interview Q&amp;A — Bonus 10</a:t>
            </a:r>
            <a:endParaRPr lang="en-US" sz="2800" dirty="0"/>
          </a:p>
        </p:txBody>
      </p:sp>
      <p:sp>
        <p:nvSpPr>
          <p:cNvPr id="4" name="Text 2"/>
          <p:cNvSpPr/>
          <p:nvPr/>
        </p:nvSpPr>
        <p:spPr>
          <a:xfrm>
            <a:off x="365760" y="594360"/>
            <a:ext cx="8229600" cy="256032"/>
          </a:xfrm>
          <a:prstGeom prst="rect">
            <a:avLst/>
          </a:prstGeom>
          <a:noFill/>
          <a:ln/>
        </p:spPr>
        <p:txBody>
          <a:bodyPr wrap="square" rtlCol="0" anchor="ctr"/>
          <a:lstStyle/>
          <a:p>
            <a:pPr marL="0" indent="0">
              <a:buNone/>
            </a:pPr>
            <a:r>
              <a:rPr lang="en-US" sz="1200" i="1" dirty="0">
                <a:solidFill>
                  <a:srgbClr val="EF4444"/>
                </a:solidFill>
                <a:latin typeface="Calibri" pitchFamily="34" charset="0"/>
                <a:ea typeface="Calibri" pitchFamily="34" charset="-122"/>
                <a:cs typeface="Calibri" pitchFamily="34" charset="-120"/>
              </a:rPr>
              <a:t>Rapid-fire: key terms, design patterns &amp; production concerns (Q21–30)</a:t>
            </a:r>
            <a:endParaRPr lang="en-US" sz="1200" dirty="0"/>
          </a:p>
        </p:txBody>
      </p:sp>
      <p:sp>
        <p:nvSpPr>
          <p:cNvPr id="5" name="Shape 3"/>
          <p:cNvSpPr/>
          <p:nvPr/>
        </p:nvSpPr>
        <p:spPr>
          <a:xfrm>
            <a:off x="274320" y="960120"/>
            <a:ext cx="8595360" cy="749808"/>
          </a:xfrm>
          <a:prstGeom prst="roundRect">
            <a:avLst>
              <a:gd name="adj" fmla="val 9756"/>
            </a:avLst>
          </a:prstGeom>
          <a:solidFill>
            <a:srgbClr val="1E293B"/>
          </a:solidFill>
          <a:ln w="9525">
            <a:solidFill>
              <a:srgbClr val="EF4444"/>
            </a:solidFill>
            <a:prstDash val="solid"/>
          </a:ln>
        </p:spPr>
        <p:txBody>
          <a:bodyPr/>
          <a:lstStyle/>
          <a:p>
            <a:endParaRPr lang="en-IN"/>
          </a:p>
        </p:txBody>
      </p:sp>
      <p:sp>
        <p:nvSpPr>
          <p:cNvPr id="6" name="Shape 4"/>
          <p:cNvSpPr/>
          <p:nvPr/>
        </p:nvSpPr>
        <p:spPr>
          <a:xfrm>
            <a:off x="384048" y="1133856"/>
            <a:ext cx="402336" cy="402336"/>
          </a:xfrm>
          <a:prstGeom prst="ellipse">
            <a:avLst/>
          </a:prstGeom>
          <a:solidFill>
            <a:srgbClr val="EF4444"/>
          </a:solidFill>
          <a:ln w="12700">
            <a:solidFill>
              <a:srgbClr val="EF4444"/>
            </a:solidFill>
            <a:prstDash val="solid"/>
          </a:ln>
        </p:spPr>
        <p:txBody>
          <a:bodyPr/>
          <a:lstStyle/>
          <a:p>
            <a:endParaRPr lang="en-IN"/>
          </a:p>
        </p:txBody>
      </p:sp>
      <p:sp>
        <p:nvSpPr>
          <p:cNvPr id="7" name="Text 5"/>
          <p:cNvSpPr/>
          <p:nvPr/>
        </p:nvSpPr>
        <p:spPr>
          <a:xfrm>
            <a:off x="384048" y="113385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Q21</a:t>
            </a:r>
            <a:endParaRPr lang="en-US" sz="900" dirty="0"/>
          </a:p>
        </p:txBody>
      </p:sp>
      <p:sp>
        <p:nvSpPr>
          <p:cNvPr id="8" name="Text 6"/>
          <p:cNvSpPr/>
          <p:nvPr/>
        </p:nvSpPr>
        <p:spPr>
          <a:xfrm>
            <a:off x="914400" y="101498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a system prompt in agents?</a:t>
            </a:r>
            <a:endParaRPr lang="en-US" sz="1150" dirty="0"/>
          </a:p>
        </p:txBody>
      </p:sp>
      <p:sp>
        <p:nvSpPr>
          <p:cNvPr id="9" name="Text 7"/>
          <p:cNvSpPr/>
          <p:nvPr/>
        </p:nvSpPr>
        <p:spPr>
          <a:xfrm>
            <a:off x="914400" y="130759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Sets the agent's persona, constraints, and tool descriptions. It's the 'instructions manual' given to the LLM that defines its role and available capabilities.</a:t>
            </a:r>
            <a:endParaRPr lang="en-US" sz="1000" dirty="0"/>
          </a:p>
        </p:txBody>
      </p:sp>
      <p:sp>
        <p:nvSpPr>
          <p:cNvPr id="10" name="Shape 8"/>
          <p:cNvSpPr/>
          <p:nvPr/>
        </p:nvSpPr>
        <p:spPr>
          <a:xfrm>
            <a:off x="274320" y="178308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11" name="Shape 9"/>
          <p:cNvSpPr/>
          <p:nvPr/>
        </p:nvSpPr>
        <p:spPr>
          <a:xfrm>
            <a:off x="384048" y="1956816"/>
            <a:ext cx="402336" cy="402336"/>
          </a:xfrm>
          <a:prstGeom prst="ellipse">
            <a:avLst/>
          </a:prstGeom>
          <a:solidFill>
            <a:srgbClr val="EF4444"/>
          </a:solidFill>
          <a:ln w="12700">
            <a:solidFill>
              <a:srgbClr val="EF4444"/>
            </a:solidFill>
            <a:prstDash val="solid"/>
          </a:ln>
        </p:spPr>
        <p:txBody>
          <a:bodyPr/>
          <a:lstStyle/>
          <a:p>
            <a:endParaRPr lang="en-IN"/>
          </a:p>
        </p:txBody>
      </p:sp>
      <p:sp>
        <p:nvSpPr>
          <p:cNvPr id="12" name="Text 10"/>
          <p:cNvSpPr/>
          <p:nvPr/>
        </p:nvSpPr>
        <p:spPr>
          <a:xfrm>
            <a:off x="384048" y="195681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Q22</a:t>
            </a:r>
            <a:endParaRPr lang="en-US" sz="900" dirty="0"/>
          </a:p>
        </p:txBody>
      </p:sp>
      <p:sp>
        <p:nvSpPr>
          <p:cNvPr id="13" name="Text 11"/>
          <p:cNvSpPr/>
          <p:nvPr/>
        </p:nvSpPr>
        <p:spPr>
          <a:xfrm>
            <a:off x="914400" y="183794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prompt engineering for agents?</a:t>
            </a:r>
            <a:endParaRPr lang="en-US" sz="1150" dirty="0"/>
          </a:p>
        </p:txBody>
      </p:sp>
      <p:sp>
        <p:nvSpPr>
          <p:cNvPr id="14" name="Text 12"/>
          <p:cNvSpPr/>
          <p:nvPr/>
        </p:nvSpPr>
        <p:spPr>
          <a:xfrm>
            <a:off x="914400" y="213055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Structuring prompts to maximize accuracy: clear goal definition, few-shot examples, ReAct formatting, explicit tool descriptions, output format instructions, and chain-of-thought.</a:t>
            </a:r>
            <a:endParaRPr lang="en-US" sz="1000" dirty="0"/>
          </a:p>
        </p:txBody>
      </p:sp>
      <p:sp>
        <p:nvSpPr>
          <p:cNvPr id="15" name="Shape 13"/>
          <p:cNvSpPr/>
          <p:nvPr/>
        </p:nvSpPr>
        <p:spPr>
          <a:xfrm>
            <a:off x="274320" y="2606040"/>
            <a:ext cx="8595360" cy="749808"/>
          </a:xfrm>
          <a:prstGeom prst="roundRect">
            <a:avLst>
              <a:gd name="adj" fmla="val 9756"/>
            </a:avLst>
          </a:prstGeom>
          <a:solidFill>
            <a:srgbClr val="1E293B"/>
          </a:solidFill>
          <a:ln w="9525">
            <a:solidFill>
              <a:srgbClr val="EF4444"/>
            </a:solidFill>
            <a:prstDash val="solid"/>
          </a:ln>
        </p:spPr>
        <p:txBody>
          <a:bodyPr/>
          <a:lstStyle/>
          <a:p>
            <a:endParaRPr lang="en-IN"/>
          </a:p>
        </p:txBody>
      </p:sp>
      <p:sp>
        <p:nvSpPr>
          <p:cNvPr id="16" name="Shape 14"/>
          <p:cNvSpPr/>
          <p:nvPr/>
        </p:nvSpPr>
        <p:spPr>
          <a:xfrm>
            <a:off x="384048" y="2779776"/>
            <a:ext cx="402336" cy="402336"/>
          </a:xfrm>
          <a:prstGeom prst="ellipse">
            <a:avLst/>
          </a:prstGeom>
          <a:solidFill>
            <a:srgbClr val="EF4444"/>
          </a:solidFill>
          <a:ln w="12700">
            <a:solidFill>
              <a:srgbClr val="EF4444"/>
            </a:solidFill>
            <a:prstDash val="solid"/>
          </a:ln>
        </p:spPr>
        <p:txBody>
          <a:bodyPr/>
          <a:lstStyle/>
          <a:p>
            <a:endParaRPr lang="en-IN"/>
          </a:p>
        </p:txBody>
      </p:sp>
      <p:sp>
        <p:nvSpPr>
          <p:cNvPr id="17" name="Text 15"/>
          <p:cNvSpPr/>
          <p:nvPr/>
        </p:nvSpPr>
        <p:spPr>
          <a:xfrm>
            <a:off x="384048" y="277977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Q23</a:t>
            </a:r>
            <a:endParaRPr lang="en-US" sz="900" dirty="0"/>
          </a:p>
        </p:txBody>
      </p:sp>
      <p:sp>
        <p:nvSpPr>
          <p:cNvPr id="18" name="Text 16"/>
          <p:cNvSpPr/>
          <p:nvPr/>
        </p:nvSpPr>
        <p:spPr>
          <a:xfrm>
            <a:off x="914400" y="266090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causes agent loops/infinite cycles?</a:t>
            </a:r>
            <a:endParaRPr lang="en-US" sz="1150" dirty="0"/>
          </a:p>
        </p:txBody>
      </p:sp>
      <p:sp>
        <p:nvSpPr>
          <p:cNvPr id="19" name="Text 17"/>
          <p:cNvSpPr/>
          <p:nvPr/>
        </p:nvSpPr>
        <p:spPr>
          <a:xfrm>
            <a:off x="914400" y="295351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Ambiguous goal, unreliable tools, insufficient stopping criteria. Fix: add max_iterations limit, clear termination conditions, and validate tool outputs before continuing.</a:t>
            </a:r>
            <a:endParaRPr lang="en-US" sz="1000" dirty="0"/>
          </a:p>
        </p:txBody>
      </p:sp>
      <p:sp>
        <p:nvSpPr>
          <p:cNvPr id="20" name="Shape 18"/>
          <p:cNvSpPr/>
          <p:nvPr/>
        </p:nvSpPr>
        <p:spPr>
          <a:xfrm>
            <a:off x="274320" y="3429000"/>
            <a:ext cx="8595360" cy="749808"/>
          </a:xfrm>
          <a:prstGeom prst="roundRect">
            <a:avLst>
              <a:gd name="adj" fmla="val 9756"/>
            </a:avLst>
          </a:prstGeom>
          <a:solidFill>
            <a:srgbClr val="1E293B"/>
          </a:solidFill>
          <a:ln w="9525">
            <a:solidFill>
              <a:srgbClr val="06B6D4"/>
            </a:solidFill>
            <a:prstDash val="solid"/>
          </a:ln>
        </p:spPr>
        <p:txBody>
          <a:bodyPr/>
          <a:lstStyle/>
          <a:p>
            <a:endParaRPr lang="en-IN"/>
          </a:p>
        </p:txBody>
      </p:sp>
      <p:sp>
        <p:nvSpPr>
          <p:cNvPr id="21" name="Shape 19"/>
          <p:cNvSpPr/>
          <p:nvPr/>
        </p:nvSpPr>
        <p:spPr>
          <a:xfrm>
            <a:off x="384048" y="3602736"/>
            <a:ext cx="402336" cy="402336"/>
          </a:xfrm>
          <a:prstGeom prst="ellipse">
            <a:avLst/>
          </a:prstGeom>
          <a:solidFill>
            <a:srgbClr val="EF4444"/>
          </a:solidFill>
          <a:ln w="12700">
            <a:solidFill>
              <a:srgbClr val="EF4444"/>
            </a:solidFill>
            <a:prstDash val="solid"/>
          </a:ln>
        </p:spPr>
        <p:txBody>
          <a:bodyPr/>
          <a:lstStyle/>
          <a:p>
            <a:endParaRPr lang="en-IN"/>
          </a:p>
        </p:txBody>
      </p:sp>
      <p:sp>
        <p:nvSpPr>
          <p:cNvPr id="22" name="Text 20"/>
          <p:cNvSpPr/>
          <p:nvPr/>
        </p:nvSpPr>
        <p:spPr>
          <a:xfrm>
            <a:off x="384048" y="360273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Q24</a:t>
            </a:r>
            <a:endParaRPr lang="en-US" sz="900" dirty="0"/>
          </a:p>
        </p:txBody>
      </p:sp>
      <p:sp>
        <p:nvSpPr>
          <p:cNvPr id="23" name="Text 21"/>
          <p:cNvSpPr/>
          <p:nvPr/>
        </p:nvSpPr>
        <p:spPr>
          <a:xfrm>
            <a:off x="914400" y="348386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Semantic vs keyword search in RAG?</a:t>
            </a:r>
            <a:endParaRPr lang="en-US" sz="1150" dirty="0"/>
          </a:p>
        </p:txBody>
      </p:sp>
      <p:sp>
        <p:nvSpPr>
          <p:cNvPr id="24" name="Text 22"/>
          <p:cNvSpPr/>
          <p:nvPr/>
        </p:nvSpPr>
        <p:spPr>
          <a:xfrm>
            <a:off x="914400" y="377647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Keyword finds exact matches. Semantic search (embedding-based) finds conceptually similar content even if exact words differ. Hybrid (both) gives best results.</a:t>
            </a:r>
            <a:endParaRPr lang="en-US" sz="1000" dirty="0"/>
          </a:p>
        </p:txBody>
      </p:sp>
      <p:sp>
        <p:nvSpPr>
          <p:cNvPr id="25" name="Shape 23"/>
          <p:cNvSpPr/>
          <p:nvPr/>
        </p:nvSpPr>
        <p:spPr>
          <a:xfrm>
            <a:off x="274320" y="4251960"/>
            <a:ext cx="8595360" cy="749808"/>
          </a:xfrm>
          <a:prstGeom prst="roundRect">
            <a:avLst>
              <a:gd name="adj" fmla="val 9756"/>
            </a:avLst>
          </a:prstGeom>
          <a:solidFill>
            <a:srgbClr val="1E293B"/>
          </a:solidFill>
          <a:ln w="9525">
            <a:solidFill>
              <a:srgbClr val="EF4444"/>
            </a:solidFill>
            <a:prstDash val="solid"/>
          </a:ln>
        </p:spPr>
        <p:txBody>
          <a:bodyPr/>
          <a:lstStyle/>
          <a:p>
            <a:endParaRPr lang="en-IN"/>
          </a:p>
        </p:txBody>
      </p:sp>
      <p:sp>
        <p:nvSpPr>
          <p:cNvPr id="26" name="Shape 24"/>
          <p:cNvSpPr/>
          <p:nvPr/>
        </p:nvSpPr>
        <p:spPr>
          <a:xfrm>
            <a:off x="384048" y="4425696"/>
            <a:ext cx="402336" cy="402336"/>
          </a:xfrm>
          <a:prstGeom prst="ellipse">
            <a:avLst/>
          </a:prstGeom>
          <a:solidFill>
            <a:srgbClr val="EF4444"/>
          </a:solidFill>
          <a:ln w="12700">
            <a:solidFill>
              <a:srgbClr val="EF4444"/>
            </a:solidFill>
            <a:prstDash val="solid"/>
          </a:ln>
        </p:spPr>
        <p:txBody>
          <a:bodyPr/>
          <a:lstStyle/>
          <a:p>
            <a:endParaRPr lang="en-IN"/>
          </a:p>
        </p:txBody>
      </p:sp>
      <p:sp>
        <p:nvSpPr>
          <p:cNvPr id="27" name="Text 25"/>
          <p:cNvSpPr/>
          <p:nvPr/>
        </p:nvSpPr>
        <p:spPr>
          <a:xfrm>
            <a:off x="384048" y="4425696"/>
            <a:ext cx="402336" cy="402336"/>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Q25</a:t>
            </a:r>
            <a:endParaRPr lang="en-US" sz="900" dirty="0"/>
          </a:p>
        </p:txBody>
      </p:sp>
      <p:sp>
        <p:nvSpPr>
          <p:cNvPr id="28" name="Text 26"/>
          <p:cNvSpPr/>
          <p:nvPr/>
        </p:nvSpPr>
        <p:spPr>
          <a:xfrm>
            <a:off x="914400" y="4306824"/>
            <a:ext cx="7772400" cy="2743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What is a Knowledge Graph Agent?</a:t>
            </a:r>
            <a:endParaRPr lang="en-US" sz="1150" dirty="0"/>
          </a:p>
        </p:txBody>
      </p:sp>
      <p:sp>
        <p:nvSpPr>
          <p:cNvPr id="29" name="Text 27"/>
          <p:cNvSpPr/>
          <p:nvPr/>
        </p:nvSpPr>
        <p:spPr>
          <a:xfrm>
            <a:off x="914400" y="4599432"/>
            <a:ext cx="7772400" cy="34747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Combines RAG with structured knowledge graphs (Neo4j). Instead of pure vector search, it traverses entity relationships for more precise, structured retrieval.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Learning Roadmap</a:t>
            </a:r>
            <a:endParaRPr lang="en-US" sz="2800" dirty="0"/>
          </a:p>
        </p:txBody>
      </p:sp>
      <p:sp>
        <p:nvSpPr>
          <p:cNvPr id="4" name="Shape 2"/>
          <p:cNvSpPr/>
          <p:nvPr/>
        </p:nvSpPr>
        <p:spPr>
          <a:xfrm>
            <a:off x="274320" y="685800"/>
            <a:ext cx="2834640" cy="4224528"/>
          </a:xfrm>
          <a:prstGeom prst="roundRect">
            <a:avLst>
              <a:gd name="adj" fmla="val 4839"/>
            </a:avLst>
          </a:prstGeom>
          <a:solidFill>
            <a:srgbClr val="1E293B"/>
          </a:solidFill>
          <a:ln w="25400">
            <a:solidFill>
              <a:srgbClr val="10B981"/>
            </a:solidFill>
            <a:prstDash val="solid"/>
          </a:ln>
        </p:spPr>
        <p:txBody>
          <a:bodyPr/>
          <a:lstStyle/>
          <a:p>
            <a:endParaRPr lang="en-IN"/>
          </a:p>
        </p:txBody>
      </p:sp>
      <p:sp>
        <p:nvSpPr>
          <p:cNvPr id="5" name="Shape 3"/>
          <p:cNvSpPr/>
          <p:nvPr/>
        </p:nvSpPr>
        <p:spPr>
          <a:xfrm>
            <a:off x="365760" y="777240"/>
            <a:ext cx="2651760" cy="512064"/>
          </a:xfrm>
          <a:prstGeom prst="roundRect">
            <a:avLst>
              <a:gd name="adj" fmla="val 14286"/>
            </a:avLst>
          </a:prstGeom>
          <a:solidFill>
            <a:srgbClr val="10B981"/>
          </a:solidFill>
          <a:ln w="12700">
            <a:solidFill>
              <a:srgbClr val="10B981"/>
            </a:solidFill>
            <a:prstDash val="solid"/>
          </a:ln>
        </p:spPr>
        <p:txBody>
          <a:bodyPr/>
          <a:lstStyle/>
          <a:p>
            <a:endParaRPr lang="en-IN"/>
          </a:p>
        </p:txBody>
      </p:sp>
      <p:sp>
        <p:nvSpPr>
          <p:cNvPr id="6" name="Text 4"/>
          <p:cNvSpPr/>
          <p:nvPr/>
        </p:nvSpPr>
        <p:spPr>
          <a:xfrm>
            <a:off x="365760" y="777240"/>
            <a:ext cx="2651760" cy="512064"/>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BEGINNER</a:t>
            </a:r>
            <a:endParaRPr lang="en-US" sz="1300" dirty="0"/>
          </a:p>
        </p:txBody>
      </p:sp>
      <p:sp>
        <p:nvSpPr>
          <p:cNvPr id="7" name="Shape 5"/>
          <p:cNvSpPr/>
          <p:nvPr/>
        </p:nvSpPr>
        <p:spPr>
          <a:xfrm>
            <a:off x="438912" y="1417320"/>
            <a:ext cx="2505456" cy="530352"/>
          </a:xfrm>
          <a:prstGeom prst="roundRect">
            <a:avLst>
              <a:gd name="adj" fmla="val 12069"/>
            </a:avLst>
          </a:prstGeom>
          <a:solidFill>
            <a:srgbClr val="0F172A"/>
          </a:solidFill>
          <a:ln w="9525">
            <a:solidFill>
              <a:srgbClr val="10B981"/>
            </a:solidFill>
            <a:prstDash val="solid"/>
          </a:ln>
        </p:spPr>
        <p:txBody>
          <a:bodyPr/>
          <a:lstStyle/>
          <a:p>
            <a:endParaRPr lang="en-IN"/>
          </a:p>
        </p:txBody>
      </p:sp>
      <p:sp>
        <p:nvSpPr>
          <p:cNvPr id="8" name="Text 6"/>
          <p:cNvSpPr/>
          <p:nvPr/>
        </p:nvSpPr>
        <p:spPr>
          <a:xfrm>
            <a:off x="530352" y="1417320"/>
            <a:ext cx="2322576" cy="530352"/>
          </a:xfrm>
          <a:prstGeom prst="rect">
            <a:avLst/>
          </a:prstGeom>
          <a:noFill/>
          <a:ln/>
        </p:spPr>
        <p:txBody>
          <a:bodyPr wrap="square" rtlCol="0" anchor="ctr"/>
          <a:lstStyle/>
          <a:p>
            <a:pPr marL="0" indent="0">
              <a:buNone/>
            </a:pPr>
            <a:r>
              <a:rPr lang="en-US" sz="1100" dirty="0">
                <a:solidFill>
                  <a:srgbClr val="10B981"/>
                </a:solidFill>
                <a:latin typeface="Calibri" pitchFamily="34" charset="0"/>
                <a:ea typeface="Calibri" pitchFamily="34" charset="-122"/>
                <a:cs typeface="Calibri" pitchFamily="34" charset="-120"/>
              </a:rPr>
              <a:t>1. </a:t>
            </a:r>
            <a:r>
              <a:rPr lang="en-US" sz="1100" b="1" dirty="0">
                <a:solidFill>
                  <a:srgbClr val="10B981"/>
                </a:solidFill>
                <a:latin typeface="Calibri" pitchFamily="34" charset="0"/>
                <a:ea typeface="Calibri" pitchFamily="34" charset="-122"/>
                <a:cs typeface="Calibri" pitchFamily="34" charset="-120"/>
              </a:rPr>
              <a:t>Python Fundamentals</a:t>
            </a:r>
            <a:endParaRPr lang="en-US" sz="1100" dirty="0"/>
          </a:p>
        </p:txBody>
      </p:sp>
      <p:sp>
        <p:nvSpPr>
          <p:cNvPr id="9" name="Shape 7"/>
          <p:cNvSpPr/>
          <p:nvPr/>
        </p:nvSpPr>
        <p:spPr>
          <a:xfrm>
            <a:off x="438912" y="2075688"/>
            <a:ext cx="2505456" cy="530352"/>
          </a:xfrm>
          <a:prstGeom prst="roundRect">
            <a:avLst>
              <a:gd name="adj" fmla="val 12069"/>
            </a:avLst>
          </a:prstGeom>
          <a:solidFill>
            <a:srgbClr val="0F172A"/>
          </a:solidFill>
          <a:ln w="9525">
            <a:solidFill>
              <a:srgbClr val="10B981"/>
            </a:solidFill>
            <a:prstDash val="solid"/>
          </a:ln>
        </p:spPr>
        <p:txBody>
          <a:bodyPr/>
          <a:lstStyle/>
          <a:p>
            <a:endParaRPr lang="en-IN"/>
          </a:p>
        </p:txBody>
      </p:sp>
      <p:sp>
        <p:nvSpPr>
          <p:cNvPr id="10" name="Text 8"/>
          <p:cNvSpPr/>
          <p:nvPr/>
        </p:nvSpPr>
        <p:spPr>
          <a:xfrm>
            <a:off x="530352" y="2075688"/>
            <a:ext cx="2322576" cy="530352"/>
          </a:xfrm>
          <a:prstGeom prst="rect">
            <a:avLst/>
          </a:prstGeom>
          <a:noFill/>
          <a:ln/>
        </p:spPr>
        <p:txBody>
          <a:bodyPr wrap="square" rtlCol="0" anchor="ctr"/>
          <a:lstStyle/>
          <a:p>
            <a:pPr marL="0" indent="0">
              <a:buNone/>
            </a:pPr>
            <a:r>
              <a:rPr lang="en-US" sz="1100" dirty="0">
                <a:solidFill>
                  <a:srgbClr val="10B981"/>
                </a:solidFill>
                <a:latin typeface="Calibri" pitchFamily="34" charset="0"/>
                <a:ea typeface="Calibri" pitchFamily="34" charset="-122"/>
                <a:cs typeface="Calibri" pitchFamily="34" charset="-120"/>
              </a:rPr>
              <a:t>2. </a:t>
            </a:r>
            <a:r>
              <a:rPr lang="en-US" sz="1100" b="1" dirty="0">
                <a:solidFill>
                  <a:srgbClr val="10B981"/>
                </a:solidFill>
                <a:latin typeface="Calibri" pitchFamily="34" charset="0"/>
                <a:ea typeface="Calibri" pitchFamily="34" charset="-122"/>
                <a:cs typeface="Calibri" pitchFamily="34" charset="-120"/>
              </a:rPr>
              <a:t>REST APIs</a:t>
            </a:r>
            <a:endParaRPr lang="en-US" sz="1100" dirty="0"/>
          </a:p>
        </p:txBody>
      </p:sp>
      <p:sp>
        <p:nvSpPr>
          <p:cNvPr id="11" name="Shape 9"/>
          <p:cNvSpPr/>
          <p:nvPr/>
        </p:nvSpPr>
        <p:spPr>
          <a:xfrm>
            <a:off x="438912" y="2734056"/>
            <a:ext cx="2505456" cy="530352"/>
          </a:xfrm>
          <a:prstGeom prst="roundRect">
            <a:avLst>
              <a:gd name="adj" fmla="val 12069"/>
            </a:avLst>
          </a:prstGeom>
          <a:solidFill>
            <a:srgbClr val="0F172A"/>
          </a:solidFill>
          <a:ln w="9525">
            <a:solidFill>
              <a:srgbClr val="10B981"/>
            </a:solidFill>
            <a:prstDash val="solid"/>
          </a:ln>
        </p:spPr>
        <p:txBody>
          <a:bodyPr/>
          <a:lstStyle/>
          <a:p>
            <a:endParaRPr lang="en-IN"/>
          </a:p>
        </p:txBody>
      </p:sp>
      <p:sp>
        <p:nvSpPr>
          <p:cNvPr id="12" name="Text 10"/>
          <p:cNvSpPr/>
          <p:nvPr/>
        </p:nvSpPr>
        <p:spPr>
          <a:xfrm>
            <a:off x="530352" y="2734056"/>
            <a:ext cx="2322576" cy="530352"/>
          </a:xfrm>
          <a:prstGeom prst="rect">
            <a:avLst/>
          </a:prstGeom>
          <a:noFill/>
          <a:ln/>
        </p:spPr>
        <p:txBody>
          <a:bodyPr wrap="square" rtlCol="0" anchor="ctr"/>
          <a:lstStyle/>
          <a:p>
            <a:pPr marL="0" indent="0">
              <a:buNone/>
            </a:pPr>
            <a:r>
              <a:rPr lang="en-US" sz="1100" dirty="0">
                <a:solidFill>
                  <a:srgbClr val="10B981"/>
                </a:solidFill>
                <a:latin typeface="Calibri" pitchFamily="34" charset="0"/>
                <a:ea typeface="Calibri" pitchFamily="34" charset="-122"/>
                <a:cs typeface="Calibri" pitchFamily="34" charset="-120"/>
              </a:rPr>
              <a:t>3. </a:t>
            </a:r>
            <a:r>
              <a:rPr lang="en-US" sz="1100" b="1" dirty="0">
                <a:solidFill>
                  <a:srgbClr val="10B981"/>
                </a:solidFill>
                <a:latin typeface="Calibri" pitchFamily="34" charset="0"/>
                <a:ea typeface="Calibri" pitchFamily="34" charset="-122"/>
                <a:cs typeface="Calibri" pitchFamily="34" charset="-120"/>
              </a:rPr>
              <a:t>Intro to LLMs</a:t>
            </a:r>
            <a:endParaRPr lang="en-US" sz="1100" dirty="0"/>
          </a:p>
        </p:txBody>
      </p:sp>
      <p:sp>
        <p:nvSpPr>
          <p:cNvPr id="13" name="Shape 11"/>
          <p:cNvSpPr/>
          <p:nvPr/>
        </p:nvSpPr>
        <p:spPr>
          <a:xfrm>
            <a:off x="438912" y="3392424"/>
            <a:ext cx="2505456" cy="530352"/>
          </a:xfrm>
          <a:prstGeom prst="roundRect">
            <a:avLst>
              <a:gd name="adj" fmla="val 12069"/>
            </a:avLst>
          </a:prstGeom>
          <a:solidFill>
            <a:srgbClr val="0F172A"/>
          </a:solidFill>
          <a:ln w="9525">
            <a:solidFill>
              <a:srgbClr val="10B981"/>
            </a:solidFill>
            <a:prstDash val="solid"/>
          </a:ln>
        </p:spPr>
        <p:txBody>
          <a:bodyPr/>
          <a:lstStyle/>
          <a:p>
            <a:endParaRPr lang="en-IN"/>
          </a:p>
        </p:txBody>
      </p:sp>
      <p:sp>
        <p:nvSpPr>
          <p:cNvPr id="14" name="Text 12"/>
          <p:cNvSpPr/>
          <p:nvPr/>
        </p:nvSpPr>
        <p:spPr>
          <a:xfrm>
            <a:off x="530352" y="3392424"/>
            <a:ext cx="2322576" cy="530352"/>
          </a:xfrm>
          <a:prstGeom prst="rect">
            <a:avLst/>
          </a:prstGeom>
          <a:noFill/>
          <a:ln/>
        </p:spPr>
        <p:txBody>
          <a:bodyPr wrap="square" rtlCol="0" anchor="ctr"/>
          <a:lstStyle/>
          <a:p>
            <a:pPr marL="0" indent="0">
              <a:buNone/>
            </a:pPr>
            <a:r>
              <a:rPr lang="en-US" sz="1100" dirty="0">
                <a:solidFill>
                  <a:srgbClr val="10B981"/>
                </a:solidFill>
                <a:latin typeface="Calibri" pitchFamily="34" charset="0"/>
                <a:ea typeface="Calibri" pitchFamily="34" charset="-122"/>
                <a:cs typeface="Calibri" pitchFamily="34" charset="-120"/>
              </a:rPr>
              <a:t>4. </a:t>
            </a:r>
            <a:r>
              <a:rPr lang="en-US" sz="1100" b="1" dirty="0">
                <a:solidFill>
                  <a:srgbClr val="10B981"/>
                </a:solidFill>
                <a:latin typeface="Calibri" pitchFamily="34" charset="0"/>
                <a:ea typeface="Calibri" pitchFamily="34" charset="-122"/>
                <a:cs typeface="Calibri" pitchFamily="34" charset="-120"/>
              </a:rPr>
              <a:t>Prompt Engineering</a:t>
            </a:r>
            <a:endParaRPr lang="en-US" sz="1100" dirty="0"/>
          </a:p>
        </p:txBody>
      </p:sp>
      <p:sp>
        <p:nvSpPr>
          <p:cNvPr id="15" name="Shape 13"/>
          <p:cNvSpPr/>
          <p:nvPr/>
        </p:nvSpPr>
        <p:spPr>
          <a:xfrm>
            <a:off x="438912" y="4050792"/>
            <a:ext cx="2505456" cy="530352"/>
          </a:xfrm>
          <a:prstGeom prst="roundRect">
            <a:avLst>
              <a:gd name="adj" fmla="val 12069"/>
            </a:avLst>
          </a:prstGeom>
          <a:solidFill>
            <a:srgbClr val="0F172A"/>
          </a:solidFill>
          <a:ln w="9525">
            <a:solidFill>
              <a:srgbClr val="10B981"/>
            </a:solidFill>
            <a:prstDash val="solid"/>
          </a:ln>
        </p:spPr>
        <p:txBody>
          <a:bodyPr/>
          <a:lstStyle/>
          <a:p>
            <a:endParaRPr lang="en-IN"/>
          </a:p>
        </p:txBody>
      </p:sp>
      <p:sp>
        <p:nvSpPr>
          <p:cNvPr id="16" name="Text 14"/>
          <p:cNvSpPr/>
          <p:nvPr/>
        </p:nvSpPr>
        <p:spPr>
          <a:xfrm>
            <a:off x="530352" y="4050792"/>
            <a:ext cx="2322576" cy="530352"/>
          </a:xfrm>
          <a:prstGeom prst="rect">
            <a:avLst/>
          </a:prstGeom>
          <a:noFill/>
          <a:ln/>
        </p:spPr>
        <p:txBody>
          <a:bodyPr wrap="square" rtlCol="0" anchor="ctr"/>
          <a:lstStyle/>
          <a:p>
            <a:pPr marL="0" indent="0">
              <a:buNone/>
            </a:pPr>
            <a:r>
              <a:rPr lang="en-US" sz="1100" dirty="0">
                <a:solidFill>
                  <a:srgbClr val="10B981"/>
                </a:solidFill>
                <a:latin typeface="Calibri" pitchFamily="34" charset="0"/>
                <a:ea typeface="Calibri" pitchFamily="34" charset="-122"/>
                <a:cs typeface="Calibri" pitchFamily="34" charset="-120"/>
              </a:rPr>
              <a:t>5. </a:t>
            </a:r>
            <a:r>
              <a:rPr lang="en-US" sz="1100" b="1" dirty="0">
                <a:solidFill>
                  <a:srgbClr val="10B981"/>
                </a:solidFill>
                <a:latin typeface="Calibri" pitchFamily="34" charset="0"/>
                <a:ea typeface="Calibri" pitchFamily="34" charset="-122"/>
                <a:cs typeface="Calibri" pitchFamily="34" charset="-120"/>
              </a:rPr>
              <a:t>OpenAI / Anthropic APIs</a:t>
            </a:r>
            <a:endParaRPr lang="en-US" sz="1100" dirty="0"/>
          </a:p>
        </p:txBody>
      </p:sp>
      <p:sp>
        <p:nvSpPr>
          <p:cNvPr id="17" name="Shape 15"/>
          <p:cNvSpPr/>
          <p:nvPr/>
        </p:nvSpPr>
        <p:spPr>
          <a:xfrm>
            <a:off x="3246120" y="685800"/>
            <a:ext cx="2834640" cy="4224528"/>
          </a:xfrm>
          <a:prstGeom prst="roundRect">
            <a:avLst>
              <a:gd name="adj" fmla="val 4839"/>
            </a:avLst>
          </a:prstGeom>
          <a:solidFill>
            <a:srgbClr val="1E293B"/>
          </a:solidFill>
          <a:ln w="25400">
            <a:solidFill>
              <a:srgbClr val="06B6D4"/>
            </a:solidFill>
            <a:prstDash val="solid"/>
          </a:ln>
        </p:spPr>
        <p:txBody>
          <a:bodyPr/>
          <a:lstStyle/>
          <a:p>
            <a:endParaRPr lang="en-IN"/>
          </a:p>
        </p:txBody>
      </p:sp>
      <p:sp>
        <p:nvSpPr>
          <p:cNvPr id="18" name="Shape 16"/>
          <p:cNvSpPr/>
          <p:nvPr/>
        </p:nvSpPr>
        <p:spPr>
          <a:xfrm>
            <a:off x="3337560" y="777240"/>
            <a:ext cx="2651760" cy="512064"/>
          </a:xfrm>
          <a:prstGeom prst="roundRect">
            <a:avLst>
              <a:gd name="adj" fmla="val 14286"/>
            </a:avLst>
          </a:prstGeom>
          <a:solidFill>
            <a:srgbClr val="06B6D4"/>
          </a:solidFill>
          <a:ln w="12700">
            <a:solidFill>
              <a:srgbClr val="06B6D4"/>
            </a:solidFill>
            <a:prstDash val="solid"/>
          </a:ln>
        </p:spPr>
        <p:txBody>
          <a:bodyPr/>
          <a:lstStyle/>
          <a:p>
            <a:endParaRPr lang="en-IN"/>
          </a:p>
        </p:txBody>
      </p:sp>
      <p:sp>
        <p:nvSpPr>
          <p:cNvPr id="19" name="Text 17"/>
          <p:cNvSpPr/>
          <p:nvPr/>
        </p:nvSpPr>
        <p:spPr>
          <a:xfrm>
            <a:off x="3337560" y="777240"/>
            <a:ext cx="2651760" cy="512064"/>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INTERMEDIATE</a:t>
            </a:r>
            <a:endParaRPr lang="en-US" sz="1300" dirty="0"/>
          </a:p>
        </p:txBody>
      </p:sp>
      <p:sp>
        <p:nvSpPr>
          <p:cNvPr id="20" name="Shape 18"/>
          <p:cNvSpPr/>
          <p:nvPr/>
        </p:nvSpPr>
        <p:spPr>
          <a:xfrm>
            <a:off x="3410712" y="1417320"/>
            <a:ext cx="2505456" cy="530352"/>
          </a:xfrm>
          <a:prstGeom prst="roundRect">
            <a:avLst>
              <a:gd name="adj" fmla="val 12069"/>
            </a:avLst>
          </a:prstGeom>
          <a:solidFill>
            <a:srgbClr val="0F172A"/>
          </a:solidFill>
          <a:ln w="9525">
            <a:solidFill>
              <a:srgbClr val="06B6D4"/>
            </a:solidFill>
            <a:prstDash val="solid"/>
          </a:ln>
        </p:spPr>
        <p:txBody>
          <a:bodyPr/>
          <a:lstStyle/>
          <a:p>
            <a:endParaRPr lang="en-IN"/>
          </a:p>
        </p:txBody>
      </p:sp>
      <p:sp>
        <p:nvSpPr>
          <p:cNvPr id="21" name="Text 19"/>
          <p:cNvSpPr/>
          <p:nvPr/>
        </p:nvSpPr>
        <p:spPr>
          <a:xfrm>
            <a:off x="3502152" y="1417320"/>
            <a:ext cx="2322576" cy="530352"/>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1. </a:t>
            </a:r>
            <a:r>
              <a:rPr lang="en-US" sz="1100" b="1" dirty="0">
                <a:solidFill>
                  <a:srgbClr val="06B6D4"/>
                </a:solidFill>
                <a:latin typeface="Calibri" pitchFamily="34" charset="0"/>
                <a:ea typeface="Calibri" pitchFamily="34" charset="-122"/>
                <a:cs typeface="Calibri" pitchFamily="34" charset="-120"/>
              </a:rPr>
              <a:t>RAG Pipelines</a:t>
            </a:r>
            <a:endParaRPr lang="en-US" sz="1100" dirty="0"/>
          </a:p>
        </p:txBody>
      </p:sp>
      <p:sp>
        <p:nvSpPr>
          <p:cNvPr id="22" name="Shape 20"/>
          <p:cNvSpPr/>
          <p:nvPr/>
        </p:nvSpPr>
        <p:spPr>
          <a:xfrm>
            <a:off x="3410712" y="2075688"/>
            <a:ext cx="2505456" cy="530352"/>
          </a:xfrm>
          <a:prstGeom prst="roundRect">
            <a:avLst>
              <a:gd name="adj" fmla="val 12069"/>
            </a:avLst>
          </a:prstGeom>
          <a:solidFill>
            <a:srgbClr val="0F172A"/>
          </a:solidFill>
          <a:ln w="9525">
            <a:solidFill>
              <a:srgbClr val="06B6D4"/>
            </a:solidFill>
            <a:prstDash val="solid"/>
          </a:ln>
        </p:spPr>
        <p:txBody>
          <a:bodyPr/>
          <a:lstStyle/>
          <a:p>
            <a:endParaRPr lang="en-IN"/>
          </a:p>
        </p:txBody>
      </p:sp>
      <p:sp>
        <p:nvSpPr>
          <p:cNvPr id="23" name="Text 21"/>
          <p:cNvSpPr/>
          <p:nvPr/>
        </p:nvSpPr>
        <p:spPr>
          <a:xfrm>
            <a:off x="3502152" y="2075688"/>
            <a:ext cx="2322576" cy="530352"/>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2. </a:t>
            </a:r>
            <a:r>
              <a:rPr lang="en-US" sz="1100" b="1" dirty="0">
                <a:solidFill>
                  <a:srgbClr val="06B6D4"/>
                </a:solidFill>
                <a:latin typeface="Calibri" pitchFamily="34" charset="0"/>
                <a:ea typeface="Calibri" pitchFamily="34" charset="-122"/>
                <a:cs typeface="Calibri" pitchFamily="34" charset="-120"/>
              </a:rPr>
              <a:t>LangChain</a:t>
            </a:r>
            <a:endParaRPr lang="en-US" sz="1100" dirty="0"/>
          </a:p>
        </p:txBody>
      </p:sp>
      <p:sp>
        <p:nvSpPr>
          <p:cNvPr id="24" name="Shape 22"/>
          <p:cNvSpPr/>
          <p:nvPr/>
        </p:nvSpPr>
        <p:spPr>
          <a:xfrm>
            <a:off x="3410712" y="2734056"/>
            <a:ext cx="2505456" cy="530352"/>
          </a:xfrm>
          <a:prstGeom prst="roundRect">
            <a:avLst>
              <a:gd name="adj" fmla="val 12069"/>
            </a:avLst>
          </a:prstGeom>
          <a:solidFill>
            <a:srgbClr val="0F172A"/>
          </a:solidFill>
          <a:ln w="9525">
            <a:solidFill>
              <a:srgbClr val="06B6D4"/>
            </a:solidFill>
            <a:prstDash val="solid"/>
          </a:ln>
        </p:spPr>
        <p:txBody>
          <a:bodyPr/>
          <a:lstStyle/>
          <a:p>
            <a:endParaRPr lang="en-IN"/>
          </a:p>
        </p:txBody>
      </p:sp>
      <p:sp>
        <p:nvSpPr>
          <p:cNvPr id="25" name="Text 23"/>
          <p:cNvSpPr/>
          <p:nvPr/>
        </p:nvSpPr>
        <p:spPr>
          <a:xfrm>
            <a:off x="3502152" y="2734056"/>
            <a:ext cx="2322576" cy="530352"/>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3. </a:t>
            </a:r>
            <a:r>
              <a:rPr lang="en-US" sz="1100" b="1" dirty="0">
                <a:solidFill>
                  <a:srgbClr val="06B6D4"/>
                </a:solidFill>
                <a:latin typeface="Calibri" pitchFamily="34" charset="0"/>
                <a:ea typeface="Calibri" pitchFamily="34" charset="-122"/>
                <a:cs typeface="Calibri" pitchFamily="34" charset="-120"/>
              </a:rPr>
              <a:t>Vector Databases</a:t>
            </a:r>
            <a:endParaRPr lang="en-US" sz="1100" dirty="0"/>
          </a:p>
        </p:txBody>
      </p:sp>
      <p:sp>
        <p:nvSpPr>
          <p:cNvPr id="26" name="Shape 24"/>
          <p:cNvSpPr/>
          <p:nvPr/>
        </p:nvSpPr>
        <p:spPr>
          <a:xfrm>
            <a:off x="3410712" y="3392424"/>
            <a:ext cx="2505456" cy="530352"/>
          </a:xfrm>
          <a:prstGeom prst="roundRect">
            <a:avLst>
              <a:gd name="adj" fmla="val 12069"/>
            </a:avLst>
          </a:prstGeom>
          <a:solidFill>
            <a:srgbClr val="0F172A"/>
          </a:solidFill>
          <a:ln w="9525">
            <a:solidFill>
              <a:srgbClr val="06B6D4"/>
            </a:solidFill>
            <a:prstDash val="solid"/>
          </a:ln>
        </p:spPr>
        <p:txBody>
          <a:bodyPr/>
          <a:lstStyle/>
          <a:p>
            <a:endParaRPr lang="en-IN"/>
          </a:p>
        </p:txBody>
      </p:sp>
      <p:sp>
        <p:nvSpPr>
          <p:cNvPr id="27" name="Text 25"/>
          <p:cNvSpPr/>
          <p:nvPr/>
        </p:nvSpPr>
        <p:spPr>
          <a:xfrm>
            <a:off x="3502152" y="3392424"/>
            <a:ext cx="2322576" cy="530352"/>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4. </a:t>
            </a:r>
            <a:r>
              <a:rPr lang="en-US" sz="1100" b="1" dirty="0">
                <a:solidFill>
                  <a:srgbClr val="06B6D4"/>
                </a:solidFill>
                <a:latin typeface="Calibri" pitchFamily="34" charset="0"/>
                <a:ea typeface="Calibri" pitchFamily="34" charset="-122"/>
                <a:cs typeface="Calibri" pitchFamily="34" charset="-120"/>
              </a:rPr>
              <a:t>FAISS &amp; ChromaDB</a:t>
            </a:r>
            <a:endParaRPr lang="en-US" sz="1100" dirty="0"/>
          </a:p>
        </p:txBody>
      </p:sp>
      <p:sp>
        <p:nvSpPr>
          <p:cNvPr id="28" name="Shape 26"/>
          <p:cNvSpPr/>
          <p:nvPr/>
        </p:nvSpPr>
        <p:spPr>
          <a:xfrm>
            <a:off x="3410712" y="4050792"/>
            <a:ext cx="2505456" cy="530352"/>
          </a:xfrm>
          <a:prstGeom prst="roundRect">
            <a:avLst>
              <a:gd name="adj" fmla="val 12069"/>
            </a:avLst>
          </a:prstGeom>
          <a:solidFill>
            <a:srgbClr val="0F172A"/>
          </a:solidFill>
          <a:ln w="9525">
            <a:solidFill>
              <a:srgbClr val="06B6D4"/>
            </a:solidFill>
            <a:prstDash val="solid"/>
          </a:ln>
        </p:spPr>
        <p:txBody>
          <a:bodyPr/>
          <a:lstStyle/>
          <a:p>
            <a:endParaRPr lang="en-IN"/>
          </a:p>
        </p:txBody>
      </p:sp>
      <p:sp>
        <p:nvSpPr>
          <p:cNvPr id="29" name="Text 27"/>
          <p:cNvSpPr/>
          <p:nvPr/>
        </p:nvSpPr>
        <p:spPr>
          <a:xfrm>
            <a:off x="3502152" y="4050792"/>
            <a:ext cx="2322576" cy="530352"/>
          </a:xfrm>
          <a:prstGeom prst="rect">
            <a:avLst/>
          </a:prstGeom>
          <a:noFill/>
          <a:ln/>
        </p:spPr>
        <p:txBody>
          <a:bodyPr wrap="square" rtlCol="0" anchor="ctr"/>
          <a:lstStyle/>
          <a:p>
            <a:pPr marL="0" indent="0">
              <a:buNone/>
            </a:pPr>
            <a:r>
              <a:rPr lang="en-US" sz="1100" dirty="0">
                <a:solidFill>
                  <a:srgbClr val="06B6D4"/>
                </a:solidFill>
                <a:latin typeface="Calibri" pitchFamily="34" charset="0"/>
                <a:ea typeface="Calibri" pitchFamily="34" charset="-122"/>
                <a:cs typeface="Calibri" pitchFamily="34" charset="-120"/>
              </a:rPr>
              <a:t>5. </a:t>
            </a:r>
            <a:r>
              <a:rPr lang="en-US" sz="1100" b="1" dirty="0">
                <a:solidFill>
                  <a:srgbClr val="06B6D4"/>
                </a:solidFill>
                <a:latin typeface="Calibri" pitchFamily="34" charset="0"/>
                <a:ea typeface="Calibri" pitchFamily="34" charset="-122"/>
                <a:cs typeface="Calibri" pitchFamily="34" charset="-120"/>
              </a:rPr>
              <a:t>LangChain Agents</a:t>
            </a:r>
            <a:endParaRPr lang="en-US" sz="1100" dirty="0"/>
          </a:p>
        </p:txBody>
      </p:sp>
      <p:sp>
        <p:nvSpPr>
          <p:cNvPr id="30" name="Shape 28"/>
          <p:cNvSpPr/>
          <p:nvPr/>
        </p:nvSpPr>
        <p:spPr>
          <a:xfrm>
            <a:off x="6217920" y="685800"/>
            <a:ext cx="2834640" cy="4224528"/>
          </a:xfrm>
          <a:prstGeom prst="roundRect">
            <a:avLst>
              <a:gd name="adj" fmla="val 4839"/>
            </a:avLst>
          </a:prstGeom>
          <a:solidFill>
            <a:srgbClr val="1E293B"/>
          </a:solidFill>
          <a:ln w="25400">
            <a:solidFill>
              <a:srgbClr val="8B5CF6"/>
            </a:solidFill>
            <a:prstDash val="solid"/>
          </a:ln>
        </p:spPr>
        <p:txBody>
          <a:bodyPr/>
          <a:lstStyle/>
          <a:p>
            <a:endParaRPr lang="en-IN"/>
          </a:p>
        </p:txBody>
      </p:sp>
      <p:sp>
        <p:nvSpPr>
          <p:cNvPr id="31" name="Shape 29"/>
          <p:cNvSpPr/>
          <p:nvPr/>
        </p:nvSpPr>
        <p:spPr>
          <a:xfrm>
            <a:off x="6309360" y="777240"/>
            <a:ext cx="2651760" cy="512064"/>
          </a:xfrm>
          <a:prstGeom prst="roundRect">
            <a:avLst>
              <a:gd name="adj" fmla="val 14286"/>
            </a:avLst>
          </a:prstGeom>
          <a:solidFill>
            <a:srgbClr val="8B5CF6"/>
          </a:solidFill>
          <a:ln w="12700">
            <a:solidFill>
              <a:srgbClr val="8B5CF6"/>
            </a:solidFill>
            <a:prstDash val="solid"/>
          </a:ln>
        </p:spPr>
        <p:txBody>
          <a:bodyPr/>
          <a:lstStyle/>
          <a:p>
            <a:endParaRPr lang="en-IN"/>
          </a:p>
        </p:txBody>
      </p:sp>
      <p:sp>
        <p:nvSpPr>
          <p:cNvPr id="32" name="Text 30"/>
          <p:cNvSpPr/>
          <p:nvPr/>
        </p:nvSpPr>
        <p:spPr>
          <a:xfrm>
            <a:off x="6309360" y="777240"/>
            <a:ext cx="2651760" cy="512064"/>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ADVANCED</a:t>
            </a:r>
            <a:endParaRPr lang="en-US" sz="1300" dirty="0"/>
          </a:p>
        </p:txBody>
      </p:sp>
      <p:sp>
        <p:nvSpPr>
          <p:cNvPr id="33" name="Shape 31"/>
          <p:cNvSpPr/>
          <p:nvPr/>
        </p:nvSpPr>
        <p:spPr>
          <a:xfrm>
            <a:off x="6382512" y="1417320"/>
            <a:ext cx="2505456" cy="530352"/>
          </a:xfrm>
          <a:prstGeom prst="roundRect">
            <a:avLst>
              <a:gd name="adj" fmla="val 12069"/>
            </a:avLst>
          </a:prstGeom>
          <a:solidFill>
            <a:srgbClr val="0F172A"/>
          </a:solidFill>
          <a:ln w="9525">
            <a:solidFill>
              <a:srgbClr val="8B5CF6"/>
            </a:solidFill>
            <a:prstDash val="solid"/>
          </a:ln>
        </p:spPr>
        <p:txBody>
          <a:bodyPr/>
          <a:lstStyle/>
          <a:p>
            <a:endParaRPr lang="en-IN"/>
          </a:p>
        </p:txBody>
      </p:sp>
      <p:sp>
        <p:nvSpPr>
          <p:cNvPr id="34" name="Text 32"/>
          <p:cNvSpPr/>
          <p:nvPr/>
        </p:nvSpPr>
        <p:spPr>
          <a:xfrm>
            <a:off x="6473952" y="1417320"/>
            <a:ext cx="2322576" cy="530352"/>
          </a:xfrm>
          <a:prstGeom prst="rect">
            <a:avLst/>
          </a:prstGeom>
          <a:noFill/>
          <a:ln/>
        </p:spPr>
        <p:txBody>
          <a:bodyPr wrap="square" rtlCol="0" anchor="ctr"/>
          <a:lstStyle/>
          <a:p>
            <a:pPr marL="0" indent="0">
              <a:buNone/>
            </a:pPr>
            <a:r>
              <a:rPr lang="en-US" sz="1100" dirty="0">
                <a:solidFill>
                  <a:srgbClr val="8B5CF6"/>
                </a:solidFill>
                <a:latin typeface="Calibri" pitchFamily="34" charset="0"/>
                <a:ea typeface="Calibri" pitchFamily="34" charset="-122"/>
                <a:cs typeface="Calibri" pitchFamily="34" charset="-120"/>
              </a:rPr>
              <a:t>1. </a:t>
            </a:r>
            <a:r>
              <a:rPr lang="en-US" sz="1100" b="1" dirty="0">
                <a:solidFill>
                  <a:srgbClr val="8B5CF6"/>
                </a:solidFill>
                <a:latin typeface="Calibri" pitchFamily="34" charset="0"/>
                <a:ea typeface="Calibri" pitchFamily="34" charset="-122"/>
                <a:cs typeface="Calibri" pitchFamily="34" charset="-120"/>
              </a:rPr>
              <a:t>LangGraph Workflows</a:t>
            </a:r>
            <a:endParaRPr lang="en-US" sz="1100" dirty="0"/>
          </a:p>
        </p:txBody>
      </p:sp>
      <p:sp>
        <p:nvSpPr>
          <p:cNvPr id="35" name="Shape 33"/>
          <p:cNvSpPr/>
          <p:nvPr/>
        </p:nvSpPr>
        <p:spPr>
          <a:xfrm>
            <a:off x="6382512" y="2075688"/>
            <a:ext cx="2505456" cy="530352"/>
          </a:xfrm>
          <a:prstGeom prst="roundRect">
            <a:avLst>
              <a:gd name="adj" fmla="val 12069"/>
            </a:avLst>
          </a:prstGeom>
          <a:solidFill>
            <a:srgbClr val="0F172A"/>
          </a:solidFill>
          <a:ln w="9525">
            <a:solidFill>
              <a:srgbClr val="8B5CF6"/>
            </a:solidFill>
            <a:prstDash val="solid"/>
          </a:ln>
        </p:spPr>
        <p:txBody>
          <a:bodyPr/>
          <a:lstStyle/>
          <a:p>
            <a:endParaRPr lang="en-IN"/>
          </a:p>
        </p:txBody>
      </p:sp>
      <p:sp>
        <p:nvSpPr>
          <p:cNvPr id="36" name="Text 34"/>
          <p:cNvSpPr/>
          <p:nvPr/>
        </p:nvSpPr>
        <p:spPr>
          <a:xfrm>
            <a:off x="6473952" y="2075688"/>
            <a:ext cx="2322576" cy="530352"/>
          </a:xfrm>
          <a:prstGeom prst="rect">
            <a:avLst/>
          </a:prstGeom>
          <a:noFill/>
          <a:ln/>
        </p:spPr>
        <p:txBody>
          <a:bodyPr wrap="square" rtlCol="0" anchor="ctr"/>
          <a:lstStyle/>
          <a:p>
            <a:pPr marL="0" indent="0">
              <a:buNone/>
            </a:pPr>
            <a:r>
              <a:rPr lang="en-US" sz="1100" dirty="0">
                <a:solidFill>
                  <a:srgbClr val="8B5CF6"/>
                </a:solidFill>
                <a:latin typeface="Calibri" pitchFamily="34" charset="0"/>
                <a:ea typeface="Calibri" pitchFamily="34" charset="-122"/>
                <a:cs typeface="Calibri" pitchFamily="34" charset="-120"/>
              </a:rPr>
              <a:t>2. </a:t>
            </a:r>
            <a:r>
              <a:rPr lang="en-US" sz="1100" b="1" dirty="0">
                <a:solidFill>
                  <a:srgbClr val="8B5CF6"/>
                </a:solidFill>
                <a:latin typeface="Calibri" pitchFamily="34" charset="0"/>
                <a:ea typeface="Calibri" pitchFamily="34" charset="-122"/>
                <a:cs typeface="Calibri" pitchFamily="34" charset="-120"/>
              </a:rPr>
              <a:t>MCP Protocol</a:t>
            </a:r>
            <a:endParaRPr lang="en-US" sz="1100" dirty="0"/>
          </a:p>
        </p:txBody>
      </p:sp>
      <p:sp>
        <p:nvSpPr>
          <p:cNvPr id="37" name="Shape 35"/>
          <p:cNvSpPr/>
          <p:nvPr/>
        </p:nvSpPr>
        <p:spPr>
          <a:xfrm>
            <a:off x="6382512" y="2734056"/>
            <a:ext cx="2505456" cy="530352"/>
          </a:xfrm>
          <a:prstGeom prst="roundRect">
            <a:avLst>
              <a:gd name="adj" fmla="val 12069"/>
            </a:avLst>
          </a:prstGeom>
          <a:solidFill>
            <a:srgbClr val="0F172A"/>
          </a:solidFill>
          <a:ln w="9525">
            <a:solidFill>
              <a:srgbClr val="8B5CF6"/>
            </a:solidFill>
            <a:prstDash val="solid"/>
          </a:ln>
        </p:spPr>
        <p:txBody>
          <a:bodyPr/>
          <a:lstStyle/>
          <a:p>
            <a:endParaRPr lang="en-IN"/>
          </a:p>
        </p:txBody>
      </p:sp>
      <p:sp>
        <p:nvSpPr>
          <p:cNvPr id="38" name="Text 36"/>
          <p:cNvSpPr/>
          <p:nvPr/>
        </p:nvSpPr>
        <p:spPr>
          <a:xfrm>
            <a:off x="6473952" y="2734056"/>
            <a:ext cx="2322576" cy="530352"/>
          </a:xfrm>
          <a:prstGeom prst="rect">
            <a:avLst/>
          </a:prstGeom>
          <a:noFill/>
          <a:ln/>
        </p:spPr>
        <p:txBody>
          <a:bodyPr wrap="square" rtlCol="0" anchor="ctr"/>
          <a:lstStyle/>
          <a:p>
            <a:pPr marL="0" indent="0">
              <a:buNone/>
            </a:pPr>
            <a:r>
              <a:rPr lang="en-US" sz="1100" dirty="0">
                <a:solidFill>
                  <a:srgbClr val="8B5CF6"/>
                </a:solidFill>
                <a:latin typeface="Calibri" pitchFamily="34" charset="0"/>
                <a:ea typeface="Calibri" pitchFamily="34" charset="-122"/>
                <a:cs typeface="Calibri" pitchFamily="34" charset="-120"/>
              </a:rPr>
              <a:t>3. </a:t>
            </a:r>
            <a:r>
              <a:rPr lang="en-US" sz="1100" b="1" dirty="0">
                <a:solidFill>
                  <a:srgbClr val="8B5CF6"/>
                </a:solidFill>
                <a:latin typeface="Calibri" pitchFamily="34" charset="0"/>
                <a:ea typeface="Calibri" pitchFamily="34" charset="-122"/>
                <a:cs typeface="Calibri" pitchFamily="34" charset="-120"/>
              </a:rPr>
              <a:t>Multi-Agent Systems</a:t>
            </a:r>
            <a:endParaRPr lang="en-US" sz="1100" dirty="0"/>
          </a:p>
        </p:txBody>
      </p:sp>
      <p:sp>
        <p:nvSpPr>
          <p:cNvPr id="39" name="Shape 37"/>
          <p:cNvSpPr/>
          <p:nvPr/>
        </p:nvSpPr>
        <p:spPr>
          <a:xfrm>
            <a:off x="6382512" y="3392424"/>
            <a:ext cx="2505456" cy="530352"/>
          </a:xfrm>
          <a:prstGeom prst="roundRect">
            <a:avLst>
              <a:gd name="adj" fmla="val 12069"/>
            </a:avLst>
          </a:prstGeom>
          <a:solidFill>
            <a:srgbClr val="0F172A"/>
          </a:solidFill>
          <a:ln w="9525">
            <a:solidFill>
              <a:srgbClr val="8B5CF6"/>
            </a:solidFill>
            <a:prstDash val="solid"/>
          </a:ln>
        </p:spPr>
        <p:txBody>
          <a:bodyPr/>
          <a:lstStyle/>
          <a:p>
            <a:endParaRPr lang="en-IN"/>
          </a:p>
        </p:txBody>
      </p:sp>
      <p:sp>
        <p:nvSpPr>
          <p:cNvPr id="40" name="Text 38"/>
          <p:cNvSpPr/>
          <p:nvPr/>
        </p:nvSpPr>
        <p:spPr>
          <a:xfrm>
            <a:off x="6473952" y="3392424"/>
            <a:ext cx="2322576" cy="530352"/>
          </a:xfrm>
          <a:prstGeom prst="rect">
            <a:avLst/>
          </a:prstGeom>
          <a:noFill/>
          <a:ln/>
        </p:spPr>
        <p:txBody>
          <a:bodyPr wrap="square" rtlCol="0" anchor="ctr"/>
          <a:lstStyle/>
          <a:p>
            <a:pPr marL="0" indent="0">
              <a:buNone/>
            </a:pPr>
            <a:r>
              <a:rPr lang="en-US" sz="1100" dirty="0">
                <a:solidFill>
                  <a:srgbClr val="8B5CF6"/>
                </a:solidFill>
                <a:latin typeface="Calibri" pitchFamily="34" charset="0"/>
                <a:ea typeface="Calibri" pitchFamily="34" charset="-122"/>
                <a:cs typeface="Calibri" pitchFamily="34" charset="-120"/>
              </a:rPr>
              <a:t>4. </a:t>
            </a:r>
            <a:r>
              <a:rPr lang="en-US" sz="1100" b="1" dirty="0">
                <a:solidFill>
                  <a:srgbClr val="8B5CF6"/>
                </a:solidFill>
                <a:latin typeface="Calibri" pitchFamily="34" charset="0"/>
                <a:ea typeface="Calibri" pitchFamily="34" charset="-122"/>
                <a:cs typeface="Calibri" pitchFamily="34" charset="-120"/>
              </a:rPr>
              <a:t>AWS Bedrock</a:t>
            </a:r>
            <a:endParaRPr lang="en-US" sz="1100" dirty="0"/>
          </a:p>
        </p:txBody>
      </p:sp>
      <p:sp>
        <p:nvSpPr>
          <p:cNvPr id="41" name="Shape 39"/>
          <p:cNvSpPr/>
          <p:nvPr/>
        </p:nvSpPr>
        <p:spPr>
          <a:xfrm>
            <a:off x="6382512" y="4050792"/>
            <a:ext cx="2505456" cy="530352"/>
          </a:xfrm>
          <a:prstGeom prst="roundRect">
            <a:avLst>
              <a:gd name="adj" fmla="val 12069"/>
            </a:avLst>
          </a:prstGeom>
          <a:solidFill>
            <a:srgbClr val="0F172A"/>
          </a:solidFill>
          <a:ln w="9525">
            <a:solidFill>
              <a:srgbClr val="8B5CF6"/>
            </a:solidFill>
            <a:prstDash val="solid"/>
          </a:ln>
        </p:spPr>
        <p:txBody>
          <a:bodyPr/>
          <a:lstStyle/>
          <a:p>
            <a:endParaRPr lang="en-IN"/>
          </a:p>
        </p:txBody>
      </p:sp>
      <p:sp>
        <p:nvSpPr>
          <p:cNvPr id="42" name="Text 40"/>
          <p:cNvSpPr/>
          <p:nvPr/>
        </p:nvSpPr>
        <p:spPr>
          <a:xfrm>
            <a:off x="6473952" y="4050792"/>
            <a:ext cx="2322576" cy="530352"/>
          </a:xfrm>
          <a:prstGeom prst="rect">
            <a:avLst/>
          </a:prstGeom>
          <a:noFill/>
          <a:ln/>
        </p:spPr>
        <p:txBody>
          <a:bodyPr wrap="square" rtlCol="0" anchor="ctr"/>
          <a:lstStyle/>
          <a:p>
            <a:pPr marL="0" indent="0">
              <a:buNone/>
            </a:pPr>
            <a:r>
              <a:rPr lang="en-US" sz="1100" dirty="0">
                <a:solidFill>
                  <a:srgbClr val="8B5CF6"/>
                </a:solidFill>
                <a:latin typeface="Calibri" pitchFamily="34" charset="0"/>
                <a:ea typeface="Calibri" pitchFamily="34" charset="-122"/>
                <a:cs typeface="Calibri" pitchFamily="34" charset="-120"/>
              </a:rPr>
              <a:t>5. </a:t>
            </a:r>
            <a:r>
              <a:rPr lang="en-US" sz="1100" b="1" dirty="0">
                <a:solidFill>
                  <a:srgbClr val="8B5CF6"/>
                </a:solidFill>
                <a:latin typeface="Calibri" pitchFamily="34" charset="0"/>
                <a:ea typeface="Calibri" pitchFamily="34" charset="-122"/>
                <a:cs typeface="Calibri" pitchFamily="34" charset="-120"/>
              </a:rPr>
              <a:t>Agent Eval &amp; Tracing</a:t>
            </a:r>
            <a:endParaRPr lang="en-US" sz="1100" dirty="0"/>
          </a:p>
        </p:txBody>
      </p:sp>
      <p:sp>
        <p:nvSpPr>
          <p:cNvPr id="43" name="Text 41"/>
          <p:cNvSpPr/>
          <p:nvPr/>
        </p:nvSpPr>
        <p:spPr>
          <a:xfrm>
            <a:off x="274320" y="5010912"/>
            <a:ext cx="8595360" cy="2743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Recommended duration: Beginner 4–6 weeks  |  Intermediate 6–8 weeks  |  Advanced 8–12 weeks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Real-World Use Cases</a:t>
            </a:r>
            <a:endParaRPr lang="en-US" sz="2800" dirty="0"/>
          </a:p>
        </p:txBody>
      </p:sp>
      <p:sp>
        <p:nvSpPr>
          <p:cNvPr id="4" name="Shape 2"/>
          <p:cNvSpPr/>
          <p:nvPr/>
        </p:nvSpPr>
        <p:spPr>
          <a:xfrm>
            <a:off x="274320" y="914400"/>
            <a:ext cx="2743200" cy="1783080"/>
          </a:xfrm>
          <a:prstGeom prst="roundRect">
            <a:avLst>
              <a:gd name="adj" fmla="val 6154"/>
            </a:avLst>
          </a:prstGeom>
          <a:solidFill>
            <a:srgbClr val="1E293B"/>
          </a:solidFill>
          <a:ln w="19050">
            <a:solidFill>
              <a:srgbClr val="06B6D4"/>
            </a:solidFill>
            <a:prstDash val="solid"/>
          </a:ln>
        </p:spPr>
        <p:txBody>
          <a:bodyPr/>
          <a:lstStyle/>
          <a:p>
            <a:endParaRPr lang="en-IN"/>
          </a:p>
        </p:txBody>
      </p:sp>
      <p:sp>
        <p:nvSpPr>
          <p:cNvPr id="5" name="Text 3"/>
          <p:cNvSpPr/>
          <p:nvPr/>
        </p:nvSpPr>
        <p:spPr>
          <a:xfrm>
            <a:off x="274320" y="1005840"/>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6" name="Text 4"/>
          <p:cNvSpPr/>
          <p:nvPr/>
        </p:nvSpPr>
        <p:spPr>
          <a:xfrm>
            <a:off x="274320" y="1463040"/>
            <a:ext cx="2743200" cy="347472"/>
          </a:xfrm>
          <a:prstGeom prst="rect">
            <a:avLst/>
          </a:prstGeom>
          <a:noFill/>
          <a:ln/>
        </p:spPr>
        <p:txBody>
          <a:bodyPr wrap="square" rtlCol="0" anchor="ctr"/>
          <a:lstStyle/>
          <a:p>
            <a:pPr marL="0" indent="0" algn="ctr">
              <a:buNone/>
            </a:pPr>
            <a:r>
              <a:rPr lang="en-US" sz="1300" b="1" dirty="0">
                <a:solidFill>
                  <a:srgbClr val="06B6D4"/>
                </a:solidFill>
                <a:latin typeface="Calibri" pitchFamily="34" charset="0"/>
                <a:ea typeface="Calibri" pitchFamily="34" charset="-122"/>
                <a:cs typeface="Calibri" pitchFamily="34" charset="-120"/>
              </a:rPr>
              <a:t>Customer Support</a:t>
            </a:r>
            <a:endParaRPr lang="en-US" sz="1300" dirty="0"/>
          </a:p>
        </p:txBody>
      </p:sp>
      <p:sp>
        <p:nvSpPr>
          <p:cNvPr id="7" name="Text 5"/>
          <p:cNvSpPr/>
          <p:nvPr/>
        </p:nvSpPr>
        <p:spPr>
          <a:xfrm>
            <a:off x="384048" y="1847088"/>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24/7 AI agent handles tickets, escalates when needed, accesses CRM and knowledge base. Reduces support cost by 60%.</a:t>
            </a:r>
            <a:endParaRPr lang="en-US" sz="950" dirty="0"/>
          </a:p>
        </p:txBody>
      </p:sp>
      <p:sp>
        <p:nvSpPr>
          <p:cNvPr id="8" name="Shape 6"/>
          <p:cNvSpPr/>
          <p:nvPr/>
        </p:nvSpPr>
        <p:spPr>
          <a:xfrm>
            <a:off x="3182112" y="914400"/>
            <a:ext cx="2743200" cy="1783080"/>
          </a:xfrm>
          <a:prstGeom prst="roundRect">
            <a:avLst>
              <a:gd name="adj" fmla="val 6154"/>
            </a:avLst>
          </a:prstGeom>
          <a:solidFill>
            <a:srgbClr val="1E293B"/>
          </a:solidFill>
          <a:ln w="19050">
            <a:solidFill>
              <a:srgbClr val="8B5CF6"/>
            </a:solidFill>
            <a:prstDash val="solid"/>
          </a:ln>
        </p:spPr>
        <p:txBody>
          <a:bodyPr/>
          <a:lstStyle/>
          <a:p>
            <a:endParaRPr lang="en-IN"/>
          </a:p>
        </p:txBody>
      </p:sp>
      <p:sp>
        <p:nvSpPr>
          <p:cNvPr id="9" name="Text 7"/>
          <p:cNvSpPr/>
          <p:nvPr/>
        </p:nvSpPr>
        <p:spPr>
          <a:xfrm>
            <a:off x="3182112" y="1005840"/>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0" name="Text 8"/>
          <p:cNvSpPr/>
          <p:nvPr/>
        </p:nvSpPr>
        <p:spPr>
          <a:xfrm>
            <a:off x="3182112" y="1463040"/>
            <a:ext cx="2743200" cy="347472"/>
          </a:xfrm>
          <a:prstGeom prst="rect">
            <a:avLst/>
          </a:prstGeom>
          <a:noFill/>
          <a:ln/>
        </p:spPr>
        <p:txBody>
          <a:bodyPr wrap="square" rtlCol="0" anchor="ctr"/>
          <a:lstStyle/>
          <a:p>
            <a:pPr marL="0" indent="0" algn="ctr">
              <a:buNone/>
            </a:pPr>
            <a:r>
              <a:rPr lang="en-US" sz="1300" b="1" dirty="0">
                <a:solidFill>
                  <a:srgbClr val="8B5CF6"/>
                </a:solidFill>
                <a:latin typeface="Calibri" pitchFamily="34" charset="0"/>
                <a:ea typeface="Calibri" pitchFamily="34" charset="-122"/>
                <a:cs typeface="Calibri" pitchFamily="34" charset="-120"/>
              </a:rPr>
              <a:t>HR Assistant</a:t>
            </a:r>
            <a:endParaRPr lang="en-US" sz="1300" dirty="0"/>
          </a:p>
        </p:txBody>
      </p:sp>
      <p:sp>
        <p:nvSpPr>
          <p:cNvPr id="11" name="Text 9"/>
          <p:cNvSpPr/>
          <p:nvPr/>
        </p:nvSpPr>
        <p:spPr>
          <a:xfrm>
            <a:off x="3291840" y="1847088"/>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Onboards employees, answers policy questions, screens resumes, schedules interviews. Integrates with HRMS.</a:t>
            </a:r>
            <a:endParaRPr lang="en-US" sz="950" dirty="0"/>
          </a:p>
        </p:txBody>
      </p:sp>
      <p:sp>
        <p:nvSpPr>
          <p:cNvPr id="12" name="Shape 10"/>
          <p:cNvSpPr/>
          <p:nvPr/>
        </p:nvSpPr>
        <p:spPr>
          <a:xfrm>
            <a:off x="6089904" y="914400"/>
            <a:ext cx="2743200" cy="1783080"/>
          </a:xfrm>
          <a:prstGeom prst="roundRect">
            <a:avLst>
              <a:gd name="adj" fmla="val 6154"/>
            </a:avLst>
          </a:prstGeom>
          <a:solidFill>
            <a:srgbClr val="1E293B"/>
          </a:solidFill>
          <a:ln w="19050">
            <a:solidFill>
              <a:srgbClr val="10B981"/>
            </a:solidFill>
            <a:prstDash val="solid"/>
          </a:ln>
        </p:spPr>
        <p:txBody>
          <a:bodyPr/>
          <a:lstStyle/>
          <a:p>
            <a:endParaRPr lang="en-IN"/>
          </a:p>
        </p:txBody>
      </p:sp>
      <p:sp>
        <p:nvSpPr>
          <p:cNvPr id="13" name="Text 11"/>
          <p:cNvSpPr/>
          <p:nvPr/>
        </p:nvSpPr>
        <p:spPr>
          <a:xfrm>
            <a:off x="6089904" y="1005840"/>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4" name="Text 12"/>
          <p:cNvSpPr/>
          <p:nvPr/>
        </p:nvSpPr>
        <p:spPr>
          <a:xfrm>
            <a:off x="6089904" y="1463040"/>
            <a:ext cx="2743200" cy="347472"/>
          </a:xfrm>
          <a:prstGeom prst="rect">
            <a:avLst/>
          </a:prstGeom>
          <a:noFill/>
          <a:ln/>
        </p:spPr>
        <p:txBody>
          <a:bodyPr wrap="square" rtlCol="0" anchor="ctr"/>
          <a:lstStyle/>
          <a:p>
            <a:pPr marL="0" indent="0" algn="ctr">
              <a:buNone/>
            </a:pPr>
            <a:r>
              <a:rPr lang="en-US" sz="1300" b="1" dirty="0">
                <a:solidFill>
                  <a:srgbClr val="10B981"/>
                </a:solidFill>
                <a:latin typeface="Calibri" pitchFamily="34" charset="0"/>
                <a:ea typeface="Calibri" pitchFamily="34" charset="-122"/>
                <a:cs typeface="Calibri" pitchFamily="34" charset="-120"/>
              </a:rPr>
              <a:t>Financial Advisor</a:t>
            </a:r>
            <a:endParaRPr lang="en-US" sz="1300" dirty="0"/>
          </a:p>
        </p:txBody>
      </p:sp>
      <p:sp>
        <p:nvSpPr>
          <p:cNvPr id="15" name="Text 13"/>
          <p:cNvSpPr/>
          <p:nvPr/>
        </p:nvSpPr>
        <p:spPr>
          <a:xfrm>
            <a:off x="6199632" y="1847088"/>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Analyzes portfolio, provides personalized advice, runs risk analysis. Compliant with regulatory guardrails.</a:t>
            </a:r>
            <a:endParaRPr lang="en-US" sz="950" dirty="0"/>
          </a:p>
        </p:txBody>
      </p:sp>
      <p:sp>
        <p:nvSpPr>
          <p:cNvPr id="16" name="Shape 14"/>
          <p:cNvSpPr/>
          <p:nvPr/>
        </p:nvSpPr>
        <p:spPr>
          <a:xfrm>
            <a:off x="274320" y="2852928"/>
            <a:ext cx="2743200" cy="1783080"/>
          </a:xfrm>
          <a:prstGeom prst="roundRect">
            <a:avLst>
              <a:gd name="adj" fmla="val 6154"/>
            </a:avLst>
          </a:prstGeom>
          <a:solidFill>
            <a:srgbClr val="1E293B"/>
          </a:solidFill>
          <a:ln w="19050">
            <a:solidFill>
              <a:srgbClr val="F59E0B"/>
            </a:solidFill>
            <a:prstDash val="solid"/>
          </a:ln>
        </p:spPr>
        <p:txBody>
          <a:bodyPr/>
          <a:lstStyle/>
          <a:p>
            <a:endParaRPr lang="en-IN"/>
          </a:p>
        </p:txBody>
      </p:sp>
      <p:sp>
        <p:nvSpPr>
          <p:cNvPr id="17" name="Text 15"/>
          <p:cNvSpPr/>
          <p:nvPr/>
        </p:nvSpPr>
        <p:spPr>
          <a:xfrm>
            <a:off x="274320" y="2944368"/>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8" name="Text 16"/>
          <p:cNvSpPr/>
          <p:nvPr/>
        </p:nvSpPr>
        <p:spPr>
          <a:xfrm>
            <a:off x="274320" y="3401568"/>
            <a:ext cx="2743200" cy="347472"/>
          </a:xfrm>
          <a:prstGeom prst="rect">
            <a:avLst/>
          </a:prstGeom>
          <a:noFill/>
          <a:ln/>
        </p:spPr>
        <p:txBody>
          <a:bodyPr wrap="square"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Healthcare Assistant</a:t>
            </a:r>
            <a:endParaRPr lang="en-US" sz="1300" dirty="0"/>
          </a:p>
        </p:txBody>
      </p:sp>
      <p:sp>
        <p:nvSpPr>
          <p:cNvPr id="19" name="Text 17"/>
          <p:cNvSpPr/>
          <p:nvPr/>
        </p:nvSpPr>
        <p:spPr>
          <a:xfrm>
            <a:off x="384048" y="3785616"/>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Symptom checking, appointment booking, medication reminders. Integrated with EHR systems.</a:t>
            </a:r>
            <a:endParaRPr lang="en-US" sz="950" dirty="0"/>
          </a:p>
        </p:txBody>
      </p:sp>
      <p:sp>
        <p:nvSpPr>
          <p:cNvPr id="20" name="Shape 18"/>
          <p:cNvSpPr/>
          <p:nvPr/>
        </p:nvSpPr>
        <p:spPr>
          <a:xfrm>
            <a:off x="3182112" y="2852928"/>
            <a:ext cx="2743200" cy="1783080"/>
          </a:xfrm>
          <a:prstGeom prst="roundRect">
            <a:avLst>
              <a:gd name="adj" fmla="val 6154"/>
            </a:avLst>
          </a:prstGeom>
          <a:solidFill>
            <a:srgbClr val="1E293B"/>
          </a:solidFill>
          <a:ln w="19050">
            <a:solidFill>
              <a:srgbClr val="EF4444"/>
            </a:solidFill>
            <a:prstDash val="solid"/>
          </a:ln>
        </p:spPr>
        <p:txBody>
          <a:bodyPr/>
          <a:lstStyle/>
          <a:p>
            <a:endParaRPr lang="en-IN"/>
          </a:p>
        </p:txBody>
      </p:sp>
      <p:sp>
        <p:nvSpPr>
          <p:cNvPr id="21" name="Text 19"/>
          <p:cNvSpPr/>
          <p:nvPr/>
        </p:nvSpPr>
        <p:spPr>
          <a:xfrm>
            <a:off x="3182112" y="2944368"/>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2" name="Text 20"/>
          <p:cNvSpPr/>
          <p:nvPr/>
        </p:nvSpPr>
        <p:spPr>
          <a:xfrm>
            <a:off x="3182112" y="3401568"/>
            <a:ext cx="2743200" cy="347472"/>
          </a:xfrm>
          <a:prstGeom prst="rect">
            <a:avLst/>
          </a:prstGeom>
          <a:noFill/>
          <a:ln/>
        </p:spPr>
        <p:txBody>
          <a:bodyPr wrap="square" rtlCol="0" anchor="ctr"/>
          <a:lstStyle/>
          <a:p>
            <a:pPr marL="0" indent="0" algn="ctr">
              <a:buNone/>
            </a:pPr>
            <a:r>
              <a:rPr lang="en-US" sz="1300" b="1" dirty="0">
                <a:solidFill>
                  <a:srgbClr val="EF4444"/>
                </a:solidFill>
                <a:latin typeface="Calibri" pitchFamily="34" charset="0"/>
                <a:ea typeface="Calibri" pitchFamily="34" charset="-122"/>
                <a:cs typeface="Calibri" pitchFamily="34" charset="-120"/>
              </a:rPr>
              <a:t>Travel Planner</a:t>
            </a:r>
            <a:endParaRPr lang="en-US" sz="1300" dirty="0"/>
          </a:p>
        </p:txBody>
      </p:sp>
      <p:sp>
        <p:nvSpPr>
          <p:cNvPr id="23" name="Text 21"/>
          <p:cNvSpPr/>
          <p:nvPr/>
        </p:nvSpPr>
        <p:spPr>
          <a:xfrm>
            <a:off x="3291840" y="3785616"/>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Books flights, hotels, creates itineraries. Calls travel APIs, maps, weather. Full trip coordination.</a:t>
            </a:r>
            <a:endParaRPr lang="en-US" sz="950" dirty="0"/>
          </a:p>
        </p:txBody>
      </p:sp>
      <p:sp>
        <p:nvSpPr>
          <p:cNvPr id="24" name="Shape 22"/>
          <p:cNvSpPr/>
          <p:nvPr/>
        </p:nvSpPr>
        <p:spPr>
          <a:xfrm>
            <a:off x="6089904" y="2852928"/>
            <a:ext cx="2743200" cy="1783080"/>
          </a:xfrm>
          <a:prstGeom prst="roundRect">
            <a:avLst>
              <a:gd name="adj" fmla="val 6154"/>
            </a:avLst>
          </a:prstGeom>
          <a:solidFill>
            <a:srgbClr val="1E293B"/>
          </a:solidFill>
          <a:ln w="19050">
            <a:solidFill>
              <a:srgbClr val="06B6D4"/>
            </a:solidFill>
            <a:prstDash val="solid"/>
          </a:ln>
        </p:spPr>
        <p:txBody>
          <a:bodyPr/>
          <a:lstStyle/>
          <a:p>
            <a:endParaRPr lang="en-IN"/>
          </a:p>
        </p:txBody>
      </p:sp>
      <p:sp>
        <p:nvSpPr>
          <p:cNvPr id="25" name="Text 23"/>
          <p:cNvSpPr/>
          <p:nvPr/>
        </p:nvSpPr>
        <p:spPr>
          <a:xfrm>
            <a:off x="6089904" y="2944368"/>
            <a:ext cx="2743200" cy="45720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6" name="Text 24"/>
          <p:cNvSpPr/>
          <p:nvPr/>
        </p:nvSpPr>
        <p:spPr>
          <a:xfrm>
            <a:off x="6089904" y="3401568"/>
            <a:ext cx="2743200" cy="347472"/>
          </a:xfrm>
          <a:prstGeom prst="rect">
            <a:avLst/>
          </a:prstGeom>
          <a:noFill/>
          <a:ln/>
        </p:spPr>
        <p:txBody>
          <a:bodyPr wrap="square" rtlCol="0" anchor="ctr"/>
          <a:lstStyle/>
          <a:p>
            <a:pPr marL="0" indent="0" algn="ctr">
              <a:buNone/>
            </a:pPr>
            <a:r>
              <a:rPr lang="en-US" sz="1300" b="1" dirty="0">
                <a:solidFill>
                  <a:srgbClr val="06B6D4"/>
                </a:solidFill>
                <a:latin typeface="Calibri" pitchFamily="34" charset="0"/>
                <a:ea typeface="Calibri" pitchFamily="34" charset="-122"/>
                <a:cs typeface="Calibri" pitchFamily="34" charset="-120"/>
              </a:rPr>
              <a:t>DevOps Assistant</a:t>
            </a:r>
            <a:endParaRPr lang="en-US" sz="1300" dirty="0"/>
          </a:p>
        </p:txBody>
      </p:sp>
      <p:sp>
        <p:nvSpPr>
          <p:cNvPr id="27" name="Text 25"/>
          <p:cNvSpPr/>
          <p:nvPr/>
        </p:nvSpPr>
        <p:spPr>
          <a:xfrm>
            <a:off x="6199632" y="3785616"/>
            <a:ext cx="2542032" cy="7498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Monitors systems, auto-scales resources, diagnoses incidents, writes runbooks. Integrates with Jira, PagerDuty.</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txBody>
          <a:bodyPr/>
          <a:lstStyle/>
          <a:p>
            <a:endParaRPr lang="en-IN"/>
          </a:p>
        </p:txBody>
      </p:sp>
      <p:sp>
        <p:nvSpPr>
          <p:cNvPr id="3" name="Text 1"/>
          <p:cNvSpPr/>
          <p:nvPr/>
        </p:nvSpPr>
        <p:spPr>
          <a:xfrm>
            <a:off x="365760" y="109728"/>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&amp; Future of Agentic AI</a:t>
            </a:r>
            <a:endParaRPr lang="en-US" sz="2600" dirty="0"/>
          </a:p>
        </p:txBody>
      </p:sp>
      <p:sp>
        <p:nvSpPr>
          <p:cNvPr id="4" name="Shape 2"/>
          <p:cNvSpPr/>
          <p:nvPr/>
        </p:nvSpPr>
        <p:spPr>
          <a:xfrm>
            <a:off x="274320" y="685800"/>
            <a:ext cx="4160520" cy="3200400"/>
          </a:xfrm>
          <a:prstGeom prst="roundRect">
            <a:avLst>
              <a:gd name="adj" fmla="val 3429"/>
            </a:avLst>
          </a:prstGeom>
          <a:solidFill>
            <a:srgbClr val="1E293B"/>
          </a:solidFill>
          <a:ln w="19050">
            <a:solidFill>
              <a:srgbClr val="10B981"/>
            </a:solidFill>
            <a:prstDash val="solid"/>
          </a:ln>
        </p:spPr>
        <p:txBody>
          <a:bodyPr/>
          <a:lstStyle/>
          <a:p>
            <a:endParaRPr lang="en-IN"/>
          </a:p>
        </p:txBody>
      </p:sp>
      <p:sp>
        <p:nvSpPr>
          <p:cNvPr id="5" name="Text 3"/>
          <p:cNvSpPr/>
          <p:nvPr/>
        </p:nvSpPr>
        <p:spPr>
          <a:xfrm>
            <a:off x="457200" y="804672"/>
            <a:ext cx="3840480" cy="384048"/>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 Key Takeaways</a:t>
            </a:r>
            <a:endParaRPr lang="en-US" sz="1400" dirty="0"/>
          </a:p>
        </p:txBody>
      </p:sp>
      <p:sp>
        <p:nvSpPr>
          <p:cNvPr id="6" name="Text 4"/>
          <p:cNvSpPr/>
          <p:nvPr/>
        </p:nvSpPr>
        <p:spPr>
          <a:xfrm>
            <a:off x="457200" y="128016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Agentic AI = Plan + Reason + Act + Observe</a:t>
            </a:r>
            <a:endParaRPr lang="en-US" sz="1000" dirty="0"/>
          </a:p>
        </p:txBody>
      </p:sp>
      <p:sp>
        <p:nvSpPr>
          <p:cNvPr id="7" name="Text 5"/>
          <p:cNvSpPr/>
          <p:nvPr/>
        </p:nvSpPr>
        <p:spPr>
          <a:xfrm>
            <a:off x="457200" y="160934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ReAct pattern is the foundation of agents</a:t>
            </a:r>
            <a:endParaRPr lang="en-US" sz="1000" dirty="0"/>
          </a:p>
        </p:txBody>
      </p:sp>
      <p:sp>
        <p:nvSpPr>
          <p:cNvPr id="8" name="Text 6"/>
          <p:cNvSpPr/>
          <p:nvPr/>
        </p:nvSpPr>
        <p:spPr>
          <a:xfrm>
            <a:off x="457200" y="193852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RAG solves knowledge cutoff &amp; hallucinations</a:t>
            </a:r>
            <a:endParaRPr lang="en-US" sz="1000" dirty="0"/>
          </a:p>
        </p:txBody>
      </p:sp>
      <p:sp>
        <p:nvSpPr>
          <p:cNvPr id="9" name="Text 7"/>
          <p:cNvSpPr/>
          <p:nvPr/>
        </p:nvSpPr>
        <p:spPr>
          <a:xfrm>
            <a:off x="457200" y="2267712"/>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LangChain = pipeline; LangGraph = workflows</a:t>
            </a:r>
            <a:endParaRPr lang="en-US" sz="1000" dirty="0"/>
          </a:p>
        </p:txBody>
      </p:sp>
      <p:sp>
        <p:nvSpPr>
          <p:cNvPr id="10" name="Text 8"/>
          <p:cNvSpPr/>
          <p:nvPr/>
        </p:nvSpPr>
        <p:spPr>
          <a:xfrm>
            <a:off x="457200" y="2596896"/>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MCP = universal protocol for AI tool use</a:t>
            </a:r>
            <a:endParaRPr lang="en-US" sz="1000" dirty="0"/>
          </a:p>
        </p:txBody>
      </p:sp>
      <p:sp>
        <p:nvSpPr>
          <p:cNvPr id="11" name="Text 9"/>
          <p:cNvSpPr/>
          <p:nvPr/>
        </p:nvSpPr>
        <p:spPr>
          <a:xfrm>
            <a:off x="457200" y="292608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Memory makes agents context-aware</a:t>
            </a:r>
            <a:endParaRPr lang="en-US" sz="1000" dirty="0"/>
          </a:p>
        </p:txBody>
      </p:sp>
      <p:sp>
        <p:nvSpPr>
          <p:cNvPr id="12" name="Text 10"/>
          <p:cNvSpPr/>
          <p:nvPr/>
        </p:nvSpPr>
        <p:spPr>
          <a:xfrm>
            <a:off x="457200" y="325526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Multi-agent systems handle complex tasks</a:t>
            </a:r>
            <a:endParaRPr lang="en-US" sz="1000" dirty="0"/>
          </a:p>
        </p:txBody>
      </p:sp>
      <p:sp>
        <p:nvSpPr>
          <p:cNvPr id="13" name="Text 11"/>
          <p:cNvSpPr/>
          <p:nvPr/>
        </p:nvSpPr>
        <p:spPr>
          <a:xfrm>
            <a:off x="457200" y="358444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AWS Bedrock enables enterprise-grade agents</a:t>
            </a:r>
            <a:endParaRPr lang="en-US" sz="1000" dirty="0"/>
          </a:p>
        </p:txBody>
      </p:sp>
      <p:sp>
        <p:nvSpPr>
          <p:cNvPr id="14" name="Shape 12"/>
          <p:cNvSpPr/>
          <p:nvPr/>
        </p:nvSpPr>
        <p:spPr>
          <a:xfrm>
            <a:off x="4709160" y="685800"/>
            <a:ext cx="4160520" cy="3200400"/>
          </a:xfrm>
          <a:prstGeom prst="roundRect">
            <a:avLst>
              <a:gd name="adj" fmla="val 3429"/>
            </a:avLst>
          </a:prstGeom>
          <a:solidFill>
            <a:srgbClr val="1E293B"/>
          </a:solidFill>
          <a:ln w="19050">
            <a:solidFill>
              <a:srgbClr val="F59E0B"/>
            </a:solidFill>
            <a:prstDash val="solid"/>
          </a:ln>
        </p:spPr>
        <p:txBody>
          <a:bodyPr/>
          <a:lstStyle/>
          <a:p>
            <a:endParaRPr lang="en-IN"/>
          </a:p>
        </p:txBody>
      </p:sp>
      <p:sp>
        <p:nvSpPr>
          <p:cNvPr id="15" name="Text 13"/>
          <p:cNvSpPr/>
          <p:nvPr/>
        </p:nvSpPr>
        <p:spPr>
          <a:xfrm>
            <a:off x="4892040" y="804672"/>
            <a:ext cx="3840480" cy="384048"/>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 Future Trends</a:t>
            </a:r>
            <a:endParaRPr lang="en-US" sz="1400" dirty="0"/>
          </a:p>
        </p:txBody>
      </p:sp>
      <p:sp>
        <p:nvSpPr>
          <p:cNvPr id="16" name="Text 14"/>
          <p:cNvSpPr/>
          <p:nvPr/>
        </p:nvSpPr>
        <p:spPr>
          <a:xfrm>
            <a:off x="4892040" y="128016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Self-improving agents (RLHF loops)</a:t>
            </a:r>
            <a:endParaRPr lang="en-US" sz="1000" dirty="0"/>
          </a:p>
        </p:txBody>
      </p:sp>
      <p:sp>
        <p:nvSpPr>
          <p:cNvPr id="17" name="Text 15"/>
          <p:cNvSpPr/>
          <p:nvPr/>
        </p:nvSpPr>
        <p:spPr>
          <a:xfrm>
            <a:off x="4892040" y="160934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100K+ token context windows</a:t>
            </a:r>
            <a:endParaRPr lang="en-US" sz="1000" dirty="0"/>
          </a:p>
        </p:txBody>
      </p:sp>
      <p:sp>
        <p:nvSpPr>
          <p:cNvPr id="18" name="Text 16"/>
          <p:cNvSpPr/>
          <p:nvPr/>
        </p:nvSpPr>
        <p:spPr>
          <a:xfrm>
            <a:off x="4892040" y="193852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Multimodal agents (vision + audio + text)</a:t>
            </a:r>
            <a:endParaRPr lang="en-US" sz="1000" dirty="0"/>
          </a:p>
        </p:txBody>
      </p:sp>
      <p:sp>
        <p:nvSpPr>
          <p:cNvPr id="19" name="Text 17"/>
          <p:cNvSpPr/>
          <p:nvPr/>
        </p:nvSpPr>
        <p:spPr>
          <a:xfrm>
            <a:off x="4892040" y="2267712"/>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Agent marketplaces &amp; composable agents</a:t>
            </a:r>
            <a:endParaRPr lang="en-US" sz="1000" dirty="0"/>
          </a:p>
        </p:txBody>
      </p:sp>
      <p:sp>
        <p:nvSpPr>
          <p:cNvPr id="20" name="Text 18"/>
          <p:cNvSpPr/>
          <p:nvPr/>
        </p:nvSpPr>
        <p:spPr>
          <a:xfrm>
            <a:off x="4892040" y="2596896"/>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Real-time agents (sub-second tool use)</a:t>
            </a:r>
            <a:endParaRPr lang="en-US" sz="1000" dirty="0"/>
          </a:p>
        </p:txBody>
      </p:sp>
      <p:sp>
        <p:nvSpPr>
          <p:cNvPr id="21" name="Text 19"/>
          <p:cNvSpPr/>
          <p:nvPr/>
        </p:nvSpPr>
        <p:spPr>
          <a:xfrm>
            <a:off x="4892040" y="2926080"/>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Regulatory frameworks for AI agents</a:t>
            </a:r>
            <a:endParaRPr lang="en-US" sz="1000" dirty="0"/>
          </a:p>
        </p:txBody>
      </p:sp>
      <p:sp>
        <p:nvSpPr>
          <p:cNvPr id="22" name="Text 20"/>
          <p:cNvSpPr/>
          <p:nvPr/>
        </p:nvSpPr>
        <p:spPr>
          <a:xfrm>
            <a:off x="4892040" y="3255264"/>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Hardware-level agent acceleration (NPUs)</a:t>
            </a:r>
            <a:endParaRPr lang="en-US" sz="1000" dirty="0"/>
          </a:p>
        </p:txBody>
      </p:sp>
      <p:sp>
        <p:nvSpPr>
          <p:cNvPr id="23" name="Text 21"/>
          <p:cNvSpPr/>
          <p:nvPr/>
        </p:nvSpPr>
        <p:spPr>
          <a:xfrm>
            <a:off x="4892040" y="3584448"/>
            <a:ext cx="3840480" cy="3108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  Personal AI agents for every individual</a:t>
            </a:r>
            <a:endParaRPr lang="en-US" sz="1000" dirty="0"/>
          </a:p>
        </p:txBody>
      </p:sp>
      <p:sp>
        <p:nvSpPr>
          <p:cNvPr id="24" name="Shape 22"/>
          <p:cNvSpPr/>
          <p:nvPr/>
        </p:nvSpPr>
        <p:spPr>
          <a:xfrm>
            <a:off x="274320" y="4005072"/>
            <a:ext cx="8595360" cy="960120"/>
          </a:xfrm>
          <a:prstGeom prst="roundRect">
            <a:avLst>
              <a:gd name="adj" fmla="val 11429"/>
            </a:avLst>
          </a:prstGeom>
          <a:solidFill>
            <a:srgbClr val="0A1828"/>
          </a:solidFill>
          <a:ln w="19050">
            <a:solidFill>
              <a:srgbClr val="06B6D4"/>
            </a:solidFill>
            <a:prstDash val="solid"/>
          </a:ln>
        </p:spPr>
        <p:txBody>
          <a:bodyPr/>
          <a:lstStyle/>
          <a:p>
            <a:endParaRPr lang="en-IN"/>
          </a:p>
        </p:txBody>
      </p:sp>
      <p:sp>
        <p:nvSpPr>
          <p:cNvPr id="25" name="Text 23"/>
          <p:cNvSpPr/>
          <p:nvPr/>
        </p:nvSpPr>
        <p:spPr>
          <a:xfrm>
            <a:off x="457200" y="4114800"/>
            <a:ext cx="8229600" cy="731520"/>
          </a:xfrm>
          <a:prstGeom prst="rect">
            <a:avLst/>
          </a:prstGeom>
          <a:noFill/>
          <a:ln/>
        </p:spPr>
        <p:txBody>
          <a:bodyPr wrap="square" rtlCol="0" anchor="ctr"/>
          <a:lstStyle/>
          <a:p>
            <a:pPr marL="0" indent="0" algn="ctr">
              <a:buNone/>
            </a:pPr>
            <a:r>
              <a:rPr lang="en-US" sz="1300" i="1" dirty="0">
                <a:solidFill>
                  <a:srgbClr val="06B6D4"/>
                </a:solidFill>
                <a:latin typeface="Cambria" pitchFamily="34" charset="0"/>
                <a:ea typeface="Cambria" pitchFamily="34" charset="-122"/>
                <a:cs typeface="Cambria" pitchFamily="34" charset="-120"/>
              </a:rPr>
              <a:t>"Agentic AI is not just a smarter chatbot — it's the beginning of software that thinks, plans, and acts on your behalf."</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w="12700">
            <a:solidFill>
              <a:srgbClr val="8B5CF6"/>
            </a:solidFill>
            <a:prstDash val="solid"/>
          </a:ln>
        </p:spPr>
        <p:txBody>
          <a:bodyPr/>
          <a:lstStyle/>
          <a:p>
            <a:endParaRPr lang="en-IN"/>
          </a:p>
        </p:txBody>
      </p:sp>
      <p:sp>
        <p:nvSpPr>
          <p:cNvPr id="3" name="Shape 1"/>
          <p:cNvSpPr/>
          <p:nvPr/>
        </p:nvSpPr>
        <p:spPr>
          <a:xfrm>
            <a:off x="-914400" y="-457200"/>
            <a:ext cx="4572000" cy="4572000"/>
          </a:xfrm>
          <a:prstGeom prst="ellipse">
            <a:avLst/>
          </a:prstGeom>
          <a:solidFill>
            <a:srgbClr val="8B5CF6">
              <a:alpha val="8000"/>
            </a:srgbClr>
          </a:solidFill>
          <a:ln w="12700">
            <a:solidFill>
              <a:srgbClr val="8B5CF6">
                <a:alpha val="10000"/>
              </a:srgbClr>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4023360" y="822960"/>
            <a:ext cx="1097280" cy="1097280"/>
          </a:xfrm>
          <a:prstGeom prst="rect">
            <a:avLst/>
          </a:prstGeom>
        </p:spPr>
      </p:pic>
      <p:sp>
        <p:nvSpPr>
          <p:cNvPr id="6" name="Text 3"/>
          <p:cNvSpPr/>
          <p:nvPr/>
        </p:nvSpPr>
        <p:spPr>
          <a:xfrm>
            <a:off x="457200" y="1920240"/>
            <a:ext cx="8229600" cy="868680"/>
          </a:xfrm>
          <a:prstGeom prst="rect">
            <a:avLst/>
          </a:prstGeom>
          <a:noFill/>
          <a:ln/>
        </p:spPr>
        <p:txBody>
          <a:bodyPr wrap="square" rtlCol="0" anchor="ctr"/>
          <a:lstStyle/>
          <a:p>
            <a:pPr marL="0" indent="0" algn="ctr">
              <a:buNone/>
            </a:pPr>
            <a:r>
              <a:rPr lang="en-US" sz="5200" b="1" kern="0" spc="400" dirty="0">
                <a:solidFill>
                  <a:srgbClr val="FFFFFF"/>
                </a:solidFill>
                <a:latin typeface="Calibri" pitchFamily="34" charset="0"/>
                <a:ea typeface="Calibri" pitchFamily="34" charset="-122"/>
                <a:cs typeface="Calibri" pitchFamily="34" charset="-120"/>
              </a:rPr>
              <a:t>Thank You!</a:t>
            </a:r>
            <a:endParaRPr lang="en-US" sz="5200" dirty="0"/>
          </a:p>
        </p:txBody>
      </p:sp>
      <p:sp>
        <p:nvSpPr>
          <p:cNvPr id="7" name="Text 4"/>
          <p:cNvSpPr/>
          <p:nvPr/>
        </p:nvSpPr>
        <p:spPr>
          <a:xfrm>
            <a:off x="457200" y="2788920"/>
            <a:ext cx="8229600" cy="411480"/>
          </a:xfrm>
          <a:prstGeom prst="rect">
            <a:avLst/>
          </a:prstGeom>
          <a:noFill/>
          <a:ln/>
        </p:spPr>
        <p:txBody>
          <a:bodyPr wrap="square" rtlCol="0" anchor="ctr"/>
          <a:lstStyle/>
          <a:p>
            <a:pPr marL="0" indent="0" algn="ctr">
              <a:buNone/>
            </a:pPr>
            <a:endParaRPr lang="en-US" sz="1800" dirty="0"/>
          </a:p>
        </p:txBody>
      </p:sp>
      <p:sp>
        <p:nvSpPr>
          <p:cNvPr id="8" name="Text 5"/>
          <p:cNvSpPr/>
          <p:nvPr/>
        </p:nvSpPr>
        <p:spPr>
          <a:xfrm>
            <a:off x="457200" y="3246120"/>
            <a:ext cx="8229600" cy="320040"/>
          </a:xfrm>
          <a:prstGeom prst="rect">
            <a:avLst/>
          </a:prstGeom>
          <a:noFill/>
          <a:ln/>
        </p:spPr>
        <p:txBody>
          <a:bodyPr wrap="square" rtlCol="0" anchor="ctr"/>
          <a:lstStyle/>
          <a:p>
            <a:pPr marL="0" indent="0" algn="ctr">
              <a:buNone/>
            </a:pPr>
            <a:endParaRPr lang="en-US" sz="1400" dirty="0"/>
          </a:p>
        </p:txBody>
      </p:sp>
      <p:sp>
        <p:nvSpPr>
          <p:cNvPr id="10" name="Text 7"/>
          <p:cNvSpPr/>
          <p:nvPr/>
        </p:nvSpPr>
        <p:spPr>
          <a:xfrm>
            <a:off x="640080" y="3931920"/>
            <a:ext cx="2743200" cy="274320"/>
          </a:xfrm>
          <a:prstGeom prst="rect">
            <a:avLst/>
          </a:prstGeom>
          <a:noFill/>
          <a:ln/>
        </p:spPr>
        <p:txBody>
          <a:bodyPr wrap="square" rtlCol="0" anchor="ctr"/>
          <a:lstStyle/>
          <a:p>
            <a:pPr marL="0" indent="0">
              <a:buNone/>
            </a:pPr>
            <a:endParaRPr lang="en-US" sz="1100" dirty="0"/>
          </a:p>
        </p:txBody>
      </p:sp>
      <p:sp>
        <p:nvSpPr>
          <p:cNvPr id="11" name="Text 8"/>
          <p:cNvSpPr/>
          <p:nvPr/>
        </p:nvSpPr>
        <p:spPr>
          <a:xfrm>
            <a:off x="640080" y="4251960"/>
            <a:ext cx="3931920" cy="274320"/>
          </a:xfrm>
          <a:prstGeom prst="rect">
            <a:avLst/>
          </a:prstGeom>
          <a:noFill/>
          <a:ln/>
        </p:spPr>
        <p:txBody>
          <a:bodyPr wrap="square" rtlCol="0" anchor="ctr"/>
          <a:lstStyle/>
          <a:p>
            <a:pPr marL="0" indent="0">
              <a:buNone/>
            </a:pPr>
            <a:endParaRPr lang="en-US" sz="950" dirty="0"/>
          </a:p>
        </p:txBody>
      </p:sp>
      <p:sp>
        <p:nvSpPr>
          <p:cNvPr id="12" name="Text 9"/>
          <p:cNvSpPr/>
          <p:nvPr/>
        </p:nvSpPr>
        <p:spPr>
          <a:xfrm>
            <a:off x="4754880" y="4251960"/>
            <a:ext cx="3931920" cy="274320"/>
          </a:xfrm>
          <a:prstGeom prst="rect">
            <a:avLst/>
          </a:prstGeom>
          <a:noFill/>
          <a:ln/>
        </p:spPr>
        <p:txBody>
          <a:bodyPr wrap="square" rtlCol="0" anchor="ctr"/>
          <a:lstStyle/>
          <a:p>
            <a:pPr marL="0" indent="0">
              <a:buNone/>
            </a:pPr>
            <a:endParaRPr lang="en-US" sz="950" dirty="0"/>
          </a:p>
        </p:txBody>
      </p:sp>
      <p:sp>
        <p:nvSpPr>
          <p:cNvPr id="13" name="Text 10"/>
          <p:cNvSpPr/>
          <p:nvPr/>
        </p:nvSpPr>
        <p:spPr>
          <a:xfrm>
            <a:off x="640080" y="4572000"/>
            <a:ext cx="3931920" cy="274320"/>
          </a:xfrm>
          <a:prstGeom prst="rect">
            <a:avLst/>
          </a:prstGeom>
          <a:noFill/>
          <a:ln/>
        </p:spPr>
        <p:txBody>
          <a:bodyPr wrap="square" rtlCol="0" anchor="ctr"/>
          <a:lstStyle/>
          <a:p>
            <a:pPr marL="0" indent="0">
              <a:buNone/>
            </a:pPr>
            <a:endParaRPr lang="en-US" sz="950" dirty="0"/>
          </a:p>
        </p:txBody>
      </p:sp>
      <p:sp>
        <p:nvSpPr>
          <p:cNvPr id="14" name="Text 11"/>
          <p:cNvSpPr/>
          <p:nvPr/>
        </p:nvSpPr>
        <p:spPr>
          <a:xfrm>
            <a:off x="4754880" y="4572000"/>
            <a:ext cx="3931920" cy="274320"/>
          </a:xfrm>
          <a:prstGeom prst="rect">
            <a:avLst/>
          </a:prstGeom>
          <a:noFill/>
          <a:ln/>
        </p:spPr>
        <p:txBody>
          <a:bodyPr wrap="square" rtlCol="0" anchor="ctr"/>
          <a:lstStyle/>
          <a:p>
            <a:pPr marL="0" indent="0">
              <a:buNone/>
            </a:pPr>
            <a:endParaRPr lang="en-US" sz="950" dirty="0"/>
          </a:p>
        </p:txBody>
      </p:sp>
      <p:sp>
        <p:nvSpPr>
          <p:cNvPr id="15" name="Shape 12"/>
          <p:cNvSpPr/>
          <p:nvPr/>
        </p:nvSpPr>
        <p:spPr>
          <a:xfrm>
            <a:off x="0" y="5093208"/>
            <a:ext cx="9144000" cy="50292"/>
          </a:xfrm>
          <a:prstGeom prst="rect">
            <a:avLst/>
          </a:prstGeom>
          <a:solidFill>
            <a:srgbClr val="8B5CF6"/>
          </a:solidFill>
          <a:ln w="12700">
            <a:solidFill>
              <a:srgbClr val="8B5CF6"/>
            </a:solidFill>
            <a:prstDash val="solid"/>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3932</Words>
  <Application>Microsoft Office PowerPoint</Application>
  <PresentationFormat>On-screen Show (16:9)</PresentationFormat>
  <Paragraphs>629</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Beginners to Intermediate</dc:title>
  <dc:subject>PptxGenJS Presentation</dc:subject>
  <dc:creator>Agentic AI Guide</dc:creator>
  <cp:lastModifiedBy>Dhanigasree Selvakanapathi(UST,IN)</cp:lastModifiedBy>
  <cp:revision>2</cp:revision>
  <dcterms:created xsi:type="dcterms:W3CDTF">2026-06-12T12:00:38Z</dcterms:created>
  <dcterms:modified xsi:type="dcterms:W3CDTF">2026-06-12T12:07:40Z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2026-06-12T12:07:39Z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4c24fe7e-c0ac-47ac-a77a-939bc60f0de2</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